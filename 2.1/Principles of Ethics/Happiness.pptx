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54" r:id="rId10"/>
    <p:sldId id="349" r:id="rId11"/>
    <p:sldId id="350" r:id="rId12"/>
    <p:sldId id="351" r:id="rId13"/>
    <p:sldId id="352" r:id="rId14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2"/>
            <a:ext cx="9440035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5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8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8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761069"/>
            <a:ext cx="9590551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3589879"/>
            <a:ext cx="9590551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7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3" y="1732451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2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1770324"/>
            <a:ext cx="5049897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61" y="1770324"/>
            <a:ext cx="5049897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9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6"/>
            <a:ext cx="4895331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9"/>
            <a:ext cx="4895331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6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6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4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983" y="609923"/>
            <a:ext cx="4570861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609923"/>
            <a:ext cx="5232901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35638" y="743989"/>
            <a:ext cx="4220500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6" y="2439261"/>
            <a:ext cx="5232901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2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94" y="540085"/>
            <a:ext cx="10208013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7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4956" y="695011"/>
            <a:ext cx="9714133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3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0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3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4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87391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7812" y="293324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636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126944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6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7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9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6" y="1826045"/>
            <a:ext cx="3372061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51" y="1826045"/>
            <a:ext cx="3372061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620" y="1826045"/>
            <a:ext cx="3372061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3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70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4" y="4480369"/>
            <a:ext cx="3302337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9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7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0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0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70" y="609601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601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7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51"/>
            <a:ext cx="10353763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80DCA5-40FD-4898-9861-9C60FFF66E16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7" y="5883277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90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49" y="556591"/>
            <a:ext cx="10366410" cy="1023459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The desire for </a:t>
            </a:r>
            <a:r>
              <a:rPr lang="en-US" b="1" dirty="0" smtClean="0">
                <a:solidFill>
                  <a:srgbClr val="00B0F0"/>
                </a:solidFill>
              </a:rPr>
              <a:t>happiness </a:t>
            </a:r>
            <a:r>
              <a:rPr lang="en-US" b="1" dirty="0">
                <a:solidFill>
                  <a:srgbClr val="00B0F0"/>
                </a:solidFill>
              </a:rPr>
              <a:t>and the moral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51"/>
            <a:ext cx="10353763" cy="4761114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92D050"/>
                </a:solidFill>
              </a:rPr>
              <a:t>Recall</a:t>
            </a:r>
            <a:r>
              <a:rPr lang="en-US" sz="3000" b="1" dirty="0">
                <a:solidFill>
                  <a:srgbClr val="92D050"/>
                </a:solidFill>
              </a:rPr>
              <a:t>:</a:t>
            </a:r>
            <a:r>
              <a:rPr lang="en-US" sz="3000" dirty="0"/>
              <a:t> Fundamental freedom =&gt; having life goals, life project</a:t>
            </a:r>
          </a:p>
          <a:p>
            <a:r>
              <a:rPr lang="en-US" sz="3000" dirty="0"/>
              <a:t>Concept of happiness is linked to the concept of fundamental freedom</a:t>
            </a:r>
          </a:p>
          <a:p>
            <a:r>
              <a:rPr lang="en-US" sz="3000" dirty="0"/>
              <a:t>Happiness related to (determination) of one’s life project</a:t>
            </a:r>
          </a:p>
          <a:p>
            <a:r>
              <a:rPr lang="en-US" sz="3000" dirty="0"/>
              <a:t>Ideals =&gt; reality</a:t>
            </a:r>
          </a:p>
          <a:p>
            <a:r>
              <a:rPr lang="en-US" sz="3000" dirty="0"/>
              <a:t>One of the tasks of ethics is to provide a rational reflection about human happiness</a:t>
            </a:r>
          </a:p>
        </p:txBody>
      </p:sp>
    </p:spTree>
    <p:extLst>
      <p:ext uri="{BB962C8B-B14F-4D97-AF65-F5344CB8AC3E}">
        <p14:creationId xmlns:p14="http://schemas.microsoft.com/office/powerpoint/2010/main" val="361996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Ethical theories of happiness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123" y="1732451"/>
            <a:ext cx="10525436" cy="4787619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rgbClr val="92D050"/>
                </a:solidFill>
              </a:rPr>
              <a:t>Aristotle: theory of </a:t>
            </a:r>
            <a:r>
              <a:rPr lang="en-US" sz="3100" b="1" dirty="0" smtClean="0">
                <a:solidFill>
                  <a:srgbClr val="92D050"/>
                </a:solidFill>
              </a:rPr>
              <a:t>happiness - </a:t>
            </a:r>
            <a:r>
              <a:rPr lang="en-US" sz="3100" b="1" dirty="0">
                <a:solidFill>
                  <a:srgbClr val="92D050"/>
                </a:solidFill>
              </a:rPr>
              <a:t>Nicomachean ethics</a:t>
            </a:r>
            <a:endParaRPr lang="en-US" sz="3100" b="1" dirty="0" smtClean="0">
              <a:solidFill>
                <a:srgbClr val="92D050"/>
              </a:solidFill>
            </a:endParaRPr>
          </a:p>
          <a:p>
            <a:r>
              <a:rPr lang="en-US" sz="3100" dirty="0" smtClean="0"/>
              <a:t>There </a:t>
            </a:r>
            <a:r>
              <a:rPr lang="en-US" sz="3100" dirty="0"/>
              <a:t>are differences of opinion about what is best for human beings</a:t>
            </a:r>
          </a:p>
          <a:p>
            <a:r>
              <a:rPr lang="en-US" sz="3100" dirty="0"/>
              <a:t>The need to search for </a:t>
            </a:r>
            <a:r>
              <a:rPr lang="en-US" sz="3100" i="1" dirty="0"/>
              <a:t>the </a:t>
            </a:r>
            <a:r>
              <a:rPr lang="en-US" sz="3100" dirty="0"/>
              <a:t>good is a search for the </a:t>
            </a:r>
            <a:r>
              <a:rPr lang="en-US" sz="3100" i="1" dirty="0"/>
              <a:t>highest </a:t>
            </a:r>
            <a:r>
              <a:rPr lang="en-US" sz="3100" dirty="0"/>
              <a:t>good </a:t>
            </a:r>
            <a:r>
              <a:rPr lang="en-US" sz="3100" dirty="0" smtClean="0"/>
              <a:t>(</a:t>
            </a:r>
            <a:r>
              <a:rPr lang="en-US" sz="3100" dirty="0" err="1" smtClean="0"/>
              <a:t>eudaimonia</a:t>
            </a:r>
            <a:r>
              <a:rPr lang="en-US" sz="3100" dirty="0" smtClean="0"/>
              <a:t> </a:t>
            </a:r>
            <a:r>
              <a:rPr lang="en-US" sz="3100" dirty="0"/>
              <a:t>or happiness)</a:t>
            </a:r>
          </a:p>
          <a:p>
            <a:r>
              <a:rPr lang="en-US" sz="3100" dirty="0"/>
              <a:t>The highest good, whatever it turns out to be, has to desirable for itself and not desirable for the sake of some other good,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853" y="649357"/>
            <a:ext cx="11039060" cy="5777947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800" dirty="0" smtClean="0"/>
              <a:t>He says:</a:t>
            </a:r>
          </a:p>
          <a:p>
            <a:r>
              <a:rPr lang="en-US" sz="2800" dirty="0" smtClean="0"/>
              <a:t>“</a:t>
            </a:r>
            <a:r>
              <a:rPr lang="en-US" sz="2800" dirty="0"/>
              <a:t>Verbally there is very general agreement; for both the general run of men and people of superior refinement say that highest good is happiness, and identify living well and doing well with being happy; but with regard to what happiness is they differ, and the many do not give the same account as the wise.” (Nicomachean ethics</a:t>
            </a:r>
            <a:r>
              <a:rPr lang="en-US" sz="2800" dirty="0" smtClean="0"/>
              <a:t>)</a:t>
            </a:r>
          </a:p>
          <a:p>
            <a:endParaRPr lang="en-US" sz="2800" dirty="0"/>
          </a:p>
          <a:p>
            <a:r>
              <a:rPr lang="en-US" sz="2800" dirty="0"/>
              <a:t>“ [some] think happiness is some plain and obvious thing, like pleasure, wealth, or honour; they differ, however, from one another- and often even the same man identifies happiness with different things, with health when he is ill, with wealth when he is poor; but, conscious of their ignorance, they admire those who proclaim some great ideal that is above their comprehension.”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126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591" y="410817"/>
            <a:ext cx="11025809" cy="6029740"/>
          </a:xfrm>
        </p:spPr>
        <p:txBody>
          <a:bodyPr>
            <a:normAutofit/>
          </a:bodyPr>
          <a:lstStyle/>
          <a:p>
            <a:r>
              <a:rPr lang="en-US" sz="2800" dirty="0"/>
              <a:t>For Aristotle, wealth is important for happiness but cannot be the highest good: </a:t>
            </a:r>
          </a:p>
          <a:p>
            <a:pPr lvl="1"/>
            <a:r>
              <a:rPr lang="en-US" sz="2600" dirty="0"/>
              <a:t>“The life of money-making is one undertaken under compulsion, and wealth is evidently not the good we are seeking; for it is merely useful and for the sake of something else</a:t>
            </a:r>
            <a:r>
              <a:rPr lang="en-US" sz="2600" dirty="0" smtClean="0"/>
              <a:t>.”</a:t>
            </a:r>
          </a:p>
          <a:p>
            <a:endParaRPr lang="en-US" sz="2800" dirty="0"/>
          </a:p>
          <a:p>
            <a:r>
              <a:rPr lang="en-US" sz="2800" dirty="0"/>
              <a:t>Pleasure is important for happiness but cannot be the highest good:</a:t>
            </a:r>
          </a:p>
          <a:p>
            <a:pPr lvl="1"/>
            <a:r>
              <a:rPr lang="en-US" sz="2600" dirty="0"/>
              <a:t>“To judge from the lives that men lead, most men seem to identify the good, or happiness, with pleasure; which is the reason why they love the life of enjoyment. </a:t>
            </a:r>
          </a:p>
          <a:p>
            <a:pPr lvl="1"/>
            <a:r>
              <a:rPr lang="en-US" sz="2600" dirty="0"/>
              <a:t>Now the mass of mankind are evidently quite slavish in their tastes, preferring a life suitable to beasts….”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4192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450574"/>
            <a:ext cx="11052312" cy="6082747"/>
          </a:xfrm>
        </p:spPr>
        <p:txBody>
          <a:bodyPr>
            <a:noAutofit/>
          </a:bodyPr>
          <a:lstStyle/>
          <a:p>
            <a:r>
              <a:rPr lang="en-US" sz="2800" dirty="0"/>
              <a:t>Honor is important but cannot be the highest good:</a:t>
            </a:r>
          </a:p>
          <a:p>
            <a:pPr lvl="1"/>
            <a:r>
              <a:rPr lang="en-US" sz="2600" dirty="0"/>
              <a:t>“People of superior refinement and of active disposition identify happiness with honour; for this is, roughly speaking, the end of the political life. </a:t>
            </a:r>
          </a:p>
          <a:p>
            <a:pPr lvl="1"/>
            <a:r>
              <a:rPr lang="en-US" sz="2600" dirty="0"/>
              <a:t>But it seems too superficial to be what we are looking for, since honour is thought to depend on those who bestow it rather than on him who receives it</a:t>
            </a:r>
            <a:r>
              <a:rPr lang="en-US" sz="2600" dirty="0" smtClean="0"/>
              <a:t>”</a:t>
            </a:r>
          </a:p>
          <a:p>
            <a:endParaRPr lang="en-US" sz="2800" dirty="0"/>
          </a:p>
          <a:p>
            <a:r>
              <a:rPr lang="en-US" sz="2800" dirty="0"/>
              <a:t>If wealth, pleasure and honour cannot be considered the highest good (happiness), then what is the nature of happiness according to Aristotle?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175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357" y="569843"/>
            <a:ext cx="10946295" cy="5963479"/>
          </a:xfrm>
        </p:spPr>
        <p:txBody>
          <a:bodyPr>
            <a:normAutofit/>
          </a:bodyPr>
          <a:lstStyle/>
          <a:p>
            <a:r>
              <a:rPr lang="en-US" sz="3000" dirty="0" smtClean="0"/>
              <a:t>Happiness </a:t>
            </a:r>
            <a:r>
              <a:rPr lang="en-US" sz="3000" dirty="0"/>
              <a:t>does not consist in “things”, “objects”: money, health (pleasure), honour…</a:t>
            </a:r>
          </a:p>
          <a:p>
            <a:endParaRPr lang="en-US" sz="3000" dirty="0"/>
          </a:p>
          <a:p>
            <a:r>
              <a:rPr lang="en-US" sz="3000" dirty="0" smtClean="0"/>
              <a:t>The </a:t>
            </a:r>
            <a:r>
              <a:rPr lang="en-US" sz="3000" dirty="0"/>
              <a:t>nature of happiness lies in “activity”, “way of life”</a:t>
            </a:r>
          </a:p>
          <a:p>
            <a:endParaRPr lang="en-US" sz="3000" dirty="0" smtClean="0"/>
          </a:p>
          <a:p>
            <a:r>
              <a:rPr lang="en-US" sz="3000" dirty="0" smtClean="0"/>
              <a:t>Happiness </a:t>
            </a:r>
            <a:r>
              <a:rPr lang="en-US" sz="3000" dirty="0"/>
              <a:t>consists in living a “virtuous </a:t>
            </a:r>
            <a:r>
              <a:rPr lang="en-US" sz="3000" i="1" dirty="0"/>
              <a:t>life”</a:t>
            </a:r>
            <a:r>
              <a:rPr lang="en-US" sz="3000" dirty="0"/>
              <a:t>.</a:t>
            </a:r>
          </a:p>
          <a:p>
            <a:endParaRPr lang="en-US" sz="3000" dirty="0" smtClean="0"/>
          </a:p>
          <a:p>
            <a:r>
              <a:rPr lang="en-US" sz="3000" dirty="0" smtClean="0"/>
              <a:t>Why</a:t>
            </a:r>
            <a:r>
              <a:rPr lang="en-US" sz="3000" dirty="0"/>
              <a:t>? How did Aristotle reach this conclusion? </a:t>
            </a:r>
            <a:endParaRPr lang="en-US" sz="3000" dirty="0" smtClean="0"/>
          </a:p>
          <a:p>
            <a:r>
              <a:rPr lang="en-US" sz="3000" dirty="0" smtClean="0"/>
              <a:t>What </a:t>
            </a:r>
            <a:r>
              <a:rPr lang="en-US" sz="3000" dirty="0"/>
              <a:t>argument did he use to say that happiness is all about “living a good life”?</a:t>
            </a:r>
          </a:p>
        </p:txBody>
      </p:sp>
    </p:spTree>
    <p:extLst>
      <p:ext uri="{BB962C8B-B14F-4D97-AF65-F5344CB8AC3E}">
        <p14:creationId xmlns:p14="http://schemas.microsoft.com/office/powerpoint/2010/main" val="237833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106" y="503583"/>
            <a:ext cx="11092068" cy="5897217"/>
          </a:xfrm>
        </p:spPr>
        <p:txBody>
          <a:bodyPr>
            <a:normAutofit/>
          </a:bodyPr>
          <a:lstStyle/>
          <a:p>
            <a:endParaRPr lang="en-US" sz="3000" dirty="0" smtClean="0"/>
          </a:p>
          <a:p>
            <a:r>
              <a:rPr lang="en-US" sz="3000" dirty="0" smtClean="0"/>
              <a:t>Happiness </a:t>
            </a:r>
            <a:r>
              <a:rPr lang="en-US" sz="3000" dirty="0"/>
              <a:t>consists in virtuous </a:t>
            </a:r>
            <a:r>
              <a:rPr lang="en-US" sz="3000" i="1" dirty="0"/>
              <a:t>activity</a:t>
            </a:r>
            <a:r>
              <a:rPr lang="en-US" sz="3000" dirty="0"/>
              <a:t>. </a:t>
            </a:r>
            <a:endParaRPr lang="en-US" sz="3000" dirty="0" smtClean="0"/>
          </a:p>
          <a:p>
            <a:pPr lvl="1"/>
            <a:r>
              <a:rPr lang="en-US" sz="2800" dirty="0" smtClean="0"/>
              <a:t>Living </a:t>
            </a:r>
            <a:r>
              <a:rPr lang="en-US" sz="2800" dirty="0"/>
              <a:t>well consists in doing something, not just being in a certain state or condition. </a:t>
            </a:r>
          </a:p>
          <a:p>
            <a:pPr lvl="1"/>
            <a:r>
              <a:rPr lang="en-US" sz="2800" dirty="0" smtClean="0"/>
              <a:t>It </a:t>
            </a:r>
            <a:r>
              <a:rPr lang="en-US" sz="2800" dirty="0"/>
              <a:t>consists in those lifelong activities that actualize the virtues of the rational part of the soul.</a:t>
            </a:r>
          </a:p>
          <a:p>
            <a:endParaRPr lang="en-US" sz="3000" dirty="0" smtClean="0"/>
          </a:p>
          <a:p>
            <a:r>
              <a:rPr lang="en-US" sz="3000" dirty="0" smtClean="0"/>
              <a:t>At </a:t>
            </a:r>
            <a:r>
              <a:rPr lang="en-US" sz="3000" dirty="0"/>
              <a:t>the same time, Aristotle makes it clear that in order to be happy one must possess others goods as well—such goods as friends, wealth, and power</a:t>
            </a:r>
          </a:p>
        </p:txBody>
      </p:sp>
    </p:spTree>
    <p:extLst>
      <p:ext uri="{BB962C8B-B14F-4D97-AF65-F5344CB8AC3E}">
        <p14:creationId xmlns:p14="http://schemas.microsoft.com/office/powerpoint/2010/main" val="3763328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44557"/>
            <a:ext cx="10353763" cy="4810539"/>
          </a:xfrm>
        </p:spPr>
        <p:txBody>
          <a:bodyPr>
            <a:normAutofit/>
          </a:bodyPr>
          <a:lstStyle/>
          <a:p>
            <a:r>
              <a:rPr lang="en-US" dirty="0"/>
              <a:t>Another way of explaining… The so-called Function argument of Aristotle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07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609" y="463826"/>
            <a:ext cx="10933043" cy="6003235"/>
          </a:xfrm>
        </p:spPr>
        <p:txBody>
          <a:bodyPr>
            <a:noAutofit/>
          </a:bodyPr>
          <a:lstStyle/>
          <a:p>
            <a:r>
              <a:rPr lang="en-US" sz="2700" dirty="0"/>
              <a:t>To resolve this issue, Aristotle asks what the </a:t>
            </a:r>
            <a:r>
              <a:rPr lang="en-US" sz="2700" i="1" dirty="0"/>
              <a:t>ergon</a:t>
            </a:r>
            <a:r>
              <a:rPr lang="en-US" sz="2700" dirty="0"/>
              <a:t>(“function”, “task”, “work”) of a human being is, and argues that it consists in activity of the rational part of the soul in accordance with virtue</a:t>
            </a:r>
          </a:p>
          <a:p>
            <a:r>
              <a:rPr lang="en-US" sz="2700" dirty="0"/>
              <a:t>The good of a human being must have something to do with being human; and what sets humanity off from other species, giving us the potential to live a better life, is our capacity to guide ourselves by using reason. </a:t>
            </a:r>
          </a:p>
          <a:p>
            <a:r>
              <a:rPr lang="en-US" sz="2700" dirty="0"/>
              <a:t>If we use reason well, we live well as human beings; or, to be more precise, using reason well over the course of a full life is what happiness consists in. </a:t>
            </a:r>
          </a:p>
          <a:p>
            <a:r>
              <a:rPr lang="en-US" sz="2700" dirty="0"/>
              <a:t>Doing anything well requires virtue or excellence, and therefore living well consists in activities caused by the rational soul in accordance with virtue or excellence.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96243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 of happiness: Thomas Aquinas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591" y="1732451"/>
            <a:ext cx="11025809" cy="4761114"/>
          </a:xfrm>
        </p:spPr>
        <p:txBody>
          <a:bodyPr>
            <a:normAutofit/>
          </a:bodyPr>
          <a:lstStyle/>
          <a:p>
            <a:r>
              <a:rPr lang="en-US" sz="2600" dirty="0" smtClean="0"/>
              <a:t>Based </a:t>
            </a:r>
            <a:r>
              <a:rPr lang="en-US" sz="2600" dirty="0"/>
              <a:t>on rational arguments and human experience</a:t>
            </a:r>
          </a:p>
          <a:p>
            <a:r>
              <a:rPr lang="en-US" sz="2600" dirty="0" smtClean="0"/>
              <a:t>Possible </a:t>
            </a:r>
            <a:r>
              <a:rPr lang="en-US" sz="2600" dirty="0"/>
              <a:t>sources of human happiness and why they cannot be the final goal (or what can make us truly happy)Wealth</a:t>
            </a:r>
          </a:p>
          <a:p>
            <a:r>
              <a:rPr lang="en-US" sz="2600" dirty="0"/>
              <a:t>Bodily goods</a:t>
            </a:r>
          </a:p>
          <a:p>
            <a:r>
              <a:rPr lang="en-US" sz="2600" dirty="0"/>
              <a:t>Spiritual goods </a:t>
            </a:r>
          </a:p>
          <a:p>
            <a:r>
              <a:rPr lang="en-US" sz="2600" dirty="0"/>
              <a:t>Pleasure (hedonism)</a:t>
            </a:r>
          </a:p>
          <a:p>
            <a:r>
              <a:rPr lang="en-US" sz="2600" dirty="0"/>
              <a:t>Power</a:t>
            </a:r>
          </a:p>
          <a:p>
            <a:endParaRPr lang="en-US" sz="2600" dirty="0"/>
          </a:p>
          <a:p>
            <a:r>
              <a:rPr lang="en-US" sz="2600" dirty="0" smtClean="0"/>
              <a:t>What </a:t>
            </a:r>
            <a:r>
              <a:rPr lang="en-US" sz="2600" dirty="0"/>
              <a:t>is the conclusion of St. Thomas Aquinas?</a:t>
            </a:r>
          </a:p>
        </p:txBody>
      </p:sp>
    </p:spTree>
    <p:extLst>
      <p:ext uri="{BB962C8B-B14F-4D97-AF65-F5344CB8AC3E}">
        <p14:creationId xmlns:p14="http://schemas.microsoft.com/office/powerpoint/2010/main" val="162190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499" y="645772"/>
            <a:ext cx="10986658" cy="5622506"/>
          </a:xfrm>
        </p:spPr>
        <p:txBody>
          <a:bodyPr>
            <a:noAutofit/>
          </a:bodyPr>
          <a:lstStyle/>
          <a:p>
            <a:r>
              <a:rPr lang="en-US" sz="3000" dirty="0" smtClean="0"/>
              <a:t>Wealth</a:t>
            </a:r>
            <a:r>
              <a:rPr lang="en-US" sz="3000" dirty="0"/>
              <a:t>: something necessary to meet our basic needs but they are subordinated to the dignity of the person; they are only means to an end Wealthy people who are sad and lonely…..</a:t>
            </a:r>
          </a:p>
          <a:p>
            <a:endParaRPr lang="en-US" sz="3000" dirty="0"/>
          </a:p>
          <a:p>
            <a:r>
              <a:rPr lang="en-US" sz="3000" dirty="0"/>
              <a:t>•Health: also necessary but as we are spiritual beings, the body is subordinated to the spirit [our search for happiness goes beyond the satisfaction of bodily needs</a:t>
            </a:r>
            <a:r>
              <a:rPr lang="en-US" sz="3000" dirty="0" smtClean="0"/>
              <a:t>] It </a:t>
            </a:r>
            <a:r>
              <a:rPr lang="en-US" sz="3000" dirty="0"/>
              <a:t>does not mean we enjoy suffering but we need to find meaning in suffering</a:t>
            </a:r>
            <a:r>
              <a:rPr lang="en-US" sz="3000" dirty="0" smtClean="0"/>
              <a:t>…</a:t>
            </a:r>
            <a:endParaRPr lang="en-US" sz="3000" dirty="0"/>
          </a:p>
          <a:p>
            <a:r>
              <a:rPr lang="en-US" sz="3000" dirty="0"/>
              <a:t>Sick people who are happy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1057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21635"/>
            <a:ext cx="10353763" cy="4969567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000" dirty="0" smtClean="0"/>
              <a:t>Power: </a:t>
            </a:r>
          </a:p>
          <a:p>
            <a:r>
              <a:rPr lang="en-US" sz="3000" dirty="0" smtClean="0"/>
              <a:t>Is </a:t>
            </a:r>
            <a:r>
              <a:rPr lang="en-US" sz="3000" dirty="0"/>
              <a:t>something temporary; you can only “enjoy” it as long as you have it</a:t>
            </a:r>
          </a:p>
          <a:p>
            <a:r>
              <a:rPr lang="en-US" sz="3000" dirty="0"/>
              <a:t>People in power not necessarily happy</a:t>
            </a:r>
          </a:p>
          <a:p>
            <a:r>
              <a:rPr lang="en-US" sz="3000" dirty="0"/>
              <a:t>People who are never satisfied with what they have: they want “more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6160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35" y="609601"/>
            <a:ext cx="11105322" cy="604299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None </a:t>
            </a:r>
            <a:r>
              <a:rPr lang="en-US" sz="2800" dirty="0"/>
              <a:t>of the created goods nor all of them together can satisfy the desire for happiness that lies in man's nature</a:t>
            </a:r>
          </a:p>
          <a:p>
            <a:r>
              <a:rPr lang="en-US" sz="2800" dirty="0" smtClean="0"/>
              <a:t>Why</a:t>
            </a:r>
            <a:r>
              <a:rPr lang="en-US" sz="2800" dirty="0"/>
              <a:t>? Man as a spiritual reality cannot be satisfied by something material. </a:t>
            </a:r>
          </a:p>
          <a:p>
            <a:r>
              <a:rPr lang="en-US" sz="2800" dirty="0" smtClean="0"/>
              <a:t>Created </a:t>
            </a:r>
            <a:r>
              <a:rPr lang="en-US" sz="2800" dirty="0"/>
              <a:t>things cannot satisfy our desire precisely because they are finite goods: can be lost or destroyed.</a:t>
            </a:r>
          </a:p>
          <a:p>
            <a:r>
              <a:rPr lang="en-US" sz="2800" dirty="0" smtClean="0"/>
              <a:t>Our </a:t>
            </a:r>
            <a:r>
              <a:rPr lang="en-US" sz="2800" dirty="0"/>
              <a:t>infinite desire for happiness can only be satisfied by some good that is equally infinite: Supreme Being Himself.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only good thing that can make man fully happy is one that is immaterial and infinite; the only good thing that exists is God Himself. Therefore, the only that can make man entirely happy is God.</a:t>
            </a:r>
          </a:p>
        </p:txBody>
      </p:sp>
    </p:spTree>
    <p:extLst>
      <p:ext uri="{BB962C8B-B14F-4D97-AF65-F5344CB8AC3E}">
        <p14:creationId xmlns:p14="http://schemas.microsoft.com/office/powerpoint/2010/main" val="3935478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1084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Calisto MT</vt:lpstr>
      <vt:lpstr>Trebuchet MS</vt:lpstr>
      <vt:lpstr>Wingdings 2</vt:lpstr>
      <vt:lpstr>Slate</vt:lpstr>
      <vt:lpstr>The desire for happiness and the moral life</vt:lpstr>
      <vt:lpstr>Ethical theories of happiness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way of explaining… The so-called Function argument of Aristotle</vt:lpstr>
      <vt:lpstr>PowerPoint Presentation</vt:lpstr>
      <vt:lpstr>The concept of happiness: Thomas Aquinas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user</cp:lastModifiedBy>
  <cp:revision>44</cp:revision>
  <dcterms:created xsi:type="dcterms:W3CDTF">2020-07-20T04:29:53Z</dcterms:created>
  <dcterms:modified xsi:type="dcterms:W3CDTF">2024-07-04T14:38:06Z</dcterms:modified>
</cp:coreProperties>
</file>