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307" r:id="rId7"/>
    <p:sldId id="299" r:id="rId8"/>
    <p:sldId id="300" r:id="rId9"/>
    <p:sldId id="301" r:id="rId10"/>
    <p:sldId id="302" r:id="rId11"/>
    <p:sldId id="303" r:id="rId12"/>
    <p:sldId id="304" r:id="rId13"/>
    <p:sldId id="311" r:id="rId14"/>
    <p:sldId id="305" r:id="rId15"/>
    <p:sldId id="306" r:id="rId16"/>
    <p:sldId id="308" r:id="rId17"/>
    <p:sldId id="309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D1F9829-CD5A-4EA0-968F-7017E6E2E400}">
          <p14:sldIdLst>
            <p14:sldId id="256"/>
            <p14:sldId id="257"/>
            <p14:sldId id="307"/>
            <p14:sldId id="299"/>
            <p14:sldId id="300"/>
            <p14:sldId id="301"/>
            <p14:sldId id="302"/>
            <p14:sldId id="303"/>
            <p14:sldId id="304"/>
            <p14:sldId id="311"/>
            <p14:sldId id="305"/>
            <p14:sldId id="306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46" autoAdjust="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95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VIRTUE ETHICS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22DDD-CB50-2268-88ED-92C5BA74415F}"/>
              </a:ext>
            </a:extLst>
          </p:cNvPr>
          <p:cNvSpPr txBox="1"/>
          <p:nvPr/>
        </p:nvSpPr>
        <p:spPr>
          <a:xfrm>
            <a:off x="6783978" y="4902926"/>
            <a:ext cx="41539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Presented by</a:t>
            </a:r>
            <a:r>
              <a:rPr lang="en-US" b="1" dirty="0"/>
              <a:t>:</a:t>
            </a:r>
          </a:p>
          <a:p>
            <a:r>
              <a:rPr lang="en-US" b="1" dirty="0"/>
              <a:t>Pius </a:t>
            </a:r>
            <a:r>
              <a:rPr lang="en-US" b="1" dirty="0" err="1"/>
              <a:t>Kakeeto</a:t>
            </a:r>
            <a:endParaRPr lang="en-US" b="1" dirty="0"/>
          </a:p>
          <a:p>
            <a:r>
              <a:rPr lang="en-US" b="1" dirty="0"/>
              <a:t>Yonah Abuya</a:t>
            </a:r>
          </a:p>
          <a:p>
            <a:r>
              <a:rPr lang="en-US" b="1" dirty="0"/>
              <a:t>Majok Deng</a:t>
            </a:r>
          </a:p>
          <a:p>
            <a:r>
              <a:rPr lang="en-US" b="1"/>
              <a:t>Keane Mbae</a:t>
            </a:r>
            <a:endParaRPr lang="en-US" b="1" dirty="0"/>
          </a:p>
          <a:p>
            <a:r>
              <a:rPr lang="en-US" b="1" dirty="0"/>
              <a:t>Gregory Elly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 is a stable and positive habit acquired through the repeated performance of good actions.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 perfects a person’s key faculties of intellect and will and consistently inclines them toward goodness, excellence and aligns them with human nature.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Virtue is not just rule-following; it enhances freedom, enabling one to joyfully and freely choose the good.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With time virtue becomes second nature making right actions easy and confident.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C632-FE45-4653-1D41-9A37F174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5785-80DD-28A0-3A3B-640495E66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The word virtue comes from the Latin word </a:t>
            </a:r>
            <a:r>
              <a:rPr lang="en-GB" i="1" dirty="0" err="1">
                <a:effectLst/>
                <a:latin typeface="Aptos" panose="020B0004020202020204" pitchFamily="34" charset="0"/>
                <a:ea typeface="Aptos" panose="020B0004020202020204" pitchFamily="34" charset="0"/>
              </a:rPr>
              <a:t>virtus</a:t>
            </a:r>
            <a:r>
              <a:rPr lang="en-GB" i="1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, 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which is equivalent to the term </a:t>
            </a:r>
            <a:r>
              <a:rPr lang="en-GB" i="1" dirty="0" err="1">
                <a:effectLst/>
                <a:latin typeface="Aptos" panose="020B0004020202020204" pitchFamily="34" charset="0"/>
                <a:ea typeface="Aptos" panose="020B0004020202020204" pitchFamily="34" charset="0"/>
              </a:rPr>
              <a:t>vir</a:t>
            </a:r>
            <a:r>
              <a:rPr lang="en-GB" i="1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 </a:t>
            </a: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which means man or male.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It signifies an acquired habit that perfects or strengthens some active potency.</a:t>
            </a:r>
            <a:endParaRPr lang="en-GB" dirty="0">
              <a:latin typeface="Aptos" panose="020B0004020202020204" pitchFamily="34" charset="0"/>
              <a:ea typeface="Aptos" panose="020B00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 first </a:t>
            </a:r>
            <a:r>
              <a:rPr lang="en-GB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virtus</a:t>
            </a: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meant manliness or </a:t>
            </a:r>
            <a:r>
              <a:rPr lang="en-GB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valor</a:t>
            </a: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but overtime, it came to be known as moral excellence</a:t>
            </a:r>
            <a:r>
              <a:rPr lang="en-GB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8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AA49-69B1-0A8A-CAA4-42E362F0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VIRTUE AS AN OPERATIVE HABIT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A202B-6630-29CD-823D-6894C1D6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 operative habit is a stable disposition that directs a person’s internal faculties (intellect and will) toward consistent good action.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It connects potential and action, helping one realize their moral and intellectual capacity.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 as an operative habit can be analyzed in three key dimensions: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Perfecting human potencies</a:t>
            </a: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Stability and Dynamism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Alignment with Human Nature</a:t>
            </a:r>
            <a:endParaRPr lang="en-US" sz="2800" dirty="0">
              <a:latin typeface="Aptos" panose="020B00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50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6AA2-99A8-C711-B555-04E77B34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Perfecting Human </a:t>
            </a:r>
            <a:r>
              <a:rPr lang="en-US" sz="44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</a:t>
            </a:r>
            <a: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otencies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4FF6F-53D5-07EB-38B7-46B486FEB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 refines and elevates our natural faculties: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Intellectual Virtues e.g. wisdom, understanding, art perfect the intellect and enhance our ability to know, reason and create.</a:t>
            </a: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hey can be used for good or evil depending on one’s will.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Moral Virtues e.g. prudence, fortitude and temperance guide the will and emotions, ensuring the actions align with ethical principles.</a:t>
            </a: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They always involve commitment to the good.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65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5C1B-06B0-CD0B-4398-6AA971A41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Stability and Dynamism</a:t>
            </a:r>
            <a:b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E0E1F-90BC-0F29-BCF7-29CB147A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1503660"/>
            <a:ext cx="9779182" cy="336681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Virtues are both stable and capable of growth:</a:t>
            </a:r>
          </a:p>
          <a:p>
            <a:pPr marL="914400" lvl="1" indent="-457200">
              <a:buFont typeface="+mj-lt"/>
              <a:buAutoNum type="romanLcPeriod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 is not the result of one good action but of habitual practice.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Aristotle said, “One swallow does not make a summer”, meaning that one generous act does not make someone generous. </a:t>
            </a:r>
          </a:p>
          <a:p>
            <a:pPr marL="914400" lvl="1" indent="-457200">
              <a:buFont typeface="+mj-lt"/>
              <a:buAutoNum type="romanLcPeriod"/>
            </a:pPr>
            <a:r>
              <a:rPr lang="en-US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Like muscles, virtues develop with use and weaken with neglect. </a:t>
            </a:r>
          </a:p>
          <a:p>
            <a:pPr marL="914400" lvl="1" indent="-457200">
              <a:buFont typeface="+mj-lt"/>
              <a:buAutoNum type="romanLcPeriod"/>
            </a:pP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75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77D8-3CC9-3E69-2380-48343FF7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Alignment with Human Nature</a:t>
            </a:r>
            <a:br>
              <a:rPr lang="en-US" sz="4400" dirty="0">
                <a:latin typeface="Aptos" panose="020B00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7A2D7-ACC5-B666-1490-2D513D845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Virtues are not foreign to us; they fulfill our natural potential as rational and moral beings.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They transform free acts into spontaneous goodness.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example, a virtuous person who values justice will instinctively treat others fairly, not because of external pressure but because fairness is part of who they are.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65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B00E-C826-F780-E97C-6447F329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VIRTUE v CUSTOM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1291-D39F-0285-5D46-18313484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concepts of virtue and custom are frequently misunderstood.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However, within philosophical ethics-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these two concepts are fundamentally distinct in both nature and moral significance.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According to Thomas Aquinas, virtue is defined as a good operative habit—a stable disposition of the soul that inclines a person to perform morally good acts.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definition draws from the Aristotelian view that virtue (</a:t>
            </a:r>
            <a:r>
              <a:rPr lang="en-US" sz="1600" i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aretē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is a habitual and firm disposition to do good, which perfects the rational nature of the human being.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Aristotle describes virtue as a "mean between extremes," chosen with reason by a person of practical wisdom.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Virtue, therefore, is not simply the repeated performance of certain actions but involves deliberate choice, rational judgment, and the perfection of the will.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Example: 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 adult who expresses gratitude consistently and sincerely because they recognize the value of kindness and respect for others is practicing the virtue of gratitude.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655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9A61-FD1D-8E0C-7812-CF01622B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VIRTUE v CUSTOM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B8E7-0898-AA13-4A96-AEFA7638A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70" y="1846436"/>
            <a:ext cx="9779182" cy="3366815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 contrast, </a:t>
            </a:r>
            <a:r>
              <a:rPr lang="en-US" sz="31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</a:t>
            </a:r>
            <a:r>
              <a:rPr lang="en-US" sz="3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refers to a habitual way of acting formed through </a:t>
            </a:r>
            <a:r>
              <a:rPr lang="en-US" sz="31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repetition of external behavior</a:t>
            </a:r>
            <a:r>
              <a:rPr lang="en-US" sz="3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often acquired unconsciously or through social influence.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Aquinas explicitly distinguishes custom from virtue- </a:t>
            </a:r>
            <a:r>
              <a:rPr lang="en-US" sz="3100" dirty="0">
                <a:latin typeface="Aptos" panose="020B0004020202020204" pitchFamily="34" charset="0"/>
              </a:rPr>
              <a:t>Both involve repetition, but </a:t>
            </a:r>
            <a:r>
              <a:rPr lang="en-US" sz="3100" b="1" dirty="0">
                <a:latin typeface="Aptos" panose="020B0004020202020204" pitchFamily="34" charset="0"/>
              </a:rPr>
              <a:t>virtue</a:t>
            </a:r>
            <a:r>
              <a:rPr lang="en-US" sz="3100" dirty="0">
                <a:latin typeface="Aptos" panose="020B0004020202020204" pitchFamily="34" charset="0"/>
              </a:rPr>
              <a:t> includes </a:t>
            </a:r>
            <a:r>
              <a:rPr lang="en-US" sz="3100" b="1" dirty="0">
                <a:latin typeface="Aptos" panose="020B0004020202020204" pitchFamily="34" charset="0"/>
              </a:rPr>
              <a:t>rational choice</a:t>
            </a:r>
            <a:r>
              <a:rPr lang="en-US" sz="3100" dirty="0">
                <a:latin typeface="Aptos" panose="020B0004020202020204" pitchFamily="34" charset="0"/>
              </a:rPr>
              <a:t> and </a:t>
            </a:r>
            <a:r>
              <a:rPr lang="en-US" sz="3100" b="1" dirty="0">
                <a:latin typeface="Aptos" panose="020B0004020202020204" pitchFamily="34" charset="0"/>
              </a:rPr>
              <a:t>moral intention</a:t>
            </a:r>
            <a:r>
              <a:rPr lang="en-US" sz="3100" dirty="0">
                <a:latin typeface="Aptos" panose="020B0004020202020204" pitchFamily="34" charset="0"/>
              </a:rPr>
              <a:t>, shaping one’s character.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100" b="1" dirty="0">
                <a:latin typeface="Aptos" panose="020B0004020202020204" pitchFamily="34" charset="0"/>
              </a:rPr>
              <a:t>Custom</a:t>
            </a:r>
            <a:r>
              <a:rPr lang="en-US" sz="3100" dirty="0">
                <a:latin typeface="Aptos" panose="020B0004020202020204" pitchFamily="34" charset="0"/>
              </a:rPr>
              <a:t> may guide actions but doesn’t perfect the soul unless informed by conscious intention.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100" dirty="0">
                <a:latin typeface="Aptos" panose="020B0004020202020204" pitchFamily="34" charset="0"/>
              </a:rPr>
              <a:t>A child saying “thank you” out of habit shows </a:t>
            </a:r>
            <a:r>
              <a:rPr lang="en-US" sz="3100" b="1" dirty="0">
                <a:latin typeface="Aptos" panose="020B0004020202020204" pitchFamily="34" charset="0"/>
              </a:rPr>
              <a:t>custom</a:t>
            </a:r>
            <a:r>
              <a:rPr lang="en-US" sz="3100" dirty="0">
                <a:latin typeface="Aptos" panose="020B0004020202020204" pitchFamily="34" charset="0"/>
              </a:rPr>
              <a:t>, not true </a:t>
            </a:r>
            <a:r>
              <a:rPr lang="en-US" sz="3100" b="1" dirty="0">
                <a:latin typeface="Aptos" panose="020B0004020202020204" pitchFamily="34" charset="0"/>
              </a:rPr>
              <a:t>gratitude</a:t>
            </a:r>
            <a:r>
              <a:rPr lang="en-US" sz="3100" dirty="0">
                <a:latin typeface="Aptos" panose="020B000402020202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Therefore, virtue and custom, though related in form, are distinct in nature and ethical significance.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52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D003-3093-BADA-3D06-7FF9869C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VIRTUES AND NORMS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4EC8E-7959-BAC3-2D29-CD5788228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Aptos" panose="020B0004020202020204" pitchFamily="34" charset="0"/>
              </a:rPr>
              <a:t>Norms facilitate the task of educating in virtue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Aptos" panose="020B0004020202020204" pitchFamily="34" charset="0"/>
              </a:rPr>
              <a:t>Norms have a pedagogical value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Aptos" panose="020B0004020202020204" pitchFamily="34" charset="0"/>
              </a:rPr>
              <a:t>Virtues are a justification of norms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Aptos" panose="020B0004020202020204" pitchFamily="34" charset="0"/>
              </a:rPr>
              <a:t>The aim of norms is to help men practice and acquire the virtues</a:t>
            </a:r>
          </a:p>
        </p:txBody>
      </p:sp>
    </p:spTree>
    <p:extLst>
      <p:ext uri="{BB962C8B-B14F-4D97-AF65-F5344CB8AC3E}">
        <p14:creationId xmlns:p14="http://schemas.microsoft.com/office/powerpoint/2010/main" val="2347055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E5A4-6052-5813-F0FB-125014FE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INTELLECTUAL VIRTUES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CD13A-B3DA-F7B8-A191-4D868839C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Intellectual virtues make it easier for humans to know the moral order and the correct way of acting making it easier for man to achieve his final goal.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They include: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Virtues of Speculative Reason: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Habit of the First Speculative Principles(</a:t>
            </a:r>
            <a:r>
              <a:rPr lang="en-US" sz="24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intellectus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Habit of the First Moral Principles (</a:t>
            </a:r>
            <a:r>
              <a:rPr lang="en-US" sz="2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synderesis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Wisdom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Science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Virtues of Practical Reason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Prudence</a:t>
            </a:r>
            <a:endParaRPr lang="en-US" sz="24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 or Technique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4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BF79-259A-195F-2D42-8053412D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Virtues of Speculative Reason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F4BB2-4F99-9BB6-7A79-85C0F9132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6436"/>
            <a:ext cx="9779182" cy="433108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Habit of the First Speculative Principles(</a:t>
            </a:r>
            <a:r>
              <a:rPr lang="en-US" sz="24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intellectus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is the habit that enables a person to know the first principles of reality, which are evident in themselves. </a:t>
            </a: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Not inborn, but a natural intellectual light guiding correct judgment.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Habit of the First Moral Principles (</a:t>
            </a:r>
            <a:r>
              <a:rPr lang="en-US" sz="2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synderesis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is the habit that enables man to discover the ethical principles enabling him to discern what is morally good or evil.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Wisdom: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is the habit of considering things from the point of view of the final cause of reality.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Recognizes God as the source and end of all things.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6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05DB-5937-FEE6-6013-65D87017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Virtues of Speculative Reason contd.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15573-ED76-E97F-79EB-D3140BFF2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Science: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the habit of studying the final causes of everything and deriving conclusions from them. </a:t>
            </a: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Aptos" panose="020B0004020202020204" pitchFamily="34" charset="0"/>
              </a:rPr>
              <a:t>Seeks to understand the nature and structure of things.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4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D89-2B07-C18E-130C-F65303BA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Virtues of Practical Reason</a:t>
            </a:r>
            <a:b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E28ED-24B6-EFD9-FA4C-59C397DEB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79" y="1745592"/>
            <a:ext cx="9779182" cy="336681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Prudence:</a:t>
            </a:r>
            <a:endParaRPr lang="en-US" sz="2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determines what should be done in specific situations to act in a virtuous way.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guides human activity making it possible for them to reach their perfection; recta</a:t>
            </a:r>
            <a:r>
              <a:rPr lang="en-US" sz="26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ratio </a:t>
            </a:r>
            <a:r>
              <a:rPr lang="en-US" sz="26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agibilium</a:t>
            </a:r>
            <a:r>
              <a:rPr lang="en-U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correct knowledge of what ought to be done.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Aptos" panose="020B0004020202020204" pitchFamily="34" charset="0"/>
              </a:rPr>
              <a:t>Makes conscience judgments habitually correct.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 or Technique:</a:t>
            </a:r>
            <a:endParaRPr lang="en-US" sz="2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helps a person know how to produce a particular object.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Aptos" panose="020B0004020202020204" pitchFamily="34" charset="0"/>
              </a:rPr>
              <a:t>Perfects the intellect in achieving practical goals</a:t>
            </a:r>
            <a:r>
              <a:rPr lang="en-US" sz="2600" dirty="0">
                <a:latin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en-US" sz="26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recta ratio </a:t>
            </a:r>
            <a:r>
              <a:rPr lang="en-US" sz="26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factibilium</a:t>
            </a:r>
            <a:r>
              <a:rPr lang="en-US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correct knowledge of how to do things.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515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1613-9CBC-A687-0DAC-8B55C9A9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295F1-CF52-536D-AD6E-2B06FF951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Intellectual virtues improve man’s capacity to think and act well but are not in themselves good and may be used in a bad way.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this reason, these habits are not virtues in the full sense of the word; a quality that makes the person who has them morally good.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8192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{0651C9CA-40F5-4ED2-89F5-01E5065C262A}tf45331398_win32</Template>
  <TotalTime>74</TotalTime>
  <Words>1096</Words>
  <Application>Microsoft Office PowerPoint</Application>
  <PresentationFormat>Widescreen</PresentationFormat>
  <Paragraphs>93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Tenorite</vt:lpstr>
      <vt:lpstr>Times New Roman</vt:lpstr>
      <vt:lpstr>Wingdings</vt:lpstr>
      <vt:lpstr>Custom</vt:lpstr>
      <vt:lpstr>VIRTUE ETHICS</vt:lpstr>
      <vt:lpstr>DEFINITION</vt:lpstr>
      <vt:lpstr>PowerPoint Presentation</vt:lpstr>
      <vt:lpstr>VIRTUE AS AN OPERATIVE HABIT</vt:lpstr>
      <vt:lpstr>Perfecting Human Potencies</vt:lpstr>
      <vt:lpstr>   Stability and Dynamism </vt:lpstr>
      <vt:lpstr>Alignment with Human Nature </vt:lpstr>
      <vt:lpstr>VIRTUE v CUSTOM</vt:lpstr>
      <vt:lpstr>VIRTUE v CUSTOM contd.</vt:lpstr>
      <vt:lpstr>VIRTUES AND NORMS</vt:lpstr>
      <vt:lpstr>INTELLECTUAL VIRTUES</vt:lpstr>
      <vt:lpstr>The Virtues of Speculative Reason</vt:lpstr>
      <vt:lpstr>The Virtues of Speculative Reason contd.</vt:lpstr>
      <vt:lpstr>The Virtues of Practical Reason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Elly</dc:creator>
  <cp:lastModifiedBy>Gregory Elly</cp:lastModifiedBy>
  <cp:revision>3</cp:revision>
  <dcterms:created xsi:type="dcterms:W3CDTF">2025-05-25T16:02:11Z</dcterms:created>
  <dcterms:modified xsi:type="dcterms:W3CDTF">2025-05-26T06:24:03Z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