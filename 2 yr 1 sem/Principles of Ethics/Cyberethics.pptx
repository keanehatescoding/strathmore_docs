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8"/>
  </p:notesMasterIdLst>
  <p:handoutMasterIdLst>
    <p:handoutMasterId r:id="rId29"/>
  </p:handoutMasterIdLst>
  <p:sldIdLst>
    <p:sldId id="25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61" d="100"/>
          <a:sy n="61" d="100"/>
        </p:scale>
        <p:origin x="6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-18025" y="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1" y="4764219"/>
            <a:ext cx="10993549" cy="895244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changing landscape of cybercrime and emerging ethical concerns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2" y="5648347"/>
            <a:ext cx="10993546" cy="484822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C7F2-E7DF-8F42-A283-7430642B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39558"/>
          </a:xfrm>
        </p:spPr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C3BC4-4D48-BA15-E3A3-C23DD9E82C33}"/>
              </a:ext>
            </a:extLst>
          </p:cNvPr>
          <p:cNvSpPr txBox="1"/>
          <p:nvPr/>
        </p:nvSpPr>
        <p:spPr>
          <a:xfrm>
            <a:off x="371061" y="2001078"/>
            <a:ext cx="1164866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 Cybercrime has evolved from harmless hacks to serious, global threats.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 In 1834, the first known cyberattack exploited France’s telegraph system for profit.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 Today, it's no longer rare — it’s a constant risk that evolves with technology.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490056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7727-029F-8746-61CF-2384B7C41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changing face of cybercrime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E3CDE-7ACD-E7FC-4D20-BF436D2128A9}"/>
              </a:ext>
            </a:extLst>
          </p:cNvPr>
          <p:cNvSpPr txBox="1"/>
          <p:nvPr/>
        </p:nvSpPr>
        <p:spPr>
          <a:xfrm>
            <a:off x="581192" y="2098766"/>
            <a:ext cx="96949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Cybercrime is evolving rapidly with tech innovations.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Organized, business-like groups replacing solo hackers.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 The dark web and cryptocurrencies enable anonymous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Social engineering has become highly sophisticated.</a:t>
            </a:r>
          </a:p>
          <a:p>
            <a:pPr marL="457200" indent="-457200"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0298366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D979-F743-52EA-06A2-356BCBC1E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Technological advancements enabling cybercrime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1CE40-B3C9-C66A-F187-9322BA7616B2}"/>
              </a:ext>
            </a:extLst>
          </p:cNvPr>
          <p:cNvSpPr txBox="1"/>
          <p:nvPr/>
        </p:nvSpPr>
        <p:spPr>
          <a:xfrm>
            <a:off x="896983" y="2229394"/>
            <a:ext cx="908190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Emerging technologies have enhanced the capabilities of cybercriminals.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AI generates scripts, automates attacks, and creates flawless phishing emails.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Traditional red flags (grammar, spelling errors) no longer apply.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2824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DFDC-B5F7-94F8-0439-111748168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Shift from Lone Hackers to Organized Groups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0F4ECC-6D27-C93A-9738-575B4A5CD5CC}"/>
              </a:ext>
            </a:extLst>
          </p:cNvPr>
          <p:cNvSpPr txBox="1"/>
          <p:nvPr/>
        </p:nvSpPr>
        <p:spPr>
          <a:xfrm>
            <a:off x="715617" y="2186609"/>
            <a:ext cx="890546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Cybercrime has moved from lone attacks by individuals to organized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Groups function like companies with specialized roles and hierarchy.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Examples: Anonymous, Scattered Spider.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9250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A50BB-F469-DADD-B65A-0B7F3326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Dark Web and Cryptocurrencies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41379D-CFFD-6C63-4565-00DD4BEC0669}"/>
              </a:ext>
            </a:extLst>
          </p:cNvPr>
          <p:cNvSpPr txBox="1"/>
          <p:nvPr/>
        </p:nvSpPr>
        <p:spPr>
          <a:xfrm>
            <a:off x="581192" y="2173357"/>
            <a:ext cx="809898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dark web is a hidden part of the internet not indexed by regular search engines.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It has been used for illegal services like cybercrime-as-a-service.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Cryptos like Bitcoin and Monero are used to ensure anonymity.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 dark web has also been used to share insider data among criminals.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92492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1042-7A9F-562F-A447-AFB1157E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Social Engineering Evolution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13639-0754-AB59-2A57-67D0D994B942}"/>
              </a:ext>
            </a:extLst>
          </p:cNvPr>
          <p:cNvSpPr txBox="1"/>
          <p:nvPr/>
        </p:nvSpPr>
        <p:spPr>
          <a:xfrm>
            <a:off x="424070" y="2213113"/>
            <a:ext cx="1021742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Social engineering attacks have become more advanced.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AI enables highly personalized and psychological attacks.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Voice cloning and advanced manipulation techniques have been used by cybercriminals to exploit human psychology.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98563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9F58-FF34-73A2-8B07-E95C58308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Ethical Concerns Raised by Modern Cybercrime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0C806-77EF-0A7E-FDD3-53DB4D269C24}"/>
              </a:ext>
            </a:extLst>
          </p:cNvPr>
          <p:cNvSpPr txBox="1"/>
          <p:nvPr/>
        </p:nvSpPr>
        <p:spPr>
          <a:xfrm>
            <a:off x="581192" y="2186609"/>
            <a:ext cx="991453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Privacy vs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Hacktivism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AI in Cyber Offense and Defense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Victim Blaming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Digital Divide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Cyber Vigilantism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41310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5162-9AFD-BC1F-5669-6A7EC87F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Privacy vs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823B7-F851-599B-6FBE-241D453A5D42}"/>
              </a:ext>
            </a:extLst>
          </p:cNvPr>
          <p:cNvSpPr txBox="1"/>
          <p:nvPr/>
        </p:nvSpPr>
        <p:spPr>
          <a:xfrm>
            <a:off x="581192" y="2279374"/>
            <a:ext cx="103385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Gill Sans MT (Body)"/>
                <a:ea typeface="Aptos" panose="020B0004020202020204" pitchFamily="34" charset="0"/>
                <a:cs typeface="Times New Roman" panose="02020603050405020304" pitchFamily="18" charset="0"/>
              </a:rPr>
              <a:t>Governments and corporations often justify surveillance programs in the name of national security and crime prevention.</a:t>
            </a:r>
            <a:endParaRPr lang="en-US" sz="3200" dirty="0">
              <a:latin typeface="Gill Sans MT (Body)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Ethical dilemma: How much freedom and privacy should individuals sacrifice?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Risk of misuse and abuse of 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0239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35C9-C965-463A-7F9E-D11B7EB5C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Hacking for a Cause (Hacktivism)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8435B-C248-D549-0B6F-36BCC9312007}"/>
              </a:ext>
            </a:extLst>
          </p:cNvPr>
          <p:cNvSpPr txBox="1"/>
          <p:nvPr/>
        </p:nvSpPr>
        <p:spPr>
          <a:xfrm>
            <a:off x="581191" y="2040835"/>
            <a:ext cx="1017957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Gill Sans MT (Body)"/>
                <a:ea typeface="Aptos" panose="020B0004020202020204" pitchFamily="34" charset="0"/>
                <a:cs typeface="Times New Roman" panose="02020603050405020304" pitchFamily="18" charset="0"/>
              </a:rPr>
              <a:t>Groups like Anonymous or individuals like Edward Snowden have engaged in unauthorized cyber activity for what they perceive as moral or political reasons</a:t>
            </a:r>
            <a:r>
              <a:rPr lang="en-GB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Seen as either heroes or criminals.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ill Sans MT (Body)"/>
              </a:rPr>
              <a:t> The ethics of hacktivism depend on one’s perspective. </a:t>
            </a:r>
            <a:r>
              <a:rPr lang="en-GB" sz="3200" kern="100" dirty="0">
                <a:effectLst/>
                <a:latin typeface="Gill Sans MT (Body)"/>
                <a:ea typeface="Aptos" panose="020B0004020202020204" pitchFamily="34" charset="0"/>
                <a:cs typeface="Times New Roman" panose="02020603050405020304" pitchFamily="18" charset="0"/>
              </a:rPr>
              <a:t>Is breaking the law ever justified if the cause is deemed righteous?</a:t>
            </a:r>
            <a:endParaRPr lang="en-US" sz="3200" kern="100" dirty="0">
              <a:effectLst/>
              <a:latin typeface="Gill Sans MT (Body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55410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0855-A25E-328C-ED0C-A3E91D1BC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Use of AI in Cyber Offense and Defense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B2A5F-A081-5A1B-A891-9215AFAA53F7}"/>
              </a:ext>
            </a:extLst>
          </p:cNvPr>
          <p:cNvSpPr txBox="1"/>
          <p:nvPr/>
        </p:nvSpPr>
        <p:spPr>
          <a:xfrm>
            <a:off x="477078" y="2266122"/>
            <a:ext cx="1102961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AI is being used on both sides of the cyber battlefield.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AI can protect or harm, depending on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While AI can detect and block threats faster than humans, it can also create sophisticated malware with minimal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kern="100" dirty="0">
                <a:effectLst/>
                <a:latin typeface="Gill Sans MT (Body)"/>
                <a:ea typeface="Aptos" panose="020B0004020202020204" pitchFamily="34" charset="0"/>
                <a:cs typeface="Times New Roman" panose="02020603050405020304" pitchFamily="18" charset="0"/>
              </a:rPr>
              <a:t>The ethical challenge lies in ensuring AI is used responsibly and doesn’t spiral into an uncontrollable arms race in cyberspace.</a:t>
            </a:r>
            <a:endParaRPr lang="en-US" sz="3200" kern="100" dirty="0">
              <a:effectLst/>
              <a:latin typeface="Gill Sans MT (Body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69506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3DC6-C807-37DD-A195-A23AC25F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Victim Blaming and Responsibility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B6B599-6D2A-0EB8-CFD4-0FCF12C86F51}"/>
              </a:ext>
            </a:extLst>
          </p:cNvPr>
          <p:cNvSpPr txBox="1"/>
          <p:nvPr/>
        </p:nvSpPr>
        <p:spPr>
          <a:xfrm>
            <a:off x="371061" y="2133600"/>
            <a:ext cx="9793356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Gill Sans MT (Body)"/>
                <a:ea typeface="Aptos" panose="020B0004020202020204" pitchFamily="34" charset="0"/>
                <a:cs typeface="Times New Roman" panose="02020603050405020304" pitchFamily="18" charset="0"/>
              </a:rPr>
              <a:t>In case of cyber-attacks, especially data breaches or online fraud, there is often a tendency to blame users for being careless</a:t>
            </a:r>
            <a:endParaRPr lang="en-US" sz="3200" dirty="0">
              <a:latin typeface="Gill Sans MT (Body)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Users are blamed for weak security practices, like clicking the wrong link or using weak passwords.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Ethical question: </a:t>
            </a:r>
            <a:r>
              <a:rPr lang="en-GB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How much responsibility lies with the individual versus the companies that should ensure the digital infrastructure is secure?</a:t>
            </a:r>
            <a:endParaRPr lang="en-US" sz="3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27066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833D1-5027-493A-2E1E-B05CF264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Digital Divide and Exploitation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08909-EE4B-C81F-55BF-C96ED4B8F779}"/>
              </a:ext>
            </a:extLst>
          </p:cNvPr>
          <p:cNvSpPr txBox="1"/>
          <p:nvPr/>
        </p:nvSpPr>
        <p:spPr>
          <a:xfrm>
            <a:off x="689113" y="2332383"/>
            <a:ext cx="1078727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3200" dirty="0">
                <a:effectLst/>
                <a:latin typeface="Gill Sans MT (Body)"/>
                <a:ea typeface="Aptos" panose="020B0004020202020204" pitchFamily="34" charset="0"/>
                <a:cs typeface="Times New Roman" panose="02020603050405020304" pitchFamily="18" charset="0"/>
              </a:rPr>
              <a:t>Not all regions and peoples have equal access to digital literacy or cybersecurity tools</a:t>
            </a:r>
            <a:r>
              <a:rPr lang="en-US" sz="3200" dirty="0">
                <a:latin typeface="Gill Sans MT (Body)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Vulnerable populations are often targeted by cybercriminals.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kern="100" dirty="0">
                <a:effectLst/>
                <a:latin typeface="Gill Sans MT (Body)"/>
                <a:ea typeface="Aptos" panose="020B0004020202020204" pitchFamily="34" charset="0"/>
                <a:cs typeface="Times New Roman" panose="02020603050405020304" pitchFamily="18" charset="0"/>
              </a:rPr>
              <a:t>This raises ethical concerns about equity and the responsibility of tech companies and governments to close this divide.</a:t>
            </a:r>
            <a:endParaRPr lang="en-US" sz="3200" kern="100" dirty="0">
              <a:effectLst/>
              <a:latin typeface="Gill Sans MT (Body)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85340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B15C-4B93-C356-A8FD-882C0C16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Cyber Vigilantism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39BB0-BA1B-1F97-6EF5-41E18698E493}"/>
              </a:ext>
            </a:extLst>
          </p:cNvPr>
          <p:cNvSpPr txBox="1"/>
          <p:nvPr/>
        </p:nvSpPr>
        <p:spPr>
          <a:xfrm>
            <a:off x="581192" y="2425148"/>
            <a:ext cx="1069640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Some hackers act as online vigilantes and </a:t>
            </a:r>
            <a:r>
              <a:rPr lang="en-GB" sz="3200" dirty="0">
                <a:effectLst/>
                <a:latin typeface="Gill Sans MT (Body)"/>
                <a:ea typeface="Aptos" panose="020B0004020202020204" pitchFamily="34" charset="0"/>
                <a:cs typeface="Times New Roman" panose="02020603050405020304" pitchFamily="18" charset="0"/>
              </a:rPr>
              <a:t>take the law into their own hands online, hacking into criminal forums or doxxing cybercriminals</a:t>
            </a:r>
            <a:r>
              <a:rPr lang="en-US" sz="3200" dirty="0">
                <a:latin typeface="Gill Sans MT (Body)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Risk of false accusations, escalating conflict.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Ethical issues with justice outside the law. Can justice be served outside the bounds of the law?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24892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445E-B8D4-9383-1B5E-82C550F2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Legal and Policy Dilemmas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9C586-41EE-941B-4011-7FCEB6DE913F}"/>
              </a:ext>
            </a:extLst>
          </p:cNvPr>
          <p:cNvSpPr txBox="1"/>
          <p:nvPr/>
        </p:nvSpPr>
        <p:spPr>
          <a:xfrm>
            <a:off x="581192" y="2160104"/>
            <a:ext cx="831101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Jurisdiction issues in global cybercrime.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Outdated laws struggle to address modern threats.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Conflict between free speech and content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80769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F06F-518D-1A47-DA38-363ABF85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International Laws and Jurisdiction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29E15-0F17-5E45-C4CB-E3D65F0B826E}"/>
              </a:ext>
            </a:extLst>
          </p:cNvPr>
          <p:cNvSpPr txBox="1"/>
          <p:nvPr/>
        </p:nvSpPr>
        <p:spPr>
          <a:xfrm>
            <a:off x="291548" y="2226365"/>
            <a:ext cx="1102961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Crimes span nations, and legal enforcement is complex.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Difficulty tracing online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Cooperation between countries is slow.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6121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4458-DEBB-1C96-C002-CE419810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Outdated Cybercrime Jurisdiction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14E5A-D93B-971C-1492-7AA0ACDC8734}"/>
              </a:ext>
            </a:extLst>
          </p:cNvPr>
          <p:cNvSpPr txBox="1"/>
          <p:nvPr/>
        </p:nvSpPr>
        <p:spPr>
          <a:xfrm>
            <a:off x="371061" y="2080591"/>
            <a:ext cx="1049572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Laws lag behind tech innovation.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Some tools exist in legal grey zones.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Jurisdiction unclear for multi-country perpetrators.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2295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19D4-CC78-8A12-94F6-A2DF5D5A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Balancing Free Speech and Cyber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ED020-A742-73F4-C932-55824258F081}"/>
              </a:ext>
            </a:extLst>
          </p:cNvPr>
          <p:cNvSpPr txBox="1"/>
          <p:nvPr/>
        </p:nvSpPr>
        <p:spPr>
          <a:xfrm>
            <a:off x="463826" y="2067339"/>
            <a:ext cx="952831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Challenge: protect speech while curbing hate/misinformation.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Legal instruments like ICCPR protect speech.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Ethical moderation and user empowerment are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35508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7307-506F-AEF3-47D6-5D813FEB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Future of Cyber Ethics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15CC1-B635-7984-6921-62D698399E16}"/>
              </a:ext>
            </a:extLst>
          </p:cNvPr>
          <p:cNvSpPr txBox="1"/>
          <p:nvPr/>
        </p:nvSpPr>
        <p:spPr>
          <a:xfrm>
            <a:off x="463826" y="2186609"/>
            <a:ext cx="967408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Need for ethical frameworks for AI and cybersecurity.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Promote digital literacy and awareness.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Corporate responsibility is essential.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93587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6DF9-1524-AF95-9D59-123EC3EA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Developing Ethical Guidelines for AI and Cybersecurity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E2FB9D-9347-AEF5-9B95-292CB06ACFB0}"/>
              </a:ext>
            </a:extLst>
          </p:cNvPr>
          <p:cNvSpPr txBox="1"/>
          <p:nvPr/>
        </p:nvSpPr>
        <p:spPr>
          <a:xfrm>
            <a:off x="477078" y="2279374"/>
            <a:ext cx="1009815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Prevent AI bias and ensure transparency.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Protect user privacy and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Establish global standards (IEEE, UNESCO).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265558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5CEA-DAA6-FF6F-2AEF-62B1BA85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Promoting Digital Literacy and Ethical Awareness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AEA97-B0B4-C377-D6E5-B9E9560CAAAA}"/>
              </a:ext>
            </a:extLst>
          </p:cNvPr>
          <p:cNvSpPr txBox="1"/>
          <p:nvPr/>
        </p:nvSpPr>
        <p:spPr>
          <a:xfrm>
            <a:off x="581192" y="2173357"/>
            <a:ext cx="990127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Teach ethics in schools and train tech professionals.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Promote critical thinking and data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Counter cyberbullying, addiction, surveillance.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516458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EE98-EAD7-974C-19CE-E7E6C540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Corporate and Developer Accountability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46AC6-44E1-E100-0F19-1F799BADFA14}"/>
              </a:ext>
            </a:extLst>
          </p:cNvPr>
          <p:cNvSpPr txBox="1"/>
          <p:nvPr/>
        </p:nvSpPr>
        <p:spPr>
          <a:xfrm>
            <a:off x="477078" y="2199861"/>
            <a:ext cx="1017767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Design with ethics in mind.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Enforce laws like GDPR and CCPA.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Protect whistleblowers and ensure sustainability.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31004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E224-30C5-B470-798B-A023E077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0EF13-3869-E0A8-9C14-3E6EDCF3AE12}"/>
              </a:ext>
            </a:extLst>
          </p:cNvPr>
          <p:cNvSpPr txBox="1"/>
          <p:nvPr/>
        </p:nvSpPr>
        <p:spPr>
          <a:xfrm>
            <a:off x="581192" y="2279374"/>
            <a:ext cx="793995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Cybercrime is evolving fast — ethics must evolve too.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We need law, education, and corporate responsibility.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93074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79</TotalTime>
  <Words>858</Words>
  <Application>Microsoft Office PowerPoint</Application>
  <PresentationFormat>Widescreen</PresentationFormat>
  <Paragraphs>95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Gill Sans MT</vt:lpstr>
      <vt:lpstr>Gill Sans MT (Body)</vt:lpstr>
      <vt:lpstr>Wingdings 2</vt:lpstr>
      <vt:lpstr>Custom</vt:lpstr>
      <vt:lpstr>The changing landscape of cybercrime and emerging ethical concerns</vt:lpstr>
      <vt:lpstr>INTRODUCTION</vt:lpstr>
      <vt:lpstr>The changing face of cybercrime</vt:lpstr>
      <vt:lpstr>Technological advancements enabling cybercrime</vt:lpstr>
      <vt:lpstr>Shift from Lone Hackers to Organized Groups</vt:lpstr>
      <vt:lpstr>Dark Web and Cryptocurrencies</vt:lpstr>
      <vt:lpstr>Social Engineering Evolution</vt:lpstr>
      <vt:lpstr>Ethical Concerns Raised by Modern Cybercrime</vt:lpstr>
      <vt:lpstr>Privacy vs Security</vt:lpstr>
      <vt:lpstr>Hacking for a Cause (Hacktivism)</vt:lpstr>
      <vt:lpstr>Use of AI in Cyber Offense and Defense</vt:lpstr>
      <vt:lpstr>Victim Blaming and Responsibility</vt:lpstr>
      <vt:lpstr>Digital Divide and Exploitation</vt:lpstr>
      <vt:lpstr>Cyber Vigilantism</vt:lpstr>
      <vt:lpstr>Legal and Policy Dilemmas</vt:lpstr>
      <vt:lpstr>International Laws and Jurisdiction</vt:lpstr>
      <vt:lpstr>Outdated Cybercrime Jurisdiction</vt:lpstr>
      <vt:lpstr>Balancing Free Speech and Cyber Control</vt:lpstr>
      <vt:lpstr>The Future of Cyber Ethics</vt:lpstr>
      <vt:lpstr>Developing Ethical Guidelines for AI and Cybersecurity</vt:lpstr>
      <vt:lpstr>Promoting Digital Literacy and Ethical Awareness</vt:lpstr>
      <vt:lpstr>Corporate and Developer Accountability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Elly</dc:creator>
  <cp:lastModifiedBy>Gregory Elly</cp:lastModifiedBy>
  <cp:revision>1</cp:revision>
  <dcterms:created xsi:type="dcterms:W3CDTF">2025-05-04T06:00:35Z</dcterms:created>
  <dcterms:modified xsi:type="dcterms:W3CDTF">2025-05-04T07:20:20Z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