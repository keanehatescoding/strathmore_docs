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377" r:id="rId2"/>
    <p:sldId id="378" r:id="rId3"/>
    <p:sldId id="379" r:id="rId4"/>
    <p:sldId id="380" r:id="rId5"/>
    <p:sldId id="381" r:id="rId6"/>
    <p:sldId id="382" r:id="rId7"/>
    <p:sldId id="383" r:id="rId8"/>
    <p:sldId id="384" r:id="rId9"/>
    <p:sldId id="385" r:id="rId10"/>
    <p:sldId id="386" r:id="rId11"/>
    <p:sldId id="387" r:id="rId12"/>
    <p:sldId id="388" r:id="rId13"/>
    <p:sldId id="389" r:id="rId14"/>
    <p:sldId id="390" r:id="rId15"/>
    <p:sldId id="391" r:id="rId16"/>
    <p:sldId id="392" r:id="rId17"/>
    <p:sldId id="393" r:id="rId18"/>
    <p:sldId id="394" r:id="rId19"/>
    <p:sldId id="395" r:id="rId20"/>
    <p:sldId id="396" r:id="rId21"/>
    <p:sldId id="397" r:id="rId22"/>
    <p:sldId id="398" r:id="rId23"/>
    <p:sldId id="399" r:id="rId24"/>
    <p:sldId id="400" r:id="rId25"/>
    <p:sldId id="401" r:id="rId26"/>
    <p:sldId id="402" r:id="rId27"/>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62" autoAdjust="0"/>
    <p:restoredTop sz="94660"/>
  </p:normalViewPr>
  <p:slideViewPr>
    <p:cSldViewPr snapToGrid="0">
      <p:cViewPr varScale="1">
        <p:scale>
          <a:sx n="72" d="100"/>
          <a:sy n="72" d="100"/>
        </p:scale>
        <p:origin x="73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A502D6-FBD4-4E57-873C-32DAF99515F2}" type="datetimeFigureOut">
              <a:rPr lang="en-US" smtClean="0"/>
              <a:t>6/12/2024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D7890-6E31-432C-893B-63EE3A8FFBC1}" type="slidenum">
              <a:rPr lang="en-US" smtClean="0"/>
              <a:t>‹#›</a:t>
            </a:fld>
            <a:endParaRPr lang="en-US"/>
          </a:p>
        </p:txBody>
      </p:sp>
    </p:spTree>
    <p:extLst>
      <p:ext uri="{BB962C8B-B14F-4D97-AF65-F5344CB8AC3E}">
        <p14:creationId xmlns:p14="http://schemas.microsoft.com/office/powerpoint/2010/main" val="1512183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2"/>
            <a:ext cx="9440035"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5"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3696988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91878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2" y="1761069"/>
            <a:ext cx="9590551"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2" y="3589879"/>
            <a:ext cx="9590551"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3101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7"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3" y="1732451"/>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615428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4" y="1770324"/>
            <a:ext cx="5049897"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7661" y="1770324"/>
            <a:ext cx="5049897"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9"/>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6"/>
            <a:ext cx="4895331"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9"/>
            <a:ext cx="4895331"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680DCA5-40FD-4898-9861-9C60FFF66E16}" type="datetimeFigureOut">
              <a:rPr lang="en-US" smtClean="0"/>
              <a:pPr/>
              <a:t>6/12/2024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407947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80DCA5-40FD-4898-9861-9C60FFF66E16}" type="datetimeFigureOut">
              <a:rPr lang="en-US" smtClean="0"/>
              <a:pPr/>
              <a:t>6/12/2024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3813664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80DCA5-40FD-4898-9861-9C60FFF66E16}" type="datetimeFigureOut">
              <a:rPr lang="en-US" smtClean="0"/>
              <a:pPr/>
              <a:t>6/12/2024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3070561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7"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4"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7"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42942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9983" y="609923"/>
            <a:ext cx="4570861" cy="5205472"/>
          </a:xfrm>
          <a:prstGeom prst="rect">
            <a:avLst/>
          </a:prstGeom>
        </p:spPr>
      </p:pic>
      <p:sp>
        <p:nvSpPr>
          <p:cNvPr id="2" name="Title 1"/>
          <p:cNvSpPr>
            <a:spLocks noGrp="1"/>
          </p:cNvSpPr>
          <p:nvPr>
            <p:ph type="title"/>
          </p:nvPr>
        </p:nvSpPr>
        <p:spPr>
          <a:xfrm>
            <a:off x="913796" y="609923"/>
            <a:ext cx="5232901"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635638" y="743989"/>
            <a:ext cx="4220500"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6" y="2439261"/>
            <a:ext cx="5232901"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625520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994" y="540085"/>
            <a:ext cx="10208013" cy="3834374"/>
          </a:xfrm>
          <a:prstGeom prst="rect">
            <a:avLst/>
          </a:prstGeom>
        </p:spPr>
      </p:pic>
      <p:sp>
        <p:nvSpPr>
          <p:cNvPr id="2" name="Title 1"/>
          <p:cNvSpPr>
            <a:spLocks noGrp="1"/>
          </p:cNvSpPr>
          <p:nvPr>
            <p:ph type="title"/>
          </p:nvPr>
        </p:nvSpPr>
        <p:spPr>
          <a:xfrm>
            <a:off x="913806" y="4565255"/>
            <a:ext cx="10355327"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34956" y="695011"/>
            <a:ext cx="9714133"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3"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703302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3"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7143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5" y="3610034"/>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5"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
        <p:nvSpPr>
          <p:cNvPr id="11" name="TextBox 10"/>
          <p:cNvSpPr txBox="1"/>
          <p:nvPr/>
        </p:nvSpPr>
        <p:spPr>
          <a:xfrm>
            <a:off x="836612" y="87391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437812" y="2933245"/>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686367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5" y="2126944"/>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6"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1774475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3"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680DCA5-40FD-4898-9861-9C60FFF66E16}" type="datetimeFigureOut">
              <a:rPr lang="en-US" smtClean="0"/>
              <a:pPr/>
              <a:t>6/12/2024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3678925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986" y="1826045"/>
            <a:ext cx="3372061"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1751" y="1826045"/>
            <a:ext cx="3372061"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95620" y="1826045"/>
            <a:ext cx="3372061" cy="1833558"/>
          </a:xfrm>
          <a:prstGeom prst="rect">
            <a:avLst/>
          </a:prstGeom>
        </p:spPr>
      </p:pic>
      <p:sp>
        <p:nvSpPr>
          <p:cNvPr id="30" name="Title 1"/>
          <p:cNvSpPr>
            <a:spLocks noGrp="1"/>
          </p:cNvSpPr>
          <p:nvPr>
            <p:ph type="title"/>
          </p:nvPr>
        </p:nvSpPr>
        <p:spPr>
          <a:xfrm>
            <a:off x="913795"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3"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70"/>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4" y="4480369"/>
            <a:ext cx="3302337"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9"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7"/>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680DCA5-40FD-4898-9861-9C60FFF66E16}" type="datetimeFigureOut">
              <a:rPr lang="en-US" smtClean="0"/>
              <a:pPr/>
              <a:t>6/12/2024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73470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992008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70" y="609601"/>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601"/>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015877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3"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51"/>
            <a:ext cx="10353763"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7"/>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A680DCA5-40FD-4898-9861-9C60FFF66E16}" type="datetimeFigureOut">
              <a:rPr lang="en-US" smtClean="0"/>
              <a:pPr/>
              <a:t>6/12/2024</a:t>
            </a:fld>
            <a:endParaRPr lang="en-US"/>
          </a:p>
        </p:txBody>
      </p:sp>
      <p:sp>
        <p:nvSpPr>
          <p:cNvPr id="5" name="Footer Placeholder 4"/>
          <p:cNvSpPr>
            <a:spLocks noGrp="1"/>
          </p:cNvSpPr>
          <p:nvPr>
            <p:ph type="ftr" sz="quarter" idx="3"/>
          </p:nvPr>
        </p:nvSpPr>
        <p:spPr>
          <a:xfrm>
            <a:off x="913797" y="5883277"/>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3" y="5883277"/>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ABC2D57-CDE0-4E76-9734-C0A2E29607B0}" type="slidenum">
              <a:rPr lang="en-US" smtClean="0"/>
              <a:pPr/>
              <a:t>‹#›</a:t>
            </a:fld>
            <a:endParaRPr lang="en-US"/>
          </a:p>
        </p:txBody>
      </p:sp>
    </p:spTree>
    <p:extLst>
      <p:ext uri="{BB962C8B-B14F-4D97-AF65-F5344CB8AC3E}">
        <p14:creationId xmlns:p14="http://schemas.microsoft.com/office/powerpoint/2010/main" val="171359046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541445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EB5B6-D9C7-B8DE-260A-1E989B938EC1}"/>
              </a:ext>
            </a:extLst>
          </p:cNvPr>
          <p:cNvSpPr>
            <a:spLocks noGrp="1"/>
          </p:cNvSpPr>
          <p:nvPr>
            <p:ph type="ctrTitle"/>
          </p:nvPr>
        </p:nvSpPr>
        <p:spPr/>
        <p:txBody>
          <a:bodyPr/>
          <a:lstStyle/>
          <a:p>
            <a:r>
              <a:rPr lang="en-US" dirty="0">
                <a:solidFill>
                  <a:srgbClr val="0070C0"/>
                </a:solidFill>
              </a:rPr>
              <a:t>NATURAL MORAL LAW</a:t>
            </a:r>
            <a:endParaRPr lang="en-GB" dirty="0">
              <a:solidFill>
                <a:srgbClr val="0070C0"/>
              </a:solidFill>
            </a:endParaRPr>
          </a:p>
        </p:txBody>
      </p:sp>
      <p:sp>
        <p:nvSpPr>
          <p:cNvPr id="3" name="Subtitle 2">
            <a:extLst>
              <a:ext uri="{FF2B5EF4-FFF2-40B4-BE49-F238E27FC236}">
                <a16:creationId xmlns:a16="http://schemas.microsoft.com/office/drawing/2014/main" id="{2522AC88-4B3D-1DEC-FAAE-54204A324B99}"/>
              </a:ext>
            </a:extLst>
          </p:cNvPr>
          <p:cNvSpPr>
            <a:spLocks noGrp="1"/>
          </p:cNvSpPr>
          <p:nvPr>
            <p:ph type="subTitle" idx="1"/>
          </p:nvPr>
        </p:nvSpPr>
        <p:spPr>
          <a:xfrm>
            <a:off x="1484243" y="1974574"/>
            <a:ext cx="9183757" cy="1607526"/>
          </a:xfrm>
        </p:spPr>
        <p:txBody>
          <a:bodyPr/>
          <a:lstStyle/>
          <a:p>
            <a:endParaRPr lang="en-GB" dirty="0"/>
          </a:p>
        </p:txBody>
      </p:sp>
    </p:spTree>
    <p:extLst>
      <p:ext uri="{BB962C8B-B14F-4D97-AF65-F5344CB8AC3E}">
        <p14:creationId xmlns:p14="http://schemas.microsoft.com/office/powerpoint/2010/main" val="2453462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DFFDE-32C3-EF07-274E-B6E5A8F3574E}"/>
              </a:ext>
            </a:extLst>
          </p:cNvPr>
          <p:cNvSpPr>
            <a:spLocks noGrp="1"/>
          </p:cNvSpPr>
          <p:nvPr>
            <p:ph type="title"/>
          </p:nvPr>
        </p:nvSpPr>
        <p:spPr/>
        <p:txBody>
          <a:bodyPr>
            <a:normAutofit fontScale="90000"/>
          </a:bodyPr>
          <a:lstStyle/>
          <a:p>
            <a:r>
              <a:rPr lang="en-US" sz="6000" b="1" dirty="0">
                <a:solidFill>
                  <a:srgbClr val="0070C0"/>
                </a:solidFill>
              </a:rPr>
              <a:t>Definition </a:t>
            </a:r>
            <a:endParaRPr lang="en-GB" sz="6000" b="1" dirty="0">
              <a:solidFill>
                <a:srgbClr val="0070C0"/>
              </a:solidFill>
            </a:endParaRPr>
          </a:p>
        </p:txBody>
      </p:sp>
      <p:sp>
        <p:nvSpPr>
          <p:cNvPr id="3" name="Content Placeholder 2">
            <a:extLst>
              <a:ext uri="{FF2B5EF4-FFF2-40B4-BE49-F238E27FC236}">
                <a16:creationId xmlns:a16="http://schemas.microsoft.com/office/drawing/2014/main" id="{A681C8A8-DB0D-A66C-93D1-E761448FF221}"/>
              </a:ext>
            </a:extLst>
          </p:cNvPr>
          <p:cNvSpPr>
            <a:spLocks noGrp="1"/>
          </p:cNvSpPr>
          <p:nvPr>
            <p:ph idx="1"/>
          </p:nvPr>
        </p:nvSpPr>
        <p:spPr/>
        <p:txBody>
          <a:bodyPr>
            <a:normAutofit lnSpcReduction="10000"/>
          </a:bodyPr>
          <a:lstStyle/>
          <a:p>
            <a:r>
              <a:rPr lang="en-US" sz="5400" b="1" i="0" dirty="0">
                <a:effectLst/>
                <a:latin typeface="Söhne"/>
              </a:rPr>
              <a:t>Natural Moral Law, a philosophical theory that explores the concept of an </a:t>
            </a:r>
            <a:r>
              <a:rPr lang="en-US" sz="5400" b="1" i="0" dirty="0">
                <a:solidFill>
                  <a:srgbClr val="00B050"/>
                </a:solidFill>
                <a:effectLst/>
                <a:latin typeface="Söhne"/>
              </a:rPr>
              <a:t>objective moral order </a:t>
            </a:r>
            <a:r>
              <a:rPr lang="en-US" sz="5400" b="1" i="0" dirty="0">
                <a:effectLst/>
                <a:latin typeface="Söhne"/>
              </a:rPr>
              <a:t>rooted in </a:t>
            </a:r>
            <a:r>
              <a:rPr lang="en-US" sz="5400" b="1" i="0" dirty="0">
                <a:solidFill>
                  <a:srgbClr val="00B050"/>
                </a:solidFill>
                <a:effectLst/>
                <a:latin typeface="Söhne"/>
              </a:rPr>
              <a:t>human nature.</a:t>
            </a:r>
            <a:endParaRPr lang="en-GB" sz="5400" b="1" dirty="0">
              <a:solidFill>
                <a:srgbClr val="00B050"/>
              </a:solidFill>
            </a:endParaRPr>
          </a:p>
        </p:txBody>
      </p:sp>
    </p:spTree>
    <p:extLst>
      <p:ext uri="{BB962C8B-B14F-4D97-AF65-F5344CB8AC3E}">
        <p14:creationId xmlns:p14="http://schemas.microsoft.com/office/powerpoint/2010/main" val="333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4A52F-9A94-468D-6093-6EA059C35059}"/>
              </a:ext>
            </a:extLst>
          </p:cNvPr>
          <p:cNvSpPr>
            <a:spLocks noGrp="1"/>
          </p:cNvSpPr>
          <p:nvPr>
            <p:ph type="title"/>
          </p:nvPr>
        </p:nvSpPr>
        <p:spPr>
          <a:xfrm>
            <a:off x="838200" y="365125"/>
            <a:ext cx="10515600" cy="892175"/>
          </a:xfrm>
        </p:spPr>
        <p:txBody>
          <a:bodyPr/>
          <a:lstStyle/>
          <a:p>
            <a:r>
              <a:rPr lang="en-GB" b="1" i="0" dirty="0">
                <a:solidFill>
                  <a:srgbClr val="0070C0"/>
                </a:solidFill>
                <a:effectLst/>
                <a:latin typeface="Söhne"/>
              </a:rPr>
              <a:t>Historical Roots</a:t>
            </a:r>
            <a:endParaRPr lang="en-GB" dirty="0">
              <a:solidFill>
                <a:srgbClr val="0070C0"/>
              </a:solidFill>
            </a:endParaRPr>
          </a:p>
        </p:txBody>
      </p:sp>
      <p:sp>
        <p:nvSpPr>
          <p:cNvPr id="3" name="Content Placeholder 2">
            <a:extLst>
              <a:ext uri="{FF2B5EF4-FFF2-40B4-BE49-F238E27FC236}">
                <a16:creationId xmlns:a16="http://schemas.microsoft.com/office/drawing/2014/main" id="{669D9BA1-0095-1ED1-602E-4B142E902C92}"/>
              </a:ext>
            </a:extLst>
          </p:cNvPr>
          <p:cNvSpPr>
            <a:spLocks noGrp="1"/>
          </p:cNvSpPr>
          <p:nvPr>
            <p:ph idx="1"/>
          </p:nvPr>
        </p:nvSpPr>
        <p:spPr>
          <a:xfrm>
            <a:off x="838200" y="1571625"/>
            <a:ext cx="10515600" cy="4605338"/>
          </a:xfrm>
        </p:spPr>
        <p:txBody>
          <a:bodyPr>
            <a:normAutofit lnSpcReduction="10000"/>
          </a:bodyPr>
          <a:lstStyle/>
          <a:p>
            <a:r>
              <a:rPr lang="en-US" sz="4800" b="1" dirty="0"/>
              <a:t>Natural Moral Law has deep historical roots, tracing its origins to the profound insights of </a:t>
            </a:r>
            <a:r>
              <a:rPr lang="en-US" sz="4800" b="1" dirty="0">
                <a:solidFill>
                  <a:srgbClr val="00B050"/>
                </a:solidFill>
              </a:rPr>
              <a:t>ancient and medieval philosophers. </a:t>
            </a:r>
          </a:p>
          <a:p>
            <a:r>
              <a:rPr lang="en-US" sz="4800" b="1" dirty="0"/>
              <a:t>Two influential thinkers stand out in this regard:</a:t>
            </a:r>
          </a:p>
          <a:p>
            <a:endParaRPr lang="en-US" dirty="0"/>
          </a:p>
        </p:txBody>
      </p:sp>
    </p:spTree>
    <p:extLst>
      <p:ext uri="{BB962C8B-B14F-4D97-AF65-F5344CB8AC3E}">
        <p14:creationId xmlns:p14="http://schemas.microsoft.com/office/powerpoint/2010/main" val="942818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52D29-5E64-622E-EDF1-C964415A7BF7}"/>
              </a:ext>
            </a:extLst>
          </p:cNvPr>
          <p:cNvSpPr>
            <a:spLocks noGrp="1"/>
          </p:cNvSpPr>
          <p:nvPr>
            <p:ph type="title"/>
          </p:nvPr>
        </p:nvSpPr>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4800" b="1" i="0" u="none" strike="noStrike" kern="1200" cap="none" spc="0" normalizeH="0" baseline="0" noProof="0" dirty="0">
                <a:ln>
                  <a:noFill/>
                </a:ln>
                <a:solidFill>
                  <a:srgbClr val="0070C0"/>
                </a:solidFill>
                <a:effectLst/>
                <a:uLnTx/>
                <a:uFillTx/>
                <a:latin typeface="Calibri" panose="020F0502020204030204"/>
                <a:ea typeface="+mn-ea"/>
                <a:cs typeface="+mn-cs"/>
              </a:rPr>
              <a:t>Aristotle (384–322 BCE):</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r>
            <a:b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br>
            <a:endParaRPr lang="en-GB" dirty="0"/>
          </a:p>
        </p:txBody>
      </p:sp>
      <p:sp>
        <p:nvSpPr>
          <p:cNvPr id="3" name="Content Placeholder 2">
            <a:extLst>
              <a:ext uri="{FF2B5EF4-FFF2-40B4-BE49-F238E27FC236}">
                <a16:creationId xmlns:a16="http://schemas.microsoft.com/office/drawing/2014/main" id="{A11DBF24-F077-72C1-1595-927D2C1418CA}"/>
              </a:ext>
            </a:extLst>
          </p:cNvPr>
          <p:cNvSpPr>
            <a:spLocks noGrp="1"/>
          </p:cNvSpPr>
          <p:nvPr>
            <p:ph idx="1"/>
          </p:nvPr>
        </p:nvSpPr>
        <p:spPr>
          <a:xfrm>
            <a:off x="838200" y="1457325"/>
            <a:ext cx="10515600" cy="4719638"/>
          </a:xfrm>
        </p:spPr>
        <p:txBody>
          <a:bodyPr>
            <a:no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4000" b="1" i="0" u="none" strike="noStrike" kern="1200" cap="none" spc="0" normalizeH="0" baseline="0" noProof="0" dirty="0">
                <a:ln>
                  <a:noFill/>
                </a:ln>
                <a:solidFill>
                  <a:schemeClr val="tx1">
                    <a:lumMod val="85000"/>
                  </a:schemeClr>
                </a:solidFill>
                <a:effectLst/>
                <a:uLnTx/>
                <a:uFillTx/>
                <a:latin typeface="Calibri" panose="020F0502020204030204"/>
                <a:ea typeface="+mn-ea"/>
                <a:cs typeface="+mn-cs"/>
              </a:rPr>
              <a:t>Aristotle, the ancient Greek philosopher, laid the foundation for Natural Moral Law.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4000" b="1" i="0" u="none" strike="noStrike" kern="1200" cap="none" spc="0" normalizeH="0" baseline="0" noProof="0" dirty="0">
                <a:ln>
                  <a:noFill/>
                </a:ln>
                <a:solidFill>
                  <a:schemeClr val="tx1">
                    <a:lumMod val="85000"/>
                  </a:schemeClr>
                </a:solidFill>
                <a:effectLst/>
                <a:uLnTx/>
                <a:uFillTx/>
                <a:latin typeface="Calibri" panose="020F0502020204030204"/>
                <a:ea typeface="+mn-ea"/>
                <a:cs typeface="+mn-cs"/>
              </a:rPr>
              <a:t>He believed that everything in the universe had a</a:t>
            </a:r>
            <a:r>
              <a:rPr kumimoji="0" lang="en-US" sz="40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4000" b="1" i="0" u="none" strike="noStrike" kern="1200" cap="none" spc="0" normalizeH="0" baseline="0" noProof="0" dirty="0">
                <a:ln>
                  <a:noFill/>
                </a:ln>
                <a:solidFill>
                  <a:srgbClr val="00B050"/>
                </a:solidFill>
                <a:effectLst/>
                <a:uLnTx/>
                <a:uFillTx/>
                <a:latin typeface="Calibri" panose="020F0502020204030204"/>
                <a:ea typeface="+mn-ea"/>
                <a:cs typeface="+mn-cs"/>
              </a:rPr>
              <a:t>purpose or telos</a:t>
            </a:r>
            <a:r>
              <a:rPr kumimoji="0" lang="en-US" sz="4000" b="1" i="0" u="none" strike="noStrike" kern="1200" cap="none" spc="0" normalizeH="0" baseline="0" noProof="0" dirty="0">
                <a:ln>
                  <a:noFill/>
                </a:ln>
                <a:solidFill>
                  <a:schemeClr val="tx1">
                    <a:lumMod val="85000"/>
                  </a:schemeClr>
                </a:solidFill>
                <a:effectLst/>
                <a:uLnTx/>
                <a:uFillTx/>
                <a:latin typeface="Calibri" panose="020F0502020204030204"/>
                <a:ea typeface="+mn-ea"/>
                <a:cs typeface="+mn-cs"/>
              </a:rPr>
              <a:t>, and human beings were no exception.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4000" b="1" i="0" u="none" strike="noStrike" kern="1200" cap="none" spc="0" normalizeH="0" baseline="0" noProof="0" dirty="0">
                <a:ln>
                  <a:noFill/>
                </a:ln>
                <a:solidFill>
                  <a:schemeClr val="tx1">
                    <a:lumMod val="85000"/>
                  </a:schemeClr>
                </a:solidFill>
                <a:effectLst/>
                <a:uLnTx/>
                <a:uFillTx/>
                <a:latin typeface="Calibri" panose="020F0502020204030204"/>
                <a:ea typeface="+mn-ea"/>
                <a:cs typeface="+mn-cs"/>
              </a:rPr>
              <a:t>He emphasized that</a:t>
            </a:r>
            <a:r>
              <a:rPr kumimoji="0" lang="en-US" sz="40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4000" b="1" i="0" u="none" strike="noStrike" kern="1200" cap="none" spc="0" normalizeH="0" baseline="0" noProof="0" dirty="0">
                <a:ln>
                  <a:noFill/>
                </a:ln>
                <a:solidFill>
                  <a:srgbClr val="00B050"/>
                </a:solidFill>
                <a:effectLst/>
                <a:uLnTx/>
                <a:uFillTx/>
                <a:latin typeface="Calibri" panose="020F0502020204030204"/>
                <a:ea typeface="+mn-ea"/>
                <a:cs typeface="+mn-cs"/>
              </a:rPr>
              <a:t>human fulfillment</a:t>
            </a:r>
            <a:r>
              <a:rPr kumimoji="0" lang="en-US" sz="4000" b="1" i="0" u="none" strike="noStrike" kern="1200" cap="none" spc="0" normalizeH="0" baseline="0" noProof="0" dirty="0">
                <a:ln>
                  <a:noFill/>
                </a:ln>
                <a:solidFill>
                  <a:schemeClr val="tx1">
                    <a:lumMod val="85000"/>
                  </a:schemeClr>
                </a:solidFill>
                <a:effectLst/>
                <a:uLnTx/>
                <a:uFillTx/>
                <a:latin typeface="Calibri" panose="020F0502020204030204"/>
                <a:ea typeface="+mn-ea"/>
                <a:cs typeface="+mn-cs"/>
              </a:rPr>
              <a:t>, or eudaimonia (flourishing), could be achieved by aligning one's actions with their telos.</a:t>
            </a:r>
            <a:endParaRPr kumimoji="0" lang="en-GB" sz="4000" b="1" i="0" u="none" strike="noStrike" kern="1200" cap="none" spc="0" normalizeH="0" baseline="0" noProof="0" dirty="0">
              <a:ln>
                <a:noFill/>
              </a:ln>
              <a:solidFill>
                <a:schemeClr val="tx1">
                  <a:lumMod val="85000"/>
                </a:schemeClr>
              </a:solidFill>
              <a:effectLst/>
              <a:uLnTx/>
              <a:uFillTx/>
              <a:latin typeface="Calibri" panose="020F0502020204030204"/>
              <a:ea typeface="+mn-ea"/>
              <a:cs typeface="+mn-cs"/>
            </a:endParaRPr>
          </a:p>
          <a:p>
            <a:endParaRPr lang="en-GB" sz="4000" dirty="0"/>
          </a:p>
        </p:txBody>
      </p:sp>
    </p:spTree>
    <p:extLst>
      <p:ext uri="{BB962C8B-B14F-4D97-AF65-F5344CB8AC3E}">
        <p14:creationId xmlns:p14="http://schemas.microsoft.com/office/powerpoint/2010/main" val="3201947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DE9BA-8084-06BB-70F0-E7D315269E49}"/>
              </a:ext>
            </a:extLst>
          </p:cNvPr>
          <p:cNvSpPr>
            <a:spLocks noGrp="1"/>
          </p:cNvSpPr>
          <p:nvPr>
            <p:ph type="title"/>
          </p:nvPr>
        </p:nvSpPr>
        <p:spPr>
          <a:xfrm>
            <a:off x="913795" y="185530"/>
            <a:ext cx="10353763" cy="728870"/>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4800" b="1" i="0" u="none" strike="noStrike" kern="1200" cap="none" spc="0" normalizeH="0" baseline="0" noProof="0" dirty="0">
                <a:ln>
                  <a:noFill/>
                </a:ln>
                <a:solidFill>
                  <a:srgbClr val="0070C0"/>
                </a:solidFill>
                <a:effectLst/>
                <a:uLnTx/>
                <a:uFillTx/>
                <a:latin typeface="Calibri" panose="020F0502020204030204"/>
                <a:ea typeface="+mn-ea"/>
                <a:cs typeface="+mn-cs"/>
              </a:rPr>
              <a:t>Thomas Aquinas (1225–1274):</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r>
            <a:b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br>
            <a:endParaRPr lang="en-GB" dirty="0"/>
          </a:p>
        </p:txBody>
      </p:sp>
      <p:sp>
        <p:nvSpPr>
          <p:cNvPr id="3" name="Content Placeholder 2">
            <a:extLst>
              <a:ext uri="{FF2B5EF4-FFF2-40B4-BE49-F238E27FC236}">
                <a16:creationId xmlns:a16="http://schemas.microsoft.com/office/drawing/2014/main" id="{5C61C0D3-956D-A90A-B164-2A5CD00160D5}"/>
              </a:ext>
            </a:extLst>
          </p:cNvPr>
          <p:cNvSpPr>
            <a:spLocks noGrp="1"/>
          </p:cNvSpPr>
          <p:nvPr>
            <p:ph idx="1"/>
          </p:nvPr>
        </p:nvSpPr>
        <p:spPr>
          <a:xfrm>
            <a:off x="636104" y="675861"/>
            <a:ext cx="10946296" cy="5897217"/>
          </a:xfrm>
        </p:spPr>
        <p:txBody>
          <a:bodyPr>
            <a:noAutofit/>
          </a:bodyPr>
          <a:lstStyle/>
          <a:p>
            <a:r>
              <a:rPr lang="en-US" sz="4000" b="1" dirty="0"/>
              <a:t>Thomas Aquinas, a medieval theologian and philosopher, played a pivotal role in the development of Natural Moral Law. </a:t>
            </a:r>
          </a:p>
          <a:p>
            <a:r>
              <a:rPr lang="en-US" sz="4000" b="1" dirty="0"/>
              <a:t>He synthesized Aristotle's ideas with Christian theology, creating a framework that combined </a:t>
            </a:r>
            <a:r>
              <a:rPr lang="en-US" sz="4000" b="1" dirty="0">
                <a:solidFill>
                  <a:srgbClr val="00B050"/>
                </a:solidFill>
              </a:rPr>
              <a:t>reason and faith. </a:t>
            </a:r>
          </a:p>
          <a:p>
            <a:r>
              <a:rPr lang="en-US" sz="4000" b="1" dirty="0"/>
              <a:t>Aquinas introduced concepts like </a:t>
            </a:r>
            <a:r>
              <a:rPr lang="en-US" sz="4000" b="1" dirty="0">
                <a:solidFill>
                  <a:srgbClr val="00B050"/>
                </a:solidFill>
              </a:rPr>
              <a:t>eternal law, divine law, </a:t>
            </a:r>
            <a:r>
              <a:rPr lang="en-US" sz="4000" b="1" dirty="0"/>
              <a:t>and </a:t>
            </a:r>
            <a:r>
              <a:rPr lang="en-US" sz="4000" b="1" dirty="0">
                <a:solidFill>
                  <a:srgbClr val="00B050"/>
                </a:solidFill>
              </a:rPr>
              <a:t>human law</a:t>
            </a:r>
            <a:r>
              <a:rPr lang="en-US" sz="4000" b="1" dirty="0"/>
              <a:t>, which are integral to the theory.</a:t>
            </a:r>
            <a:endParaRPr lang="en-GB" sz="4000" b="1" dirty="0"/>
          </a:p>
        </p:txBody>
      </p:sp>
    </p:spTree>
    <p:extLst>
      <p:ext uri="{BB962C8B-B14F-4D97-AF65-F5344CB8AC3E}">
        <p14:creationId xmlns:p14="http://schemas.microsoft.com/office/powerpoint/2010/main" val="1129035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5563B-F605-629D-0CDD-45FADC1C32B4}"/>
              </a:ext>
            </a:extLst>
          </p:cNvPr>
          <p:cNvSpPr>
            <a:spLocks noGrp="1"/>
          </p:cNvSpPr>
          <p:nvPr>
            <p:ph type="title"/>
          </p:nvPr>
        </p:nvSpPr>
        <p:spPr/>
        <p:txBody>
          <a:bodyPr>
            <a:normAutofit fontScale="90000"/>
          </a:bodyPr>
          <a:lstStyle/>
          <a:p>
            <a:r>
              <a:rPr lang="en-GB" b="1" dirty="0">
                <a:solidFill>
                  <a:srgbClr val="0070C0"/>
                </a:solidFill>
              </a:rPr>
              <a:t>Natural Moral Law</a:t>
            </a:r>
            <a:r>
              <a:rPr lang="en-GB" dirty="0"/>
              <a:t/>
            </a:r>
            <a:br>
              <a:rPr lang="en-GB" dirty="0"/>
            </a:br>
            <a:endParaRPr lang="en-GB" dirty="0"/>
          </a:p>
        </p:txBody>
      </p:sp>
      <p:sp>
        <p:nvSpPr>
          <p:cNvPr id="3" name="Content Placeholder 2">
            <a:extLst>
              <a:ext uri="{FF2B5EF4-FFF2-40B4-BE49-F238E27FC236}">
                <a16:creationId xmlns:a16="http://schemas.microsoft.com/office/drawing/2014/main" id="{64FA62CC-2862-6E11-3F1D-14FD22F94024}"/>
              </a:ext>
            </a:extLst>
          </p:cNvPr>
          <p:cNvSpPr>
            <a:spLocks noGrp="1"/>
          </p:cNvSpPr>
          <p:nvPr>
            <p:ph idx="1"/>
          </p:nvPr>
        </p:nvSpPr>
        <p:spPr>
          <a:xfrm>
            <a:off x="838200" y="1182848"/>
            <a:ext cx="10515600" cy="4994115"/>
          </a:xfrm>
        </p:spPr>
        <p:txBody>
          <a:bodyPr>
            <a:noAutofit/>
          </a:bodyPr>
          <a:lstStyle/>
          <a:p>
            <a:pPr marL="0" indent="0">
              <a:buNone/>
            </a:pPr>
            <a:endParaRPr lang="en-US" sz="4800" b="1" dirty="0"/>
          </a:p>
          <a:p>
            <a:pPr marL="0" indent="0">
              <a:buNone/>
            </a:pPr>
            <a:r>
              <a:rPr lang="en-US" sz="4800" b="1" dirty="0"/>
              <a:t>Natural Moral Law is a moral theory that asserts the existence of a </a:t>
            </a:r>
            <a:r>
              <a:rPr lang="en-US" sz="4800" b="1" dirty="0">
                <a:solidFill>
                  <a:srgbClr val="00B050"/>
                </a:solidFill>
              </a:rPr>
              <a:t>universal,</a:t>
            </a:r>
            <a:r>
              <a:rPr lang="en-US" sz="4800" b="1" dirty="0"/>
              <a:t> </a:t>
            </a:r>
            <a:r>
              <a:rPr lang="en-US" sz="4800" b="1" dirty="0">
                <a:solidFill>
                  <a:srgbClr val="00B050"/>
                </a:solidFill>
              </a:rPr>
              <a:t>objective moral order </a:t>
            </a:r>
            <a:r>
              <a:rPr lang="en-US" sz="4800" b="1" dirty="0"/>
              <a:t>inherent in the </a:t>
            </a:r>
            <a:r>
              <a:rPr lang="en-US" sz="4800" b="1" dirty="0">
                <a:solidFill>
                  <a:srgbClr val="00B050"/>
                </a:solidFill>
              </a:rPr>
              <a:t>nature of humanity.</a:t>
            </a:r>
          </a:p>
          <a:p>
            <a:endParaRPr lang="en-US" dirty="0"/>
          </a:p>
          <a:p>
            <a:pPr marL="0" indent="0">
              <a:buNone/>
            </a:pPr>
            <a:endParaRPr lang="en-GB" dirty="0"/>
          </a:p>
        </p:txBody>
      </p:sp>
    </p:spTree>
    <p:extLst>
      <p:ext uri="{BB962C8B-B14F-4D97-AF65-F5344CB8AC3E}">
        <p14:creationId xmlns:p14="http://schemas.microsoft.com/office/powerpoint/2010/main" val="3414875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2DA405-846C-B1BA-C772-DC6C646C6319}"/>
              </a:ext>
            </a:extLst>
          </p:cNvPr>
          <p:cNvSpPr>
            <a:spLocks noGrp="1"/>
          </p:cNvSpPr>
          <p:nvPr>
            <p:ph idx="1"/>
          </p:nvPr>
        </p:nvSpPr>
        <p:spPr>
          <a:xfrm>
            <a:off x="838200" y="600076"/>
            <a:ext cx="10515600" cy="5576888"/>
          </a:xfrm>
        </p:spPr>
        <p:txBody>
          <a:bodyPr>
            <a:normAutofit fontScale="77500" lnSpcReduction="20000"/>
          </a:bodyPr>
          <a:lstStyle/>
          <a:p>
            <a:r>
              <a:rPr lang="en-US" sz="4000" b="1" dirty="0">
                <a:solidFill>
                  <a:srgbClr val="00B050"/>
                </a:solidFill>
              </a:rPr>
              <a:t>Universal: </a:t>
            </a:r>
            <a:r>
              <a:rPr lang="en-US" sz="4000" b="1" dirty="0"/>
              <a:t>Natural Moral Law posits that moral principles apply universally to all human beings, transcending cultural, temporal, and societal differences.</a:t>
            </a:r>
          </a:p>
          <a:p>
            <a:endParaRPr lang="en-US" sz="4000" b="1" dirty="0"/>
          </a:p>
          <a:p>
            <a:r>
              <a:rPr lang="en-US" sz="4000" b="1" dirty="0">
                <a:solidFill>
                  <a:srgbClr val="00B050"/>
                </a:solidFill>
              </a:rPr>
              <a:t>Objective: </a:t>
            </a:r>
            <a:r>
              <a:rPr lang="en-US" sz="4000" b="1" dirty="0"/>
              <a:t>It holds that moral truths exist independently of individual beliefs or opinions, providing a fixed and unchanging moral framework.</a:t>
            </a:r>
          </a:p>
          <a:p>
            <a:endParaRPr lang="en-US" sz="4000" b="1" dirty="0"/>
          </a:p>
          <a:p>
            <a:r>
              <a:rPr lang="en-US" sz="4000" b="1" dirty="0">
                <a:solidFill>
                  <a:srgbClr val="00B050"/>
                </a:solidFill>
              </a:rPr>
              <a:t>Inherent in Human Nature: </a:t>
            </a:r>
            <a:r>
              <a:rPr lang="en-US" sz="4000" b="1" dirty="0"/>
              <a:t>This theory suggests that the foundations of morality are ingrained within human nature itself, reflecting the inherent moral inclinations of individuals.</a:t>
            </a:r>
          </a:p>
          <a:p>
            <a:endParaRPr lang="en-US" dirty="0"/>
          </a:p>
        </p:txBody>
      </p:sp>
    </p:spTree>
    <p:extLst>
      <p:ext uri="{BB962C8B-B14F-4D97-AF65-F5344CB8AC3E}">
        <p14:creationId xmlns:p14="http://schemas.microsoft.com/office/powerpoint/2010/main" val="1529700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0808F-6B53-99B3-FFD7-1E6423D47F71}"/>
              </a:ext>
            </a:extLst>
          </p:cNvPr>
          <p:cNvSpPr>
            <a:spLocks noGrp="1"/>
          </p:cNvSpPr>
          <p:nvPr>
            <p:ph type="title"/>
          </p:nvPr>
        </p:nvSpPr>
        <p:spPr>
          <a:xfrm>
            <a:off x="838200" y="365125"/>
            <a:ext cx="10515600" cy="766989"/>
          </a:xfrm>
        </p:spPr>
        <p:txBody>
          <a:bodyPr/>
          <a:lstStyle/>
          <a:p>
            <a:r>
              <a:rPr lang="en-US" b="1" dirty="0">
                <a:solidFill>
                  <a:srgbClr val="0070C0"/>
                </a:solidFill>
              </a:rPr>
              <a:t>Key Concepts in Natural Moral Law</a:t>
            </a:r>
            <a:endParaRPr lang="en-GB" b="1" dirty="0">
              <a:solidFill>
                <a:srgbClr val="0070C0"/>
              </a:solidFill>
            </a:endParaRPr>
          </a:p>
        </p:txBody>
      </p:sp>
      <p:sp>
        <p:nvSpPr>
          <p:cNvPr id="3" name="Content Placeholder 2">
            <a:extLst>
              <a:ext uri="{FF2B5EF4-FFF2-40B4-BE49-F238E27FC236}">
                <a16:creationId xmlns:a16="http://schemas.microsoft.com/office/drawing/2014/main" id="{CD8413C6-A269-3B54-378B-AC2338FA2A47}"/>
              </a:ext>
            </a:extLst>
          </p:cNvPr>
          <p:cNvSpPr>
            <a:spLocks noGrp="1"/>
          </p:cNvSpPr>
          <p:nvPr>
            <p:ph idx="1"/>
          </p:nvPr>
        </p:nvSpPr>
        <p:spPr>
          <a:xfrm>
            <a:off x="537029" y="1001486"/>
            <a:ext cx="11350171" cy="5175477"/>
          </a:xfrm>
        </p:spPr>
        <p:txBody>
          <a:bodyPr>
            <a:noAutofit/>
          </a:bodyPr>
          <a:lstStyle/>
          <a:p>
            <a:pPr marL="0" indent="0">
              <a:buNone/>
            </a:pPr>
            <a:r>
              <a:rPr lang="en-US" sz="3600" b="1" dirty="0">
                <a:solidFill>
                  <a:srgbClr val="00B050"/>
                </a:solidFill>
              </a:rPr>
              <a:t>1.  Telos (Purpose)</a:t>
            </a:r>
          </a:p>
          <a:p>
            <a:r>
              <a:rPr lang="en-US" sz="3600" b="1" dirty="0">
                <a:solidFill>
                  <a:srgbClr val="00B050"/>
                </a:solidFill>
              </a:rPr>
              <a:t>Definition: </a:t>
            </a:r>
            <a:r>
              <a:rPr lang="en-US" sz="3600" b="1" dirty="0"/>
              <a:t>Telos, derived from the Greek word for "end" or "purpose," is a foundational concept in Natural Moral Law. It posits that everything in the universe, including human beings, has a predetermined purpose or end goal.</a:t>
            </a:r>
          </a:p>
          <a:p>
            <a:r>
              <a:rPr lang="en-US" sz="3600" b="1" dirty="0">
                <a:solidFill>
                  <a:srgbClr val="00B050"/>
                </a:solidFill>
              </a:rPr>
              <a:t>Significance:</a:t>
            </a:r>
            <a:r>
              <a:rPr lang="en-US" sz="3600" b="1" dirty="0"/>
              <a:t> In Natural Moral Law, understanding one's telos is crucial to living a morally virtuous life. It involves recognizing and aligning one's actions with the ultimate goal of human flourishing (eudaimonia), which is the fulfillment of one's natural potential</a:t>
            </a:r>
            <a:r>
              <a:rPr lang="en-US" sz="3200" dirty="0"/>
              <a:t>.</a:t>
            </a:r>
            <a:endParaRPr lang="en-GB" sz="3200" dirty="0"/>
          </a:p>
        </p:txBody>
      </p:sp>
    </p:spTree>
    <p:extLst>
      <p:ext uri="{BB962C8B-B14F-4D97-AF65-F5344CB8AC3E}">
        <p14:creationId xmlns:p14="http://schemas.microsoft.com/office/powerpoint/2010/main" val="385602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77B0AA-1F60-FC3C-7FEF-D5944149BF2D}"/>
              </a:ext>
            </a:extLst>
          </p:cNvPr>
          <p:cNvSpPr>
            <a:spLocks noGrp="1"/>
          </p:cNvSpPr>
          <p:nvPr>
            <p:ph idx="1"/>
          </p:nvPr>
        </p:nvSpPr>
        <p:spPr>
          <a:xfrm>
            <a:off x="838200" y="595086"/>
            <a:ext cx="10860314" cy="5581877"/>
          </a:xfrm>
        </p:spPr>
        <p:txBody>
          <a:bodyPr>
            <a:noAutofit/>
          </a:bodyPr>
          <a:lstStyle/>
          <a:p>
            <a:pPr marL="0" indent="0">
              <a:buNone/>
            </a:pPr>
            <a:r>
              <a:rPr lang="en-US" sz="3600" b="1" dirty="0">
                <a:solidFill>
                  <a:srgbClr val="00B050"/>
                </a:solidFill>
              </a:rPr>
              <a:t>2.  Synderesis</a:t>
            </a:r>
          </a:p>
          <a:p>
            <a:r>
              <a:rPr lang="en-US" sz="3600" b="1" dirty="0">
                <a:solidFill>
                  <a:srgbClr val="00B050"/>
                </a:solidFill>
              </a:rPr>
              <a:t>Definition: </a:t>
            </a:r>
            <a:r>
              <a:rPr lang="en-US" sz="3600" b="1" dirty="0"/>
              <a:t>Synderesis refers to the </a:t>
            </a:r>
            <a:r>
              <a:rPr lang="en-US" sz="3600" b="1" dirty="0">
                <a:solidFill>
                  <a:srgbClr val="00B050"/>
                </a:solidFill>
              </a:rPr>
              <a:t>innate human </a:t>
            </a:r>
            <a:r>
              <a:rPr lang="en-US" sz="3600" b="1" dirty="0"/>
              <a:t>capacity to understand basic moral principles. It is often described as the moral compass within individuals that guides them towards recognizing right from wrong.</a:t>
            </a:r>
          </a:p>
          <a:p>
            <a:r>
              <a:rPr lang="en-US" sz="3600" b="1" dirty="0">
                <a:solidFill>
                  <a:srgbClr val="00B050"/>
                </a:solidFill>
              </a:rPr>
              <a:t>Significance: </a:t>
            </a:r>
            <a:r>
              <a:rPr lang="en-US" sz="3600" b="1" dirty="0"/>
              <a:t>Synderesis serves as the foundation for moral reasoning in Natural Moral Law. It provides individuals with an </a:t>
            </a:r>
            <a:r>
              <a:rPr lang="en-US" sz="3600" b="1" dirty="0">
                <a:solidFill>
                  <a:srgbClr val="00B050"/>
                </a:solidFill>
              </a:rPr>
              <a:t>intuitive understanding of fundamental moral truths, </a:t>
            </a:r>
            <a:r>
              <a:rPr lang="en-US" sz="3600" b="1" dirty="0"/>
              <a:t>allowing them to discern the moral quality of their actions.</a:t>
            </a:r>
            <a:endParaRPr lang="en-GB" sz="3600" b="1" dirty="0"/>
          </a:p>
        </p:txBody>
      </p:sp>
    </p:spTree>
    <p:extLst>
      <p:ext uri="{BB962C8B-B14F-4D97-AF65-F5344CB8AC3E}">
        <p14:creationId xmlns:p14="http://schemas.microsoft.com/office/powerpoint/2010/main" val="1694522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1957D6-12B6-C5F2-F61E-F6F6D89815D9}"/>
              </a:ext>
            </a:extLst>
          </p:cNvPr>
          <p:cNvSpPr>
            <a:spLocks noGrp="1"/>
          </p:cNvSpPr>
          <p:nvPr>
            <p:ph idx="1"/>
          </p:nvPr>
        </p:nvSpPr>
        <p:spPr>
          <a:xfrm>
            <a:off x="566057" y="449944"/>
            <a:ext cx="11074399" cy="5921828"/>
          </a:xfrm>
        </p:spPr>
        <p:txBody>
          <a:bodyPr>
            <a:noAutofit/>
          </a:bodyPr>
          <a:lstStyle/>
          <a:p>
            <a:pPr marL="0" indent="0">
              <a:buNone/>
            </a:pPr>
            <a:r>
              <a:rPr lang="en-US" sz="4800" b="1" dirty="0">
                <a:solidFill>
                  <a:srgbClr val="00B050"/>
                </a:solidFill>
              </a:rPr>
              <a:t>3.  Primary and Secondary Precepts</a:t>
            </a:r>
          </a:p>
          <a:p>
            <a:r>
              <a:rPr lang="en-US" sz="4000" b="1" dirty="0">
                <a:solidFill>
                  <a:srgbClr val="00B050"/>
                </a:solidFill>
              </a:rPr>
              <a:t>Definition: </a:t>
            </a:r>
            <a:r>
              <a:rPr lang="en-US" sz="4000" b="1" dirty="0"/>
              <a:t>Natural Moral Law derives specific moral principles from general principles through a process involving primary and secondary precepts. </a:t>
            </a:r>
            <a:r>
              <a:rPr lang="en-US" sz="4000" b="1" dirty="0">
                <a:solidFill>
                  <a:srgbClr val="00B050"/>
                </a:solidFill>
              </a:rPr>
              <a:t>Primary precepts </a:t>
            </a:r>
            <a:r>
              <a:rPr lang="en-US" sz="4000" b="1" dirty="0"/>
              <a:t>are fundamental moral principles rooted in human nature, such as the preservation of life and the pursuit of knowledge. </a:t>
            </a:r>
            <a:r>
              <a:rPr lang="en-US" sz="4000" b="1" dirty="0">
                <a:solidFill>
                  <a:srgbClr val="00B050"/>
                </a:solidFill>
              </a:rPr>
              <a:t>Secondary precepts </a:t>
            </a:r>
            <a:r>
              <a:rPr lang="en-US" sz="4000" b="1" dirty="0"/>
              <a:t>are derived from primary precepts and offer practical guidance for specific situations, such as the prohibition of murder or theft.</a:t>
            </a:r>
          </a:p>
        </p:txBody>
      </p:sp>
    </p:spTree>
    <p:extLst>
      <p:ext uri="{BB962C8B-B14F-4D97-AF65-F5344CB8AC3E}">
        <p14:creationId xmlns:p14="http://schemas.microsoft.com/office/powerpoint/2010/main" val="3598275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E9597-0C37-49D3-9191-1026D81FCAA3}"/>
              </a:ext>
            </a:extLst>
          </p:cNvPr>
          <p:cNvSpPr>
            <a:spLocks noGrp="1"/>
          </p:cNvSpPr>
          <p:nvPr>
            <p:ph type="title"/>
          </p:nvPr>
        </p:nvSpPr>
        <p:spPr/>
        <p:txBody>
          <a:bodyPr>
            <a:normAutofit fontScale="90000"/>
          </a:bodyPr>
          <a:lstStyle/>
          <a:p>
            <a:pPr marL="0" marR="0" lvl="0" indent="0" defTabSz="914400" rtl="0" eaLnBrk="1" fontAlgn="auto" latinLnBrk="0" hangingPunct="1">
              <a:lnSpc>
                <a:spcPct val="90000"/>
              </a:lnSpc>
              <a:spcBef>
                <a:spcPts val="1000"/>
              </a:spcBef>
              <a:spcAft>
                <a:spcPts val="0"/>
              </a:spcAft>
              <a:tabLst/>
              <a:defRPr/>
            </a:pPr>
            <a:r>
              <a:rPr kumimoji="0" lang="en-US" sz="4800" b="1" i="0" u="none" strike="noStrike" kern="1200" cap="none" spc="0" normalizeH="0" baseline="0" noProof="0" dirty="0">
                <a:ln>
                  <a:noFill/>
                </a:ln>
                <a:solidFill>
                  <a:srgbClr val="00B050"/>
                </a:solidFill>
                <a:effectLst/>
                <a:uLnTx/>
                <a:uFillTx/>
                <a:latin typeface="Calibri" panose="020F0502020204030204"/>
                <a:ea typeface="+mn-ea"/>
                <a:cs typeface="+mn-cs"/>
              </a:rPr>
              <a:t>Primary and Secondary Precepts</a:t>
            </a:r>
            <a:br>
              <a:rPr kumimoji="0" lang="en-US" sz="4800" b="1" i="0" u="none" strike="noStrike" kern="1200" cap="none" spc="0" normalizeH="0" baseline="0" noProof="0" dirty="0">
                <a:ln>
                  <a:noFill/>
                </a:ln>
                <a:solidFill>
                  <a:srgbClr val="00B050"/>
                </a:solidFill>
                <a:effectLst/>
                <a:uLnTx/>
                <a:uFillTx/>
                <a:latin typeface="Calibri" panose="020F0502020204030204"/>
                <a:ea typeface="+mn-ea"/>
                <a:cs typeface="+mn-cs"/>
              </a:rPr>
            </a:br>
            <a:endParaRPr lang="en-US" dirty="0"/>
          </a:p>
        </p:txBody>
      </p:sp>
      <p:sp>
        <p:nvSpPr>
          <p:cNvPr id="3" name="Content Placeholder 2">
            <a:extLst>
              <a:ext uri="{FF2B5EF4-FFF2-40B4-BE49-F238E27FC236}">
                <a16:creationId xmlns:a16="http://schemas.microsoft.com/office/drawing/2014/main" id="{24C8A655-6EAA-AC37-AD5C-02CBF025F837}"/>
              </a:ext>
            </a:extLst>
          </p:cNvPr>
          <p:cNvSpPr>
            <a:spLocks noGrp="1"/>
          </p:cNvSpPr>
          <p:nvPr>
            <p:ph idx="1"/>
          </p:nvPr>
        </p:nvSpPr>
        <p:spPr>
          <a:xfrm>
            <a:off x="838200" y="1422400"/>
            <a:ext cx="10515600" cy="4754563"/>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4400" b="1" i="0" u="none" strike="noStrike" kern="1200" cap="none" spc="0" normalizeH="0" baseline="0" noProof="0" dirty="0">
                <a:ln>
                  <a:noFill/>
                </a:ln>
                <a:solidFill>
                  <a:srgbClr val="00B050"/>
                </a:solidFill>
                <a:effectLst/>
                <a:uLnTx/>
                <a:uFillTx/>
                <a:latin typeface="Calibri" panose="020F0502020204030204"/>
                <a:ea typeface="+mn-ea"/>
                <a:cs typeface="+mn-cs"/>
              </a:rPr>
              <a:t>Significance</a:t>
            </a:r>
            <a:r>
              <a:rPr kumimoji="0" lang="en-US" sz="4400" b="1" i="0" u="none" strike="noStrike" kern="1200" cap="none" spc="0" normalizeH="0" baseline="0" noProof="0" dirty="0">
                <a:ln>
                  <a:noFill/>
                </a:ln>
                <a:solidFill>
                  <a:prstClr val="black"/>
                </a:solidFill>
                <a:effectLst/>
                <a:uLnTx/>
                <a:uFillTx/>
                <a:latin typeface="Calibri" panose="020F0502020204030204"/>
                <a:ea typeface="+mn-ea"/>
                <a:cs typeface="+mn-cs"/>
              </a:rPr>
              <a:t>: Primary and secondary precepts provide a structured ethical framework within Natural Moral Law.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4400" b="1" i="0" u="none" strike="noStrike" kern="1200" cap="none" spc="0" normalizeH="0" baseline="0" noProof="0" dirty="0">
                <a:ln>
                  <a:noFill/>
                </a:ln>
                <a:solidFill>
                  <a:prstClr val="black"/>
                </a:solidFill>
                <a:effectLst/>
                <a:uLnTx/>
                <a:uFillTx/>
                <a:latin typeface="Calibri" panose="020F0502020204030204"/>
                <a:ea typeface="+mn-ea"/>
                <a:cs typeface="+mn-cs"/>
              </a:rPr>
              <a:t>They guide individuals in making morally sound decisions by offering </a:t>
            </a:r>
            <a:r>
              <a:rPr kumimoji="0" lang="en-US" sz="4400" b="1" i="0" u="none" strike="noStrike" kern="1200" cap="none" spc="0" normalizeH="0" baseline="0" noProof="0" dirty="0">
                <a:ln>
                  <a:noFill/>
                </a:ln>
                <a:solidFill>
                  <a:srgbClr val="00B050"/>
                </a:solidFill>
                <a:effectLst/>
                <a:uLnTx/>
                <a:uFillTx/>
                <a:latin typeface="Calibri" panose="020F0502020204030204"/>
                <a:ea typeface="+mn-ea"/>
                <a:cs typeface="+mn-cs"/>
              </a:rPr>
              <a:t>guidance</a:t>
            </a:r>
            <a:r>
              <a:rPr kumimoji="0" lang="en-US" sz="4400" b="1" i="0" u="none" strike="noStrike" kern="1200" cap="none" spc="0" normalizeH="0" baseline="0" noProof="0" dirty="0">
                <a:ln>
                  <a:noFill/>
                </a:ln>
                <a:solidFill>
                  <a:prstClr val="black"/>
                </a:solidFill>
                <a:effectLst/>
                <a:uLnTx/>
                <a:uFillTx/>
                <a:latin typeface="Calibri" panose="020F0502020204030204"/>
                <a:ea typeface="+mn-ea"/>
                <a:cs typeface="+mn-cs"/>
              </a:rPr>
              <a:t> on </a:t>
            </a:r>
            <a:r>
              <a:rPr kumimoji="0" lang="en-US" sz="4400" b="1" i="0" u="none" strike="noStrike" kern="1200" cap="none" spc="0" normalizeH="0" baseline="0" noProof="0" dirty="0">
                <a:ln>
                  <a:noFill/>
                </a:ln>
                <a:solidFill>
                  <a:srgbClr val="00B050"/>
                </a:solidFill>
                <a:effectLst/>
                <a:uLnTx/>
                <a:uFillTx/>
                <a:latin typeface="Calibri" panose="020F0502020204030204"/>
                <a:ea typeface="+mn-ea"/>
                <a:cs typeface="+mn-cs"/>
              </a:rPr>
              <a:t>how to apply </a:t>
            </a:r>
            <a:r>
              <a:rPr kumimoji="0" lang="en-US" sz="4400" b="1" i="0" u="none" strike="noStrike" kern="1200" cap="none" spc="0" normalizeH="0" baseline="0" noProof="0" dirty="0">
                <a:ln>
                  <a:noFill/>
                </a:ln>
                <a:solidFill>
                  <a:prstClr val="black"/>
                </a:solidFill>
                <a:effectLst/>
                <a:uLnTx/>
                <a:uFillTx/>
                <a:latin typeface="Calibri" panose="020F0502020204030204"/>
                <a:ea typeface="+mn-ea"/>
                <a:cs typeface="+mn-cs"/>
              </a:rPr>
              <a:t>universal moral principles to </a:t>
            </a:r>
            <a:r>
              <a:rPr kumimoji="0" lang="en-US" sz="4400" b="1" i="0" u="none" strike="noStrike" kern="1200" cap="none" spc="0" normalizeH="0" baseline="0" noProof="0" dirty="0">
                <a:ln>
                  <a:noFill/>
                </a:ln>
                <a:solidFill>
                  <a:srgbClr val="00B050"/>
                </a:solidFill>
                <a:effectLst/>
                <a:uLnTx/>
                <a:uFillTx/>
                <a:latin typeface="Calibri" panose="020F0502020204030204"/>
                <a:ea typeface="+mn-ea"/>
                <a:cs typeface="+mn-cs"/>
              </a:rPr>
              <a:t>concrete ethical dilemmas.</a:t>
            </a:r>
            <a:endParaRPr kumimoji="0" lang="en-GB" sz="4400" b="1" i="0" u="none" strike="noStrike" kern="1200" cap="none" spc="0" normalizeH="0" baseline="0" noProof="0" dirty="0">
              <a:ln>
                <a:noFill/>
              </a:ln>
              <a:solidFill>
                <a:srgbClr val="00B050"/>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2037465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914B5-BD30-0D53-8E63-34CC2F838B4A}"/>
              </a:ext>
            </a:extLst>
          </p:cNvPr>
          <p:cNvSpPr>
            <a:spLocks noGrp="1"/>
          </p:cNvSpPr>
          <p:nvPr>
            <p:ph type="title"/>
          </p:nvPr>
        </p:nvSpPr>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3100" b="0" i="0" u="none" strike="noStrike" kern="1200" cap="none" spc="0" normalizeH="0" baseline="0" noProof="0" dirty="0">
                <a:ln>
                  <a:noFill/>
                </a:ln>
                <a:solidFill>
                  <a:prstClr val="black"/>
                </a:solidFill>
                <a:effectLst/>
                <a:uLnTx/>
                <a:uFillTx/>
                <a:latin typeface="Calibri" panose="020F0502020204030204"/>
                <a:ea typeface="+mn-ea"/>
                <a:cs typeface="+mn-cs"/>
              </a:rPr>
              <a:t/>
            </a:r>
            <a:br>
              <a:rPr kumimoji="0" lang="en-US" sz="31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3100" b="1" i="0" u="none" strike="noStrike" kern="1200" cap="none" spc="0" normalizeH="0" baseline="0" noProof="0" dirty="0">
                <a:ln>
                  <a:noFill/>
                </a:ln>
                <a:solidFill>
                  <a:srgbClr val="0070C0"/>
                </a:solidFill>
                <a:effectLst/>
                <a:uLnTx/>
                <a:uFillTx/>
                <a:latin typeface="Calibri" panose="020F0502020204030204"/>
                <a:ea typeface="+mn-ea"/>
                <a:cs typeface="+mn-cs"/>
              </a:rPr>
              <a:t>Primary and secondary precepts are fundamental components of Natural Moral Law, and they help guide individuals in making moral decisions.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r>
            <a:b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br>
            <a:endParaRPr lang="en-GB" dirty="0"/>
          </a:p>
        </p:txBody>
      </p:sp>
      <p:sp>
        <p:nvSpPr>
          <p:cNvPr id="3" name="Content Placeholder 2">
            <a:extLst>
              <a:ext uri="{FF2B5EF4-FFF2-40B4-BE49-F238E27FC236}">
                <a16:creationId xmlns:a16="http://schemas.microsoft.com/office/drawing/2014/main" id="{5ACDE59B-1C5A-4A02-C11B-D8D46B58F25D}"/>
              </a:ext>
            </a:extLst>
          </p:cNvPr>
          <p:cNvSpPr>
            <a:spLocks noGrp="1"/>
          </p:cNvSpPr>
          <p:nvPr>
            <p:ph idx="1"/>
          </p:nvPr>
        </p:nvSpPr>
        <p:spPr>
          <a:xfrm>
            <a:off x="838200" y="1393370"/>
            <a:ext cx="10515600" cy="4783593"/>
          </a:xfrm>
        </p:spPr>
        <p:txBody>
          <a:bodyPr>
            <a:noAutofit/>
          </a:bodyPr>
          <a:lstStyle/>
          <a:p>
            <a:pPr marL="0" indent="0">
              <a:buNone/>
            </a:pPr>
            <a:r>
              <a:rPr lang="en-US" sz="4400" b="1" dirty="0">
                <a:solidFill>
                  <a:srgbClr val="0070C0"/>
                </a:solidFill>
              </a:rPr>
              <a:t>Primary Precepts:</a:t>
            </a:r>
          </a:p>
          <a:p>
            <a:pPr marL="0" indent="0">
              <a:buNone/>
            </a:pPr>
            <a:r>
              <a:rPr lang="en-US" sz="4400" b="1" dirty="0">
                <a:solidFill>
                  <a:srgbClr val="00B050"/>
                </a:solidFill>
              </a:rPr>
              <a:t>1.  Preservation of Life (Life is to be protected): </a:t>
            </a:r>
            <a:r>
              <a:rPr lang="en-US" sz="4400" b="1" dirty="0"/>
              <a:t>This primary precept emphasizes the inherent value of human life. It directs individuals to protect and preserve life whenever possible. It underlies the moral prohibition against murder.</a:t>
            </a:r>
          </a:p>
        </p:txBody>
      </p:sp>
    </p:spTree>
    <p:extLst>
      <p:ext uri="{BB962C8B-B14F-4D97-AF65-F5344CB8AC3E}">
        <p14:creationId xmlns:p14="http://schemas.microsoft.com/office/powerpoint/2010/main" val="2222474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6A8D2F-6A73-E496-0E2D-F6A5BCAA4CD2}"/>
              </a:ext>
            </a:extLst>
          </p:cNvPr>
          <p:cNvSpPr>
            <a:spLocks noGrp="1"/>
          </p:cNvSpPr>
          <p:nvPr>
            <p:ph idx="1"/>
          </p:nvPr>
        </p:nvSpPr>
        <p:spPr>
          <a:xfrm>
            <a:off x="838200" y="696686"/>
            <a:ext cx="10515600" cy="5480277"/>
          </a:xfrm>
        </p:spPr>
        <p:txBody>
          <a:bodyPr>
            <a:normAutofit fontScale="92500" lnSpcReduction="10000"/>
          </a:bodyPr>
          <a:lstStyle/>
          <a:p>
            <a:pPr marL="0" marR="0" lvl="0" indent="0" algn="l" defTabSz="914400" rtl="0" eaLnBrk="1" fontAlgn="auto" latinLnBrk="0" hangingPunct="1">
              <a:lnSpc>
                <a:spcPct val="90000"/>
              </a:lnSpc>
              <a:spcBef>
                <a:spcPts val="1000"/>
              </a:spcBef>
              <a:spcAft>
                <a:spcPts val="0"/>
              </a:spcAft>
              <a:buClrTx/>
              <a:buSzTx/>
              <a:buNone/>
              <a:tabLst/>
              <a:defRPr/>
            </a:pPr>
            <a:r>
              <a:rPr kumimoji="0" lang="en-US" sz="3200" b="1" i="0" u="none" strike="noStrike" kern="1200" cap="none" spc="0" normalizeH="0" baseline="0" noProof="0" dirty="0">
                <a:ln>
                  <a:noFill/>
                </a:ln>
                <a:solidFill>
                  <a:srgbClr val="00B050"/>
                </a:solidFill>
                <a:effectLst/>
                <a:uLnTx/>
                <a:uFillTx/>
                <a:latin typeface="Calibri" panose="020F0502020204030204"/>
                <a:ea typeface="+mn-ea"/>
                <a:cs typeface="+mn-cs"/>
              </a:rPr>
              <a:t>2.  Reproduction and Procreation (Procreation is a natural end):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This primary precept recognizes that one of the natural purposes of human life is to reproduce and continue the species. It encourages responsible parenthood and the nurturing of family bonds.</a:t>
            </a:r>
          </a:p>
          <a:p>
            <a:pPr marL="0" marR="0" lvl="0" indent="0" algn="l" defTabSz="914400" rtl="0" eaLnBrk="1" fontAlgn="auto" latinLnBrk="0" hangingPunct="1">
              <a:lnSpc>
                <a:spcPct val="90000"/>
              </a:lnSpc>
              <a:spcBef>
                <a:spcPts val="1000"/>
              </a:spcBef>
              <a:spcAft>
                <a:spcPts val="0"/>
              </a:spcAft>
              <a:buClrTx/>
              <a:buSzTx/>
              <a:buNone/>
              <a:tabLst/>
              <a:defRPr/>
            </a:pPr>
            <a:r>
              <a:rPr kumimoji="0" lang="en-US" sz="3200" b="1" i="0" u="none" strike="noStrike" kern="1200" cap="none" spc="0" normalizeH="0" baseline="0" noProof="0" dirty="0">
                <a:ln>
                  <a:noFill/>
                </a:ln>
                <a:solidFill>
                  <a:srgbClr val="00B050"/>
                </a:solidFill>
                <a:effectLst/>
                <a:uLnTx/>
                <a:uFillTx/>
                <a:latin typeface="Calibri" panose="020F0502020204030204"/>
                <a:ea typeface="+mn-ea"/>
                <a:cs typeface="+mn-cs"/>
              </a:rPr>
              <a:t>3.  Education (Knowledge and self-improvement):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Education is seen as a means to fulfill one's potential and develop intellectual and moral virtues. It's a primary precept that encourages the pursuit of knowledge and personal growth.</a:t>
            </a:r>
          </a:p>
          <a:p>
            <a:pPr marL="0" marR="0" lvl="0" indent="0" algn="l" defTabSz="914400" rtl="0" eaLnBrk="1" fontAlgn="auto" latinLnBrk="0" hangingPunct="1">
              <a:lnSpc>
                <a:spcPct val="90000"/>
              </a:lnSpc>
              <a:spcBef>
                <a:spcPts val="1000"/>
              </a:spcBef>
              <a:spcAft>
                <a:spcPts val="0"/>
              </a:spcAft>
              <a:buClrTx/>
              <a:buSzTx/>
              <a:buNone/>
              <a:tabLst/>
              <a:defRPr/>
            </a:pPr>
            <a:r>
              <a:rPr kumimoji="0" lang="en-US" sz="3200" b="1" i="0" u="none" strike="noStrike" kern="1200" cap="none" spc="0" normalizeH="0" baseline="0" noProof="0" dirty="0">
                <a:ln>
                  <a:noFill/>
                </a:ln>
                <a:solidFill>
                  <a:srgbClr val="00B050"/>
                </a:solidFill>
                <a:effectLst/>
                <a:uLnTx/>
                <a:uFillTx/>
                <a:latin typeface="Calibri" panose="020F0502020204030204"/>
                <a:ea typeface="+mn-ea"/>
                <a:cs typeface="+mn-cs"/>
              </a:rPr>
              <a:t>4.  Societal Order (Society should be organized for the common good):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This precept suggests that human beings are social creatures and should work together to establish a just and orderly society. It implies respect for authority and the law.</a:t>
            </a:r>
            <a:endParaRPr kumimoji="0" lang="en-GB" sz="3200" b="1"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429629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8F118-17CC-1AE8-0535-05279BE70703}"/>
              </a:ext>
            </a:extLst>
          </p:cNvPr>
          <p:cNvSpPr>
            <a:spLocks noGrp="1"/>
          </p:cNvSpPr>
          <p:nvPr>
            <p:ph idx="1"/>
          </p:nvPr>
        </p:nvSpPr>
        <p:spPr>
          <a:xfrm>
            <a:off x="838200" y="469784"/>
            <a:ext cx="10746996" cy="5947794"/>
          </a:xfrm>
        </p:spPr>
        <p:txBody>
          <a:bodyPr>
            <a:noAutofit/>
          </a:bodyPr>
          <a:lstStyle/>
          <a:p>
            <a:pPr marL="0" indent="0">
              <a:buNone/>
            </a:pPr>
            <a:r>
              <a:rPr lang="en-US" sz="4400" b="1" dirty="0">
                <a:solidFill>
                  <a:srgbClr val="0070C0"/>
                </a:solidFill>
              </a:rPr>
              <a:t>Secondary Precepts:</a:t>
            </a:r>
          </a:p>
          <a:p>
            <a:pPr marL="0" indent="0">
              <a:buNone/>
            </a:pPr>
            <a:r>
              <a:rPr lang="en-US" sz="3600" b="1" dirty="0">
                <a:solidFill>
                  <a:srgbClr val="00B050"/>
                </a:solidFill>
              </a:rPr>
              <a:t>1.  Do not murder (derived from the primary precept of preserving life): </a:t>
            </a:r>
            <a:r>
              <a:rPr lang="en-US" sz="3600" b="1" dirty="0"/>
              <a:t>The prohibition against taking another person's life is a secondary precept that stems from the primary precept of the preservation of life.</a:t>
            </a:r>
          </a:p>
          <a:p>
            <a:pPr marL="0" indent="0">
              <a:buNone/>
            </a:pPr>
            <a:endParaRPr lang="en-US" sz="3600" b="1" dirty="0"/>
          </a:p>
          <a:p>
            <a:pPr marL="0" indent="0">
              <a:buNone/>
            </a:pPr>
            <a:r>
              <a:rPr lang="en-US" sz="3600" b="1" dirty="0">
                <a:solidFill>
                  <a:srgbClr val="00B050"/>
                </a:solidFill>
              </a:rPr>
              <a:t>2.  Honoring one's parents (derived from the primary precepts of family and societal order): </a:t>
            </a:r>
            <a:r>
              <a:rPr lang="en-US" sz="3600" b="1" dirty="0"/>
              <a:t>Respecting and obeying one's parents is seen as a way to maintain family bonds and contribute to societal order.</a:t>
            </a:r>
          </a:p>
        </p:txBody>
      </p:sp>
    </p:spTree>
    <p:extLst>
      <p:ext uri="{BB962C8B-B14F-4D97-AF65-F5344CB8AC3E}">
        <p14:creationId xmlns:p14="http://schemas.microsoft.com/office/powerpoint/2010/main" val="3458643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5373B6-5D4F-656D-8BD8-79670DF6D837}"/>
              </a:ext>
            </a:extLst>
          </p:cNvPr>
          <p:cNvSpPr>
            <a:spLocks noGrp="1"/>
          </p:cNvSpPr>
          <p:nvPr>
            <p:ph idx="1"/>
          </p:nvPr>
        </p:nvSpPr>
        <p:spPr>
          <a:xfrm>
            <a:off x="838200" y="812800"/>
            <a:ext cx="10515600" cy="5364163"/>
          </a:xfrm>
        </p:spPr>
        <p:txBody>
          <a:bodyPr>
            <a:normAutofit/>
          </a:bodyPr>
          <a:lstStyle/>
          <a:p>
            <a:pPr marL="514350" marR="0" lvl="0" indent="-514350" algn="l" defTabSz="914400" rtl="0" eaLnBrk="1" fontAlgn="auto" latinLnBrk="0" hangingPunct="1">
              <a:lnSpc>
                <a:spcPct val="90000"/>
              </a:lnSpc>
              <a:spcBef>
                <a:spcPts val="1000"/>
              </a:spcBef>
              <a:spcAft>
                <a:spcPts val="0"/>
              </a:spcAft>
              <a:buClrTx/>
              <a:buSzTx/>
              <a:buAutoNum type="arabicPeriod" startAt="3"/>
              <a:tabLst/>
              <a:defRPr/>
            </a:pPr>
            <a:r>
              <a:rPr kumimoji="0" lang="en-US" sz="3600" b="1" i="0" u="none" strike="noStrike" kern="1200" cap="none" spc="0" normalizeH="0" baseline="0" noProof="0" dirty="0">
                <a:ln>
                  <a:noFill/>
                </a:ln>
                <a:solidFill>
                  <a:srgbClr val="00B050"/>
                </a:solidFill>
                <a:effectLst/>
                <a:uLnTx/>
                <a:uFillTx/>
                <a:latin typeface="Calibri" panose="020F0502020204030204"/>
                <a:ea typeface="+mn-ea"/>
                <a:cs typeface="+mn-cs"/>
              </a:rPr>
              <a:t>Seek the truth (derived from the primary precept of education): </a:t>
            </a: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Pursuing knowledge, seeking the truth, and avoiding falsehoods are secondary precepts derived from the primary precept of education.</a:t>
            </a:r>
          </a:p>
          <a:p>
            <a:pPr marL="0" marR="0" lvl="0" indent="0" algn="l" defTabSz="914400" rtl="0" eaLnBrk="1" fontAlgn="auto" latinLnBrk="0" hangingPunct="1">
              <a:lnSpc>
                <a:spcPct val="90000"/>
              </a:lnSpc>
              <a:spcBef>
                <a:spcPts val="1000"/>
              </a:spcBef>
              <a:spcAft>
                <a:spcPts val="0"/>
              </a:spcAft>
              <a:buClrTx/>
              <a:buSzTx/>
              <a:buNone/>
              <a:tabLst/>
              <a:defRPr/>
            </a:pPr>
            <a:endPar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14350" marR="0" lvl="0" indent="-514350" algn="l" defTabSz="914400" rtl="0" eaLnBrk="1" fontAlgn="auto" latinLnBrk="0" hangingPunct="1">
              <a:lnSpc>
                <a:spcPct val="90000"/>
              </a:lnSpc>
              <a:spcBef>
                <a:spcPts val="1000"/>
              </a:spcBef>
              <a:spcAft>
                <a:spcPts val="0"/>
              </a:spcAft>
              <a:buClrTx/>
              <a:buSzTx/>
              <a:buAutoNum type="arabicPeriod" startAt="4"/>
              <a:tabLst/>
              <a:defRPr/>
            </a:pPr>
            <a:r>
              <a:rPr kumimoji="0" lang="en-US" sz="3600" b="1" i="0" u="none" strike="noStrike" kern="1200" cap="none" spc="0" normalizeH="0" baseline="0" noProof="0" dirty="0">
                <a:ln>
                  <a:noFill/>
                </a:ln>
                <a:solidFill>
                  <a:srgbClr val="00B050"/>
                </a:solidFill>
                <a:effectLst/>
                <a:uLnTx/>
                <a:uFillTx/>
                <a:latin typeface="Calibri" panose="020F0502020204030204"/>
                <a:ea typeface="+mn-ea"/>
                <a:cs typeface="+mn-cs"/>
              </a:rPr>
              <a:t>Do not steal (derived from the primary precept of societal order): </a:t>
            </a: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The prohibition against theft arises from the primary precept of societal order, which values private property and the well-being of individuals within a just society.</a:t>
            </a:r>
          </a:p>
          <a:p>
            <a:pPr marL="0" marR="0" lvl="0" indent="0" algn="l" defTabSz="914400" rtl="0" eaLnBrk="1" fontAlgn="auto" latinLnBrk="0" hangingPunct="1">
              <a:lnSpc>
                <a:spcPct val="90000"/>
              </a:lnSpc>
              <a:spcBef>
                <a:spcPts val="1000"/>
              </a:spcBef>
              <a:spcAft>
                <a:spcPts val="0"/>
              </a:spcAft>
              <a:buClrTx/>
              <a:buSzTx/>
              <a:buNone/>
              <a:tabLst/>
              <a:defRPr/>
            </a:pPr>
            <a:endPar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586681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B54E-747A-ECC2-671B-6D304BF93C68}"/>
              </a:ext>
            </a:extLst>
          </p:cNvPr>
          <p:cNvSpPr>
            <a:spLocks noGrp="1"/>
          </p:cNvSpPr>
          <p:nvPr>
            <p:ph type="title"/>
          </p:nvPr>
        </p:nvSpPr>
        <p:spPr>
          <a:xfrm>
            <a:off x="838200" y="319314"/>
            <a:ext cx="10515600" cy="1039703"/>
          </a:xfrm>
        </p:spPr>
        <p:txBody>
          <a:bodyPr>
            <a:normAutofit fontScale="90000"/>
          </a:bodyPr>
          <a:lstStyle/>
          <a:p>
            <a:r>
              <a:rPr lang="en-US" b="1" dirty="0">
                <a:solidFill>
                  <a:srgbClr val="0070C0"/>
                </a:solidFill>
              </a:rPr>
              <a:t/>
            </a:r>
            <a:br>
              <a:rPr lang="en-US" b="1" dirty="0">
                <a:solidFill>
                  <a:srgbClr val="0070C0"/>
                </a:solidFill>
              </a:rPr>
            </a:br>
            <a:r>
              <a:rPr lang="en-US" b="1" dirty="0">
                <a:solidFill>
                  <a:srgbClr val="0070C0"/>
                </a:solidFill>
              </a:rPr>
              <a:t>Aristotle's Contributions to Natural Moral Law</a:t>
            </a:r>
            <a:br>
              <a:rPr lang="en-US" b="1" dirty="0">
                <a:solidFill>
                  <a:srgbClr val="0070C0"/>
                </a:solidFill>
              </a:rPr>
            </a:br>
            <a:endParaRPr lang="en-GB" b="1" dirty="0">
              <a:solidFill>
                <a:srgbClr val="0070C0"/>
              </a:solidFill>
            </a:endParaRPr>
          </a:p>
        </p:txBody>
      </p:sp>
      <p:sp>
        <p:nvSpPr>
          <p:cNvPr id="3" name="Content Placeholder 2">
            <a:extLst>
              <a:ext uri="{FF2B5EF4-FFF2-40B4-BE49-F238E27FC236}">
                <a16:creationId xmlns:a16="http://schemas.microsoft.com/office/drawing/2014/main" id="{482A963B-7271-D2AA-DEE5-D4E5ABCE1543}"/>
              </a:ext>
            </a:extLst>
          </p:cNvPr>
          <p:cNvSpPr>
            <a:spLocks noGrp="1"/>
          </p:cNvSpPr>
          <p:nvPr>
            <p:ph idx="1"/>
          </p:nvPr>
        </p:nvSpPr>
        <p:spPr>
          <a:xfrm>
            <a:off x="838200" y="1426127"/>
            <a:ext cx="10515600" cy="4750835"/>
          </a:xfrm>
        </p:spPr>
        <p:txBody>
          <a:bodyPr>
            <a:normAutofit fontScale="70000" lnSpcReduction="20000"/>
          </a:bodyPr>
          <a:lstStyle/>
          <a:p>
            <a:pPr marL="0" indent="0">
              <a:buNone/>
            </a:pPr>
            <a:r>
              <a:rPr lang="en-US" sz="5000" b="1" dirty="0"/>
              <a:t>Aristotle (384–322 BCE), the ancient Greek philosopher, made foundational contributions to the development of Natural Moral Law. His ideas continue to influence this moral theory profoundly.</a:t>
            </a:r>
          </a:p>
          <a:p>
            <a:pPr marL="0" indent="0">
              <a:buNone/>
            </a:pPr>
            <a:endParaRPr lang="en-US" sz="5000" b="1" dirty="0"/>
          </a:p>
          <a:p>
            <a:pPr marL="0" indent="0">
              <a:buNone/>
            </a:pPr>
            <a:r>
              <a:rPr lang="en-US" sz="5000" b="1" dirty="0">
                <a:solidFill>
                  <a:srgbClr val="00B050"/>
                </a:solidFill>
              </a:rPr>
              <a:t>- Emphasis on Virtue</a:t>
            </a:r>
          </a:p>
          <a:p>
            <a:r>
              <a:rPr lang="en-US" sz="5000" b="1" dirty="0"/>
              <a:t>Aristotle emphasized the central role of virtue in ethical philosophy. He believed that living a virtuous life was the key to human flourishing.</a:t>
            </a:r>
          </a:p>
          <a:p>
            <a:pPr marL="0" indent="0">
              <a:buNone/>
            </a:pPr>
            <a:endParaRPr lang="en-US" sz="5000" b="1" dirty="0"/>
          </a:p>
          <a:p>
            <a:endParaRPr lang="en-US" dirty="0"/>
          </a:p>
          <a:p>
            <a:endParaRPr lang="en-US" dirty="0"/>
          </a:p>
          <a:p>
            <a:endParaRPr lang="en-US" dirty="0"/>
          </a:p>
          <a:p>
            <a:endParaRPr lang="en-US" dirty="0"/>
          </a:p>
          <a:p>
            <a:endParaRPr lang="en-US" dirty="0"/>
          </a:p>
          <a:p>
            <a:endParaRPr lang="en-GB" dirty="0"/>
          </a:p>
        </p:txBody>
      </p:sp>
    </p:spTree>
    <p:extLst>
      <p:ext uri="{BB962C8B-B14F-4D97-AF65-F5344CB8AC3E}">
        <p14:creationId xmlns:p14="http://schemas.microsoft.com/office/powerpoint/2010/main" val="1395057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BF863E-AD45-D950-7E91-A6C5BB550F08}"/>
              </a:ext>
            </a:extLst>
          </p:cNvPr>
          <p:cNvSpPr>
            <a:spLocks noGrp="1"/>
          </p:cNvSpPr>
          <p:nvPr>
            <p:ph idx="1"/>
          </p:nvPr>
        </p:nvSpPr>
        <p:spPr>
          <a:xfrm>
            <a:off x="838199" y="609600"/>
            <a:ext cx="10686143" cy="5567363"/>
          </a:xfrm>
        </p:spPr>
        <p:txBody>
          <a:bodyPr>
            <a:normAutofit fontScale="62500" lnSpcReduction="20000"/>
          </a:bodyPr>
          <a:lstStyle/>
          <a:p>
            <a:pPr marL="0" indent="0">
              <a:buNone/>
            </a:pPr>
            <a:r>
              <a:rPr lang="en-US" sz="3800" b="1" dirty="0">
                <a:solidFill>
                  <a:srgbClr val="00B050"/>
                </a:solidFill>
              </a:rPr>
              <a:t>- Eudaimonia (Flourishing)</a:t>
            </a:r>
          </a:p>
          <a:p>
            <a:r>
              <a:rPr lang="en-US" sz="3800" b="1" dirty="0"/>
              <a:t>Aristotle introduced the concept of eudaimonia, often translated as "flourishing" or "the good life." According to Aristotle, eudaimonia is the ultimate goal of human existence.</a:t>
            </a:r>
          </a:p>
          <a:p>
            <a:pPr marL="0" indent="0">
              <a:buNone/>
            </a:pPr>
            <a:r>
              <a:rPr lang="en-US" sz="3800" b="1" dirty="0">
                <a:solidFill>
                  <a:srgbClr val="00B050"/>
                </a:solidFill>
              </a:rPr>
              <a:t>- Virtuous Living and Eudaimonia</a:t>
            </a:r>
          </a:p>
          <a:p>
            <a:r>
              <a:rPr lang="en-US" sz="3800" b="1" dirty="0"/>
              <a:t>Aristotle argued that eudaimonia could be achieved by cultivating moral virtues, such as courage, temperance, and wisdom. Virtuous living, he contended, leads to a life of genuine happiness and fulfillment.</a:t>
            </a:r>
          </a:p>
          <a:p>
            <a:pPr marL="0" indent="0">
              <a:buNone/>
            </a:pPr>
            <a:r>
              <a:rPr lang="en-US" sz="3800" b="1" dirty="0">
                <a:solidFill>
                  <a:srgbClr val="00B050"/>
                </a:solidFill>
              </a:rPr>
              <a:t>- Continued Influence</a:t>
            </a:r>
          </a:p>
          <a:p>
            <a:r>
              <a:rPr lang="en-US" sz="3800" b="1" dirty="0"/>
              <a:t>Aristotle's insights into virtue ethics and eudaimonia have significantly shaped the moral philosophy of Natural Moral Law. They underscore the idea that moral actions should align with human nature and contribute to the well-being and flourishing of individuals and society.</a:t>
            </a:r>
          </a:p>
          <a:p>
            <a:endParaRPr lang="en-US" b="1" dirty="0"/>
          </a:p>
        </p:txBody>
      </p:sp>
    </p:spTree>
    <p:extLst>
      <p:ext uri="{BB962C8B-B14F-4D97-AF65-F5344CB8AC3E}">
        <p14:creationId xmlns:p14="http://schemas.microsoft.com/office/powerpoint/2010/main" val="1937649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F7A28-059A-5B18-CCB1-28127923E295}"/>
              </a:ext>
            </a:extLst>
          </p:cNvPr>
          <p:cNvSpPr>
            <a:spLocks noGrp="1"/>
          </p:cNvSpPr>
          <p:nvPr>
            <p:ph type="title"/>
          </p:nvPr>
        </p:nvSpPr>
        <p:spPr>
          <a:xfrm>
            <a:off x="838200" y="275771"/>
            <a:ext cx="10515600" cy="1414917"/>
          </a:xfrm>
        </p:spPr>
        <p:txBody>
          <a:bodyPr>
            <a:normAutofit fontScale="90000"/>
          </a:bodyPr>
          <a:lstStyle/>
          <a:p>
            <a:r>
              <a:rPr lang="en-US" dirty="0"/>
              <a:t/>
            </a:r>
            <a:br>
              <a:rPr lang="en-US" dirty="0"/>
            </a:br>
            <a:r>
              <a:rPr lang="en-US" b="1" dirty="0">
                <a:solidFill>
                  <a:srgbClr val="0070C0"/>
                </a:solidFill>
              </a:rPr>
              <a:t>Thomas Aquinas and the Development of Natural Moral Law</a:t>
            </a:r>
            <a:r>
              <a:rPr lang="en-US" dirty="0"/>
              <a:t/>
            </a:r>
            <a:br>
              <a:rPr lang="en-US" dirty="0"/>
            </a:br>
            <a:endParaRPr lang="en-GB" dirty="0"/>
          </a:p>
        </p:txBody>
      </p:sp>
      <p:sp>
        <p:nvSpPr>
          <p:cNvPr id="3" name="Content Placeholder 2">
            <a:extLst>
              <a:ext uri="{FF2B5EF4-FFF2-40B4-BE49-F238E27FC236}">
                <a16:creationId xmlns:a16="http://schemas.microsoft.com/office/drawing/2014/main" id="{340040D1-FBB3-D8F9-8CC6-1852309DEFB3}"/>
              </a:ext>
            </a:extLst>
          </p:cNvPr>
          <p:cNvSpPr>
            <a:spLocks noGrp="1"/>
          </p:cNvSpPr>
          <p:nvPr>
            <p:ph idx="1"/>
          </p:nvPr>
        </p:nvSpPr>
        <p:spPr>
          <a:xfrm>
            <a:off x="838199" y="1524000"/>
            <a:ext cx="10816771" cy="4652963"/>
          </a:xfrm>
        </p:spPr>
        <p:txBody>
          <a:bodyPr>
            <a:normAutofit fontScale="92500" lnSpcReduction="10000"/>
          </a:bodyPr>
          <a:lstStyle/>
          <a:p>
            <a:r>
              <a:rPr lang="en-US" sz="3200" b="1" dirty="0"/>
              <a:t>Thomas Aquinas (1225–1274), a medieval theologian and philosopher, played a pivotal role in the evolution of Natural Moral Law.</a:t>
            </a:r>
          </a:p>
          <a:p>
            <a:pPr marL="0" indent="0">
              <a:buNone/>
            </a:pPr>
            <a:endParaRPr lang="en-US" sz="3200" b="1" dirty="0"/>
          </a:p>
          <a:p>
            <a:r>
              <a:rPr lang="en-US" sz="3200" b="1" dirty="0">
                <a:solidFill>
                  <a:srgbClr val="00B050"/>
                </a:solidFill>
              </a:rPr>
              <a:t>Synthesis</a:t>
            </a:r>
            <a:r>
              <a:rPr lang="en-US" sz="3200" b="1" dirty="0"/>
              <a:t> of Christian Theology and Aristotle's Philosophy</a:t>
            </a:r>
          </a:p>
          <a:p>
            <a:pPr marL="0" indent="0">
              <a:buNone/>
            </a:pPr>
            <a:r>
              <a:rPr lang="en-US" sz="3200" b="1" dirty="0"/>
              <a:t>Aquinas is renowned for his synthesis of Christian theology, particularly Scholasticism, with the philosophical ideas of Aristotle. This synthesis forms the foundation of Natural Moral Law.</a:t>
            </a:r>
          </a:p>
          <a:p>
            <a:endParaRPr lang="en-US" dirty="0"/>
          </a:p>
        </p:txBody>
      </p:sp>
    </p:spTree>
    <p:extLst>
      <p:ext uri="{BB962C8B-B14F-4D97-AF65-F5344CB8AC3E}">
        <p14:creationId xmlns:p14="http://schemas.microsoft.com/office/powerpoint/2010/main" val="2712138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D92BCE-0601-417A-EC82-C7DBF2B7C640}"/>
              </a:ext>
            </a:extLst>
          </p:cNvPr>
          <p:cNvSpPr>
            <a:spLocks noGrp="1"/>
          </p:cNvSpPr>
          <p:nvPr>
            <p:ph idx="1"/>
          </p:nvPr>
        </p:nvSpPr>
        <p:spPr>
          <a:xfrm>
            <a:off x="838200" y="545284"/>
            <a:ext cx="10515600" cy="5631679"/>
          </a:xfrm>
        </p:spPr>
        <p:txBody>
          <a:bodyPr>
            <a:noAutofit/>
          </a:bodyPr>
          <a:lstStyle/>
          <a:p>
            <a:pPr marL="0" indent="0">
              <a:buNone/>
            </a:pPr>
            <a:r>
              <a:rPr lang="en-US" sz="2500" b="1" dirty="0">
                <a:solidFill>
                  <a:srgbClr val="00B050"/>
                </a:solidFill>
              </a:rPr>
              <a:t>Eternal Law</a:t>
            </a:r>
          </a:p>
          <a:p>
            <a:r>
              <a:rPr lang="en-US" sz="2500" b="1" dirty="0"/>
              <a:t>Aquinas introduced the concept of "eternal law," which is the divine, unchanging order that governs the universe. It represents the ultimate source of all moral principles.</a:t>
            </a:r>
          </a:p>
          <a:p>
            <a:pPr marL="0" indent="0">
              <a:buNone/>
            </a:pPr>
            <a:r>
              <a:rPr lang="en-US" sz="2500" b="1" dirty="0">
                <a:solidFill>
                  <a:srgbClr val="00B050"/>
                </a:solidFill>
              </a:rPr>
              <a:t>Divine Law</a:t>
            </a:r>
          </a:p>
          <a:p>
            <a:r>
              <a:rPr lang="en-US" sz="2500" b="1" dirty="0"/>
              <a:t>Divine law, according to Aquinas, is derived from eternal law but revealed to humanity through divine revelation, such as religious texts. It includes specific moral rules and guidelines.</a:t>
            </a:r>
          </a:p>
          <a:p>
            <a:pPr marL="0" indent="0">
              <a:buNone/>
            </a:pPr>
            <a:r>
              <a:rPr lang="en-US" sz="2500" b="1" dirty="0">
                <a:solidFill>
                  <a:srgbClr val="00B050"/>
                </a:solidFill>
              </a:rPr>
              <a:t>Human Law</a:t>
            </a:r>
          </a:p>
          <a:p>
            <a:r>
              <a:rPr lang="en-US" sz="2500" b="1" dirty="0"/>
              <a:t>Aquinas also recognized "human law," which consists of societal rules and regulations created by humans. He believed that human law should align with divine and natural law to be just and morally binding</a:t>
            </a:r>
          </a:p>
        </p:txBody>
      </p:sp>
    </p:spTree>
    <p:extLst>
      <p:ext uri="{BB962C8B-B14F-4D97-AF65-F5344CB8AC3E}">
        <p14:creationId xmlns:p14="http://schemas.microsoft.com/office/powerpoint/2010/main" val="3416313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FD6F0-8BAD-A7CF-84E2-D0F84E0BA798}"/>
              </a:ext>
            </a:extLst>
          </p:cNvPr>
          <p:cNvSpPr>
            <a:spLocks noGrp="1"/>
          </p:cNvSpPr>
          <p:nvPr>
            <p:ph type="title"/>
          </p:nvPr>
        </p:nvSpPr>
        <p:spPr/>
        <p:txBody>
          <a:bodyPr/>
          <a:lstStyle/>
          <a:p>
            <a:r>
              <a:rPr lang="en-US" b="1" dirty="0">
                <a:solidFill>
                  <a:srgbClr val="00B050"/>
                </a:solidFill>
              </a:rPr>
              <a:t>Characteristics of Natural Moral Law</a:t>
            </a:r>
          </a:p>
        </p:txBody>
      </p:sp>
      <p:sp>
        <p:nvSpPr>
          <p:cNvPr id="3" name="Content Placeholder 2">
            <a:extLst>
              <a:ext uri="{FF2B5EF4-FFF2-40B4-BE49-F238E27FC236}">
                <a16:creationId xmlns:a16="http://schemas.microsoft.com/office/drawing/2014/main" id="{1D4D0EF6-25E9-0F38-FB2C-CF4BFBAA3329}"/>
              </a:ext>
            </a:extLst>
          </p:cNvPr>
          <p:cNvSpPr>
            <a:spLocks noGrp="1"/>
          </p:cNvSpPr>
          <p:nvPr>
            <p:ph idx="1"/>
          </p:nvPr>
        </p:nvSpPr>
        <p:spPr>
          <a:xfrm>
            <a:off x="838200" y="1494971"/>
            <a:ext cx="10515600" cy="4681992"/>
          </a:xfrm>
        </p:spPr>
        <p:txBody>
          <a:bodyPr>
            <a:normAutofit lnSpcReduction="10000"/>
          </a:bodyPr>
          <a:lstStyle/>
          <a:p>
            <a:pPr marL="0" marR="0">
              <a:lnSpc>
                <a:spcPct val="107000"/>
              </a:lnSpc>
              <a:spcBef>
                <a:spcPts val="0"/>
              </a:spcBef>
              <a:spcAft>
                <a:spcPts val="800"/>
              </a:spcAft>
            </a:pPr>
            <a:r>
              <a:rPr lang="en-US" sz="4000" b="1" kern="100" dirty="0">
                <a:effectLst/>
                <a:latin typeface="Calibri" panose="020F0502020204030204" pitchFamily="34" charset="0"/>
                <a:ea typeface="Calibri" panose="020F0502020204030204" pitchFamily="34" charset="0"/>
                <a:cs typeface="Times New Roman" panose="02020603050405020304" pitchFamily="18" charset="0"/>
              </a:rPr>
              <a:t>Natural moral law is a theory of ethics and morality that is based on the idea that there are </a:t>
            </a:r>
            <a:r>
              <a:rPr lang="en-US" sz="4000" b="1" kern="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inherent</a:t>
            </a:r>
            <a:r>
              <a:rPr lang="en-US" sz="4000" b="1" kern="100" dirty="0">
                <a:effectLst/>
                <a:latin typeface="Calibri" panose="020F0502020204030204" pitchFamily="34" charset="0"/>
                <a:ea typeface="Calibri" panose="020F0502020204030204" pitchFamily="34" charset="0"/>
                <a:cs typeface="Times New Roman" panose="02020603050405020304" pitchFamily="18" charset="0"/>
              </a:rPr>
              <a:t> moral principles and values that exist in nature and can be discovered through </a:t>
            </a:r>
            <a:r>
              <a:rPr lang="en-US" sz="4000" b="1" kern="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reason and rational reflection. </a:t>
            </a:r>
          </a:p>
          <a:p>
            <a:pPr marL="0" marR="0">
              <a:lnSpc>
                <a:spcPct val="107000"/>
              </a:lnSpc>
              <a:spcBef>
                <a:spcPts val="0"/>
              </a:spcBef>
              <a:spcAft>
                <a:spcPts val="800"/>
              </a:spcAft>
            </a:pPr>
            <a:r>
              <a:rPr lang="en-US" sz="4000" b="1" kern="100" dirty="0">
                <a:effectLst/>
                <a:latin typeface="Calibri" panose="020F0502020204030204" pitchFamily="34" charset="0"/>
                <a:ea typeface="Calibri" panose="020F0502020204030204" pitchFamily="34" charset="0"/>
                <a:cs typeface="Times New Roman" panose="02020603050405020304" pitchFamily="18" charset="0"/>
              </a:rPr>
              <a:t>The characteristics of natural moral law typically include:</a:t>
            </a:r>
          </a:p>
          <a:p>
            <a:endParaRPr lang="en-US" dirty="0"/>
          </a:p>
        </p:txBody>
      </p:sp>
    </p:spTree>
    <p:extLst>
      <p:ext uri="{BB962C8B-B14F-4D97-AF65-F5344CB8AC3E}">
        <p14:creationId xmlns:p14="http://schemas.microsoft.com/office/powerpoint/2010/main" val="3614655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748394-2E4B-B13D-11CF-2C70132787CE}"/>
              </a:ext>
            </a:extLst>
          </p:cNvPr>
          <p:cNvSpPr>
            <a:spLocks noGrp="1"/>
          </p:cNvSpPr>
          <p:nvPr>
            <p:ph idx="1"/>
          </p:nvPr>
        </p:nvSpPr>
        <p:spPr>
          <a:xfrm>
            <a:off x="838200" y="754743"/>
            <a:ext cx="10515600" cy="5422220"/>
          </a:xfrm>
        </p:spPr>
        <p:txBody>
          <a:bodyPr>
            <a:normAutofit fontScale="92500" lnSpcReduction="10000"/>
          </a:bodyPr>
          <a:lstStyle/>
          <a:p>
            <a:pPr marL="0" marR="0" lvl="0" indent="0">
              <a:lnSpc>
                <a:spcPct val="107000"/>
              </a:lnSpc>
              <a:spcBef>
                <a:spcPts val="0"/>
              </a:spcBef>
              <a:spcAft>
                <a:spcPts val="800"/>
              </a:spcAft>
              <a:buNone/>
              <a:tabLst>
                <a:tab pos="457200" algn="l"/>
              </a:tabLst>
            </a:pPr>
            <a:r>
              <a:rPr lang="en-US" sz="3600" b="1" kern="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1. Universal and Immutable</a:t>
            </a:r>
            <a:r>
              <a:rPr lang="en-US" sz="3600" b="1" kern="100" dirty="0">
                <a:effectLst/>
                <a:latin typeface="Calibri" panose="020F0502020204030204" pitchFamily="34" charset="0"/>
                <a:ea typeface="Calibri" panose="020F0502020204030204" pitchFamily="34" charset="0"/>
                <a:cs typeface="Times New Roman" panose="02020603050405020304" pitchFamily="18" charset="0"/>
              </a:rPr>
              <a:t>: Natural moral law is considered to be universal, applying to all human beings regardless of their cultural, religious, or societal background. It is also seen as immutable, meaning that these moral principles do not change over time.</a:t>
            </a:r>
          </a:p>
          <a:p>
            <a:pPr marL="0" marR="0" lvl="0" indent="0">
              <a:lnSpc>
                <a:spcPct val="107000"/>
              </a:lnSpc>
              <a:spcBef>
                <a:spcPts val="0"/>
              </a:spcBef>
              <a:spcAft>
                <a:spcPts val="800"/>
              </a:spcAft>
              <a:buNone/>
              <a:tabLst>
                <a:tab pos="457200" algn="l"/>
              </a:tabLst>
            </a:pPr>
            <a:endParaRPr lang="en-US" sz="36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tabLst>
                <a:tab pos="457200" algn="l"/>
              </a:tabLst>
            </a:pPr>
            <a:r>
              <a:rPr lang="en-US" sz="3600" b="1" kern="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2. Rational Basis: </a:t>
            </a:r>
            <a:r>
              <a:rPr lang="en-US" sz="3600" b="1" kern="100" dirty="0">
                <a:effectLst/>
                <a:latin typeface="Calibri" panose="020F0502020204030204" pitchFamily="34" charset="0"/>
                <a:ea typeface="Calibri" panose="020F0502020204030204" pitchFamily="34" charset="0"/>
                <a:cs typeface="Times New Roman" panose="02020603050405020304" pitchFamily="18" charset="0"/>
              </a:rPr>
              <a:t>Natural moral law relies on human reason and rationality to discern moral truths. It suggests that individuals can </a:t>
            </a:r>
            <a:r>
              <a:rPr lang="en-US" sz="3600" b="1" kern="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use their capacity for rational thought </a:t>
            </a:r>
            <a:r>
              <a:rPr lang="en-US" sz="3600" b="1" kern="100" dirty="0">
                <a:effectLst/>
                <a:latin typeface="Calibri" panose="020F0502020204030204" pitchFamily="34" charset="0"/>
                <a:ea typeface="Calibri" panose="020F0502020204030204" pitchFamily="34" charset="0"/>
                <a:cs typeface="Times New Roman" panose="02020603050405020304" pitchFamily="18" charset="0"/>
              </a:rPr>
              <a:t>to determine what is morally right or wrong.</a:t>
            </a:r>
          </a:p>
          <a:p>
            <a:endParaRPr lang="en-US" dirty="0"/>
          </a:p>
        </p:txBody>
      </p:sp>
    </p:spTree>
    <p:extLst>
      <p:ext uri="{BB962C8B-B14F-4D97-AF65-F5344CB8AC3E}">
        <p14:creationId xmlns:p14="http://schemas.microsoft.com/office/powerpoint/2010/main" val="2708873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E913A-49DB-FA55-B3AB-9A264D65C76A}"/>
              </a:ext>
            </a:extLst>
          </p:cNvPr>
          <p:cNvSpPr>
            <a:spLocks noGrp="1"/>
          </p:cNvSpPr>
          <p:nvPr>
            <p:ph idx="1"/>
          </p:nvPr>
        </p:nvSpPr>
        <p:spPr>
          <a:xfrm>
            <a:off x="838200" y="725714"/>
            <a:ext cx="10515600" cy="5451249"/>
          </a:xfrm>
        </p:spPr>
        <p:txBody>
          <a:bodyPr>
            <a:normAutofit lnSpcReduction="10000"/>
          </a:bodyPr>
          <a:lstStyle/>
          <a:p>
            <a:pPr marL="0" indent="0">
              <a:buNone/>
            </a:pPr>
            <a:r>
              <a:rPr lang="en-US" sz="3200" b="1" dirty="0">
                <a:solidFill>
                  <a:srgbClr val="00B050"/>
                </a:solidFill>
              </a:rPr>
              <a:t>3. Objective Morality: </a:t>
            </a:r>
            <a:r>
              <a:rPr lang="en-US" sz="3200" b="1" dirty="0"/>
              <a:t>Natural moral law proposes that moral values and principles are objective and independent of individual preferences or societal norms. In other words, certain actions are intrinsically right or wrong, regardless of personal opinions.</a:t>
            </a:r>
          </a:p>
          <a:p>
            <a:pPr marL="514350" indent="-514350">
              <a:buFont typeface="+mj-lt"/>
              <a:buAutoNum type="arabicPeriod"/>
            </a:pPr>
            <a:endParaRPr lang="en-US" sz="3200" b="1" dirty="0"/>
          </a:p>
          <a:p>
            <a:pPr marL="0" indent="0">
              <a:buNone/>
            </a:pPr>
            <a:r>
              <a:rPr lang="en-US" sz="3200" b="1" dirty="0">
                <a:solidFill>
                  <a:srgbClr val="00B050"/>
                </a:solidFill>
              </a:rPr>
              <a:t>4. Teleological Ethics: </a:t>
            </a:r>
            <a:r>
              <a:rPr lang="en-US" sz="3200" b="1" dirty="0"/>
              <a:t>It often incorporates teleological ethics, which means that actions are judged based on their end or purpose. For example, an action is considered morally good if it aligns with the </a:t>
            </a:r>
            <a:r>
              <a:rPr lang="en-US" sz="3200" b="1" dirty="0">
                <a:solidFill>
                  <a:srgbClr val="00B050"/>
                </a:solidFill>
              </a:rPr>
              <a:t>inherent purpose or function of human beings.</a:t>
            </a:r>
          </a:p>
          <a:p>
            <a:endParaRPr lang="en-US" dirty="0"/>
          </a:p>
        </p:txBody>
      </p:sp>
    </p:spTree>
    <p:extLst>
      <p:ext uri="{BB962C8B-B14F-4D97-AF65-F5344CB8AC3E}">
        <p14:creationId xmlns:p14="http://schemas.microsoft.com/office/powerpoint/2010/main" val="514572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E23D9-B8B3-B558-1408-5A0B6D1B958A}"/>
              </a:ext>
            </a:extLst>
          </p:cNvPr>
          <p:cNvSpPr>
            <a:spLocks noGrp="1"/>
          </p:cNvSpPr>
          <p:nvPr>
            <p:ph idx="1"/>
          </p:nvPr>
        </p:nvSpPr>
        <p:spPr>
          <a:xfrm>
            <a:off x="838200" y="406400"/>
            <a:ext cx="10515600" cy="5770563"/>
          </a:xfrm>
        </p:spPr>
        <p:txBody>
          <a:bodyPr>
            <a:normAutofit fontScale="92500"/>
          </a:bodyPr>
          <a:lstStyle/>
          <a:p>
            <a:pPr marL="0" indent="0">
              <a:buNone/>
            </a:pPr>
            <a:r>
              <a:rPr lang="en-US" sz="3600" b="1" dirty="0">
                <a:solidFill>
                  <a:srgbClr val="00B050"/>
                </a:solidFill>
              </a:rPr>
              <a:t>5.	Hierarchy of Goods: </a:t>
            </a:r>
            <a:r>
              <a:rPr lang="en-US" sz="3600" b="1" dirty="0"/>
              <a:t>Natural moral law often posits a hierarchy of goods, where certain moral principles are considered more fundamental or higher than others. For example, the preservation of life may be considered a higher good than the pursuit of pleasure.</a:t>
            </a:r>
          </a:p>
          <a:p>
            <a:pPr marL="0" indent="0">
              <a:buNone/>
            </a:pPr>
            <a:r>
              <a:rPr lang="en-US" sz="3600" b="1" dirty="0">
                <a:solidFill>
                  <a:srgbClr val="00B050"/>
                </a:solidFill>
              </a:rPr>
              <a:t>6.	Inherent Human Dignity: </a:t>
            </a:r>
            <a:r>
              <a:rPr lang="en-US" sz="3600" b="1" dirty="0"/>
              <a:t>It emphasizes the inherent dignity of every human being. This dignity is believed to be the foundation of human rights and the basis for treating individuals with respect and fairness.</a:t>
            </a:r>
          </a:p>
          <a:p>
            <a:endParaRPr lang="en-US" dirty="0"/>
          </a:p>
        </p:txBody>
      </p:sp>
    </p:spTree>
    <p:extLst>
      <p:ext uri="{BB962C8B-B14F-4D97-AF65-F5344CB8AC3E}">
        <p14:creationId xmlns:p14="http://schemas.microsoft.com/office/powerpoint/2010/main" val="1540630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D31F06-C49A-ADB3-8B15-57DCA2ABF1BD}"/>
              </a:ext>
            </a:extLst>
          </p:cNvPr>
          <p:cNvSpPr>
            <a:spLocks noGrp="1"/>
          </p:cNvSpPr>
          <p:nvPr>
            <p:ph idx="1"/>
          </p:nvPr>
        </p:nvSpPr>
        <p:spPr>
          <a:xfrm>
            <a:off x="838200" y="406400"/>
            <a:ext cx="10515600" cy="5770563"/>
          </a:xfrm>
        </p:spPr>
        <p:txBody>
          <a:bodyPr>
            <a:normAutofit/>
          </a:bodyPr>
          <a:lstStyle/>
          <a:p>
            <a:pPr marL="514350" marR="0" lvl="0" indent="-514350">
              <a:lnSpc>
                <a:spcPct val="107000"/>
              </a:lnSpc>
              <a:spcBef>
                <a:spcPts val="0"/>
              </a:spcBef>
              <a:spcAft>
                <a:spcPts val="800"/>
              </a:spcAft>
              <a:buAutoNum type="arabicPeriod" startAt="7"/>
              <a:tabLst>
                <a:tab pos="457200" algn="l"/>
              </a:tabLst>
            </a:pPr>
            <a:r>
              <a:rPr lang="en-US" sz="3200" b="1" kern="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Divine Source: </a:t>
            </a:r>
            <a:r>
              <a:rPr lang="en-US" sz="3200" b="1" kern="100" dirty="0">
                <a:effectLst/>
                <a:latin typeface="Calibri" panose="020F0502020204030204" pitchFamily="34" charset="0"/>
                <a:ea typeface="Calibri" panose="020F0502020204030204" pitchFamily="34" charset="0"/>
                <a:cs typeface="Times New Roman" panose="02020603050405020304" pitchFamily="18" charset="0"/>
              </a:rPr>
              <a:t>In some formulations, natural moral law is believed to have a divine source. This means that the moral principles are thought to originate from a higher power or God, making them absolute and binding.</a:t>
            </a:r>
          </a:p>
          <a:p>
            <a:pPr marL="0" marR="0" lvl="0" indent="0">
              <a:lnSpc>
                <a:spcPct val="107000"/>
              </a:lnSpc>
              <a:spcBef>
                <a:spcPts val="0"/>
              </a:spcBef>
              <a:spcAft>
                <a:spcPts val="800"/>
              </a:spcAft>
              <a:buNone/>
              <a:tabLst>
                <a:tab pos="457200" algn="l"/>
              </a:tabLst>
            </a:pPr>
            <a:endParaRPr lang="en-US" sz="32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marR="0" lvl="0" indent="-514350">
              <a:lnSpc>
                <a:spcPct val="107000"/>
              </a:lnSpc>
              <a:spcBef>
                <a:spcPts val="0"/>
              </a:spcBef>
              <a:spcAft>
                <a:spcPts val="800"/>
              </a:spcAft>
              <a:buAutoNum type="arabicPeriod" startAt="8"/>
              <a:tabLst>
                <a:tab pos="457200" algn="l"/>
              </a:tabLst>
            </a:pPr>
            <a:r>
              <a:rPr lang="en-US" sz="3200" b="1" kern="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Applicability to Positive Law: </a:t>
            </a:r>
            <a:r>
              <a:rPr lang="en-US" sz="3200" b="1" kern="100" dirty="0">
                <a:effectLst/>
                <a:latin typeface="Calibri" panose="020F0502020204030204" pitchFamily="34" charset="0"/>
                <a:ea typeface="Calibri" panose="020F0502020204030204" pitchFamily="34" charset="0"/>
                <a:cs typeface="Times New Roman" panose="02020603050405020304" pitchFamily="18" charset="0"/>
              </a:rPr>
              <a:t>Proponents of natural moral law may argue that just human laws should reflect and align with these natural moral principles. In cases of conflict between positive (man-made) law and natural moral law, natural moral law should take precedence.</a:t>
            </a:r>
          </a:p>
          <a:p>
            <a:pPr marL="0" marR="0" lvl="0" indent="0">
              <a:lnSpc>
                <a:spcPct val="107000"/>
              </a:lnSpc>
              <a:spcBef>
                <a:spcPts val="0"/>
              </a:spcBef>
              <a:spcAft>
                <a:spcPts val="800"/>
              </a:spcAft>
              <a:buNone/>
              <a:tabLst>
                <a:tab pos="457200" algn="l"/>
              </a:tabLst>
            </a:pP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244309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2235D4-991E-B093-E7A1-AB3308C290E9}"/>
              </a:ext>
            </a:extLst>
          </p:cNvPr>
          <p:cNvSpPr>
            <a:spLocks noGrp="1"/>
          </p:cNvSpPr>
          <p:nvPr>
            <p:ph idx="1"/>
          </p:nvPr>
        </p:nvSpPr>
        <p:spPr>
          <a:xfrm>
            <a:off x="838200" y="885371"/>
            <a:ext cx="10515600" cy="5291592"/>
          </a:xfrm>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tab pos="457200" algn="l"/>
              </a:tabLst>
              <a:defRPr/>
            </a:pPr>
            <a:r>
              <a:rPr kumimoji="0" lang="en-US" sz="3600" b="1" i="0" u="none" strike="noStrike" kern="1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Times New Roman" panose="02020603050405020304" pitchFamily="18" charset="0"/>
              </a:rPr>
              <a:t>9. Critique of Moral Relativism: </a:t>
            </a:r>
            <a:r>
              <a:rPr kumimoji="0" lang="en-US" sz="3600" b="1" i="0" u="none" strike="noStrike" kern="100" cap="none" spc="0" normalizeH="0" baseline="0" noProof="0" dirty="0">
                <a:ln>
                  <a:noFill/>
                </a:ln>
                <a:solidFill>
                  <a:schemeClr val="tx1">
                    <a:lumMod val="85000"/>
                  </a:schemeClr>
                </a:solidFill>
                <a:effectLst/>
                <a:uLnTx/>
                <a:uFillTx/>
                <a:latin typeface="Calibri" panose="020F0502020204030204" pitchFamily="34" charset="0"/>
                <a:ea typeface="Calibri" panose="020F0502020204030204" pitchFamily="34" charset="0"/>
                <a:cs typeface="Times New Roman" panose="02020603050405020304" pitchFamily="18" charset="0"/>
              </a:rPr>
              <a:t>Natural moral law often critiques moral relativism, the idea that morality is subjective and varies from person to person or culture to culture. It asserts that there are objective moral truths that</a:t>
            </a:r>
            <a:r>
              <a:rPr kumimoji="0" lang="en-US" sz="3600"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3600" b="1" i="0" u="none" strike="noStrike" kern="1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Times New Roman" panose="02020603050405020304" pitchFamily="18" charset="0"/>
              </a:rPr>
              <a:t>transcend individual or cultural perspectives.</a:t>
            </a:r>
          </a:p>
          <a:p>
            <a:endParaRPr lang="en-US" dirty="0"/>
          </a:p>
        </p:txBody>
      </p:sp>
    </p:spTree>
    <p:extLst>
      <p:ext uri="{BB962C8B-B14F-4D97-AF65-F5344CB8AC3E}">
        <p14:creationId xmlns:p14="http://schemas.microsoft.com/office/powerpoint/2010/main" val="7622333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1466</TotalTime>
  <Words>1621</Words>
  <Application>Microsoft Office PowerPoint</Application>
  <PresentationFormat>Widescreen</PresentationFormat>
  <Paragraphs>89</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Calisto MT</vt:lpstr>
      <vt:lpstr>Söhne</vt:lpstr>
      <vt:lpstr>Times New Roman</vt:lpstr>
      <vt:lpstr>Trebuchet MS</vt:lpstr>
      <vt:lpstr>Wingdings 2</vt:lpstr>
      <vt:lpstr>Slate</vt:lpstr>
      <vt:lpstr>PowerPoint Presentation</vt:lpstr>
      <vt:lpstr>NATURAL MORAL LAW</vt:lpstr>
      <vt:lpstr>Definition </vt:lpstr>
      <vt:lpstr>Historical Roots</vt:lpstr>
      <vt:lpstr>Aristotle (384–322 BCE): </vt:lpstr>
      <vt:lpstr>Thomas Aquinas (1225–1274): </vt:lpstr>
      <vt:lpstr>Natural Moral Law </vt:lpstr>
      <vt:lpstr>PowerPoint Presentation</vt:lpstr>
      <vt:lpstr>Key Concepts in Natural Moral Law</vt:lpstr>
      <vt:lpstr>PowerPoint Presentation</vt:lpstr>
      <vt:lpstr>PowerPoint Presentation</vt:lpstr>
      <vt:lpstr>Primary and Secondary Precepts </vt:lpstr>
      <vt:lpstr> Primary and secondary precepts are fundamental components of Natural Moral Law, and they help guide individuals in making moral decisions.  </vt:lpstr>
      <vt:lpstr>PowerPoint Presentation</vt:lpstr>
      <vt:lpstr>PowerPoint Presentation</vt:lpstr>
      <vt:lpstr>PowerPoint Presentation</vt:lpstr>
      <vt:lpstr> Aristotle's Contributions to Natural Moral Law </vt:lpstr>
      <vt:lpstr>PowerPoint Presentation</vt:lpstr>
      <vt:lpstr> Thomas Aquinas and the Development of Natural Moral Law </vt:lpstr>
      <vt:lpstr>PowerPoint Presentation</vt:lpstr>
      <vt:lpstr>Characteristics of Natural Moral Law</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user</cp:lastModifiedBy>
  <cp:revision>82</cp:revision>
  <dcterms:created xsi:type="dcterms:W3CDTF">2020-07-20T03:42:52Z</dcterms:created>
  <dcterms:modified xsi:type="dcterms:W3CDTF">2024-06-12T15:27:15Z</dcterms:modified>
</cp:coreProperties>
</file>