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420" r:id="rId2"/>
    <p:sldId id="443" r:id="rId3"/>
    <p:sldId id="444" r:id="rId4"/>
    <p:sldId id="445" r:id="rId5"/>
    <p:sldId id="446" r:id="rId6"/>
    <p:sldId id="447" r:id="rId7"/>
    <p:sldId id="448" r:id="rId8"/>
    <p:sldId id="449" r:id="rId9"/>
    <p:sldId id="450" r:id="rId10"/>
    <p:sldId id="451" r:id="rId11"/>
    <p:sldId id="452"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4/1/2022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224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8CCE654-F072-134B-A757-5B4527183650}" type="slidenum">
              <a:rPr lang="en-US"/>
              <a:pPr/>
              <a:t>16</a:t>
            </a:fld>
            <a:endParaRPr lang="en-US"/>
          </a:p>
        </p:txBody>
      </p:sp>
      <p:sp>
        <p:nvSpPr>
          <p:cNvPr id="103426" name="Rectangle 1026"/>
          <p:cNvSpPr>
            <a:spLocks noGrp="1" noRot="1" noChangeAspect="1" noChangeArrowheads="1" noTextEdit="1"/>
          </p:cNvSpPr>
          <p:nvPr>
            <p:ph type="sldImg"/>
          </p:nvPr>
        </p:nvSpPr>
        <p:spPr>
          <a:ln/>
        </p:spPr>
      </p:sp>
      <p:sp>
        <p:nvSpPr>
          <p:cNvPr id="10342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32314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6626" name="Rectangle 2"/>
          <p:cNvSpPr>
            <a:spLocks noGrp="1"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r>
              <a:rPr lang="en-US" sz="1800" dirty="0">
                <a:latin typeface="Lucida Grande" pitchFamily="24" charset="0"/>
                <a:ea typeface="Lucida Grande" pitchFamily="24" charset="0"/>
                <a:cs typeface="Lucida Grande" pitchFamily="24" charset="0"/>
                <a:sym typeface="Lucida Grande" pitchFamily="24" charset="0"/>
              </a:rPr>
              <a:t>An internal style sheet should be used when a single document has a unique style. You define internal styles in the head section by using the &lt;style&gt; tag, like this: </a:t>
            </a:r>
          </a:p>
          <a:p>
            <a:endParaRPr lang="en-US" sz="1800" dirty="0">
              <a:latin typeface="Lucida Grande" pitchFamily="24" charset="0"/>
              <a:ea typeface="Lucida Grande" pitchFamily="24" charset="0"/>
              <a:cs typeface="Lucida Grande" pitchFamily="24" charset="0"/>
              <a:sym typeface="Lucida Grande" pitchFamily="24" charset="0"/>
            </a:endParaRPr>
          </a:p>
          <a:p>
            <a:r>
              <a:rPr lang="en-US" sz="1800" dirty="0">
                <a:latin typeface="Lucida Grande" pitchFamily="24" charset="0"/>
                <a:ea typeface="Lucida Grande" pitchFamily="24" charset="0"/>
                <a:cs typeface="Lucida Grande" pitchFamily="24" charset="0"/>
                <a:sym typeface="Lucida Grande" pitchFamily="24" charset="0"/>
              </a:rPr>
              <a:t>An inline style loses many of the advantages of style sheets by mixing content with presentation. Use this method sparingly, such as when a style is to be applied to a single occurrence of an element. </a:t>
            </a:r>
          </a:p>
          <a:p>
            <a:r>
              <a:rPr lang="en-US" sz="1800" dirty="0">
                <a:latin typeface="Lucida Grande" pitchFamily="24" charset="0"/>
                <a:ea typeface="Lucida Grande" pitchFamily="24" charset="0"/>
                <a:cs typeface="Lucida Grande" pitchFamily="24" charset="0"/>
                <a:sym typeface="Lucida Grande" pitchFamily="24" charset="0"/>
              </a:rPr>
              <a:t>To use inline styles you use the style attribute in the relevant tag. The style attribute can contain any CSS property</a:t>
            </a:r>
            <a:r>
              <a:rPr lang="en-US" sz="1800" dirty="0" smtClean="0">
                <a:latin typeface="Lucida Grande" pitchFamily="24" charset="0"/>
                <a:ea typeface="Lucida Grande" pitchFamily="24" charset="0"/>
                <a:cs typeface="Lucida Grande" pitchFamily="24" charset="0"/>
                <a:sym typeface="Lucida Grande" pitchFamily="24" charset="0"/>
              </a:rPr>
              <a:t>.</a:t>
            </a:r>
            <a:endParaRPr lang="en-US" sz="1800" dirty="0">
              <a:latin typeface="Lucida Grande" pitchFamily="24" charset="0"/>
              <a:ea typeface="Lucida Grande" pitchFamily="24" charset="0"/>
              <a:cs typeface="Lucida Grande" pitchFamily="24" charset="0"/>
              <a:sym typeface="Lucida Grande" pitchFamily="24" charset="0"/>
            </a:endParaRPr>
          </a:p>
        </p:txBody>
      </p:sp>
    </p:spTree>
    <p:extLst>
      <p:ext uri="{BB962C8B-B14F-4D97-AF65-F5344CB8AC3E}">
        <p14:creationId xmlns:p14="http://schemas.microsoft.com/office/powerpoint/2010/main" val="3514551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3554" name="Rectangle 2"/>
          <p:cNvSpPr>
            <a:spLocks noGrp="1" noChangeArrowheads="1"/>
          </p:cNvSpPr>
          <p:nvPr>
            <p:ph type="body" idx="1"/>
          </p:nvPr>
        </p:nvSpPr>
        <p:spPr bwMode="auto">
          <a:xfrm>
            <a:off x="685800" y="4343400"/>
            <a:ext cx="5486400" cy="4114800"/>
          </a:xfrm>
          <a:prstGeom prst="rect">
            <a:avLst/>
          </a:prstGeom>
          <a:noFill/>
          <a:ln>
            <a:miter lim="800000"/>
            <a:headEnd/>
            <a:tailEnd/>
          </a:ln>
        </p:spPr>
        <p:txBody>
          <a:bodyPr>
            <a:prstTxWarp prst="textNoShape">
              <a:avLst/>
            </a:prstTxWarp>
          </a:bodyPr>
          <a:lstStyle/>
          <a:p>
            <a:endParaRPr lang="en-US" sz="1800" dirty="0" smtClean="0">
              <a:latin typeface="Lucida Grande" pitchFamily="24" charset="0"/>
              <a:ea typeface="Lucida Grande" pitchFamily="24" charset="0"/>
              <a:cs typeface="Lucida Grande" pitchFamily="24" charset="0"/>
              <a:sym typeface="Lucida Grande" pitchFamily="24" charset="0"/>
            </a:endParaRPr>
          </a:p>
          <a:p>
            <a:r>
              <a:rPr lang="en-US" sz="1800" dirty="0">
                <a:latin typeface="Lucida Grande" pitchFamily="24" charset="0"/>
                <a:ea typeface="Lucida Grande" pitchFamily="24" charset="0"/>
                <a:cs typeface="Lucida Grande" pitchFamily="24" charset="0"/>
                <a:sym typeface="Lucida Grande" pitchFamily="24" charset="0"/>
              </a:rPr>
              <a:t>An external style sheet is ideal when the style is applied to many pages. With an external style sheet, you can change the look of an entire Web site by changing one file. Each page must link to the style sheet using the &lt;link&gt; tag. The &lt;link&gt; tag goes inside the head section:</a:t>
            </a:r>
          </a:p>
          <a:p>
            <a:endParaRPr lang="en-US" sz="1800" dirty="0">
              <a:latin typeface="Lucida Grande" pitchFamily="24" charset="0"/>
              <a:ea typeface="Lucida Grande" pitchFamily="24" charset="0"/>
              <a:cs typeface="Lucida Grande" pitchFamily="24" charset="0"/>
              <a:sym typeface="Lucida Grande" pitchFamily="24" charset="0"/>
            </a:endParaRPr>
          </a:p>
          <a:p>
            <a:r>
              <a:rPr lang="en-US" sz="1800" dirty="0">
                <a:latin typeface="Lucida Grande" pitchFamily="24" charset="0"/>
                <a:ea typeface="Lucida Grande" pitchFamily="24" charset="0"/>
                <a:cs typeface="Lucida Grande" pitchFamily="24" charset="0"/>
                <a:sym typeface="Lucida Grande" pitchFamily="24" charset="0"/>
              </a:rPr>
              <a:t>An external style sheet can be written in any text editor. The file should not contain any html tags. Your style sheet should be saved with a .</a:t>
            </a:r>
            <a:r>
              <a:rPr lang="en-US" sz="1800" dirty="0" err="1">
                <a:latin typeface="Lucida Grande" pitchFamily="24" charset="0"/>
                <a:ea typeface="Lucida Grande" pitchFamily="24" charset="0"/>
                <a:cs typeface="Lucida Grande" pitchFamily="24" charset="0"/>
                <a:sym typeface="Lucida Grande" pitchFamily="24" charset="0"/>
              </a:rPr>
              <a:t>css</a:t>
            </a:r>
            <a:r>
              <a:rPr lang="en-US" sz="1800" dirty="0">
                <a:latin typeface="Lucida Grande" pitchFamily="24" charset="0"/>
                <a:ea typeface="Lucida Grande" pitchFamily="24" charset="0"/>
                <a:cs typeface="Lucida Grande" pitchFamily="24" charset="0"/>
                <a:sym typeface="Lucida Grande" pitchFamily="24" charset="0"/>
              </a:rPr>
              <a:t> extension. An example of a style sheet file is shown below:</a:t>
            </a:r>
          </a:p>
        </p:txBody>
      </p:sp>
    </p:spTree>
    <p:extLst>
      <p:ext uri="{BB962C8B-B14F-4D97-AF65-F5344CB8AC3E}">
        <p14:creationId xmlns:p14="http://schemas.microsoft.com/office/powerpoint/2010/main" val="723509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257800"/>
            <a:ext cx="3581400" cy="685800"/>
          </a:xfrm>
          <a:prstGeom prst="rect">
            <a:avLst/>
          </a:prstGeom>
        </p:spPr>
        <p:txBody>
          <a:bodyPr vert="horz" lIns="91440" tIns="45720" rIns="91440" bIns="45720" rtlCol="0" anchor="ctr">
            <a:normAutofit/>
          </a:bodyPr>
          <a:lstStyle>
            <a:lvl1pPr algn="l">
              <a:defRPr sz="4800">
                <a:latin typeface="Arial Black"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smtClean="0">
                <a:ln>
                  <a:noFill/>
                </a:ln>
                <a:solidFill>
                  <a:schemeClr val="tx1"/>
                </a:solidFill>
                <a:effectLst/>
                <a:uLnTx/>
                <a:uFillTx/>
                <a:latin typeface="Arial Black" pitchFamily="34" charset="0"/>
                <a:ea typeface="+mj-ea"/>
                <a:cs typeface="+mj-cs"/>
              </a:rPr>
              <a:t>Living in a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smtClean="0">
                <a:latin typeface="Arial Black" pitchFamily="34" charset="0"/>
              </a:rPr>
              <a:t>Discovering </a:t>
            </a:r>
            <a:br>
              <a:rPr lang="en-US" sz="3200" dirty="0" smtClean="0">
                <a:latin typeface="Arial Black" pitchFamily="34" charset="0"/>
              </a:rPr>
            </a:br>
            <a:r>
              <a:rPr lang="en-US" sz="3200" dirty="0" smtClean="0">
                <a:latin typeface="Arial Black" pitchFamily="34" charset="0"/>
              </a:rPr>
              <a:t>	Computers 2011</a:t>
            </a:r>
            <a:endParaRPr lang="en-US" sz="3200" dirty="0">
              <a:latin typeface="Arial Black" pitchFamily="34" charset="0"/>
            </a:endParaRP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152400" y="1600200"/>
            <a:ext cx="88392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2743200" y="6356350"/>
            <a:ext cx="3810000" cy="501650"/>
          </a:xfrm>
        </p:spPr>
        <p:txBody>
          <a:bodyPr/>
          <a:lstStyle/>
          <a:p>
            <a:r>
              <a:rPr lang="en-US" smtClean="0"/>
              <a:t>LECTURER:DAVID MURITHI</a:t>
            </a:r>
            <a:endParaRPr lang="en-US" dirty="0"/>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4737584-590D-45DB-A229-6CBACFEAF148}" type="datetime1">
              <a:rPr lang="en-US" smtClean="0"/>
              <a:t>4/1/2022</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LECTURER:DAVID MURITHI</a:t>
            </a:r>
            <a:endParaRPr lang="en-US" dirty="0" smtClean="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LECTURER:DAVID MURITHI</a:t>
            </a:r>
            <a:endParaRPr lang="en-US"/>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73A8A9D7-0C97-427A-95C0-27BDEB3D9331}" type="datetime1">
              <a:rPr lang="en-US" smtClean="0"/>
              <a:t>4/1/2022</a:t>
            </a:fld>
            <a:endParaRPr lang="en-US"/>
          </a:p>
        </p:txBody>
      </p:sp>
      <p:sp>
        <p:nvSpPr>
          <p:cNvPr id="4" name="Footer Placeholder 3"/>
          <p:cNvSpPr>
            <a:spLocks noGrp="1"/>
          </p:cNvSpPr>
          <p:nvPr>
            <p:ph type="ftr" sz="quarter" idx="11"/>
          </p:nvPr>
        </p:nvSpPr>
        <p:spPr/>
        <p:txBody>
          <a:bodyPr/>
          <a:lstStyle/>
          <a:p>
            <a:r>
              <a:rPr lang="en-US" smtClean="0"/>
              <a:t>LECTURER:DAVID MURITHI</a:t>
            </a:r>
            <a:endParaRPr lang="en-US"/>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FD3E6C63-E590-4872-980C-476A539B8A25}" type="datetime1">
              <a:rPr lang="en-US" smtClean="0"/>
              <a:t>4/1/2022</a:t>
            </a:fld>
            <a:endParaRPr lang="en-US"/>
          </a:p>
        </p:txBody>
      </p:sp>
      <p:sp>
        <p:nvSpPr>
          <p:cNvPr id="3" name="Footer Placeholder 2"/>
          <p:cNvSpPr>
            <a:spLocks noGrp="1"/>
          </p:cNvSpPr>
          <p:nvPr>
            <p:ph type="ftr" sz="quarter" idx="11"/>
          </p:nvPr>
        </p:nvSpPr>
        <p:spPr/>
        <p:txBody>
          <a:bodyPr/>
          <a:lstStyle/>
          <a:p>
            <a:r>
              <a:rPr lang="en-US" smtClean="0"/>
              <a:t>LECTURER:DAVID MURITHI</a:t>
            </a:r>
            <a:endParaRPr lang="en-US"/>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425C132-23A4-4156-973B-30D390644CE6}" type="datetime1">
              <a:rPr lang="en-US" smtClean="0"/>
              <a:t>4/1/2022</a:t>
            </a:fld>
            <a:endParaRPr lang="en-US"/>
          </a:p>
        </p:txBody>
      </p:sp>
      <p:sp>
        <p:nvSpPr>
          <p:cNvPr id="6" name="Footer Placeholder 5"/>
          <p:cNvSpPr>
            <a:spLocks noGrp="1"/>
          </p:cNvSpPr>
          <p:nvPr>
            <p:ph type="ftr" sz="quarter" idx="11"/>
          </p:nvPr>
        </p:nvSpPr>
        <p:spPr/>
        <p:txBody>
          <a:bodyPr/>
          <a:lstStyle/>
          <a:p>
            <a:r>
              <a:rPr lang="en-US" smtClean="0"/>
              <a:t>LECTURER:DAVID MURITHI</a:t>
            </a:r>
            <a:endParaRPr lang="en-US"/>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88EEBAB-8459-475C-85E9-38375F43AFBF}" type="datetime1">
              <a:rPr lang="en-US" smtClean="0"/>
              <a:t>4/1/2022</a:t>
            </a:fld>
            <a:endParaRPr lang="en-US"/>
          </a:p>
        </p:txBody>
      </p:sp>
      <p:sp>
        <p:nvSpPr>
          <p:cNvPr id="6" name="Footer Placeholder 5"/>
          <p:cNvSpPr>
            <a:spLocks noGrp="1"/>
          </p:cNvSpPr>
          <p:nvPr>
            <p:ph type="ftr" sz="quarter" idx="11"/>
          </p:nvPr>
        </p:nvSpPr>
        <p:spPr/>
        <p:txBody>
          <a:bodyPr/>
          <a:lstStyle/>
          <a:p>
            <a:r>
              <a:rPr lang="en-US" smtClean="0"/>
              <a:t>LECTURER:DAVID MURITHI</a:t>
            </a:r>
            <a:endParaRPr lang="en-US"/>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1DA95EE-5A13-4531-93DB-1FA7581F97B3}" type="datetime1">
              <a:rPr lang="en-US" smtClean="0"/>
              <a:t>4/1/2022</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C70E829-9B04-44AA-B714-9AF3543F2B54}" type="datetime1">
              <a:rPr lang="en-US" smtClean="0"/>
              <a:t>4/1/2022</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E768099-3839-425F-A08A-8A9B9094C92E}" type="datetime1">
              <a:rPr lang="en-US" altLang="en-US" smtClean="0"/>
              <a:t>4/1/2022</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smtClean="0"/>
              <a:t>LECTURER:DAVID MURITHI</a:t>
            </a: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5930CC6A-5E91-4EAD-9614-DFC4CC83C3A6}" type="slidenum">
              <a:rPr lang="en-US" altLang="en-US"/>
              <a:pPr>
                <a:defRPr/>
              </a:pPr>
              <a:t>‹#›</a:t>
            </a:fld>
            <a:endParaRPr lang="en-US" altLang="en-US"/>
          </a:p>
        </p:txBody>
      </p:sp>
    </p:spTree>
    <p:extLst>
      <p:ext uri="{BB962C8B-B14F-4D97-AF65-F5344CB8AC3E}">
        <p14:creationId xmlns:p14="http://schemas.microsoft.com/office/powerpoint/2010/main" val="1755661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B01EA9B-2501-4F06-9BB1-92775029351C}" type="datetime1">
              <a:rPr lang="en-US" smtClean="0"/>
              <a:t>4/1/2022</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p:txBody>
          <a:bodyPr/>
          <a:lstStyle/>
          <a:p>
            <a:fld id="{2BA08E84-4979-4C73-AABC-55A1CED77C08}" type="slidenum">
              <a:rPr lang="en-US" smtClean="0"/>
              <a:pPr/>
              <a:t>‹#›</a:t>
            </a:fld>
            <a:endParaRPr lang="en-US"/>
          </a:p>
        </p:txBody>
      </p:sp>
    </p:spTree>
    <p:extLst>
      <p:ext uri="{BB962C8B-B14F-4D97-AF65-F5344CB8AC3E}">
        <p14:creationId xmlns:p14="http://schemas.microsoft.com/office/powerpoint/2010/main" val="112624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2743200" y="6356350"/>
            <a:ext cx="3810000" cy="365125"/>
          </a:xfrm>
          <a:prstGeom prst="rect">
            <a:avLst/>
          </a:prstGeom>
        </p:spPr>
        <p:txBody>
          <a:bodyPr vert="horz" lIns="91440" tIns="45720" rIns="91440" bIns="45720" rtlCol="0" anchor="ctr"/>
          <a:lstStyle>
            <a:lvl1pPr algn="ctr">
              <a:defRPr sz="1200">
                <a:solidFill>
                  <a:schemeClr val="tx1"/>
                </a:solidFill>
              </a:defRPr>
            </a:lvl1pPr>
          </a:lstStyle>
          <a:p>
            <a:r>
              <a:rPr lang="en-US" smtClean="0"/>
              <a:t>LECTURER:DAVID MURITHI</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hyperlink" Target="http://www.csszengarden.com/"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www.w3.org/Style/Examples/011/firstcss" TargetMode="External"/><Relationship Id="rId2" Type="http://schemas.openxmlformats.org/officeDocument/2006/relationships/hyperlink" Target="http://www.cssbasics.com/introduction-to-cs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4191000"/>
            <a:ext cx="7772400" cy="2057400"/>
          </a:xfrm>
        </p:spPr>
        <p:txBody>
          <a:bodyPr/>
          <a:lstStyle/>
          <a:p>
            <a:r>
              <a:rPr lang="en-US" dirty="0" smtClean="0"/>
              <a:t>Lecture 6</a:t>
            </a:r>
            <a:br>
              <a:rPr lang="en-US" dirty="0" smtClean="0"/>
            </a:br>
            <a:r>
              <a:rPr lang="en-US" dirty="0" smtClean="0"/>
              <a:t>CASCADING STYLES SHEETS</a:t>
            </a:r>
            <a:endParaRPr lang="en-US" dirty="0"/>
          </a:p>
        </p:txBody>
      </p:sp>
      <p:sp>
        <p:nvSpPr>
          <p:cNvPr id="4" name="Subtitle 3"/>
          <p:cNvSpPr>
            <a:spLocks noGrp="1"/>
          </p:cNvSpPr>
          <p:nvPr>
            <p:ph type="subTitle" idx="1"/>
          </p:nvPr>
        </p:nvSpPr>
        <p:spPr>
          <a:xfrm>
            <a:off x="228600" y="1066800"/>
            <a:ext cx="8686800" cy="1752600"/>
          </a:xfrm>
        </p:spPr>
        <p:txBody>
          <a:bodyPr/>
          <a:lstStyle/>
          <a:p>
            <a:r>
              <a:rPr lang="en-US" b="1" dirty="0" smtClean="0"/>
              <a:t>INTERNET APPLICATIONS AND PROGRAMMING</a:t>
            </a:r>
            <a:endParaRPr lang="en-US" b="1" dirty="0"/>
          </a:p>
        </p:txBody>
      </p:sp>
      <p:sp>
        <p:nvSpPr>
          <p:cNvPr id="5" name="Slide Number Placeholder 4"/>
          <p:cNvSpPr>
            <a:spLocks noGrp="1"/>
          </p:cNvSpPr>
          <p:nvPr>
            <p:ph type="sldNum" sz="quarter" idx="12"/>
          </p:nvPr>
        </p:nvSpPr>
        <p:spPr/>
        <p:txBody>
          <a:bodyPr/>
          <a:lstStyle/>
          <a:p>
            <a:fld id="{2BA08E84-4979-4C73-AABC-55A1CED77C08}" type="slidenum">
              <a:rPr lang="en-US" smtClean="0"/>
              <a:pPr/>
              <a:t>1</a:t>
            </a:fld>
            <a:endParaRPr lang="en-US"/>
          </a:p>
        </p:txBody>
      </p:sp>
      <p:sp>
        <p:nvSpPr>
          <p:cNvPr id="6" name="Footer Placeholder 5"/>
          <p:cNvSpPr>
            <a:spLocks noGrp="1"/>
          </p:cNvSpPr>
          <p:nvPr>
            <p:ph type="ftr" sz="quarter" idx="11"/>
          </p:nvPr>
        </p:nvSpPr>
        <p:spPr/>
        <p:txBody>
          <a:bodyPr/>
          <a:lstStyle/>
          <a:p>
            <a:r>
              <a:rPr lang="en-US" smtClean="0"/>
              <a:t>LECTURER:DAVID MURITHI</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p:nvPr>
        </p:nvSpPr>
        <p:spPr>
          <a:xfrm>
            <a:off x="381000" y="457200"/>
            <a:ext cx="8277820" cy="794742"/>
          </a:xfrm>
          <a:ln/>
        </p:spPr>
        <p:txBody>
          <a:bodyPr>
            <a:normAutofit fontScale="90000"/>
          </a:bodyPr>
          <a:lstStyle/>
          <a:p>
            <a:r>
              <a:rPr lang="en-US" sz="4800" dirty="0"/>
              <a:t>CSS</a:t>
            </a:r>
            <a:r>
              <a:rPr lang="en-US" sz="4800" dirty="0" smtClean="0"/>
              <a:t> Advantages</a:t>
            </a:r>
            <a:endParaRPr lang="en-US" sz="4800" dirty="0"/>
          </a:p>
        </p:txBody>
      </p:sp>
      <p:sp>
        <p:nvSpPr>
          <p:cNvPr id="19458" name="Rectangle 2"/>
          <p:cNvSpPr>
            <a:spLocks noGrp="1" noChangeArrowheads="1"/>
          </p:cNvSpPr>
          <p:nvPr>
            <p:ph idx="1"/>
          </p:nvPr>
        </p:nvSpPr>
        <p:spPr>
          <a:xfrm>
            <a:off x="482203" y="1600200"/>
            <a:ext cx="8052197" cy="4286250"/>
          </a:xfrm>
          <a:ln/>
        </p:spPr>
        <p:txBody>
          <a:bodyPr>
            <a:noAutofit/>
          </a:bodyPr>
          <a:lstStyle/>
          <a:p>
            <a:pPr marL="625056">
              <a:spcBef>
                <a:spcPts val="422"/>
              </a:spcBef>
            </a:pPr>
            <a:r>
              <a:rPr lang="en-US" sz="3200" dirty="0" smtClean="0"/>
              <a:t>Makes </a:t>
            </a:r>
            <a:r>
              <a:rPr lang="en-US" sz="3200" dirty="0"/>
              <a:t>website more </a:t>
            </a:r>
            <a:r>
              <a:rPr lang="en-US" sz="3200" dirty="0" smtClean="0"/>
              <a:t>flexible </a:t>
            </a:r>
            <a:endParaRPr lang="en-US" sz="3200" dirty="0"/>
          </a:p>
          <a:p>
            <a:pPr marL="937584" lvl="1">
              <a:spcBef>
                <a:spcPts val="422"/>
              </a:spcBef>
            </a:pPr>
            <a:r>
              <a:rPr lang="en-US" sz="2000" dirty="0" smtClean="0"/>
              <a:t>CSS is </a:t>
            </a:r>
            <a:r>
              <a:rPr lang="en-US" sz="2000" dirty="0"/>
              <a:t>reusable</a:t>
            </a:r>
          </a:p>
          <a:p>
            <a:pPr marL="937584" lvl="1">
              <a:spcBef>
                <a:spcPts val="422"/>
              </a:spcBef>
            </a:pPr>
            <a:r>
              <a:rPr lang="en-US" sz="2000" dirty="0"/>
              <a:t>Change </a:t>
            </a:r>
            <a:r>
              <a:rPr lang="en-US" sz="2000" dirty="0" err="1"/>
              <a:t>stylesheet</a:t>
            </a:r>
            <a:r>
              <a:rPr lang="en-US" sz="2000" dirty="0"/>
              <a:t> to change design of many pages</a:t>
            </a:r>
          </a:p>
          <a:p>
            <a:pPr marL="937584" lvl="1">
              <a:spcBef>
                <a:spcPts val="422"/>
              </a:spcBef>
            </a:pPr>
            <a:r>
              <a:rPr lang="en-US" sz="2000" dirty="0"/>
              <a:t>Example: CSS Zen garden </a:t>
            </a:r>
            <a:r>
              <a:rPr lang="en-US" sz="2000" u="sng" dirty="0">
                <a:solidFill>
                  <a:srgbClr val="7A8E32"/>
                </a:solidFill>
                <a:hlinkClick r:id="rId2"/>
              </a:rPr>
              <a:t>http://www.csszengarden.com/</a:t>
            </a:r>
            <a:r>
              <a:rPr lang="en-US" sz="2000" dirty="0" smtClean="0"/>
              <a:t> </a:t>
            </a:r>
          </a:p>
          <a:p>
            <a:pPr marL="937584" lvl="1">
              <a:spcBef>
                <a:spcPts val="422"/>
              </a:spcBef>
            </a:pPr>
            <a:endParaRPr lang="en-US" sz="2000" dirty="0" smtClean="0"/>
          </a:p>
          <a:p>
            <a:pPr marL="625056">
              <a:spcBef>
                <a:spcPts val="422"/>
              </a:spcBef>
            </a:pPr>
            <a:r>
              <a:rPr lang="en-US" sz="3200" dirty="0"/>
              <a:t>Easier to </a:t>
            </a:r>
            <a:r>
              <a:rPr lang="en-US" sz="3200" dirty="0" smtClean="0"/>
              <a:t>maintain</a:t>
            </a:r>
          </a:p>
          <a:p>
            <a:pPr marL="937584" lvl="1">
              <a:spcBef>
                <a:spcPts val="422"/>
              </a:spcBef>
            </a:pPr>
            <a:r>
              <a:rPr lang="en-US" sz="2000" dirty="0"/>
              <a:t>Cleaner HTML code</a:t>
            </a:r>
          </a:p>
          <a:p>
            <a:pPr marL="937584" lvl="1">
              <a:spcBef>
                <a:spcPts val="422"/>
              </a:spcBef>
            </a:pPr>
            <a:r>
              <a:rPr lang="en-US" sz="2000" dirty="0"/>
              <a:t>Separates styles from HTML tags and page </a:t>
            </a:r>
            <a:r>
              <a:rPr lang="en-US" sz="2000" dirty="0" smtClean="0"/>
              <a:t>content</a:t>
            </a:r>
          </a:p>
          <a:p>
            <a:pPr marL="937584" lvl="1">
              <a:spcBef>
                <a:spcPts val="422"/>
              </a:spcBef>
            </a:pPr>
            <a:r>
              <a:rPr lang="en-US" sz="2000" dirty="0" smtClean="0"/>
              <a:t>Consistent look across entire website that is easily maintained by changing styles in one place.</a:t>
            </a:r>
          </a:p>
          <a:p>
            <a:pPr marL="937584" lvl="1">
              <a:spcBef>
                <a:spcPts val="422"/>
              </a:spcBef>
            </a:pPr>
            <a:endParaRPr lang="en-US" sz="2000" dirty="0"/>
          </a:p>
        </p:txBody>
      </p:sp>
    </p:spTree>
    <p:extLst>
      <p:ext uri="{BB962C8B-B14F-4D97-AF65-F5344CB8AC3E}">
        <p14:creationId xmlns:p14="http://schemas.microsoft.com/office/powerpoint/2010/main" val="3972267212"/>
      </p:ext>
    </p:extLst>
  </p:cSld>
  <p:clrMapOvr>
    <a:masterClrMapping/>
  </p:clrMapOvr>
  <p:transition spd="slow">
    <p:cover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p:nvPr>
        </p:nvSpPr>
        <p:spPr>
          <a:xfrm>
            <a:off x="533400" y="533400"/>
            <a:ext cx="8077200" cy="914400"/>
          </a:xfrm>
          <a:ln/>
        </p:spPr>
        <p:txBody>
          <a:bodyPr/>
          <a:lstStyle/>
          <a:p>
            <a:r>
              <a:rPr lang="en-US" sz="4600" dirty="0"/>
              <a:t>CSS</a:t>
            </a:r>
            <a:r>
              <a:rPr lang="en-US" sz="4600" dirty="0" smtClean="0"/>
              <a:t> Disadvantages</a:t>
            </a:r>
            <a:endParaRPr lang="en-US" sz="4600" dirty="0"/>
          </a:p>
        </p:txBody>
      </p:sp>
      <p:sp>
        <p:nvSpPr>
          <p:cNvPr id="20482" name="Rectangle 2"/>
          <p:cNvSpPr>
            <a:spLocks noGrp="1" noChangeArrowheads="1"/>
          </p:cNvSpPr>
          <p:nvPr>
            <p:ph idx="1"/>
          </p:nvPr>
        </p:nvSpPr>
        <p:spPr>
          <a:xfrm>
            <a:off x="609600" y="1828800"/>
            <a:ext cx="7753351" cy="4208930"/>
          </a:xfrm>
          <a:ln/>
        </p:spPr>
        <p:txBody>
          <a:bodyPr>
            <a:noAutofit/>
          </a:bodyPr>
          <a:lstStyle/>
          <a:p>
            <a:pPr marL="625056"/>
            <a:r>
              <a:rPr lang="en-US" sz="3600" dirty="0"/>
              <a:t>Not uniformly supported by all browsers.</a:t>
            </a:r>
            <a:endParaRPr lang="en-US" sz="3600" dirty="0" smtClean="0"/>
          </a:p>
          <a:p>
            <a:pPr marL="625056"/>
            <a:r>
              <a:rPr lang="en-US" sz="3600" dirty="0" smtClean="0"/>
              <a:t>Firefox </a:t>
            </a:r>
            <a:r>
              <a:rPr lang="en-US" sz="3600" dirty="0"/>
              <a:t>adheres to CSS standards more than IE </a:t>
            </a:r>
            <a:endParaRPr lang="en-US" sz="3600" dirty="0" smtClean="0"/>
          </a:p>
          <a:p>
            <a:pPr marL="937584" lvl="1"/>
            <a:r>
              <a:rPr lang="en-US" sz="2400" dirty="0" smtClean="0"/>
              <a:t>For this course we use Firefox</a:t>
            </a:r>
            <a:endParaRPr lang="en-US" sz="2400" dirty="0"/>
          </a:p>
        </p:txBody>
      </p:sp>
    </p:spTree>
    <p:extLst>
      <p:ext uri="{BB962C8B-B14F-4D97-AF65-F5344CB8AC3E}">
        <p14:creationId xmlns:p14="http://schemas.microsoft.com/office/powerpoint/2010/main" val="372357820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8913813" cy="914400"/>
          </a:xfrm>
        </p:spPr>
        <p:txBody>
          <a:bodyPr/>
          <a:lstStyle/>
          <a:p>
            <a:r>
              <a:rPr lang="en-US" dirty="0" smtClean="0"/>
              <a:t>CSS: adding style</a:t>
            </a:r>
            <a:endParaRPr lang="en-US" dirty="0"/>
          </a:p>
        </p:txBody>
      </p:sp>
      <p:sp>
        <p:nvSpPr>
          <p:cNvPr id="3" name="Content Placeholder 2"/>
          <p:cNvSpPr>
            <a:spLocks noGrp="1"/>
          </p:cNvSpPr>
          <p:nvPr>
            <p:ph idx="1"/>
          </p:nvPr>
        </p:nvSpPr>
        <p:spPr>
          <a:xfrm>
            <a:off x="685800" y="1752601"/>
            <a:ext cx="8039100" cy="4267200"/>
          </a:xfrm>
        </p:spPr>
        <p:txBody>
          <a:bodyPr>
            <a:normAutofit/>
          </a:bodyPr>
          <a:lstStyle/>
          <a:p>
            <a:r>
              <a:rPr lang="en-US" sz="2400" dirty="0" smtClean="0"/>
              <a:t>CSS allows you to add “style” to an HTML (web page) element</a:t>
            </a:r>
          </a:p>
          <a:p>
            <a:pPr lvl="1"/>
            <a:r>
              <a:rPr lang="en-US" sz="2000" dirty="0" smtClean="0"/>
              <a:t>E.g., color, size, or positioning information</a:t>
            </a:r>
          </a:p>
          <a:p>
            <a:r>
              <a:rPr lang="en-US" sz="2400" dirty="0" smtClean="0"/>
              <a:t>There are two aspects to adding style to a web page via CSS</a:t>
            </a:r>
          </a:p>
          <a:p>
            <a:pPr lvl="1"/>
            <a:r>
              <a:rPr lang="en-US" sz="2000" dirty="0" smtClean="0"/>
              <a:t>Specifying what the style looks like</a:t>
            </a:r>
          </a:p>
          <a:p>
            <a:pPr lvl="2"/>
            <a:r>
              <a:rPr lang="en-US" sz="2000" dirty="0" smtClean="0"/>
              <a:t>Called the CSS style “</a:t>
            </a:r>
            <a:r>
              <a:rPr lang="en-US" sz="2000" dirty="0" smtClean="0">
                <a:solidFill>
                  <a:srgbClr val="FF0000"/>
                </a:solidFill>
              </a:rPr>
              <a:t>Declaration</a:t>
            </a:r>
            <a:r>
              <a:rPr lang="en-US" sz="2000" dirty="0" smtClean="0"/>
              <a:t>”</a:t>
            </a:r>
          </a:p>
          <a:p>
            <a:pPr lvl="1"/>
            <a:r>
              <a:rPr lang="en-US" sz="2000" dirty="0" smtClean="0"/>
              <a:t>Naming the HTML (or XML) element to which the style applies</a:t>
            </a:r>
          </a:p>
          <a:p>
            <a:pPr lvl="2"/>
            <a:r>
              <a:rPr lang="en-US" sz="2000" dirty="0" smtClean="0"/>
              <a:t>Referred to as specifying the CSS “</a:t>
            </a:r>
            <a:r>
              <a:rPr lang="en-US" sz="2000" dirty="0" smtClean="0">
                <a:solidFill>
                  <a:srgbClr val="FF0000"/>
                </a:solidFill>
              </a:rPr>
              <a:t>Selector</a:t>
            </a:r>
            <a:r>
              <a:rPr lang="en-US" sz="2000" dirty="0" smtClean="0"/>
              <a:t>”</a:t>
            </a:r>
          </a:p>
          <a:p>
            <a:endParaRPr lang="en-US" sz="2400" dirty="0"/>
          </a:p>
        </p:txBody>
      </p:sp>
    </p:spTree>
    <p:extLst>
      <p:ext uri="{BB962C8B-B14F-4D97-AF65-F5344CB8AC3E}">
        <p14:creationId xmlns:p14="http://schemas.microsoft.com/office/powerpoint/2010/main" val="535285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8913813" cy="914400"/>
          </a:xfrm>
        </p:spPr>
        <p:txBody>
          <a:bodyPr/>
          <a:lstStyle/>
          <a:p>
            <a:r>
              <a:rPr lang="en-US" dirty="0" smtClean="0"/>
              <a:t>CSS: adding style</a:t>
            </a:r>
            <a:endParaRPr lang="en-US" dirty="0"/>
          </a:p>
        </p:txBody>
      </p:sp>
      <p:sp>
        <p:nvSpPr>
          <p:cNvPr id="3" name="Content Placeholder 2"/>
          <p:cNvSpPr>
            <a:spLocks noGrp="1"/>
          </p:cNvSpPr>
          <p:nvPr>
            <p:ph idx="1"/>
          </p:nvPr>
        </p:nvSpPr>
        <p:spPr>
          <a:xfrm>
            <a:off x="914400" y="2133600"/>
            <a:ext cx="7810500" cy="4056529"/>
          </a:xfrm>
        </p:spPr>
        <p:txBody>
          <a:bodyPr>
            <a:normAutofit fontScale="92500" lnSpcReduction="10000"/>
          </a:bodyPr>
          <a:lstStyle/>
          <a:p>
            <a:r>
              <a:rPr lang="en-US" sz="2595" dirty="0" smtClean="0"/>
              <a:t>The “</a:t>
            </a:r>
            <a:r>
              <a:rPr lang="en-US" sz="2595" dirty="0" smtClean="0">
                <a:solidFill>
                  <a:srgbClr val="FF0000"/>
                </a:solidFill>
              </a:rPr>
              <a:t>declaration</a:t>
            </a:r>
            <a:r>
              <a:rPr lang="en-US" sz="2595" dirty="0" smtClean="0"/>
              <a:t>” part looks a bit like HTML:</a:t>
            </a:r>
          </a:p>
          <a:p>
            <a:pPr lvl="1">
              <a:buNone/>
            </a:pPr>
            <a:r>
              <a:rPr lang="en-US" sz="2162" dirty="0" smtClean="0">
                <a:ea typeface="Gill Sans" pitchFamily="24" charset="0"/>
                <a:cs typeface="Gill Sans" pitchFamily="24" charset="0"/>
              </a:rPr>
              <a:t>    </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font-size: 10px;</a:t>
            </a:r>
          </a:p>
          <a:p>
            <a:pPr lvl="1">
              <a:buNone/>
            </a:pPr>
            <a:r>
              <a:rPr lang="en-US" sz="2595" dirty="0" smtClean="0">
                <a:ea typeface="Gill Sans" pitchFamily="24" charset="0"/>
                <a:cs typeface="Gill Sans" pitchFamily="24" charset="0"/>
              </a:rPr>
              <a:t>	background-color: #</a:t>
            </a:r>
            <a:r>
              <a:rPr lang="en-US" sz="2595" dirty="0" err="1" smtClean="0">
                <a:ea typeface="Gill Sans" pitchFamily="24" charset="0"/>
                <a:cs typeface="Gill Sans" pitchFamily="24" charset="0"/>
              </a:rPr>
              <a:t>fff</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color: #222;</a:t>
            </a:r>
          </a:p>
          <a:p>
            <a:pPr lvl="1">
              <a:buNone/>
            </a:pPr>
            <a:r>
              <a:rPr lang="en-US" sz="2595" dirty="0" smtClean="0">
                <a:ea typeface="Gill Sans" pitchFamily="24" charset="0"/>
                <a:cs typeface="Gill Sans" pitchFamily="24" charset="0"/>
              </a:rPr>
              <a:t>	margin: 20px;</a:t>
            </a:r>
          </a:p>
          <a:p>
            <a:pPr lvl="1">
              <a:buNone/>
            </a:pPr>
            <a:r>
              <a:rPr lang="en-US" sz="2595" dirty="0" smtClean="0">
                <a:ea typeface="Gill Sans" pitchFamily="24" charset="0"/>
                <a:cs typeface="Gill Sans" pitchFamily="24" charset="0"/>
              </a:rPr>
              <a:t>	}</a:t>
            </a:r>
          </a:p>
          <a:p>
            <a:r>
              <a:rPr lang="en-US" sz="2600" dirty="0" smtClean="0">
                <a:ea typeface="Gill Sans" pitchFamily="24" charset="0"/>
                <a:cs typeface="Gill Sans" pitchFamily="24" charset="0"/>
              </a:rPr>
              <a:t>The above CSS </a:t>
            </a:r>
            <a:r>
              <a:rPr lang="en-US" sz="2600" dirty="0" smtClean="0">
                <a:solidFill>
                  <a:srgbClr val="FF0000"/>
                </a:solidFill>
                <a:ea typeface="Gill Sans" pitchFamily="24" charset="0"/>
                <a:cs typeface="Gill Sans" pitchFamily="24" charset="0"/>
              </a:rPr>
              <a:t>declaration </a:t>
            </a:r>
            <a:r>
              <a:rPr lang="en-US" sz="2600" dirty="0" smtClean="0">
                <a:ea typeface="Gill Sans" pitchFamily="24" charset="0"/>
                <a:cs typeface="Gill Sans" pitchFamily="24" charset="0"/>
              </a:rPr>
              <a:t>takes an HTML element and adds a background color, a margin, and changes the element’s font size/color</a:t>
            </a:r>
          </a:p>
          <a:p>
            <a:endParaRPr lang="en-US" dirty="0"/>
          </a:p>
        </p:txBody>
      </p:sp>
      <p:sp>
        <p:nvSpPr>
          <p:cNvPr id="4" name="Rectangular Callout 3"/>
          <p:cNvSpPr/>
          <p:nvPr/>
        </p:nvSpPr>
        <p:spPr>
          <a:xfrm>
            <a:off x="6096000" y="3124200"/>
            <a:ext cx="2590800" cy="1066800"/>
          </a:xfrm>
          <a:prstGeom prst="wedgeRectCallout">
            <a:avLst>
              <a:gd name="adj1" fmla="val -63970"/>
              <a:gd name="adj2" fmla="val -2202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A CSS declaration</a:t>
            </a:r>
            <a:endParaRPr lang="en-US" dirty="0">
              <a:solidFill>
                <a:schemeClr val="tx1"/>
              </a:solidFill>
            </a:endParaRPr>
          </a:p>
        </p:txBody>
      </p:sp>
    </p:spTree>
    <p:extLst>
      <p:ext uri="{BB962C8B-B14F-4D97-AF65-F5344CB8AC3E}">
        <p14:creationId xmlns:p14="http://schemas.microsoft.com/office/powerpoint/2010/main" val="5200684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adding style</a:t>
            </a:r>
            <a:endParaRPr lang="en-US" dirty="0"/>
          </a:p>
        </p:txBody>
      </p:sp>
      <p:sp>
        <p:nvSpPr>
          <p:cNvPr id="3" name="Content Placeholder 2"/>
          <p:cNvSpPr>
            <a:spLocks noGrp="1"/>
          </p:cNvSpPr>
          <p:nvPr>
            <p:ph idx="1"/>
          </p:nvPr>
        </p:nvSpPr>
        <p:spPr/>
        <p:txBody>
          <a:bodyPr>
            <a:normAutofit/>
          </a:bodyPr>
          <a:lstStyle/>
          <a:p>
            <a:r>
              <a:rPr lang="en-US" sz="2595" b="1" u="sng" dirty="0" smtClean="0"/>
              <a:t>A question</a:t>
            </a:r>
            <a:r>
              <a:rPr lang="en-US" sz="2595" dirty="0" smtClean="0"/>
              <a:t>: how does the browser know </a:t>
            </a:r>
            <a:r>
              <a:rPr lang="en-US" sz="2595" b="1" i="1" dirty="0" smtClean="0"/>
              <a:t>which</a:t>
            </a:r>
            <a:r>
              <a:rPr lang="en-US" sz="2595" dirty="0" smtClean="0"/>
              <a:t> HTML element on the webpage this declaration applies to?</a:t>
            </a:r>
          </a:p>
          <a:p>
            <a:pPr lvl="1">
              <a:buNone/>
            </a:pPr>
            <a:r>
              <a:rPr lang="en-US" sz="2162" dirty="0" smtClean="0">
                <a:ea typeface="Gill Sans" pitchFamily="24" charset="0"/>
                <a:cs typeface="Gill Sans" pitchFamily="24" charset="0"/>
              </a:rPr>
              <a:t>    </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font-size: 10px;</a:t>
            </a:r>
          </a:p>
          <a:p>
            <a:pPr lvl="1">
              <a:buNone/>
            </a:pPr>
            <a:r>
              <a:rPr lang="en-US" sz="2595" dirty="0" smtClean="0">
                <a:ea typeface="Gill Sans" pitchFamily="24" charset="0"/>
                <a:cs typeface="Gill Sans" pitchFamily="24" charset="0"/>
              </a:rPr>
              <a:t>	background-color: #</a:t>
            </a:r>
            <a:r>
              <a:rPr lang="en-US" sz="2595" dirty="0" err="1" smtClean="0">
                <a:ea typeface="Gill Sans" pitchFamily="24" charset="0"/>
                <a:cs typeface="Gill Sans" pitchFamily="24" charset="0"/>
              </a:rPr>
              <a:t>fff</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color: #222;</a:t>
            </a:r>
          </a:p>
          <a:p>
            <a:pPr lvl="1">
              <a:buNone/>
            </a:pPr>
            <a:r>
              <a:rPr lang="en-US" sz="2595" dirty="0" smtClean="0">
                <a:ea typeface="Gill Sans" pitchFamily="24" charset="0"/>
                <a:cs typeface="Gill Sans" pitchFamily="24" charset="0"/>
              </a:rPr>
              <a:t>	margin: 20px;</a:t>
            </a:r>
          </a:p>
          <a:p>
            <a:pPr lvl="1">
              <a:buNone/>
            </a:pPr>
            <a:r>
              <a:rPr lang="en-US" sz="2595" dirty="0" smtClean="0">
                <a:ea typeface="Gill Sans" pitchFamily="24" charset="0"/>
                <a:cs typeface="Gill Sans" pitchFamily="24" charset="0"/>
              </a:rPr>
              <a:t>	}</a:t>
            </a:r>
            <a:endParaRPr lang="en-US" dirty="0"/>
          </a:p>
        </p:txBody>
      </p:sp>
    </p:spTree>
    <p:extLst>
      <p:ext uri="{BB962C8B-B14F-4D97-AF65-F5344CB8AC3E}">
        <p14:creationId xmlns:p14="http://schemas.microsoft.com/office/powerpoint/2010/main" val="32148458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adding style</a:t>
            </a:r>
            <a:endParaRPr lang="en-US" dirty="0"/>
          </a:p>
        </p:txBody>
      </p:sp>
      <p:sp>
        <p:nvSpPr>
          <p:cNvPr id="3" name="Content Placeholder 2"/>
          <p:cNvSpPr>
            <a:spLocks noGrp="1"/>
          </p:cNvSpPr>
          <p:nvPr>
            <p:ph idx="1"/>
          </p:nvPr>
        </p:nvSpPr>
        <p:spPr/>
        <p:txBody>
          <a:bodyPr>
            <a:normAutofit/>
          </a:bodyPr>
          <a:lstStyle/>
          <a:p>
            <a:r>
              <a:rPr lang="en-US" sz="2595" b="1" u="sng" dirty="0" smtClean="0"/>
              <a:t>Answer</a:t>
            </a:r>
            <a:r>
              <a:rPr lang="en-US" sz="2595" dirty="0" smtClean="0"/>
              <a:t>: we precede the declaration with the </a:t>
            </a:r>
            <a:r>
              <a:rPr lang="en-US" sz="2595" b="1" dirty="0" smtClean="0">
                <a:solidFill>
                  <a:srgbClr val="FF0000"/>
                </a:solidFill>
              </a:rPr>
              <a:t>selector</a:t>
            </a:r>
            <a:r>
              <a:rPr lang="en-US" sz="2595" dirty="0" smtClean="0"/>
              <a:t>.</a:t>
            </a:r>
          </a:p>
          <a:p>
            <a:r>
              <a:rPr lang="en-US" sz="2595" dirty="0" smtClean="0"/>
              <a:t>For example:</a:t>
            </a:r>
          </a:p>
          <a:p>
            <a:pPr lvl="1">
              <a:buNone/>
            </a:pPr>
            <a:r>
              <a:rPr lang="en-US" sz="2162" dirty="0" smtClean="0">
                <a:ea typeface="Gill Sans" pitchFamily="24" charset="0"/>
                <a:cs typeface="Gill Sans" pitchFamily="24" charset="0"/>
              </a:rPr>
              <a:t>   </a:t>
            </a:r>
            <a:r>
              <a:rPr lang="en-US" sz="2400" b="1" dirty="0" smtClean="0">
                <a:solidFill>
                  <a:srgbClr val="FF0000"/>
                </a:solidFill>
                <a:ea typeface="Gill Sans" pitchFamily="24" charset="0"/>
                <a:cs typeface="Gill Sans" pitchFamily="24" charset="0"/>
              </a:rPr>
              <a:t>body</a:t>
            </a:r>
            <a:r>
              <a:rPr lang="en-US" sz="2162" b="1" dirty="0" smtClean="0">
                <a:solidFill>
                  <a:srgbClr val="FF0000"/>
                </a:solidFill>
                <a:ea typeface="Gill Sans" pitchFamily="24" charset="0"/>
                <a:cs typeface="Gill Sans" pitchFamily="24" charset="0"/>
              </a:rPr>
              <a:t> </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font-size: 10px;</a:t>
            </a:r>
          </a:p>
          <a:p>
            <a:pPr lvl="1">
              <a:buNone/>
            </a:pPr>
            <a:r>
              <a:rPr lang="en-US" sz="2595" dirty="0" smtClean="0">
                <a:ea typeface="Gill Sans" pitchFamily="24" charset="0"/>
                <a:cs typeface="Gill Sans" pitchFamily="24" charset="0"/>
              </a:rPr>
              <a:t>	background-color: #</a:t>
            </a:r>
            <a:r>
              <a:rPr lang="en-US" sz="2595" dirty="0" err="1" smtClean="0">
                <a:ea typeface="Gill Sans" pitchFamily="24" charset="0"/>
                <a:cs typeface="Gill Sans" pitchFamily="24" charset="0"/>
              </a:rPr>
              <a:t>fff</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color: #222;  }</a:t>
            </a:r>
            <a:br>
              <a:rPr lang="en-US" sz="2595" dirty="0" smtClean="0">
                <a:ea typeface="Gill Sans" pitchFamily="24" charset="0"/>
                <a:cs typeface="Gill Sans" pitchFamily="24" charset="0"/>
              </a:rPr>
            </a:br>
            <a:endParaRPr lang="en-US" sz="2595" dirty="0" smtClean="0">
              <a:ea typeface="Gill Sans" pitchFamily="24" charset="0"/>
              <a:cs typeface="Gill Sans" pitchFamily="24" charset="0"/>
            </a:endParaRPr>
          </a:p>
          <a:p>
            <a:pPr lvl="1">
              <a:spcAft>
                <a:spcPts val="600"/>
              </a:spcAft>
              <a:buNone/>
            </a:pPr>
            <a:r>
              <a:rPr lang="en-US" sz="2595" dirty="0" smtClean="0">
                <a:ea typeface="Gill Sans" pitchFamily="24" charset="0"/>
                <a:cs typeface="Gill Sans" pitchFamily="24" charset="0"/>
              </a:rPr>
              <a:t>…this tells the browser to apply the declared style to the HTML </a:t>
            </a:r>
            <a:r>
              <a:rPr lang="en-US" sz="2595" b="1" dirty="0" smtClean="0">
                <a:solidFill>
                  <a:srgbClr val="000000"/>
                </a:solidFill>
                <a:ea typeface="Gill Sans" pitchFamily="24" charset="0"/>
                <a:cs typeface="Gill Sans" pitchFamily="24" charset="0"/>
              </a:rPr>
              <a:t>&lt;body&gt; </a:t>
            </a:r>
            <a:r>
              <a:rPr lang="en-US" sz="2595" dirty="0" smtClean="0">
                <a:ea typeface="Gill Sans" pitchFamily="24" charset="0"/>
                <a:cs typeface="Gill Sans" pitchFamily="24" charset="0"/>
              </a:rPr>
              <a:t>element.</a:t>
            </a:r>
            <a:endParaRPr lang="en-US" dirty="0"/>
          </a:p>
        </p:txBody>
      </p:sp>
    </p:spTree>
    <p:extLst>
      <p:ext uri="{BB962C8B-B14F-4D97-AF65-F5344CB8AC3E}">
        <p14:creationId xmlns:p14="http://schemas.microsoft.com/office/powerpoint/2010/main" val="41830786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8913813" cy="914400"/>
          </a:xfrm>
        </p:spPr>
        <p:txBody>
          <a:bodyPr lIns="274320"/>
          <a:lstStyle/>
          <a:p>
            <a:r>
              <a:rPr lang="en-US" dirty="0" smtClean="0"/>
              <a:t>The most basic kind of CSS selector</a:t>
            </a:r>
            <a:endParaRPr lang="en-US" dirty="0"/>
          </a:p>
        </p:txBody>
      </p:sp>
      <p:sp>
        <p:nvSpPr>
          <p:cNvPr id="3" name="Content Placeholder 2"/>
          <p:cNvSpPr>
            <a:spLocks noGrp="1"/>
          </p:cNvSpPr>
          <p:nvPr>
            <p:ph idx="1"/>
          </p:nvPr>
        </p:nvSpPr>
        <p:spPr>
          <a:xfrm>
            <a:off x="685800" y="1905000"/>
            <a:ext cx="7677151" cy="4191000"/>
          </a:xfrm>
        </p:spPr>
        <p:txBody>
          <a:bodyPr>
            <a:normAutofit/>
          </a:bodyPr>
          <a:lstStyle/>
          <a:p>
            <a:r>
              <a:rPr lang="en-US" sz="2400" dirty="0" smtClean="0">
                <a:solidFill>
                  <a:srgbClr val="000000"/>
                </a:solidFill>
              </a:rPr>
              <a:t>“</a:t>
            </a:r>
            <a:r>
              <a:rPr lang="en-US" sz="2400" b="1" dirty="0" smtClean="0">
                <a:solidFill>
                  <a:srgbClr val="000000"/>
                </a:solidFill>
              </a:rPr>
              <a:t>Simple</a:t>
            </a:r>
            <a:r>
              <a:rPr lang="en-US" sz="2400" dirty="0" smtClean="0">
                <a:solidFill>
                  <a:srgbClr val="000000"/>
                </a:solidFill>
              </a:rPr>
              <a:t>” type selectors</a:t>
            </a:r>
          </a:p>
          <a:p>
            <a:pPr>
              <a:buFontTx/>
              <a:buNone/>
            </a:pPr>
            <a:r>
              <a:rPr lang="en-US" sz="2400" dirty="0" smtClean="0">
                <a:latin typeface="Courier"/>
                <a:cs typeface="Courier"/>
              </a:rPr>
              <a:t>	Ex.: </a:t>
            </a:r>
            <a:r>
              <a:rPr lang="en-US" sz="2400" dirty="0" smtClean="0">
                <a:solidFill>
                  <a:srgbClr val="FF0000"/>
                </a:solidFill>
                <a:latin typeface="Courier"/>
                <a:cs typeface="Courier"/>
              </a:rPr>
              <a:t>body</a:t>
            </a:r>
            <a:r>
              <a:rPr lang="en-US" sz="2400" dirty="0" smtClean="0">
                <a:latin typeface="Courier"/>
                <a:cs typeface="Courier"/>
              </a:rPr>
              <a:t>{}, </a:t>
            </a:r>
            <a:r>
              <a:rPr lang="en-US" sz="2400" dirty="0" err="1" smtClean="0">
                <a:solidFill>
                  <a:srgbClr val="FF0000"/>
                </a:solidFill>
                <a:latin typeface="Courier"/>
                <a:cs typeface="Courier"/>
              </a:rPr>
              <a:t>p</a:t>
            </a:r>
            <a:r>
              <a:rPr lang="en-US" sz="2400" dirty="0" smtClean="0">
                <a:latin typeface="Courier"/>
                <a:cs typeface="Courier"/>
              </a:rPr>
              <a:t>{}, </a:t>
            </a:r>
            <a:r>
              <a:rPr lang="en-US" sz="2400" dirty="0" smtClean="0">
                <a:solidFill>
                  <a:srgbClr val="FF0000"/>
                </a:solidFill>
                <a:latin typeface="Courier"/>
                <a:cs typeface="Courier"/>
              </a:rPr>
              <a:t>strong</a:t>
            </a:r>
            <a:r>
              <a:rPr lang="en-US" sz="2400" dirty="0" smtClean="0">
                <a:latin typeface="Courier"/>
                <a:cs typeface="Courier"/>
              </a:rPr>
              <a:t>{}</a:t>
            </a:r>
          </a:p>
          <a:p>
            <a:pPr lvl="1"/>
            <a:r>
              <a:rPr lang="en-US" sz="2400" dirty="0" smtClean="0"/>
              <a:t>Selects every instance of the corresponding HTML element</a:t>
            </a:r>
          </a:p>
          <a:p>
            <a:pPr lvl="1"/>
            <a:r>
              <a:rPr lang="en-US" sz="2400" dirty="0" smtClean="0"/>
              <a:t>These simple selectors are commonly used</a:t>
            </a:r>
          </a:p>
          <a:p>
            <a:r>
              <a:rPr lang="en-US" sz="2400" dirty="0" smtClean="0"/>
              <a:t>Wildcard selector</a:t>
            </a:r>
          </a:p>
          <a:p>
            <a:pPr lvl="1">
              <a:buNone/>
            </a:pPr>
            <a:r>
              <a:rPr lang="en-US" sz="2400" dirty="0" smtClean="0">
                <a:solidFill>
                  <a:srgbClr val="000000"/>
                </a:solidFill>
                <a:latin typeface="Courier"/>
                <a:cs typeface="Courier"/>
              </a:rPr>
              <a:t>	*</a:t>
            </a:r>
            <a:r>
              <a:rPr lang="en-US" sz="2400" dirty="0" smtClean="0">
                <a:latin typeface="Courier"/>
                <a:cs typeface="Courier"/>
              </a:rPr>
              <a:t> { }</a:t>
            </a:r>
          </a:p>
          <a:p>
            <a:pPr lvl="1"/>
            <a:r>
              <a:rPr lang="en-US" sz="2400" dirty="0" smtClean="0"/>
              <a:t>Selects </a:t>
            </a:r>
            <a:r>
              <a:rPr lang="en-US" sz="2400" b="1" i="1" dirty="0" smtClean="0"/>
              <a:t>all </a:t>
            </a:r>
            <a:r>
              <a:rPr lang="en-US" sz="2400" dirty="0" smtClean="0"/>
              <a:t>elements on a page</a:t>
            </a:r>
          </a:p>
          <a:p>
            <a:pPr lvl="1"/>
            <a:r>
              <a:rPr lang="en-US" sz="2400" dirty="0" smtClean="0"/>
              <a:t>Can be used in combination with other selectors</a:t>
            </a:r>
          </a:p>
        </p:txBody>
      </p:sp>
    </p:spTree>
    <p:extLst>
      <p:ext uri="{BB962C8B-B14F-4D97-AF65-F5344CB8AC3E}">
        <p14:creationId xmlns:p14="http://schemas.microsoft.com/office/powerpoint/2010/main" val="3674509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xfrm>
            <a:off x="381000" y="533400"/>
            <a:ext cx="8277820" cy="812602"/>
          </a:xfrm>
          <a:ln/>
        </p:spPr>
        <p:txBody>
          <a:bodyPr>
            <a:normAutofit fontScale="90000"/>
          </a:bodyPr>
          <a:lstStyle/>
          <a:p>
            <a:r>
              <a:rPr lang="en-US" sz="4800" dirty="0" smtClean="0"/>
              <a:t>Aside: grouping selectors</a:t>
            </a:r>
            <a:endParaRPr lang="en-US" sz="4800" dirty="0"/>
          </a:p>
        </p:txBody>
      </p:sp>
      <p:sp>
        <p:nvSpPr>
          <p:cNvPr id="29698" name="Rectangle 2"/>
          <p:cNvSpPr>
            <a:spLocks noGrp="1" noChangeArrowheads="1"/>
          </p:cNvSpPr>
          <p:nvPr>
            <p:ph idx="1"/>
          </p:nvPr>
        </p:nvSpPr>
        <p:spPr>
          <a:xfrm>
            <a:off x="381000" y="1524000"/>
            <a:ext cx="8266509" cy="4238029"/>
          </a:xfrm>
          <a:ln/>
        </p:spPr>
        <p:txBody>
          <a:bodyPr/>
          <a:lstStyle/>
          <a:p>
            <a:pPr marL="625056"/>
            <a:r>
              <a:rPr lang="en-US" sz="2800" dirty="0" smtClean="0"/>
              <a:t>You can apply </a:t>
            </a:r>
            <a:r>
              <a:rPr lang="en-US" sz="2800" dirty="0"/>
              <a:t>the same declaration to a group of selectors by</a:t>
            </a:r>
            <a:r>
              <a:rPr lang="en-US" sz="2800" dirty="0" smtClean="0"/>
              <a:t> listing all </a:t>
            </a:r>
            <a:r>
              <a:rPr lang="en-US" sz="2800" dirty="0"/>
              <a:t>of the</a:t>
            </a:r>
            <a:r>
              <a:rPr lang="en-US" sz="2800" dirty="0" smtClean="0"/>
              <a:t> desired selector </a:t>
            </a:r>
            <a:r>
              <a:rPr lang="en-US" sz="2800" dirty="0"/>
              <a:t>names </a:t>
            </a:r>
            <a:r>
              <a:rPr lang="en-US" sz="2800" b="1" dirty="0"/>
              <a:t>separated by commas</a:t>
            </a:r>
            <a:r>
              <a:rPr lang="en-US" sz="2800" dirty="0" smtClean="0"/>
              <a:t>.</a:t>
            </a:r>
          </a:p>
          <a:p>
            <a:pPr marL="625056"/>
            <a:r>
              <a:rPr lang="en-US" sz="2800" dirty="0" smtClean="0"/>
              <a:t>Example:</a:t>
            </a:r>
          </a:p>
          <a:p>
            <a:pPr marL="783552" lvl="1" indent="-285740">
              <a:buNone/>
            </a:pPr>
            <a:r>
              <a:rPr lang="en-US" sz="2400" dirty="0" smtClean="0">
                <a:solidFill>
                  <a:srgbClr val="FF0000"/>
                </a:solidFill>
                <a:latin typeface="Courier"/>
                <a:cs typeface="Courier"/>
                <a:sym typeface="Courier New Bold" charset="0"/>
              </a:rPr>
              <a:t>h1</a:t>
            </a:r>
            <a:r>
              <a:rPr lang="en-US" sz="2400" dirty="0">
                <a:solidFill>
                  <a:srgbClr val="FF0000"/>
                </a:solidFill>
                <a:latin typeface="Courier"/>
                <a:cs typeface="Courier"/>
                <a:sym typeface="Courier New Bold" charset="0"/>
              </a:rPr>
              <a:t>, h2, h3, h4, h5, h6 {color:#ff0000; font-</a:t>
            </a:r>
            <a:r>
              <a:rPr lang="en-US" sz="2400" dirty="0" err="1">
                <a:solidFill>
                  <a:srgbClr val="FF0000"/>
                </a:solidFill>
                <a:latin typeface="Courier"/>
                <a:cs typeface="Courier"/>
                <a:sym typeface="Courier New Bold" charset="0"/>
              </a:rPr>
              <a:t>family:sans</a:t>
            </a:r>
            <a:r>
              <a:rPr lang="en-US" sz="2400" dirty="0">
                <a:solidFill>
                  <a:srgbClr val="FF0000"/>
                </a:solidFill>
                <a:latin typeface="Courier"/>
                <a:cs typeface="Courier"/>
                <a:sym typeface="Courier New Bold" charset="0"/>
              </a:rPr>
              <a:t>-serif</a:t>
            </a:r>
            <a:r>
              <a:rPr lang="en-US" sz="2400" dirty="0" smtClean="0">
                <a:solidFill>
                  <a:srgbClr val="FF0000"/>
                </a:solidFill>
                <a:latin typeface="Courier"/>
                <a:cs typeface="Courier"/>
                <a:sym typeface="Courier New Bold" charset="0"/>
              </a:rPr>
              <a:t>}</a:t>
            </a:r>
            <a:endParaRPr lang="en-US" sz="2400" dirty="0">
              <a:solidFill>
                <a:srgbClr val="FF0000"/>
              </a:solidFill>
              <a:latin typeface="Courier"/>
              <a:cs typeface="Courier"/>
              <a:sym typeface="Courier New Bold" charset="0"/>
            </a:endParaRPr>
          </a:p>
        </p:txBody>
      </p:sp>
    </p:spTree>
    <p:extLst>
      <p:ext uri="{BB962C8B-B14F-4D97-AF65-F5344CB8AC3E}">
        <p14:creationId xmlns:p14="http://schemas.microsoft.com/office/powerpoint/2010/main" val="283386430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4" y="381000"/>
            <a:ext cx="7583487" cy="838200"/>
          </a:xfrm>
        </p:spPr>
        <p:txBody>
          <a:bodyPr/>
          <a:lstStyle/>
          <a:p>
            <a:r>
              <a:rPr lang="en-US" dirty="0" smtClean="0"/>
              <a:t>CSS: selector flexibility</a:t>
            </a:r>
            <a:endParaRPr lang="en-US" dirty="0"/>
          </a:p>
        </p:txBody>
      </p:sp>
      <p:sp>
        <p:nvSpPr>
          <p:cNvPr id="3" name="Content Placeholder 2"/>
          <p:cNvSpPr>
            <a:spLocks noGrp="1"/>
          </p:cNvSpPr>
          <p:nvPr>
            <p:ph idx="1"/>
          </p:nvPr>
        </p:nvSpPr>
        <p:spPr>
          <a:xfrm>
            <a:off x="533400" y="1752600"/>
            <a:ext cx="7829551" cy="3200400"/>
          </a:xfrm>
        </p:spPr>
        <p:txBody>
          <a:bodyPr>
            <a:normAutofit/>
          </a:bodyPr>
          <a:lstStyle/>
          <a:p>
            <a:r>
              <a:rPr lang="en-US" sz="2595" b="1" dirty="0" smtClean="0"/>
              <a:t>Th</a:t>
            </a:r>
            <a:r>
              <a:rPr lang="en-US" sz="2595" dirty="0" smtClean="0"/>
              <a:t>e usefulness of </a:t>
            </a:r>
            <a:r>
              <a:rPr lang="en-US" sz="2595" b="1" dirty="0" smtClean="0">
                <a:solidFill>
                  <a:srgbClr val="FF0000"/>
                </a:solidFill>
              </a:rPr>
              <a:t>selectors</a:t>
            </a:r>
            <a:r>
              <a:rPr lang="en-US" sz="2595" dirty="0" smtClean="0">
                <a:solidFill>
                  <a:srgbClr val="FF0000"/>
                </a:solidFill>
              </a:rPr>
              <a:t> </a:t>
            </a:r>
            <a:r>
              <a:rPr lang="en-US" sz="2595" dirty="0" smtClean="0"/>
              <a:t>relates to how much specificity you have in selecting different parts of a web page.</a:t>
            </a:r>
          </a:p>
          <a:p>
            <a:r>
              <a:rPr lang="en-US" sz="2595" dirty="0" smtClean="0"/>
              <a:t>Simple example: your personal webpage</a:t>
            </a:r>
          </a:p>
          <a:p>
            <a:pPr lvl="1"/>
            <a:r>
              <a:rPr lang="en-US" sz="2395" dirty="0" smtClean="0"/>
              <a:t>You may not want the same font/color type style throughout the entire &lt;body&gt; element</a:t>
            </a:r>
          </a:p>
        </p:txBody>
      </p:sp>
    </p:spTree>
    <p:extLst>
      <p:ext uri="{BB962C8B-B14F-4D97-AF65-F5344CB8AC3E}">
        <p14:creationId xmlns:p14="http://schemas.microsoft.com/office/powerpoint/2010/main" val="10453349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4" y="381000"/>
            <a:ext cx="7583487" cy="838200"/>
          </a:xfrm>
        </p:spPr>
        <p:txBody>
          <a:bodyPr/>
          <a:lstStyle/>
          <a:p>
            <a:r>
              <a:rPr lang="en-US" dirty="0" smtClean="0"/>
              <a:t>CSS: selector flexibility</a:t>
            </a:r>
            <a:endParaRPr lang="en-US" dirty="0"/>
          </a:p>
        </p:txBody>
      </p:sp>
      <p:sp>
        <p:nvSpPr>
          <p:cNvPr id="3" name="Content Placeholder 2"/>
          <p:cNvSpPr>
            <a:spLocks noGrp="1"/>
          </p:cNvSpPr>
          <p:nvPr>
            <p:ph idx="1"/>
          </p:nvPr>
        </p:nvSpPr>
        <p:spPr>
          <a:xfrm>
            <a:off x="533400" y="1676400"/>
            <a:ext cx="7829551" cy="4800600"/>
          </a:xfrm>
        </p:spPr>
        <p:txBody>
          <a:bodyPr>
            <a:normAutofit lnSpcReduction="10000"/>
          </a:bodyPr>
          <a:lstStyle/>
          <a:p>
            <a:r>
              <a:rPr lang="en-US" sz="2595" dirty="0" smtClean="0"/>
              <a:t>You could use the declaration with the selector just for the HTML &lt;</a:t>
            </a:r>
            <a:r>
              <a:rPr lang="en-US" sz="2595" dirty="0" err="1" smtClean="0"/>
              <a:t>p</a:t>
            </a:r>
            <a:r>
              <a:rPr lang="en-US" sz="2595" dirty="0" smtClean="0"/>
              <a:t>&gt; tag</a:t>
            </a:r>
          </a:p>
          <a:p>
            <a:pPr lvl="1">
              <a:buNone/>
            </a:pPr>
            <a:r>
              <a:rPr lang="en-US" sz="2162" dirty="0" smtClean="0">
                <a:ea typeface="Gill Sans" pitchFamily="24" charset="0"/>
                <a:cs typeface="Gill Sans" pitchFamily="24" charset="0"/>
              </a:rPr>
              <a:t>   </a:t>
            </a:r>
            <a:r>
              <a:rPr lang="en-US" sz="2400" b="1" dirty="0" err="1" smtClean="0">
                <a:solidFill>
                  <a:srgbClr val="FF0000"/>
                </a:solidFill>
                <a:ea typeface="Gill Sans" pitchFamily="24" charset="0"/>
                <a:cs typeface="Gill Sans" pitchFamily="24" charset="0"/>
              </a:rPr>
              <a:t>p</a:t>
            </a:r>
            <a:r>
              <a:rPr lang="en-US" sz="2400" b="1" dirty="0" smtClean="0">
                <a:solidFill>
                  <a:srgbClr val="000000"/>
                </a:solidFill>
                <a:ea typeface="Gill Sans" pitchFamily="24" charset="0"/>
                <a:cs typeface="Gill Sans" pitchFamily="24" charset="0"/>
              </a:rPr>
              <a:t> </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font-size: 10px;</a:t>
            </a:r>
          </a:p>
          <a:p>
            <a:pPr lvl="1">
              <a:buNone/>
            </a:pPr>
            <a:r>
              <a:rPr lang="en-US" sz="2595" dirty="0" smtClean="0">
                <a:ea typeface="Gill Sans" pitchFamily="24" charset="0"/>
                <a:cs typeface="Gill Sans" pitchFamily="24" charset="0"/>
              </a:rPr>
              <a:t>	background-color: #</a:t>
            </a:r>
            <a:r>
              <a:rPr lang="en-US" sz="2595" dirty="0" err="1" smtClean="0">
                <a:ea typeface="Gill Sans" pitchFamily="24" charset="0"/>
                <a:cs typeface="Gill Sans" pitchFamily="24" charset="0"/>
              </a:rPr>
              <a:t>fff</a:t>
            </a:r>
            <a:r>
              <a:rPr lang="en-US" sz="2595" dirty="0" smtClean="0">
                <a:ea typeface="Gill Sans" pitchFamily="24" charset="0"/>
                <a:cs typeface="Gill Sans" pitchFamily="24" charset="0"/>
              </a:rPr>
              <a:t>;</a:t>
            </a:r>
          </a:p>
          <a:p>
            <a:pPr lvl="1">
              <a:buNone/>
            </a:pPr>
            <a:r>
              <a:rPr lang="en-US" sz="2595" dirty="0" smtClean="0">
                <a:ea typeface="Gill Sans" pitchFamily="24" charset="0"/>
                <a:cs typeface="Gill Sans" pitchFamily="24" charset="0"/>
              </a:rPr>
              <a:t>	color: #222;  }</a:t>
            </a:r>
          </a:p>
          <a:p>
            <a:pPr lvl="1">
              <a:spcAft>
                <a:spcPts val="600"/>
              </a:spcAft>
              <a:buNone/>
            </a:pPr>
            <a:r>
              <a:rPr lang="en-US" sz="2595" dirty="0" smtClean="0">
                <a:ea typeface="Gill Sans" pitchFamily="24" charset="0"/>
                <a:cs typeface="Gill Sans" pitchFamily="24" charset="0"/>
              </a:rPr>
              <a:t>…this tells the browser to apply the declared style to HTML </a:t>
            </a:r>
            <a:r>
              <a:rPr lang="en-US" sz="2595" dirty="0" smtClean="0">
                <a:solidFill>
                  <a:srgbClr val="FF0000"/>
                </a:solidFill>
                <a:ea typeface="Gill Sans" pitchFamily="24" charset="0"/>
                <a:cs typeface="Gill Sans" pitchFamily="24" charset="0"/>
              </a:rPr>
              <a:t>&lt;</a:t>
            </a:r>
            <a:r>
              <a:rPr lang="en-US" sz="2595" dirty="0" err="1" smtClean="0">
                <a:solidFill>
                  <a:srgbClr val="FF0000"/>
                </a:solidFill>
                <a:ea typeface="Gill Sans" pitchFamily="24" charset="0"/>
                <a:cs typeface="Gill Sans" pitchFamily="24" charset="0"/>
              </a:rPr>
              <a:t>p</a:t>
            </a:r>
            <a:r>
              <a:rPr lang="en-US" sz="2595" dirty="0" smtClean="0">
                <a:solidFill>
                  <a:srgbClr val="FF0000"/>
                </a:solidFill>
                <a:ea typeface="Gill Sans" pitchFamily="24" charset="0"/>
                <a:cs typeface="Gill Sans" pitchFamily="24" charset="0"/>
              </a:rPr>
              <a:t>&gt;</a:t>
            </a:r>
            <a:r>
              <a:rPr lang="en-US" sz="2595" dirty="0" smtClean="0">
                <a:ea typeface="Gill Sans" pitchFamily="24" charset="0"/>
                <a:cs typeface="Gill Sans" pitchFamily="24" charset="0"/>
              </a:rPr>
              <a:t> tags.  </a:t>
            </a:r>
          </a:p>
          <a:p>
            <a:pPr lvl="1">
              <a:spcAft>
                <a:spcPts val="600"/>
              </a:spcAft>
              <a:buNone/>
            </a:pPr>
            <a:r>
              <a:rPr lang="en-US" sz="2595" dirty="0" smtClean="0">
                <a:ea typeface="Gill Sans" pitchFamily="24" charset="0"/>
                <a:cs typeface="Gill Sans" pitchFamily="24" charset="0"/>
              </a:rPr>
              <a:t>But, what if you want &lt;</a:t>
            </a:r>
            <a:r>
              <a:rPr lang="en-US" sz="2595" dirty="0" err="1" smtClean="0">
                <a:ea typeface="Gill Sans" pitchFamily="24" charset="0"/>
                <a:cs typeface="Gill Sans" pitchFamily="24" charset="0"/>
              </a:rPr>
              <a:t>p</a:t>
            </a:r>
            <a:r>
              <a:rPr lang="en-US" sz="2595" dirty="0" smtClean="0">
                <a:ea typeface="Gill Sans" pitchFamily="24" charset="0"/>
                <a:cs typeface="Gill Sans" pitchFamily="24" charset="0"/>
              </a:rPr>
              <a:t>&gt; blocks in the </a:t>
            </a:r>
            <a:r>
              <a:rPr lang="en-US" sz="2595" b="1" dirty="0" smtClean="0">
                <a:ea typeface="Gill Sans" pitchFamily="24" charset="0"/>
                <a:cs typeface="Gill Sans" pitchFamily="24" charset="0"/>
              </a:rPr>
              <a:t>About Me </a:t>
            </a:r>
            <a:r>
              <a:rPr lang="en-US" sz="2595" dirty="0" smtClean="0">
                <a:ea typeface="Gill Sans" pitchFamily="24" charset="0"/>
                <a:cs typeface="Gill Sans" pitchFamily="24" charset="0"/>
              </a:rPr>
              <a:t>section to look one way, and those within your </a:t>
            </a:r>
            <a:r>
              <a:rPr lang="en-US" sz="2595" b="1" dirty="0" smtClean="0">
                <a:ea typeface="Gill Sans" pitchFamily="24" charset="0"/>
                <a:cs typeface="Gill Sans" pitchFamily="24" charset="0"/>
              </a:rPr>
              <a:t>Education </a:t>
            </a:r>
            <a:r>
              <a:rPr lang="en-US" sz="2595" dirty="0" smtClean="0">
                <a:ea typeface="Gill Sans" pitchFamily="24" charset="0"/>
                <a:cs typeface="Gill Sans" pitchFamily="24" charset="0"/>
              </a:rPr>
              <a:t>section to be styled differently?</a:t>
            </a:r>
          </a:p>
        </p:txBody>
      </p:sp>
    </p:spTree>
    <p:extLst>
      <p:ext uri="{BB962C8B-B14F-4D97-AF65-F5344CB8AC3E}">
        <p14:creationId xmlns:p14="http://schemas.microsoft.com/office/powerpoint/2010/main" val="40723897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8913813" cy="914400"/>
          </a:xfrm>
        </p:spPr>
        <p:txBody>
          <a:bodyPr/>
          <a:lstStyle/>
          <a:p>
            <a:r>
              <a:rPr lang="en-US" dirty="0" smtClean="0"/>
              <a:t>Naming HTML elements</a:t>
            </a:r>
            <a:endParaRPr lang="en-US" dirty="0"/>
          </a:p>
        </p:txBody>
      </p:sp>
      <p:sp>
        <p:nvSpPr>
          <p:cNvPr id="3" name="Content Placeholder 2"/>
          <p:cNvSpPr>
            <a:spLocks noGrp="1"/>
          </p:cNvSpPr>
          <p:nvPr>
            <p:ph idx="1"/>
          </p:nvPr>
        </p:nvSpPr>
        <p:spPr>
          <a:xfrm>
            <a:off x="685800" y="1600200"/>
            <a:ext cx="7620000" cy="4343400"/>
          </a:xfrm>
        </p:spPr>
        <p:txBody>
          <a:bodyPr>
            <a:normAutofit fontScale="70000" lnSpcReduction="20000"/>
          </a:bodyPr>
          <a:lstStyle/>
          <a:p>
            <a:pPr>
              <a:spcAft>
                <a:spcPts val="600"/>
              </a:spcAft>
            </a:pPr>
            <a:r>
              <a:rPr lang="en-US" dirty="0" smtClean="0"/>
              <a:t>There are two naming options for an HTML element: assigning “ID” names and “class names.”  </a:t>
            </a:r>
          </a:p>
          <a:p>
            <a:pPr>
              <a:spcAft>
                <a:spcPts val="600"/>
              </a:spcAft>
            </a:pPr>
            <a:r>
              <a:rPr lang="en-US" dirty="0" smtClean="0"/>
              <a:t>When you give an HTML element a </a:t>
            </a:r>
            <a:r>
              <a:rPr lang="en-US" b="1" dirty="0" smtClean="0"/>
              <a:t>class </a:t>
            </a:r>
            <a:r>
              <a:rPr lang="en-US" dirty="0" smtClean="0"/>
              <a:t>or </a:t>
            </a:r>
            <a:r>
              <a:rPr lang="en-US" b="1" dirty="0" smtClean="0"/>
              <a:t>id </a:t>
            </a:r>
            <a:r>
              <a:rPr lang="en-US" dirty="0" smtClean="0"/>
              <a:t>name, you need to use that name when making the corresponding style declaration</a:t>
            </a:r>
          </a:p>
          <a:p>
            <a:pPr lvl="1">
              <a:spcAft>
                <a:spcPts val="600"/>
              </a:spcAft>
            </a:pPr>
            <a:r>
              <a:rPr lang="en-US" dirty="0" smtClean="0"/>
              <a:t>These two options are very similar, and the “class name” approach is more popular, so we focus on that.</a:t>
            </a:r>
          </a:p>
          <a:p>
            <a:pPr>
              <a:spcAft>
                <a:spcPts val="600"/>
              </a:spcAft>
            </a:pPr>
            <a:r>
              <a:rPr lang="en-US" dirty="0" smtClean="0"/>
              <a:t>Aside: An </a:t>
            </a:r>
            <a:r>
              <a:rPr lang="en-US" b="1" dirty="0" smtClean="0"/>
              <a:t>id </a:t>
            </a:r>
            <a:r>
              <a:rPr lang="en-US" dirty="0" smtClean="0"/>
              <a:t>declaration is the same as a </a:t>
            </a:r>
            <a:r>
              <a:rPr lang="en-US" b="1" dirty="0" smtClean="0"/>
              <a:t>class </a:t>
            </a:r>
            <a:r>
              <a:rPr lang="en-US" dirty="0" smtClean="0"/>
              <a:t>declaration, except that it should only be used specifically </a:t>
            </a:r>
            <a:r>
              <a:rPr lang="en-US" b="1" dirty="0" smtClean="0"/>
              <a:t>once </a:t>
            </a:r>
            <a:r>
              <a:rPr lang="en-US" dirty="0" smtClean="0"/>
              <a:t>per web page</a:t>
            </a:r>
          </a:p>
          <a:p>
            <a:pPr lvl="1">
              <a:spcAft>
                <a:spcPts val="600"/>
              </a:spcAft>
            </a:pPr>
            <a:r>
              <a:rPr lang="en-US" dirty="0" smtClean="0"/>
              <a:t>The syntax for id vs. class is also nearly identical, the only difference being the use of a pound sign (#) instead of the period (.) you will see in a couple slides.</a:t>
            </a:r>
          </a:p>
        </p:txBody>
      </p:sp>
    </p:spTree>
    <p:extLst>
      <p:ext uri="{BB962C8B-B14F-4D97-AF65-F5344CB8AC3E}">
        <p14:creationId xmlns:p14="http://schemas.microsoft.com/office/powerpoint/2010/main" val="168200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8913813" cy="914400"/>
          </a:xfrm>
        </p:spPr>
        <p:txBody>
          <a:bodyPr lIns="274320"/>
          <a:lstStyle/>
          <a:p>
            <a:r>
              <a:rPr lang="en-US" dirty="0" smtClean="0"/>
              <a:t>Example: naming HTML elements</a:t>
            </a:r>
            <a:endParaRPr lang="en-US" dirty="0"/>
          </a:p>
        </p:txBody>
      </p:sp>
      <p:sp>
        <p:nvSpPr>
          <p:cNvPr id="5" name="Content Placeholder 4"/>
          <p:cNvSpPr>
            <a:spLocks noGrp="1"/>
          </p:cNvSpPr>
          <p:nvPr>
            <p:ph idx="1"/>
          </p:nvPr>
        </p:nvSpPr>
        <p:spPr>
          <a:xfrm>
            <a:off x="762000" y="2286000"/>
            <a:ext cx="7610476" cy="3428999"/>
          </a:xfrm>
        </p:spPr>
        <p:txBody>
          <a:bodyPr>
            <a:normAutofit/>
          </a:bodyPr>
          <a:lstStyle/>
          <a:p>
            <a:pPr>
              <a:spcBef>
                <a:spcPts val="0"/>
              </a:spcBef>
            </a:pPr>
            <a:r>
              <a:rPr lang="en-US" sz="2400" dirty="0" smtClean="0"/>
              <a:t>The following HTML block gives the “class name” </a:t>
            </a:r>
            <a:r>
              <a:rPr lang="en-US" sz="2400" b="1" dirty="0" err="1" smtClean="0"/>
              <a:t>bigblue</a:t>
            </a:r>
            <a:r>
              <a:rPr lang="en-US" sz="2400" b="1" dirty="0" smtClean="0"/>
              <a:t> </a:t>
            </a:r>
            <a:r>
              <a:rPr lang="en-US" sz="2400" dirty="0" smtClean="0"/>
              <a:t>to the following </a:t>
            </a:r>
            <a:r>
              <a:rPr lang="en-US" sz="2400" u="sng" dirty="0" smtClean="0"/>
              <a:t>specific &lt;h1&gt; tag</a:t>
            </a:r>
            <a:r>
              <a:rPr lang="en-US" sz="2400" dirty="0" smtClean="0"/>
              <a:t> in this (very) simple webpage. </a:t>
            </a:r>
          </a:p>
          <a:p>
            <a:pPr>
              <a:spcBef>
                <a:spcPts val="0"/>
              </a:spcBef>
            </a:pPr>
            <a:endParaRPr lang="en-US" sz="2400" dirty="0" smtClean="0"/>
          </a:p>
          <a:p>
            <a:pPr>
              <a:spcBef>
                <a:spcPts val="0"/>
              </a:spcBef>
              <a:buNone/>
            </a:pPr>
            <a:r>
              <a:rPr lang="en-US" sz="2400" dirty="0" smtClean="0"/>
              <a:t>&lt;html&gt;</a:t>
            </a:r>
          </a:p>
          <a:p>
            <a:pPr>
              <a:spcBef>
                <a:spcPts val="0"/>
              </a:spcBef>
              <a:buNone/>
            </a:pPr>
            <a:r>
              <a:rPr lang="en-US" sz="2400" dirty="0" smtClean="0"/>
              <a:t>&lt;body&gt; </a:t>
            </a:r>
          </a:p>
          <a:p>
            <a:pPr lvl="1">
              <a:spcBef>
                <a:spcPts val="0"/>
              </a:spcBef>
              <a:buNone/>
            </a:pPr>
            <a:r>
              <a:rPr lang="en-US" sz="2000" dirty="0" smtClean="0"/>
              <a:t>&lt;h1 </a:t>
            </a:r>
            <a:r>
              <a:rPr lang="en-US" sz="2000" b="1" dirty="0" smtClean="0"/>
              <a:t>class=</a:t>
            </a:r>
            <a:r>
              <a:rPr lang="en-US" sz="2000" dirty="0" smtClean="0"/>
              <a:t>”</a:t>
            </a:r>
            <a:r>
              <a:rPr lang="en-US" sz="2000" dirty="0" err="1" smtClean="0">
                <a:latin typeface="Courier"/>
                <a:cs typeface="Courier"/>
              </a:rPr>
              <a:t>myboldandbluelook</a:t>
            </a:r>
            <a:r>
              <a:rPr lang="en-US" sz="2000" dirty="0" smtClean="0"/>
              <a:t>”&gt; Introduction &lt;/h1&gt; </a:t>
            </a:r>
          </a:p>
          <a:p>
            <a:pPr>
              <a:spcBef>
                <a:spcPts val="0"/>
              </a:spcBef>
              <a:buNone/>
            </a:pPr>
            <a:r>
              <a:rPr lang="en-US" sz="2400" dirty="0" smtClean="0"/>
              <a:t>&lt;/body&gt;</a:t>
            </a:r>
          </a:p>
          <a:p>
            <a:pPr>
              <a:spcBef>
                <a:spcPts val="0"/>
              </a:spcBef>
              <a:buNone/>
            </a:pPr>
            <a:r>
              <a:rPr lang="en-US" sz="2400" dirty="0" smtClean="0"/>
              <a:t>&lt;html&gt;</a:t>
            </a:r>
          </a:p>
          <a:p>
            <a:pPr>
              <a:spcBef>
                <a:spcPts val="0"/>
              </a:spcBef>
              <a:buNone/>
            </a:pPr>
            <a:endParaRPr lang="en-US" sz="2400" dirty="0"/>
          </a:p>
        </p:txBody>
      </p:sp>
    </p:spTree>
    <p:extLst>
      <p:ext uri="{BB962C8B-B14F-4D97-AF65-F5344CB8AC3E}">
        <p14:creationId xmlns:p14="http://schemas.microsoft.com/office/powerpoint/2010/main" val="3564364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8913813" cy="914400"/>
          </a:xfrm>
        </p:spPr>
        <p:txBody>
          <a:bodyPr lIns="182880">
            <a:normAutofit fontScale="90000"/>
          </a:bodyPr>
          <a:lstStyle/>
          <a:p>
            <a:r>
              <a:rPr lang="en-US" dirty="0" smtClean="0"/>
              <a:t>Connecting a style declaration to a class name</a:t>
            </a:r>
            <a:endParaRPr lang="en-US" dirty="0"/>
          </a:p>
        </p:txBody>
      </p:sp>
      <p:sp>
        <p:nvSpPr>
          <p:cNvPr id="3" name="Content Placeholder 2"/>
          <p:cNvSpPr>
            <a:spLocks noGrp="1"/>
          </p:cNvSpPr>
          <p:nvPr>
            <p:ph idx="1"/>
          </p:nvPr>
        </p:nvSpPr>
        <p:spPr>
          <a:xfrm>
            <a:off x="457200" y="1600200"/>
            <a:ext cx="7467600" cy="3962400"/>
          </a:xfrm>
        </p:spPr>
        <p:txBody>
          <a:bodyPr>
            <a:normAutofit/>
          </a:bodyPr>
          <a:lstStyle/>
          <a:p>
            <a:pPr marL="0">
              <a:spcBef>
                <a:spcPts val="0"/>
              </a:spcBef>
            </a:pPr>
            <a:r>
              <a:rPr lang="en-US" sz="2400" dirty="0" smtClean="0">
                <a:solidFill>
                  <a:srgbClr val="000000"/>
                </a:solidFill>
              </a:rPr>
              <a:t>To connect a style declaration to a particular class name you wrote into your HTML document, you simply precede the class declaration with: </a:t>
            </a:r>
            <a:r>
              <a:rPr lang="en-US" sz="2800" dirty="0" smtClean="0">
                <a:solidFill>
                  <a:srgbClr val="FF0000"/>
                </a:solidFill>
              </a:rPr>
              <a:t>.</a:t>
            </a:r>
            <a:r>
              <a:rPr lang="en-US" sz="2800" dirty="0" err="1" smtClean="0">
                <a:solidFill>
                  <a:srgbClr val="FF0000"/>
                </a:solidFill>
              </a:rPr>
              <a:t>theclassname</a:t>
            </a:r>
            <a:r>
              <a:rPr lang="en-US" sz="2800" dirty="0" smtClean="0">
                <a:solidFill>
                  <a:srgbClr val="FF0000"/>
                </a:solidFill>
              </a:rPr>
              <a:t> </a:t>
            </a:r>
          </a:p>
          <a:p>
            <a:pPr marL="0" lvl="1">
              <a:lnSpc>
                <a:spcPct val="90000"/>
              </a:lnSpc>
            </a:pPr>
            <a:r>
              <a:rPr lang="en-US" sz="2400" dirty="0" smtClean="0"/>
              <a:t>Example</a:t>
            </a:r>
            <a:endParaRPr lang="en-US" sz="2800" dirty="0" smtClean="0"/>
          </a:p>
          <a:p>
            <a:pPr marL="0" lvl="1">
              <a:lnSpc>
                <a:spcPct val="90000"/>
              </a:lnSpc>
              <a:spcBef>
                <a:spcPts val="0"/>
              </a:spcBef>
              <a:buFontTx/>
              <a:buNone/>
            </a:pPr>
            <a:r>
              <a:rPr lang="en-US" sz="2400" dirty="0" smtClean="0">
                <a:latin typeface="Courier"/>
                <a:cs typeface="Courier"/>
              </a:rPr>
              <a:t>.</a:t>
            </a:r>
            <a:r>
              <a:rPr lang="en-US" sz="2400" dirty="0" err="1" smtClean="0">
                <a:latin typeface="Courier"/>
                <a:cs typeface="Courier"/>
              </a:rPr>
              <a:t>myboldandbluelook</a:t>
            </a:r>
            <a:endParaRPr lang="en-US" sz="2400" dirty="0" smtClean="0">
              <a:latin typeface="Courier"/>
              <a:cs typeface="Courier"/>
            </a:endParaRPr>
          </a:p>
          <a:p>
            <a:pPr marL="0" lvl="1">
              <a:lnSpc>
                <a:spcPct val="90000"/>
              </a:lnSpc>
              <a:spcBef>
                <a:spcPts val="0"/>
              </a:spcBef>
              <a:buFontTx/>
              <a:buNone/>
            </a:pPr>
            <a:r>
              <a:rPr lang="en-US" sz="2400" dirty="0" smtClean="0">
                <a:latin typeface="Courier"/>
                <a:cs typeface="Courier"/>
              </a:rPr>
              <a:t>{</a:t>
            </a:r>
          </a:p>
          <a:p>
            <a:pPr marL="0" lvl="1">
              <a:lnSpc>
                <a:spcPct val="90000"/>
              </a:lnSpc>
              <a:spcBef>
                <a:spcPts val="0"/>
              </a:spcBef>
              <a:buFontTx/>
              <a:buNone/>
            </a:pPr>
            <a:r>
              <a:rPr lang="en-US" sz="2400" dirty="0" smtClean="0">
                <a:latin typeface="Courier"/>
                <a:cs typeface="Courier"/>
              </a:rPr>
              <a:t>  font-weight: bold;</a:t>
            </a:r>
          </a:p>
          <a:p>
            <a:pPr marL="0" lvl="1">
              <a:lnSpc>
                <a:spcPct val="90000"/>
              </a:lnSpc>
              <a:spcBef>
                <a:spcPts val="0"/>
              </a:spcBef>
              <a:buFontTx/>
              <a:buNone/>
            </a:pPr>
            <a:r>
              <a:rPr lang="en-US" sz="2400" dirty="0" smtClean="0">
                <a:latin typeface="Courier"/>
                <a:cs typeface="Courier"/>
              </a:rPr>
              <a:t>  color: blue;</a:t>
            </a:r>
          </a:p>
          <a:p>
            <a:pPr marL="0" lvl="1">
              <a:lnSpc>
                <a:spcPct val="90000"/>
              </a:lnSpc>
              <a:spcBef>
                <a:spcPts val="0"/>
              </a:spcBef>
              <a:buFontTx/>
              <a:buNone/>
            </a:pPr>
            <a:r>
              <a:rPr lang="en-US" sz="2400" dirty="0" smtClean="0">
                <a:latin typeface="Courier"/>
                <a:cs typeface="Courier"/>
              </a:rPr>
              <a:t>}</a:t>
            </a:r>
          </a:p>
          <a:p>
            <a:pPr lvl="1">
              <a:lnSpc>
                <a:spcPct val="90000"/>
              </a:lnSpc>
              <a:spcBef>
                <a:spcPts val="0"/>
              </a:spcBef>
              <a:buFontTx/>
              <a:buNone/>
            </a:pPr>
            <a:endParaRPr lang="en-US" sz="2400" dirty="0" smtClean="0">
              <a:latin typeface="Courier"/>
              <a:cs typeface="Courier"/>
            </a:endParaRPr>
          </a:p>
          <a:p>
            <a:pPr>
              <a:spcBef>
                <a:spcPts val="0"/>
              </a:spcBef>
            </a:pPr>
            <a:endParaRPr lang="en-US" sz="2800" dirty="0" smtClean="0"/>
          </a:p>
        </p:txBody>
      </p:sp>
      <p:sp>
        <p:nvSpPr>
          <p:cNvPr id="4" name="Rectangle 3"/>
          <p:cNvSpPr/>
          <p:nvPr/>
        </p:nvSpPr>
        <p:spPr>
          <a:xfrm>
            <a:off x="4495800" y="3666025"/>
            <a:ext cx="4572000" cy="29633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spcBef>
                <a:spcPts val="0"/>
              </a:spcBef>
            </a:pPr>
            <a:r>
              <a:rPr lang="en-US" sz="2000" dirty="0" smtClean="0"/>
              <a:t>Aside: if you want this style to be used only once in the web page, then specify it as an </a:t>
            </a:r>
            <a:r>
              <a:rPr lang="en-US" sz="2000" b="1" dirty="0" smtClean="0"/>
              <a:t>ID </a:t>
            </a:r>
            <a:r>
              <a:rPr lang="en-US" sz="2000" dirty="0" smtClean="0"/>
              <a:t>style with this slight syntax change:</a:t>
            </a:r>
          </a:p>
          <a:p>
            <a:pPr lvl="1">
              <a:lnSpc>
                <a:spcPct val="90000"/>
              </a:lnSpc>
              <a:spcBef>
                <a:spcPts val="0"/>
              </a:spcBef>
              <a:buFontTx/>
              <a:buNone/>
            </a:pPr>
            <a:r>
              <a:rPr lang="en-US" sz="2400" dirty="0" smtClean="0">
                <a:latin typeface="Courier"/>
                <a:cs typeface="Courier"/>
              </a:rPr>
              <a:t>#</a:t>
            </a:r>
            <a:r>
              <a:rPr lang="en-US" sz="2400" dirty="0" err="1" smtClean="0">
                <a:latin typeface="Courier"/>
                <a:cs typeface="Courier"/>
              </a:rPr>
              <a:t>myboldandbluelook</a:t>
            </a:r>
            <a:endParaRPr lang="en-US" sz="2400" dirty="0" smtClean="0">
              <a:latin typeface="Courier"/>
              <a:cs typeface="Courier"/>
            </a:endParaRPr>
          </a:p>
          <a:p>
            <a:pPr lvl="1">
              <a:lnSpc>
                <a:spcPct val="90000"/>
              </a:lnSpc>
              <a:spcBef>
                <a:spcPts val="0"/>
              </a:spcBef>
              <a:buFontTx/>
              <a:buNone/>
            </a:pPr>
            <a:r>
              <a:rPr lang="en-US" sz="2400" dirty="0" smtClean="0">
                <a:latin typeface="Courier"/>
                <a:cs typeface="Courier"/>
              </a:rPr>
              <a:t>{</a:t>
            </a:r>
          </a:p>
          <a:p>
            <a:pPr lvl="1">
              <a:lnSpc>
                <a:spcPct val="90000"/>
              </a:lnSpc>
              <a:spcBef>
                <a:spcPts val="0"/>
              </a:spcBef>
              <a:buFontTx/>
              <a:buNone/>
            </a:pPr>
            <a:r>
              <a:rPr lang="en-US" sz="2400" dirty="0" smtClean="0">
                <a:latin typeface="Courier"/>
                <a:cs typeface="Courier"/>
              </a:rPr>
              <a:t>  font-weight: bold;</a:t>
            </a:r>
          </a:p>
          <a:p>
            <a:pPr lvl="1">
              <a:lnSpc>
                <a:spcPct val="90000"/>
              </a:lnSpc>
              <a:spcBef>
                <a:spcPts val="0"/>
              </a:spcBef>
              <a:buFontTx/>
              <a:buNone/>
            </a:pPr>
            <a:r>
              <a:rPr lang="en-US" sz="2400" dirty="0" smtClean="0">
                <a:latin typeface="Courier"/>
                <a:cs typeface="Courier"/>
              </a:rPr>
              <a:t>  color: blue;</a:t>
            </a:r>
          </a:p>
          <a:p>
            <a:pPr lvl="1">
              <a:lnSpc>
                <a:spcPct val="90000"/>
              </a:lnSpc>
              <a:spcBef>
                <a:spcPts val="0"/>
              </a:spcBef>
              <a:buFontTx/>
              <a:buNone/>
            </a:pPr>
            <a:r>
              <a:rPr lang="en-US" dirty="0" smtClean="0"/>
              <a:t>}</a:t>
            </a:r>
            <a:endParaRPr lang="en-US" sz="2000" dirty="0" smtClean="0"/>
          </a:p>
        </p:txBody>
      </p:sp>
    </p:spTree>
    <p:extLst>
      <p:ext uri="{BB962C8B-B14F-4D97-AF65-F5344CB8AC3E}">
        <p14:creationId xmlns:p14="http://schemas.microsoft.com/office/powerpoint/2010/main" val="3971826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8913813" cy="914400"/>
          </a:xfrm>
        </p:spPr>
        <p:txBody>
          <a:bodyPr/>
          <a:lstStyle/>
          <a:p>
            <a:r>
              <a:rPr lang="en-US" smtClean="0"/>
              <a:t>More on selector options</a:t>
            </a:r>
            <a:endParaRPr lang="en-US" dirty="0"/>
          </a:p>
        </p:txBody>
      </p:sp>
      <p:sp>
        <p:nvSpPr>
          <p:cNvPr id="3" name="Content Placeholder 2"/>
          <p:cNvSpPr>
            <a:spLocks noGrp="1"/>
          </p:cNvSpPr>
          <p:nvPr>
            <p:ph idx="1"/>
          </p:nvPr>
        </p:nvSpPr>
        <p:spPr>
          <a:xfrm>
            <a:off x="838200" y="1905000"/>
            <a:ext cx="7610476" cy="3886200"/>
          </a:xfrm>
        </p:spPr>
        <p:txBody>
          <a:bodyPr>
            <a:noAutofit/>
          </a:bodyPr>
          <a:lstStyle/>
          <a:p>
            <a:r>
              <a:rPr lang="en-US" sz="2400" dirty="0" smtClean="0">
                <a:solidFill>
                  <a:srgbClr val="000000"/>
                </a:solidFill>
              </a:rPr>
              <a:t>Descendant </a:t>
            </a:r>
            <a:r>
              <a:rPr lang="en-US" sz="2400" dirty="0" smtClean="0"/>
              <a:t>(nested) </a:t>
            </a:r>
            <a:r>
              <a:rPr lang="en-US" sz="2400" dirty="0" smtClean="0">
                <a:solidFill>
                  <a:srgbClr val="000000"/>
                </a:solidFill>
              </a:rPr>
              <a:t>selector</a:t>
            </a:r>
          </a:p>
          <a:p>
            <a:pPr lvl="1">
              <a:buNone/>
            </a:pPr>
            <a:r>
              <a:rPr lang="en-US" sz="2400" dirty="0" err="1" smtClean="0">
                <a:latin typeface="Courier"/>
                <a:cs typeface="Courier"/>
              </a:rPr>
              <a:t>ul</a:t>
            </a:r>
            <a:r>
              <a:rPr lang="en-US" sz="2400" dirty="0" smtClean="0">
                <a:latin typeface="Courier"/>
                <a:cs typeface="Courier"/>
              </a:rPr>
              <a:t> </a:t>
            </a:r>
            <a:r>
              <a:rPr lang="en-US" sz="2400" dirty="0" err="1" smtClean="0">
                <a:latin typeface="Courier"/>
                <a:cs typeface="Courier"/>
              </a:rPr>
              <a:t>li</a:t>
            </a:r>
            <a:r>
              <a:rPr lang="en-US" sz="2400" dirty="0" smtClean="0">
                <a:latin typeface="Courier"/>
                <a:cs typeface="Courier"/>
              </a:rPr>
              <a:t> a </a:t>
            </a:r>
            <a:r>
              <a:rPr lang="en-US" sz="2400" dirty="0" err="1" smtClean="0">
                <a:latin typeface="Courier"/>
                <a:cs typeface="Courier"/>
              </a:rPr>
              <a:t>strong{color:green</a:t>
            </a:r>
            <a:r>
              <a:rPr lang="en-US" sz="2400" dirty="0" smtClean="0">
                <a:latin typeface="Courier"/>
                <a:cs typeface="Courier"/>
              </a:rPr>
              <a:t>;}</a:t>
            </a:r>
          </a:p>
          <a:p>
            <a:pPr lvl="1"/>
            <a:r>
              <a:rPr lang="en-US" sz="2200" dirty="0" smtClean="0"/>
              <a:t>Syntax is similar to the example of grouping selectors—but without the commas</a:t>
            </a:r>
          </a:p>
          <a:p>
            <a:r>
              <a:rPr lang="en-US" sz="2400" dirty="0" smtClean="0"/>
              <a:t>Selects all elements that correspond to the “nested” structure specified by the selector</a:t>
            </a:r>
          </a:p>
          <a:p>
            <a:pPr lvl="1"/>
            <a:r>
              <a:rPr lang="en-US" sz="2000" dirty="0" smtClean="0"/>
              <a:t>E.g., the above style will apply to any &lt;strong&gt; HTML tag that lies </a:t>
            </a:r>
            <a:r>
              <a:rPr lang="en-US" sz="2000" dirty="0" smtClean="0">
                <a:solidFill>
                  <a:srgbClr val="FF0000"/>
                </a:solidFill>
              </a:rPr>
              <a:t>within </a:t>
            </a:r>
            <a:r>
              <a:rPr lang="en-US" sz="2000" dirty="0" smtClean="0"/>
              <a:t>an &lt;a&gt; tag that lies within an &lt;li&gt; tag that lies </a:t>
            </a:r>
            <a:r>
              <a:rPr lang="en-US" sz="2000" dirty="0" smtClean="0">
                <a:solidFill>
                  <a:srgbClr val="FF0000"/>
                </a:solidFill>
              </a:rPr>
              <a:t>within </a:t>
            </a:r>
            <a:r>
              <a:rPr lang="en-US" sz="2000" dirty="0" smtClean="0"/>
              <a:t>a &lt;</a:t>
            </a:r>
            <a:r>
              <a:rPr lang="en-US" sz="2000" dirty="0" err="1" smtClean="0"/>
              <a:t>ul</a:t>
            </a:r>
            <a:r>
              <a:rPr lang="en-US" sz="2000" dirty="0" smtClean="0"/>
              <a:t>&gt; tag</a:t>
            </a:r>
          </a:p>
          <a:p>
            <a:r>
              <a:rPr lang="en-US" sz="2200" dirty="0" smtClean="0"/>
              <a:t>Very (!!!) specific—nice!</a:t>
            </a:r>
          </a:p>
          <a:p>
            <a:endParaRPr lang="en-US" sz="2400" dirty="0" smtClean="0"/>
          </a:p>
        </p:txBody>
      </p:sp>
    </p:spTree>
    <p:extLst>
      <p:ext uri="{BB962C8B-B14F-4D97-AF65-F5344CB8AC3E}">
        <p14:creationId xmlns:p14="http://schemas.microsoft.com/office/powerpoint/2010/main" val="21687241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304800"/>
            <a:ext cx="8913813" cy="914400"/>
          </a:xfrm>
        </p:spPr>
        <p:txBody>
          <a:bodyPr/>
          <a:lstStyle/>
          <a:p>
            <a:r>
              <a:rPr lang="en-US" dirty="0" smtClean="0"/>
              <a:t>Aside: styling hyperlinks</a:t>
            </a:r>
            <a:endParaRPr lang="en-US" dirty="0"/>
          </a:p>
        </p:txBody>
      </p:sp>
      <p:sp>
        <p:nvSpPr>
          <p:cNvPr id="45059" name="Rectangle 3"/>
          <p:cNvSpPr>
            <a:spLocks noGrp="1" noChangeArrowheads="1"/>
          </p:cNvSpPr>
          <p:nvPr>
            <p:ph idx="1"/>
          </p:nvPr>
        </p:nvSpPr>
        <p:spPr>
          <a:xfrm>
            <a:off x="457200" y="1828800"/>
            <a:ext cx="8382000" cy="4267200"/>
          </a:xfrm>
        </p:spPr>
        <p:txBody>
          <a:bodyPr>
            <a:normAutofit fontScale="70000" lnSpcReduction="20000"/>
          </a:bodyPr>
          <a:lstStyle/>
          <a:p>
            <a:pPr>
              <a:spcBef>
                <a:spcPts val="0"/>
              </a:spcBef>
              <a:buFontTx/>
              <a:buNone/>
            </a:pPr>
            <a:r>
              <a:rPr lang="en-US" sz="2909" dirty="0" smtClean="0"/>
              <a:t>You can style links to respond dynamically.  </a:t>
            </a:r>
          </a:p>
          <a:p>
            <a:pPr>
              <a:spcBef>
                <a:spcPts val="0"/>
              </a:spcBef>
              <a:buFontTx/>
              <a:buNone/>
            </a:pPr>
            <a:r>
              <a:rPr lang="en-US" sz="2909" dirty="0" smtClean="0"/>
              <a:t>The associated style selectors are called the hyperlink (or “anchor”)  pseudo-class selectors:</a:t>
            </a:r>
            <a:br>
              <a:rPr lang="en-US" sz="2909" dirty="0" smtClean="0"/>
            </a:br>
            <a:endParaRPr lang="en-US" sz="2909" dirty="0" smtClean="0"/>
          </a:p>
          <a:p>
            <a:pPr marL="282572" lvl="1" indent="-282572">
              <a:spcBef>
                <a:spcPts val="0"/>
              </a:spcBef>
              <a:buNone/>
            </a:pPr>
            <a:r>
              <a:rPr lang="en-US" sz="3636" dirty="0" smtClean="0">
                <a:solidFill>
                  <a:srgbClr val="FF0000"/>
                </a:solidFill>
                <a:latin typeface="Courier New" pitchFamily="24" charset="0"/>
              </a:rPr>
              <a:t>:link, :visited, :hover, :active </a:t>
            </a:r>
            <a:r>
              <a:rPr lang="en-US" sz="3636" b="1" dirty="0" smtClean="0">
                <a:latin typeface="Courier New" pitchFamily="24" charset="0"/>
              </a:rPr>
              <a:t>{ }</a:t>
            </a:r>
            <a:r>
              <a:rPr lang="en-US" sz="2800" b="1" dirty="0" smtClean="0">
                <a:latin typeface="Courier New" pitchFamily="24" charset="0"/>
              </a:rPr>
              <a:t/>
            </a:r>
            <a:br>
              <a:rPr lang="en-US" sz="2800" b="1" dirty="0" smtClean="0">
                <a:latin typeface="Courier New" pitchFamily="24" charset="0"/>
              </a:rPr>
            </a:br>
            <a:endParaRPr lang="en-US" sz="2800" dirty="0" smtClean="0">
              <a:solidFill>
                <a:srgbClr val="DDF53D"/>
              </a:solidFill>
              <a:latin typeface="Courier New" pitchFamily="24" charset="0"/>
            </a:endParaRPr>
          </a:p>
          <a:p>
            <a:pPr marL="282572" lvl="1" indent="-282572">
              <a:spcBef>
                <a:spcPts val="0"/>
              </a:spcBef>
              <a:buNone/>
            </a:pPr>
            <a:r>
              <a:rPr lang="en-US" sz="2800" dirty="0" smtClean="0"/>
              <a:t>Example:</a:t>
            </a:r>
          </a:p>
          <a:p>
            <a:pPr marL="282572" lvl="1" indent="-282572">
              <a:spcBef>
                <a:spcPts val="0"/>
              </a:spcBef>
              <a:buNone/>
            </a:pPr>
            <a:r>
              <a:rPr lang="en-US" sz="2800" dirty="0" smtClean="0"/>
              <a:t>    </a:t>
            </a:r>
            <a:r>
              <a:rPr lang="en-US" sz="2800" dirty="0" err="1" smtClean="0"/>
              <a:t>a:link</a:t>
            </a:r>
            <a:r>
              <a:rPr lang="en-US" sz="2800" dirty="0" smtClean="0"/>
              <a:t>      {color:#FF0000;} </a:t>
            </a:r>
            <a:r>
              <a:rPr lang="en-US" sz="1920" dirty="0" smtClean="0"/>
              <a:t>    /* color to apply to link before it’s visited */</a:t>
            </a:r>
            <a:r>
              <a:rPr lang="en-US" sz="2800" dirty="0" smtClean="0"/>
              <a:t/>
            </a:r>
            <a:br>
              <a:rPr lang="en-US" sz="2800" dirty="0" smtClean="0"/>
            </a:br>
            <a:r>
              <a:rPr lang="en-US" sz="2800" dirty="0" err="1" smtClean="0"/>
              <a:t>a:visited</a:t>
            </a:r>
            <a:r>
              <a:rPr lang="en-US" sz="2800" dirty="0" smtClean="0"/>
              <a:t> {color:#00FF00;}   </a:t>
            </a:r>
            <a:r>
              <a:rPr lang="en-US" sz="1714" dirty="0" smtClean="0"/>
              <a:t> /* color to apply to link before it’s visited*/</a:t>
            </a:r>
            <a:r>
              <a:rPr lang="en-US" sz="2800" dirty="0" smtClean="0"/>
              <a:t/>
            </a:r>
            <a:br>
              <a:rPr lang="en-US" sz="2800" dirty="0" smtClean="0"/>
            </a:br>
            <a:r>
              <a:rPr lang="en-US" sz="2800" dirty="0" err="1" smtClean="0"/>
              <a:t>a:hover</a:t>
            </a:r>
            <a:r>
              <a:rPr lang="en-US" sz="2800" dirty="0" smtClean="0"/>
              <a:t>  {color:#FF00FF;}   </a:t>
            </a:r>
            <a:r>
              <a:rPr lang="en-US" sz="1714" dirty="0" smtClean="0"/>
              <a:t>/* color to apply to link while mouse pointer is over it*/</a:t>
            </a:r>
            <a:r>
              <a:rPr lang="en-US" sz="2800" dirty="0" smtClean="0"/>
              <a:t/>
            </a:r>
            <a:br>
              <a:rPr lang="en-US" sz="2800" dirty="0" smtClean="0"/>
            </a:br>
            <a:r>
              <a:rPr lang="en-US" sz="2800" dirty="0" err="1" smtClean="0"/>
              <a:t>a:active</a:t>
            </a:r>
            <a:r>
              <a:rPr lang="en-US" sz="2800" dirty="0" smtClean="0"/>
              <a:t>  {color:#0000FF;}  </a:t>
            </a:r>
            <a:r>
              <a:rPr lang="en-US" sz="1714" dirty="0" smtClean="0"/>
              <a:t> /* color to apply while left mouse button is held down on link */</a:t>
            </a:r>
            <a:endParaRPr lang="en-US" sz="2800" dirty="0" smtClean="0"/>
          </a:p>
          <a:p>
            <a:pPr marL="282572" lvl="1" indent="-282572">
              <a:spcBef>
                <a:spcPts val="0"/>
              </a:spcBef>
              <a:buNone/>
            </a:pPr>
            <a:endParaRPr lang="en-US" sz="2800" dirty="0" smtClean="0"/>
          </a:p>
          <a:p>
            <a:pPr>
              <a:spcBef>
                <a:spcPts val="0"/>
              </a:spcBef>
              <a:spcAft>
                <a:spcPts val="1200"/>
              </a:spcAft>
            </a:pPr>
            <a:r>
              <a:rPr lang="en-US" sz="2880" b="1" dirty="0" smtClean="0"/>
              <a:t>Note:</a:t>
            </a:r>
            <a:r>
              <a:rPr lang="en-US" sz="2880" dirty="0" smtClean="0"/>
              <a:t> </a:t>
            </a:r>
            <a:r>
              <a:rPr lang="en-US" sz="2880" dirty="0" err="1" smtClean="0"/>
              <a:t>a:hover</a:t>
            </a:r>
            <a:r>
              <a:rPr lang="en-US" sz="2880" dirty="0" smtClean="0"/>
              <a:t> MUST be listed after </a:t>
            </a:r>
            <a:r>
              <a:rPr lang="en-US" sz="2880" dirty="0" err="1" smtClean="0"/>
              <a:t>a:link</a:t>
            </a:r>
            <a:r>
              <a:rPr lang="en-US" sz="2880" dirty="0" smtClean="0"/>
              <a:t> and </a:t>
            </a:r>
            <a:r>
              <a:rPr lang="en-US" sz="2880" dirty="0" err="1" smtClean="0"/>
              <a:t>a:visited</a:t>
            </a:r>
            <a:r>
              <a:rPr lang="en-US" sz="2880" dirty="0" smtClean="0"/>
              <a:t> !</a:t>
            </a:r>
          </a:p>
          <a:p>
            <a:pPr>
              <a:spcBef>
                <a:spcPts val="0"/>
              </a:spcBef>
              <a:spcAft>
                <a:spcPts val="1200"/>
              </a:spcAft>
            </a:pPr>
            <a:r>
              <a:rPr lang="en-US" sz="2880" b="1" dirty="0" smtClean="0"/>
              <a:t>Note:</a:t>
            </a:r>
            <a:r>
              <a:rPr lang="en-US" sz="2880" dirty="0" smtClean="0"/>
              <a:t> </a:t>
            </a:r>
            <a:r>
              <a:rPr lang="en-US" sz="2880" dirty="0" err="1" smtClean="0"/>
              <a:t>a:active</a:t>
            </a:r>
            <a:r>
              <a:rPr lang="en-US" sz="2880" dirty="0" smtClean="0"/>
              <a:t> MUST be listed after </a:t>
            </a:r>
            <a:r>
              <a:rPr lang="en-US" sz="2880" dirty="0" err="1" smtClean="0"/>
              <a:t>a:hover</a:t>
            </a:r>
            <a:r>
              <a:rPr lang="en-US" sz="2880" dirty="0" smtClean="0"/>
              <a:t> !</a:t>
            </a:r>
            <a:endParaRPr lang="en-US" sz="2800" dirty="0" smtClean="0">
              <a:solidFill>
                <a:srgbClr val="DDF53D"/>
              </a:solidFill>
              <a:latin typeface="Courier New" pitchFamily="24" charset="0"/>
            </a:endParaRPr>
          </a:p>
          <a:p>
            <a:pPr>
              <a:spcBef>
                <a:spcPts val="0"/>
              </a:spcBef>
              <a:buFontTx/>
              <a:buNone/>
            </a:pPr>
            <a:endParaRPr lang="en-US" dirty="0" smtClean="0"/>
          </a:p>
          <a:p>
            <a:pPr>
              <a:spcBef>
                <a:spcPts val="0"/>
              </a:spcBef>
              <a:buFontTx/>
              <a:buNone/>
            </a:pPr>
            <a:endParaRPr lang="en-US" dirty="0" smtClean="0">
              <a:solidFill>
                <a:srgbClr val="DDF53D"/>
              </a:solidFill>
              <a:latin typeface="Courier New" pitchFamily="24" charset="0"/>
            </a:endParaRPr>
          </a:p>
          <a:p>
            <a:pPr>
              <a:spcBef>
                <a:spcPts val="0"/>
              </a:spcBef>
            </a:pPr>
            <a:endParaRPr lang="en-US" dirty="0">
              <a:latin typeface="Courier New" pitchFamily="24" charset="0"/>
            </a:endParaRPr>
          </a:p>
        </p:txBody>
      </p:sp>
    </p:spTree>
    <p:extLst>
      <p:ext uri="{BB962C8B-B14F-4D97-AF65-F5344CB8AC3E}">
        <p14:creationId xmlns:p14="http://schemas.microsoft.com/office/powerpoint/2010/main" val="24261969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685800"/>
          </a:xfrm>
        </p:spPr>
        <p:txBody>
          <a:bodyPr>
            <a:normAutofit fontScale="90000"/>
          </a:bodyPr>
          <a:lstStyle/>
          <a:p>
            <a:r>
              <a:rPr lang="en-US" dirty="0" smtClean="0"/>
              <a:t>CSS: what does </a:t>
            </a:r>
            <a:r>
              <a:rPr lang="en-US" dirty="0" smtClean="0">
                <a:solidFill>
                  <a:srgbClr val="FFFF00"/>
                </a:solidFill>
              </a:rPr>
              <a:t>cascading</a:t>
            </a:r>
            <a:r>
              <a:rPr lang="en-US" dirty="0" smtClean="0"/>
              <a:t> mean?</a:t>
            </a:r>
            <a:endParaRPr lang="en-US" dirty="0"/>
          </a:p>
        </p:txBody>
      </p:sp>
      <p:sp>
        <p:nvSpPr>
          <p:cNvPr id="3" name="Content Placeholder 2"/>
          <p:cNvSpPr>
            <a:spLocks noGrp="1"/>
          </p:cNvSpPr>
          <p:nvPr>
            <p:ph idx="1"/>
          </p:nvPr>
        </p:nvSpPr>
        <p:spPr>
          <a:xfrm>
            <a:off x="779464" y="1295400"/>
            <a:ext cx="7983536" cy="5029200"/>
          </a:xfrm>
        </p:spPr>
        <p:txBody>
          <a:bodyPr>
            <a:normAutofit/>
          </a:bodyPr>
          <a:lstStyle/>
          <a:p>
            <a:pPr>
              <a:spcBef>
                <a:spcPts val="0"/>
              </a:spcBef>
            </a:pPr>
            <a:r>
              <a:rPr lang="en-US" sz="2400" dirty="0" smtClean="0"/>
              <a:t>Cascading means a more-specific selector beats out a less-specific selector.</a:t>
            </a:r>
          </a:p>
          <a:p>
            <a:pPr>
              <a:spcBef>
                <a:spcPts val="0"/>
              </a:spcBef>
            </a:pPr>
            <a:r>
              <a:rPr lang="en-US" sz="2400" b="1" dirty="0" smtClean="0">
                <a:latin typeface="Arial"/>
                <a:cs typeface="Arial"/>
              </a:rPr>
              <a:t>For example, with styles...</a:t>
            </a:r>
          </a:p>
          <a:p>
            <a:pPr>
              <a:spcBef>
                <a:spcPts val="0"/>
              </a:spcBef>
              <a:buNone/>
            </a:pPr>
            <a:r>
              <a:rPr lang="en-US" sz="2400" b="1" dirty="0" smtClean="0">
                <a:latin typeface="Courier"/>
                <a:cs typeface="Courier"/>
              </a:rPr>
              <a:t>.red </a:t>
            </a:r>
            <a:r>
              <a:rPr lang="en-US" sz="2400" dirty="0" smtClean="0">
                <a:latin typeface="Courier"/>
                <a:cs typeface="Courier"/>
              </a:rPr>
              <a:t>{ color: red; }</a:t>
            </a:r>
          </a:p>
          <a:p>
            <a:pPr>
              <a:spcBef>
                <a:spcPts val="0"/>
              </a:spcBef>
              <a:buNone/>
            </a:pPr>
            <a:r>
              <a:rPr lang="en-US" sz="2400" b="1" dirty="0" smtClean="0">
                <a:latin typeface="Courier"/>
                <a:cs typeface="Courier"/>
              </a:rPr>
              <a:t>body </a:t>
            </a:r>
            <a:r>
              <a:rPr lang="en-US" sz="2400" dirty="0" smtClean="0">
                <a:latin typeface="Courier"/>
                <a:cs typeface="Courier"/>
              </a:rPr>
              <a:t>{ color: black;  }</a:t>
            </a:r>
          </a:p>
          <a:p>
            <a:pPr>
              <a:spcBef>
                <a:spcPts val="600"/>
              </a:spcBef>
              <a:buNone/>
            </a:pPr>
            <a:r>
              <a:rPr lang="en-US" dirty="0" smtClean="0">
                <a:latin typeface="Arial"/>
                <a:cs typeface="Arial"/>
              </a:rPr>
              <a:t>What will this HTML look like?</a:t>
            </a:r>
          </a:p>
          <a:p>
            <a:pPr>
              <a:spcBef>
                <a:spcPts val="0"/>
              </a:spcBef>
              <a:buNone/>
            </a:pPr>
            <a:r>
              <a:rPr lang="en-US" dirty="0" smtClean="0">
                <a:latin typeface="Courier"/>
                <a:cs typeface="Courier"/>
              </a:rPr>
              <a:t>&lt;body&gt;</a:t>
            </a:r>
          </a:p>
          <a:p>
            <a:pPr>
              <a:spcBef>
                <a:spcPts val="0"/>
              </a:spcBef>
              <a:buNone/>
            </a:pPr>
            <a:r>
              <a:rPr lang="en-US" dirty="0" smtClean="0">
                <a:latin typeface="Courier"/>
                <a:cs typeface="Courier"/>
              </a:rPr>
              <a:t>&lt;</a:t>
            </a:r>
            <a:r>
              <a:rPr lang="en-US" dirty="0" err="1" smtClean="0">
                <a:latin typeface="Courier"/>
                <a:cs typeface="Courier"/>
              </a:rPr>
              <a:t>p</a:t>
            </a:r>
            <a:r>
              <a:rPr lang="en-US" dirty="0" smtClean="0">
                <a:latin typeface="Courier"/>
                <a:cs typeface="Courier"/>
              </a:rPr>
              <a:t>&gt;I am black&lt;/</a:t>
            </a:r>
            <a:r>
              <a:rPr lang="en-US" dirty="0" err="1" smtClean="0">
                <a:latin typeface="Courier"/>
                <a:cs typeface="Courier"/>
              </a:rPr>
              <a:t>p</a:t>
            </a:r>
            <a:r>
              <a:rPr lang="en-US" dirty="0" smtClean="0">
                <a:latin typeface="Courier"/>
                <a:cs typeface="Courier"/>
              </a:rPr>
              <a:t>&gt; </a:t>
            </a:r>
          </a:p>
          <a:p>
            <a:pPr>
              <a:spcBef>
                <a:spcPts val="0"/>
              </a:spcBef>
              <a:buNone/>
            </a:pPr>
            <a:r>
              <a:rPr lang="en-US" dirty="0" smtClean="0">
                <a:latin typeface="Courier"/>
                <a:cs typeface="Courier"/>
              </a:rPr>
              <a:t>&lt;</a:t>
            </a:r>
            <a:r>
              <a:rPr lang="en-US" dirty="0" err="1" smtClean="0">
                <a:latin typeface="Courier"/>
                <a:cs typeface="Courier"/>
              </a:rPr>
              <a:t>p</a:t>
            </a:r>
            <a:r>
              <a:rPr lang="en-US" dirty="0" smtClean="0">
                <a:latin typeface="Courier"/>
                <a:cs typeface="Courier"/>
              </a:rPr>
              <a:t> class="red"&gt;I am red&lt;/</a:t>
            </a:r>
            <a:r>
              <a:rPr lang="en-US" dirty="0" err="1" smtClean="0">
                <a:latin typeface="Courier"/>
                <a:cs typeface="Courier"/>
              </a:rPr>
              <a:t>p</a:t>
            </a:r>
            <a:r>
              <a:rPr lang="en-US" dirty="0" smtClean="0">
                <a:latin typeface="Courier"/>
                <a:cs typeface="Courier"/>
              </a:rPr>
              <a:t>&gt;</a:t>
            </a:r>
          </a:p>
          <a:p>
            <a:pPr>
              <a:spcBef>
                <a:spcPts val="0"/>
              </a:spcBef>
              <a:buNone/>
            </a:pPr>
            <a:r>
              <a:rPr lang="en-US" dirty="0" smtClean="0">
                <a:latin typeface="Courier"/>
                <a:cs typeface="Courier"/>
              </a:rPr>
              <a:t>&lt;/body&gt; </a:t>
            </a:r>
          </a:p>
          <a:p>
            <a:pPr>
              <a:spcBef>
                <a:spcPts val="0"/>
              </a:spcBef>
              <a:buNone/>
            </a:pPr>
            <a:endParaRPr lang="en-US" sz="2400" dirty="0" smtClean="0">
              <a:latin typeface="Arial"/>
              <a:cs typeface="Arial"/>
            </a:endParaRPr>
          </a:p>
          <a:p>
            <a:pPr>
              <a:spcBef>
                <a:spcPts val="0"/>
              </a:spcBef>
              <a:buFontTx/>
              <a:buNone/>
            </a:pPr>
            <a:endParaRPr lang="en-US" sz="2400" dirty="0" smtClean="0">
              <a:latin typeface="Courier New" pitchFamily="24" charset="0"/>
            </a:endParaRPr>
          </a:p>
          <a:p>
            <a:pPr>
              <a:spcBef>
                <a:spcPts val="0"/>
              </a:spcBef>
            </a:pPr>
            <a:endParaRPr lang="en-US" sz="1800" dirty="0"/>
          </a:p>
        </p:txBody>
      </p:sp>
      <p:sp>
        <p:nvSpPr>
          <p:cNvPr id="5" name="Rounded Rectangular Callout 4"/>
          <p:cNvSpPr/>
          <p:nvPr/>
        </p:nvSpPr>
        <p:spPr>
          <a:xfrm>
            <a:off x="5562600" y="1905000"/>
            <a:ext cx="2590800" cy="1981200"/>
          </a:xfrm>
          <a:prstGeom prst="wedgeRoundRectCallout">
            <a:avLst>
              <a:gd name="adj1" fmla="val -62009"/>
              <a:gd name="adj2" fmla="val 7061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smtClean="0">
                <a:solidFill>
                  <a:srgbClr val="000000"/>
                </a:solidFill>
              </a:rPr>
              <a:t>Both the body and .red selectors pertain, but the .red selector overrules because it is more specific</a:t>
            </a:r>
            <a:endParaRPr lang="en-US" sz="1800" dirty="0">
              <a:solidFill>
                <a:srgbClr val="000000"/>
              </a:solidFill>
            </a:endParaRPr>
          </a:p>
        </p:txBody>
      </p:sp>
      <p:sp>
        <p:nvSpPr>
          <p:cNvPr id="7" name="Rectangular Callout 6"/>
          <p:cNvSpPr/>
          <p:nvPr/>
        </p:nvSpPr>
        <p:spPr>
          <a:xfrm>
            <a:off x="228600" y="5486400"/>
            <a:ext cx="8458200" cy="1295400"/>
          </a:xfrm>
          <a:prstGeom prst="wedgeRectCallout">
            <a:avLst>
              <a:gd name="adj1" fmla="val -22222"/>
              <a:gd name="adj2" fmla="val 50062"/>
            </a:avLst>
          </a:prstGeom>
        </p:spPr>
        <p:style>
          <a:lnRef idx="1">
            <a:schemeClr val="accent1"/>
          </a:lnRef>
          <a:fillRef idx="3">
            <a:schemeClr val="accent1"/>
          </a:fillRef>
          <a:effectRef idx="2">
            <a:schemeClr val="accent1"/>
          </a:effectRef>
          <a:fontRef idx="minor">
            <a:schemeClr val="lt1"/>
          </a:fontRef>
        </p:style>
        <p:txBody>
          <a:bodyPr rtlCol="0" anchor="ctr"/>
          <a:lstStyle/>
          <a:p>
            <a:pPr lvl="1">
              <a:spcBef>
                <a:spcPts val="0"/>
              </a:spcBef>
            </a:pPr>
            <a:r>
              <a:rPr lang="en-US" sz="2000" dirty="0" smtClean="0">
                <a:solidFill>
                  <a:schemeClr val="tx1"/>
                </a:solidFill>
              </a:rPr>
              <a:t>Related point: if both </a:t>
            </a:r>
            <a:r>
              <a:rPr lang="en-US" sz="2000" b="1" dirty="0" smtClean="0">
                <a:solidFill>
                  <a:schemeClr val="tx1"/>
                </a:solidFill>
              </a:rPr>
              <a:t>ID (#) </a:t>
            </a:r>
            <a:r>
              <a:rPr lang="en-US" sz="2000" dirty="0" smtClean="0">
                <a:solidFill>
                  <a:schemeClr val="tx1"/>
                </a:solidFill>
              </a:rPr>
              <a:t>and </a:t>
            </a:r>
            <a:r>
              <a:rPr lang="en-US" sz="2000" b="1" dirty="0" smtClean="0">
                <a:solidFill>
                  <a:schemeClr val="tx1"/>
                </a:solidFill>
              </a:rPr>
              <a:t>class (.) </a:t>
            </a:r>
            <a:r>
              <a:rPr lang="en-US" sz="2000" dirty="0" smtClean="0">
                <a:solidFill>
                  <a:schemeClr val="tx1"/>
                </a:solidFill>
              </a:rPr>
              <a:t>styles to the same HTML element, the ID style “wins” because ID styles are supposed to be used just once per web-page (thus, in some sense, quite specifically)</a:t>
            </a:r>
          </a:p>
        </p:txBody>
      </p:sp>
    </p:spTree>
    <p:extLst>
      <p:ext uri="{BB962C8B-B14F-4D97-AF65-F5344CB8AC3E}">
        <p14:creationId xmlns:p14="http://schemas.microsoft.com/office/powerpoint/2010/main" val="643291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913813" cy="914400"/>
          </a:xfrm>
        </p:spPr>
        <p:txBody>
          <a:bodyPr/>
          <a:lstStyle/>
          <a:p>
            <a:r>
              <a:rPr lang="en-US" dirty="0" smtClean="0"/>
              <a:t>CSS: the cascade</a:t>
            </a:r>
            <a:endParaRPr lang="en-US" dirty="0"/>
          </a:p>
        </p:txBody>
      </p:sp>
      <p:sp>
        <p:nvSpPr>
          <p:cNvPr id="3" name="Content Placeholder 2"/>
          <p:cNvSpPr>
            <a:spLocks noGrp="1"/>
          </p:cNvSpPr>
          <p:nvPr>
            <p:ph idx="1"/>
          </p:nvPr>
        </p:nvSpPr>
        <p:spPr>
          <a:xfrm>
            <a:off x="779464" y="1828800"/>
            <a:ext cx="7583487" cy="4419600"/>
          </a:xfrm>
        </p:spPr>
        <p:txBody>
          <a:bodyPr>
            <a:normAutofit fontScale="92500" lnSpcReduction="10000"/>
          </a:bodyPr>
          <a:lstStyle/>
          <a:p>
            <a:r>
              <a:rPr lang="en-US" sz="2595" b="1" dirty="0" smtClean="0"/>
              <a:t>What if there is a “tie” regarding how specific the selectors are?</a:t>
            </a:r>
          </a:p>
          <a:p>
            <a:pPr>
              <a:buFontTx/>
              <a:buNone/>
            </a:pPr>
            <a:r>
              <a:rPr lang="en-US" sz="2400" dirty="0" err="1" smtClean="0">
                <a:latin typeface="Courier New" pitchFamily="24" charset="0"/>
              </a:rPr>
              <a:t>p{font-weight:bold</a:t>
            </a:r>
            <a:r>
              <a:rPr lang="en-US" sz="2400" dirty="0" smtClean="0">
                <a:latin typeface="Courier New" pitchFamily="24" charset="0"/>
              </a:rPr>
              <a:t>;}</a:t>
            </a:r>
          </a:p>
          <a:p>
            <a:pPr>
              <a:buFontTx/>
              <a:buNone/>
            </a:pPr>
            <a:r>
              <a:rPr lang="en-US" sz="2400" dirty="0" err="1" smtClean="0">
                <a:latin typeface="Courier New" pitchFamily="24" charset="0"/>
              </a:rPr>
              <a:t>p{font-weight:normal</a:t>
            </a:r>
            <a:r>
              <a:rPr lang="en-US" sz="2400" dirty="0" smtClean="0">
                <a:latin typeface="Courier New" pitchFamily="24" charset="0"/>
              </a:rPr>
              <a:t>;}</a:t>
            </a:r>
          </a:p>
          <a:p>
            <a:pPr>
              <a:buFontTx/>
              <a:buNone/>
            </a:pPr>
            <a:r>
              <a:rPr lang="en-US" sz="2400" dirty="0" err="1" smtClean="0">
                <a:latin typeface="Courier New" pitchFamily="24" charset="0"/>
              </a:rPr>
              <a:t>p{color:green</a:t>
            </a:r>
            <a:r>
              <a:rPr lang="en-US" sz="2400" dirty="0" smtClean="0">
                <a:latin typeface="Courier New" pitchFamily="24" charset="0"/>
              </a:rPr>
              <a:t>;}</a:t>
            </a:r>
          </a:p>
          <a:p>
            <a:pPr>
              <a:buNone/>
            </a:pPr>
            <a:r>
              <a:rPr lang="en-US" sz="2800" dirty="0" smtClean="0">
                <a:latin typeface="Courier New" pitchFamily="24" charset="0"/>
              </a:rPr>
              <a:t>&lt;</a:t>
            </a:r>
            <a:r>
              <a:rPr lang="en-US" sz="2800" dirty="0" err="1" smtClean="0">
                <a:latin typeface="Courier New" pitchFamily="24" charset="0"/>
              </a:rPr>
              <a:t>p</a:t>
            </a:r>
            <a:r>
              <a:rPr lang="en-US" sz="2800" dirty="0" smtClean="0">
                <a:latin typeface="Courier New" pitchFamily="24" charset="0"/>
              </a:rPr>
              <a:t>&gt;</a:t>
            </a:r>
            <a:r>
              <a:rPr lang="en-US" sz="2800" dirty="0" smtClean="0">
                <a:solidFill>
                  <a:schemeClr val="accent2">
                    <a:lumMod val="50000"/>
                  </a:schemeClr>
                </a:solidFill>
                <a:latin typeface="Courier New" pitchFamily="24" charset="0"/>
              </a:rPr>
              <a:t>This will be green text with a normal font weight</a:t>
            </a:r>
            <a:r>
              <a:rPr lang="en-US" sz="2800" dirty="0" smtClean="0">
                <a:latin typeface="Courier New" pitchFamily="24" charset="0"/>
              </a:rPr>
              <a:t>&lt;/</a:t>
            </a:r>
            <a:r>
              <a:rPr lang="en-US" sz="2800" dirty="0" err="1" smtClean="0">
                <a:latin typeface="Courier New" pitchFamily="24" charset="0"/>
              </a:rPr>
              <a:t>p</a:t>
            </a:r>
            <a:r>
              <a:rPr lang="en-US" sz="2800" dirty="0" smtClean="0">
                <a:latin typeface="Courier New" pitchFamily="24" charset="0"/>
              </a:rPr>
              <a:t>&gt;</a:t>
            </a:r>
          </a:p>
          <a:p>
            <a:r>
              <a:rPr lang="en-US" sz="2581" dirty="0" smtClean="0">
                <a:latin typeface="Arial"/>
                <a:cs typeface="Arial"/>
              </a:rPr>
              <a:t>When there is a tie, the tied selector that is most immediately preceding the HTML element wins (in this case, the </a:t>
            </a:r>
            <a:r>
              <a:rPr lang="en-US" sz="2581" b="1" dirty="0" smtClean="0">
                <a:latin typeface="Arial"/>
                <a:cs typeface="Arial"/>
              </a:rPr>
              <a:t>second </a:t>
            </a:r>
            <a:r>
              <a:rPr lang="en-US" sz="2581" dirty="0" smtClean="0">
                <a:latin typeface="Arial"/>
                <a:cs typeface="Arial"/>
              </a:rPr>
              <a:t>“</a:t>
            </a:r>
            <a:r>
              <a:rPr lang="en-US" sz="2581" dirty="0" err="1" smtClean="0">
                <a:latin typeface="Arial"/>
                <a:cs typeface="Arial"/>
              </a:rPr>
              <a:t>p</a:t>
            </a:r>
            <a:r>
              <a:rPr lang="en-US" sz="2581" dirty="0" smtClean="0">
                <a:latin typeface="Arial"/>
                <a:cs typeface="Arial"/>
              </a:rPr>
              <a:t>” selector)</a:t>
            </a:r>
          </a:p>
          <a:p>
            <a:pPr lvl="1"/>
            <a:r>
              <a:rPr lang="en-US" sz="2323" dirty="0" smtClean="0">
                <a:latin typeface="Arial"/>
                <a:cs typeface="Arial"/>
              </a:rPr>
              <a:t>In other words, in a tie, the last-defined selector wins</a:t>
            </a:r>
            <a:endParaRPr lang="en-US" sz="2600" dirty="0" smtClean="0">
              <a:latin typeface="Arial"/>
              <a:cs typeface="Arial"/>
            </a:endParaRPr>
          </a:p>
          <a:p>
            <a:pPr>
              <a:buFontTx/>
              <a:buNone/>
            </a:pPr>
            <a:endParaRPr lang="en-US" sz="2800" dirty="0" smtClean="0">
              <a:latin typeface="Courier New" pitchFamily="24" charset="0"/>
            </a:endParaRPr>
          </a:p>
          <a:p>
            <a:endParaRPr lang="en-US" dirty="0"/>
          </a:p>
        </p:txBody>
      </p:sp>
    </p:spTree>
    <p:extLst>
      <p:ext uri="{BB962C8B-B14F-4D97-AF65-F5344CB8AC3E}">
        <p14:creationId xmlns:p14="http://schemas.microsoft.com/office/powerpoint/2010/main" val="9958676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913813" cy="914400"/>
          </a:xfrm>
        </p:spPr>
        <p:txBody>
          <a:bodyPr>
            <a:normAutofit fontScale="90000"/>
          </a:bodyPr>
          <a:lstStyle/>
          <a:p>
            <a:r>
              <a:rPr lang="en-US" dirty="0" smtClean="0"/>
              <a:t>How/where do we add the style declarations to our HTML files?</a:t>
            </a:r>
            <a:endParaRPr lang="en-US" dirty="0"/>
          </a:p>
        </p:txBody>
      </p:sp>
      <p:sp>
        <p:nvSpPr>
          <p:cNvPr id="3" name="Content Placeholder 2"/>
          <p:cNvSpPr>
            <a:spLocks noGrp="1"/>
          </p:cNvSpPr>
          <p:nvPr>
            <p:ph idx="1"/>
          </p:nvPr>
        </p:nvSpPr>
        <p:spPr>
          <a:xfrm>
            <a:off x="685800" y="2133600"/>
            <a:ext cx="7762876" cy="4127967"/>
          </a:xfrm>
        </p:spPr>
        <p:txBody>
          <a:bodyPr>
            <a:normAutofit/>
          </a:bodyPr>
          <a:lstStyle/>
          <a:p>
            <a:r>
              <a:rPr lang="en-US" sz="2400" dirty="0" smtClean="0"/>
              <a:t>Two good approaches for named (class or id) styles:</a:t>
            </a:r>
          </a:p>
          <a:p>
            <a:pPr lvl="1"/>
            <a:r>
              <a:rPr lang="en-US" sz="2400" dirty="0" smtClean="0"/>
              <a:t>Internal </a:t>
            </a:r>
            <a:r>
              <a:rPr lang="en-US" sz="2400" dirty="0" err="1" smtClean="0"/>
              <a:t>stylesheet</a:t>
            </a:r>
            <a:endParaRPr lang="en-US" sz="2400" dirty="0" smtClean="0"/>
          </a:p>
          <a:p>
            <a:pPr lvl="2"/>
            <a:r>
              <a:rPr lang="en-US" sz="2000" dirty="0" smtClean="0"/>
              <a:t>Put the style declarations in the &lt;head&gt; of HTML text file</a:t>
            </a:r>
          </a:p>
          <a:p>
            <a:pPr lvl="1"/>
            <a:r>
              <a:rPr lang="en-US" sz="2400" dirty="0" smtClean="0"/>
              <a:t>External </a:t>
            </a:r>
            <a:r>
              <a:rPr lang="en-US" sz="2400" dirty="0" err="1" smtClean="0"/>
              <a:t>stylesheet</a:t>
            </a:r>
            <a:endParaRPr lang="en-US" sz="2400" dirty="0" smtClean="0"/>
          </a:p>
          <a:p>
            <a:pPr lvl="2"/>
            <a:r>
              <a:rPr lang="en-US" sz="2000" dirty="0" smtClean="0"/>
              <a:t>Put the style declarations in a separate text file and then import that text file into your HTML file</a:t>
            </a:r>
          </a:p>
        </p:txBody>
      </p:sp>
    </p:spTree>
    <p:extLst>
      <p:ext uri="{BB962C8B-B14F-4D97-AF65-F5344CB8AC3E}">
        <p14:creationId xmlns:p14="http://schemas.microsoft.com/office/powerpoint/2010/main" val="40082790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8913813" cy="914400"/>
          </a:xfrm>
        </p:spPr>
        <p:txBody>
          <a:bodyPr>
            <a:normAutofit fontScale="90000"/>
          </a:bodyPr>
          <a:lstStyle/>
          <a:p>
            <a:r>
              <a:rPr lang="en-US" dirty="0" smtClean="0"/>
              <a:t>How/where do we add the style declarations to our HTML files?</a:t>
            </a:r>
            <a:endParaRPr lang="en-US" dirty="0"/>
          </a:p>
        </p:txBody>
      </p:sp>
      <p:sp>
        <p:nvSpPr>
          <p:cNvPr id="3" name="Content Placeholder 2"/>
          <p:cNvSpPr>
            <a:spLocks noGrp="1"/>
          </p:cNvSpPr>
          <p:nvPr>
            <p:ph idx="1"/>
          </p:nvPr>
        </p:nvSpPr>
        <p:spPr>
          <a:xfrm>
            <a:off x="779464" y="1828800"/>
            <a:ext cx="7583487" cy="4419600"/>
          </a:xfrm>
        </p:spPr>
        <p:txBody>
          <a:bodyPr>
            <a:normAutofit/>
          </a:bodyPr>
          <a:lstStyle/>
          <a:p>
            <a:r>
              <a:rPr lang="en-US" sz="2400" dirty="0" smtClean="0"/>
              <a:t>Third approach when you don’t want to bother naming/reusing a style:</a:t>
            </a:r>
          </a:p>
          <a:p>
            <a:pPr lvl="1"/>
            <a:r>
              <a:rPr lang="en-US" sz="2400" dirty="0" smtClean="0"/>
              <a:t>Inline style</a:t>
            </a:r>
          </a:p>
          <a:p>
            <a:pPr lvl="2"/>
            <a:r>
              <a:rPr lang="en-US" sz="2000" dirty="0" smtClean="0"/>
              <a:t>Simply put the style declaration within the HTML tag where it’s used</a:t>
            </a:r>
          </a:p>
          <a:p>
            <a:pPr lvl="1"/>
            <a:r>
              <a:rPr lang="en-US" sz="2400" dirty="0" smtClean="0"/>
              <a:t>Example</a:t>
            </a:r>
          </a:p>
          <a:p>
            <a:pPr lvl="1">
              <a:buNone/>
            </a:pPr>
            <a:r>
              <a:rPr lang="en-US" sz="2400" dirty="0" smtClean="0"/>
              <a:t>    &lt;</a:t>
            </a:r>
            <a:r>
              <a:rPr lang="en-US" sz="2400" dirty="0" err="1" smtClean="0"/>
              <a:t>p</a:t>
            </a:r>
            <a:r>
              <a:rPr lang="en-US" sz="2400" dirty="0" smtClean="0"/>
              <a:t> style=“font-size: 14px;”&gt;Text&lt;/</a:t>
            </a:r>
            <a:r>
              <a:rPr lang="en-US" sz="2400" dirty="0" err="1" smtClean="0"/>
              <a:t>p</a:t>
            </a:r>
            <a:r>
              <a:rPr lang="en-US" sz="2400" dirty="0" smtClean="0"/>
              <a:t>&gt;</a:t>
            </a:r>
          </a:p>
          <a:p>
            <a:pPr lvl="1"/>
            <a:r>
              <a:rPr lang="en-US" sz="2400" dirty="0" smtClean="0"/>
              <a:t>Note: instead of using an inline (i.e., embedded in HTML) style, we could use our HTML tags</a:t>
            </a:r>
          </a:p>
          <a:p>
            <a:pPr lvl="2">
              <a:buNone/>
            </a:pPr>
            <a:r>
              <a:rPr lang="en-US" sz="2400" dirty="0" smtClean="0"/>
              <a:t>&lt;</a:t>
            </a:r>
            <a:r>
              <a:rPr lang="en-US" sz="2400" dirty="0" err="1" smtClean="0"/>
              <a:t>p</a:t>
            </a:r>
            <a:r>
              <a:rPr lang="en-US" sz="2400" dirty="0" smtClean="0"/>
              <a:t>&gt; &lt;font size=“14px”&gt;Text&lt;/font&gt;  &lt;/</a:t>
            </a:r>
            <a:r>
              <a:rPr lang="en-US" sz="2400" dirty="0" err="1" smtClean="0"/>
              <a:t>p</a:t>
            </a:r>
            <a:r>
              <a:rPr lang="en-US" sz="2400" dirty="0" smtClean="0"/>
              <a:t>&gt;</a:t>
            </a:r>
          </a:p>
        </p:txBody>
      </p:sp>
    </p:spTree>
    <p:extLst>
      <p:ext uri="{BB962C8B-B14F-4D97-AF65-F5344CB8AC3E}">
        <p14:creationId xmlns:p14="http://schemas.microsoft.com/office/powerpoint/2010/main" val="27790195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p:nvPr>
        </p:nvSpPr>
        <p:spPr>
          <a:xfrm>
            <a:off x="381000" y="609600"/>
            <a:ext cx="8233172" cy="838200"/>
          </a:xfrm>
          <a:ln/>
        </p:spPr>
        <p:txBody>
          <a:bodyPr>
            <a:normAutofit/>
          </a:bodyPr>
          <a:lstStyle/>
          <a:p>
            <a:r>
              <a:rPr lang="en-US" dirty="0"/>
              <a:t>Internal </a:t>
            </a:r>
            <a:r>
              <a:rPr lang="en-US" dirty="0" smtClean="0"/>
              <a:t>Style sheet example</a:t>
            </a:r>
            <a:endParaRPr lang="en-US" dirty="0"/>
          </a:p>
        </p:txBody>
      </p:sp>
      <p:sp>
        <p:nvSpPr>
          <p:cNvPr id="25602" name="Rectangle 2"/>
          <p:cNvSpPr>
            <a:spLocks noGrp="1" noChangeArrowheads="1"/>
          </p:cNvSpPr>
          <p:nvPr>
            <p:ph idx="1"/>
          </p:nvPr>
        </p:nvSpPr>
        <p:spPr>
          <a:xfrm>
            <a:off x="685800" y="1676400"/>
            <a:ext cx="7696200" cy="4419600"/>
          </a:xfrm>
          <a:ln/>
        </p:spPr>
        <p:txBody>
          <a:bodyPr anchor="t">
            <a:normAutofit/>
          </a:bodyPr>
          <a:lstStyle/>
          <a:p>
            <a:pPr marL="312528" indent="-160729">
              <a:buNone/>
            </a:pPr>
            <a:r>
              <a:rPr lang="en-US" sz="3200" dirty="0"/>
              <a:t>&lt;head&gt;</a:t>
            </a:r>
          </a:p>
          <a:p>
            <a:pPr marL="715466" lvl="1" indent="-286856">
              <a:spcBef>
                <a:spcPts val="703"/>
              </a:spcBef>
              <a:buNone/>
            </a:pPr>
            <a:r>
              <a:rPr lang="en-US" sz="3200" dirty="0"/>
              <a:t>	&lt;style type=“text/</a:t>
            </a:r>
            <a:r>
              <a:rPr lang="en-US" sz="3200" dirty="0" err="1"/>
              <a:t>css</a:t>
            </a:r>
            <a:r>
              <a:rPr lang="en-US" sz="3200" dirty="0"/>
              <a:t>”&gt;</a:t>
            </a:r>
          </a:p>
          <a:p>
            <a:pPr marL="715466" lvl="1" indent="-286856">
              <a:spcBef>
                <a:spcPts val="703"/>
              </a:spcBef>
              <a:buNone/>
            </a:pPr>
            <a:r>
              <a:rPr lang="en-US" sz="3200" dirty="0"/>
              <a:t>		</a:t>
            </a:r>
            <a:r>
              <a:rPr lang="en-US" sz="3200" dirty="0">
                <a:solidFill>
                  <a:srgbClr val="000000"/>
                </a:solidFill>
              </a:rPr>
              <a:t>CSS Code </a:t>
            </a:r>
            <a:r>
              <a:rPr lang="en-US" sz="3200" dirty="0" smtClean="0">
                <a:solidFill>
                  <a:srgbClr val="000000"/>
                </a:solidFill>
              </a:rPr>
              <a:t>Here</a:t>
            </a:r>
          </a:p>
          <a:p>
            <a:pPr marL="715466" lvl="1" indent="-286856">
              <a:spcBef>
                <a:spcPts val="703"/>
              </a:spcBef>
              <a:buNone/>
            </a:pPr>
            <a:r>
              <a:rPr lang="en-US" sz="3200" dirty="0"/>
              <a:t>	&lt;/style&gt;</a:t>
            </a:r>
          </a:p>
          <a:p>
            <a:pPr marL="312528" indent="-160729">
              <a:spcBef>
                <a:spcPts val="773"/>
              </a:spcBef>
              <a:buNone/>
            </a:pPr>
            <a:r>
              <a:rPr lang="en-US" sz="3200" dirty="0"/>
              <a:t>&lt;/head</a:t>
            </a:r>
            <a:r>
              <a:rPr lang="en-US" sz="3200" dirty="0" smtClean="0"/>
              <a:t>&gt;</a:t>
            </a:r>
          </a:p>
        </p:txBody>
      </p:sp>
    </p:spTree>
    <p:extLst>
      <p:ext uri="{BB962C8B-B14F-4D97-AF65-F5344CB8AC3E}">
        <p14:creationId xmlns:p14="http://schemas.microsoft.com/office/powerpoint/2010/main" val="737745834"/>
      </p:ext>
    </p:extLst>
  </p:cSld>
  <p:clrMapOvr>
    <a:masterClrMapping/>
  </p:clrMapOvr>
  <p:transition spd="med">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p:nvPr>
        </p:nvSpPr>
        <p:spPr>
          <a:xfrm>
            <a:off x="77787" y="685800"/>
            <a:ext cx="8913813" cy="914400"/>
          </a:xfrm>
        </p:spPr>
        <p:txBody>
          <a:bodyPr>
            <a:normAutofit/>
          </a:bodyPr>
          <a:lstStyle/>
          <a:p>
            <a:r>
              <a:rPr lang="en-US" smtClean="0"/>
              <a:t>Preferred method: External Style Sheet</a:t>
            </a:r>
            <a:endParaRPr lang="en-US" dirty="0"/>
          </a:p>
        </p:txBody>
      </p:sp>
      <p:sp>
        <p:nvSpPr>
          <p:cNvPr id="22530" name="Rectangle 2"/>
          <p:cNvSpPr>
            <a:spLocks noGrp="1" noChangeArrowheads="1"/>
          </p:cNvSpPr>
          <p:nvPr>
            <p:ph idx="1"/>
          </p:nvPr>
        </p:nvSpPr>
        <p:spPr>
          <a:xfrm>
            <a:off x="685800" y="2133600"/>
            <a:ext cx="8153400" cy="3670767"/>
          </a:xfrm>
        </p:spPr>
        <p:txBody>
          <a:bodyPr>
            <a:normAutofit/>
          </a:bodyPr>
          <a:lstStyle/>
          <a:p>
            <a:r>
              <a:rPr lang="en-US" sz="2400" dirty="0" smtClean="0"/>
              <a:t>You create a separate style document (example: </a:t>
            </a:r>
            <a:r>
              <a:rPr lang="en-US" sz="2400" dirty="0" err="1" smtClean="0"/>
              <a:t>style.css</a:t>
            </a:r>
            <a:r>
              <a:rPr lang="en-US" sz="2400" dirty="0" smtClean="0"/>
              <a:t>).</a:t>
            </a:r>
          </a:p>
          <a:p>
            <a:r>
              <a:rPr lang="en-US" sz="2400" dirty="0" smtClean="0"/>
              <a:t>Insert it into your html head tag</a:t>
            </a:r>
          </a:p>
          <a:p>
            <a:pPr lvl="2">
              <a:buNone/>
            </a:pPr>
            <a:r>
              <a:rPr lang="en-US" sz="2000" dirty="0" smtClean="0"/>
              <a:t>&lt;head&gt;</a:t>
            </a:r>
          </a:p>
          <a:p>
            <a:pPr lvl="2">
              <a:buNone/>
            </a:pPr>
            <a:r>
              <a:rPr lang="en-US" sz="2000" dirty="0" smtClean="0"/>
              <a:t>&lt;link </a:t>
            </a:r>
            <a:r>
              <a:rPr lang="en-US" sz="2000" dirty="0" err="1" smtClean="0"/>
              <a:t>rel</a:t>
            </a:r>
            <a:r>
              <a:rPr lang="en-US" sz="2000" dirty="0" smtClean="0"/>
              <a:t>=“</a:t>
            </a:r>
            <a:r>
              <a:rPr lang="en-US" sz="2000" dirty="0" err="1" smtClean="0"/>
              <a:t>stylesheet</a:t>
            </a:r>
            <a:r>
              <a:rPr lang="en-US" sz="2000" dirty="0" smtClean="0"/>
              <a:t>” </a:t>
            </a:r>
            <a:r>
              <a:rPr lang="en-US" sz="2000" dirty="0" err="1" smtClean="0"/>
              <a:t>href</a:t>
            </a:r>
            <a:r>
              <a:rPr lang="en-US" sz="2000" dirty="0" smtClean="0"/>
              <a:t>=http://</a:t>
            </a:r>
            <a:r>
              <a:rPr lang="en-US" sz="2000" dirty="0" err="1" smtClean="0"/>
              <a:t>yoursite.com/style.css</a:t>
            </a:r>
            <a:r>
              <a:rPr lang="en-US" sz="2000" dirty="0" smtClean="0"/>
              <a:t/>
            </a:r>
            <a:br>
              <a:rPr lang="en-US" sz="2000" dirty="0" smtClean="0"/>
            </a:br>
            <a:r>
              <a:rPr lang="en-US" sz="2000" dirty="0" smtClean="0"/>
              <a:t>       type=“text/</a:t>
            </a:r>
            <a:r>
              <a:rPr lang="en-US" sz="2000" dirty="0" err="1" smtClean="0"/>
              <a:t>css</a:t>
            </a:r>
            <a:r>
              <a:rPr lang="en-US" sz="2000" dirty="0" smtClean="0"/>
              <a:t>”&gt;</a:t>
            </a:r>
          </a:p>
          <a:p>
            <a:pPr lvl="2">
              <a:buNone/>
            </a:pPr>
            <a:r>
              <a:rPr lang="en-US" sz="2000" dirty="0" smtClean="0"/>
              <a:t>&lt;/head&gt;</a:t>
            </a:r>
          </a:p>
          <a:p>
            <a:r>
              <a:rPr lang="en-US" sz="2200" dirty="0" smtClean="0"/>
              <a:t>Aside: the above “link” tag works for Importing a </a:t>
            </a:r>
            <a:r>
              <a:rPr lang="en-US" sz="2200" dirty="0" err="1" smtClean="0"/>
              <a:t>stylesheet</a:t>
            </a:r>
            <a:r>
              <a:rPr lang="en-US" sz="2200" dirty="0" smtClean="0"/>
              <a:t>, and there is also an equivalent “&lt;@import&gt;” tag</a:t>
            </a:r>
          </a:p>
          <a:p>
            <a:endParaRPr lang="en-US" sz="2400" dirty="0"/>
          </a:p>
        </p:txBody>
      </p:sp>
    </p:spTree>
    <p:extLst>
      <p:ext uri="{BB962C8B-B14F-4D97-AF65-F5344CB8AC3E}">
        <p14:creationId xmlns:p14="http://schemas.microsoft.com/office/powerpoint/2010/main" val="129874810"/>
      </p:ext>
    </p:extLst>
  </p:cSld>
  <p:clrMapOvr>
    <a:masterClrMapping/>
  </p:clrMapOvr>
  <p:transition spd="med">
    <p:cover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457200" y="381000"/>
            <a:ext cx="7583487" cy="762000"/>
          </a:xfrm>
        </p:spPr>
        <p:txBody>
          <a:bodyPr>
            <a:normAutofit/>
          </a:bodyPr>
          <a:lstStyle/>
          <a:p>
            <a:r>
              <a:rPr lang="en-US" dirty="0" smtClean="0"/>
              <a:t>Recap: 3 places to define styles</a:t>
            </a:r>
            <a:endParaRPr lang="en-US" dirty="0"/>
          </a:p>
        </p:txBody>
      </p:sp>
      <p:sp>
        <p:nvSpPr>
          <p:cNvPr id="27650" name="Rectangle 2"/>
          <p:cNvSpPr>
            <a:spLocks noGrp="1" noChangeArrowheads="1"/>
          </p:cNvSpPr>
          <p:nvPr>
            <p:ph idx="1"/>
          </p:nvPr>
        </p:nvSpPr>
        <p:spPr>
          <a:xfrm>
            <a:off x="685800" y="1447800"/>
            <a:ext cx="7772400" cy="4572000"/>
          </a:xfrm>
        </p:spPr>
        <p:txBody>
          <a:bodyPr>
            <a:normAutofit/>
          </a:bodyPr>
          <a:lstStyle/>
          <a:p>
            <a:r>
              <a:rPr lang="en-US" sz="2800" b="1" dirty="0" smtClean="0">
                <a:sym typeface="Arial" pitchFamily="24" charset="0"/>
              </a:rPr>
              <a:t>Inline</a:t>
            </a:r>
            <a:r>
              <a:rPr lang="en-US" sz="2800" b="1" dirty="0" smtClean="0"/>
              <a:t> </a:t>
            </a:r>
            <a:r>
              <a:rPr lang="en-US" sz="2800" dirty="0" smtClean="0"/>
              <a:t>– apply style attribute to a single tag</a:t>
            </a:r>
          </a:p>
          <a:p>
            <a:pPr lvl="1"/>
            <a:r>
              <a:rPr lang="en-US" sz="2800" dirty="0" smtClean="0"/>
              <a:t>Takes a lot of work to maintain across a website</a:t>
            </a:r>
          </a:p>
          <a:p>
            <a:r>
              <a:rPr lang="en-US" sz="2800" b="1" dirty="0" smtClean="0">
                <a:sym typeface="Arial" pitchFamily="24" charset="0"/>
              </a:rPr>
              <a:t>Internal</a:t>
            </a:r>
            <a:r>
              <a:rPr lang="en-US" sz="2800" dirty="0" smtClean="0">
                <a:sym typeface="Arial" pitchFamily="24" charset="0"/>
              </a:rPr>
              <a:t>, (“embedded,” “global”) </a:t>
            </a:r>
          </a:p>
          <a:p>
            <a:pPr lvl="1"/>
            <a:r>
              <a:rPr lang="en-US" sz="2600" dirty="0" err="1" smtClean="0"/>
              <a:t>stylesheet</a:t>
            </a:r>
            <a:r>
              <a:rPr lang="en-US" sz="2600" dirty="0" smtClean="0"/>
              <a:t> defined in the &lt;head&gt; tag of a page</a:t>
            </a:r>
          </a:p>
          <a:p>
            <a:r>
              <a:rPr lang="en-US" sz="2800" b="1" dirty="0" smtClean="0">
                <a:sym typeface="Arial" pitchFamily="24" charset="0"/>
              </a:rPr>
              <a:t>External</a:t>
            </a:r>
            <a:r>
              <a:rPr lang="en-US" sz="2800" b="1" dirty="0" smtClean="0"/>
              <a:t> </a:t>
            </a:r>
            <a:r>
              <a:rPr lang="en-US" sz="2800" dirty="0" smtClean="0"/>
              <a:t>style sheet (a .</a:t>
            </a:r>
            <a:r>
              <a:rPr lang="en-US" sz="2800" dirty="0" err="1" smtClean="0"/>
              <a:t>css</a:t>
            </a:r>
            <a:r>
              <a:rPr lang="en-US" sz="2800" dirty="0" smtClean="0"/>
              <a:t> text file) </a:t>
            </a:r>
          </a:p>
          <a:p>
            <a:pPr lvl="1"/>
            <a:r>
              <a:rPr lang="en-US" sz="2600" i="1" dirty="0" smtClean="0"/>
              <a:t>same functionality as Internal</a:t>
            </a:r>
            <a:endParaRPr lang="en-US" sz="2600" i="1" dirty="0"/>
          </a:p>
        </p:txBody>
      </p:sp>
    </p:spTree>
    <p:extLst>
      <p:ext uri="{BB962C8B-B14F-4D97-AF65-F5344CB8AC3E}">
        <p14:creationId xmlns:p14="http://schemas.microsoft.com/office/powerpoint/2010/main" val="2761733843"/>
      </p:ext>
    </p:extLst>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Grp="1" noChangeArrowheads="1"/>
          </p:cNvSpPr>
          <p:nvPr>
            <p:ph type="title"/>
          </p:nvPr>
        </p:nvSpPr>
        <p:spPr>
          <a:ln/>
        </p:spPr>
        <p:txBody>
          <a:bodyPr/>
          <a:lstStyle/>
          <a:p>
            <a:r>
              <a:rPr lang="en-US" sz="4800" dirty="0"/>
              <a:t>Resources</a:t>
            </a:r>
          </a:p>
        </p:txBody>
      </p:sp>
      <p:sp>
        <p:nvSpPr>
          <p:cNvPr id="36866" name="Rectangle 2"/>
          <p:cNvSpPr>
            <a:spLocks noGrp="1" noChangeArrowheads="1"/>
          </p:cNvSpPr>
          <p:nvPr>
            <p:ph idx="1"/>
          </p:nvPr>
        </p:nvSpPr>
        <p:spPr>
          <a:xfrm>
            <a:off x="892969" y="2438400"/>
            <a:ext cx="7661672" cy="3455194"/>
          </a:xfrm>
          <a:ln/>
        </p:spPr>
        <p:txBody>
          <a:bodyPr>
            <a:normAutofit/>
          </a:bodyPr>
          <a:lstStyle/>
          <a:p>
            <a:pPr marL="491115"/>
            <a:r>
              <a:rPr lang="en-US" sz="2800" dirty="0"/>
              <a:t>Nice description for beginners:</a:t>
            </a:r>
          </a:p>
          <a:p>
            <a:pPr marL="732208" lvl="1"/>
            <a:r>
              <a:rPr lang="en-US" sz="2400" u="sng" dirty="0">
                <a:hlinkClick r:id="rId2"/>
              </a:rPr>
              <a:t>http://www.cssbasics.com/introduction-to-css/</a:t>
            </a:r>
            <a:endParaRPr lang="en-US" sz="2400" dirty="0"/>
          </a:p>
          <a:p>
            <a:pPr marL="491115"/>
            <a:endParaRPr lang="en-US" sz="2800" dirty="0"/>
          </a:p>
          <a:p>
            <a:pPr marL="491115"/>
            <a:r>
              <a:rPr lang="en-US" sz="2800" dirty="0"/>
              <a:t>Nice tutorial for beginners:</a:t>
            </a:r>
          </a:p>
          <a:p>
            <a:pPr marL="732208" lvl="1"/>
            <a:r>
              <a:rPr lang="en-US" sz="2400" u="sng" dirty="0">
                <a:hlinkClick r:id="rId3"/>
              </a:rPr>
              <a:t>http://www.w3.org/Style/Examples/011/firstcss</a:t>
            </a:r>
            <a:endParaRPr lang="en-US" sz="2400" u="sng" dirty="0"/>
          </a:p>
        </p:txBody>
      </p:sp>
    </p:spTree>
    <p:extLst>
      <p:ext uri="{BB962C8B-B14F-4D97-AF65-F5344CB8AC3E}">
        <p14:creationId xmlns:p14="http://schemas.microsoft.com/office/powerpoint/2010/main" val="410968911"/>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1601</TotalTime>
  <Words>1440</Words>
  <Application>Microsoft Office PowerPoint</Application>
  <PresentationFormat>On-screen Show (4:3)</PresentationFormat>
  <Paragraphs>192</Paragraphs>
  <Slides>24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Courier</vt:lpstr>
      <vt:lpstr>Courier New</vt:lpstr>
      <vt:lpstr>Courier New Bold</vt:lpstr>
      <vt:lpstr>Gill Sans</vt:lpstr>
      <vt:lpstr>Lucida Grande</vt:lpstr>
      <vt:lpstr>Office Theme</vt:lpstr>
      <vt:lpstr>Lecture 6 CASCADING STYLES SHEETS</vt:lpstr>
      <vt:lpstr>CSS Advantages</vt:lpstr>
      <vt:lpstr>CSS Disadvantages</vt:lpstr>
      <vt:lpstr>CSS: adding style</vt:lpstr>
      <vt:lpstr>CSS: adding style</vt:lpstr>
      <vt:lpstr>CSS: adding style</vt:lpstr>
      <vt:lpstr>CSS: adding style</vt:lpstr>
      <vt:lpstr>The most basic kind of CSS selector</vt:lpstr>
      <vt:lpstr>Aside: grouping selectors</vt:lpstr>
      <vt:lpstr>CSS: selector flexibility</vt:lpstr>
      <vt:lpstr>CSS: selector flexibility</vt:lpstr>
      <vt:lpstr>Naming HTML elements</vt:lpstr>
      <vt:lpstr>Example: naming HTML elements</vt:lpstr>
      <vt:lpstr>Connecting a style declaration to a class name</vt:lpstr>
      <vt:lpstr>More on selector options</vt:lpstr>
      <vt:lpstr>Aside: styling hyperlinks</vt:lpstr>
      <vt:lpstr>CSS: what does cascading mean?</vt:lpstr>
      <vt:lpstr>CSS: the cascade</vt:lpstr>
      <vt:lpstr>How/where do we add the style declarations to our HTML files?</vt:lpstr>
      <vt:lpstr>How/where do we add the style declarations to our HTML files?</vt:lpstr>
      <vt:lpstr>Internal Style sheet example</vt:lpstr>
      <vt:lpstr>Preferred method: External Style Sheet</vt:lpstr>
      <vt:lpstr>Recap: 3 places to define styles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kinoti.patrick@outlook.com</cp:lastModifiedBy>
  <cp:revision>92</cp:revision>
  <dcterms:created xsi:type="dcterms:W3CDTF">2008-12-18T17:11:12Z</dcterms:created>
  <dcterms:modified xsi:type="dcterms:W3CDTF">2022-04-01T15:57:02Z</dcterms:modified>
</cp:coreProperties>
</file>