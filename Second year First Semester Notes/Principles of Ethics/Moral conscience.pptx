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3"/>
  </p:notesMasterIdLst>
  <p:sldIdLst>
    <p:sldId id="297" r:id="rId2"/>
    <p:sldId id="298" r:id="rId3"/>
    <p:sldId id="257" r:id="rId4"/>
    <p:sldId id="299" r:id="rId5"/>
    <p:sldId id="258" r:id="rId6"/>
    <p:sldId id="300" r:id="rId7"/>
    <p:sldId id="307" r:id="rId8"/>
    <p:sldId id="259" r:id="rId9"/>
    <p:sldId id="261" r:id="rId10"/>
    <p:sldId id="262" r:id="rId11"/>
    <p:sldId id="264" r:id="rId12"/>
    <p:sldId id="266" r:id="rId13"/>
    <p:sldId id="267" r:id="rId14"/>
    <p:sldId id="268" r:id="rId15"/>
    <p:sldId id="269" r:id="rId16"/>
    <p:sldId id="270" r:id="rId17"/>
    <p:sldId id="303" r:id="rId18"/>
    <p:sldId id="274" r:id="rId19"/>
    <p:sldId id="304" r:id="rId20"/>
    <p:sldId id="305" r:id="rId21"/>
    <p:sldId id="306" r:id="rId22"/>
    <p:sldId id="278" r:id="rId23"/>
    <p:sldId id="279" r:id="rId24"/>
    <p:sldId id="280" r:id="rId25"/>
    <p:sldId id="281" r:id="rId26"/>
    <p:sldId id="282" r:id="rId27"/>
    <p:sldId id="283" r:id="rId28"/>
    <p:sldId id="284" r:id="rId29"/>
    <p:sldId id="285" r:id="rId30"/>
    <p:sldId id="302"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BC7C10-07E5-4B60-8B45-B9890323E90E}" type="doc">
      <dgm:prSet loTypeId="urn:microsoft.com/office/officeart/2005/8/layout/orgChart1" loCatId="hierarchy" qsTypeId="urn:microsoft.com/office/officeart/2005/8/quickstyle/simple1" qsCatId="simple" csTypeId="urn:microsoft.com/office/officeart/2005/8/colors/accent1_2" csCatId="accent1"/>
      <dgm:spPr/>
    </dgm:pt>
    <dgm:pt modelId="{E29EE917-1C3B-43A4-A79B-1C13E8E57C0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Types of Conscience</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dgm:t>
    </dgm:pt>
    <dgm:pt modelId="{E8A32EBA-8472-442A-A780-840FDCC680D4}" type="parTrans" cxnId="{810F66DD-FE26-4F75-B234-B68FCF6E8B5A}">
      <dgm:prSet/>
      <dgm:spPr/>
    </dgm:pt>
    <dgm:pt modelId="{AF0D58ED-0071-4A69-BD49-123FC1646CD5}" type="sibTrans" cxnId="{810F66DD-FE26-4F75-B234-B68FCF6E8B5A}">
      <dgm:prSet/>
      <dgm:spPr/>
    </dgm:pt>
    <dgm:pt modelId="{4E0190F4-10BA-4137-AE0B-1BC0453EAD41}">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Timing of Act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dgm:t>
    </dgm:pt>
    <dgm:pt modelId="{02AB5558-2A41-4FD3-9466-1A7EEB85FE51}" type="parTrans" cxnId="{C35E625A-11B4-4D16-A4BA-F0520C89C437}">
      <dgm:prSet/>
      <dgm:spPr/>
    </dgm:pt>
    <dgm:pt modelId="{21801105-702E-4545-9B5E-F6F48074AA74}" type="sibTrans" cxnId="{C35E625A-11B4-4D16-A4BA-F0520C89C437}">
      <dgm:prSet/>
      <dgm:spPr/>
    </dgm:pt>
    <dgm:pt modelId="{F191E87F-09CD-405C-83F0-BB878A45307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Antecedent/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Consequent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dgm:t>
    </dgm:pt>
    <dgm:pt modelId="{05DC66DA-C69B-4878-8285-E69B4BC6C753}" type="parTrans" cxnId="{70EBC47F-4612-4175-9CC0-048D8C784E45}">
      <dgm:prSet/>
      <dgm:spPr/>
    </dgm:pt>
    <dgm:pt modelId="{949EA4F1-5FC6-4713-A2FB-1B8CA582B07C}" type="sibTrans" cxnId="{70EBC47F-4612-4175-9CC0-048D8C784E45}">
      <dgm:prSet/>
      <dgm:spPr/>
    </dgm:pt>
    <dgm:pt modelId="{2D6D6EF0-E28D-49E8-ADE9-10A0622226C0}">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Relation to NML</a:t>
          </a:r>
        </a:p>
      </dgm:t>
    </dgm:pt>
    <dgm:pt modelId="{0C52337D-9A22-452F-966D-FC369CBC2C36}" type="parTrans" cxnId="{0F47C1A2-488F-4139-8C47-D22897805E8C}">
      <dgm:prSet/>
      <dgm:spPr/>
    </dgm:pt>
    <dgm:pt modelId="{8B510A5C-8D66-41A6-937F-D5F78DC1E850}" type="sibTrans" cxnId="{0F47C1A2-488F-4139-8C47-D22897805E8C}">
      <dgm:prSet/>
      <dgm:spPr/>
    </dgm:pt>
    <dgm:pt modelId="{7A886C55-1C40-4736-97A8-81974EB1D45E}">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True/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Erroneous</a:t>
          </a:r>
        </a:p>
      </dgm:t>
    </dgm:pt>
    <dgm:pt modelId="{DEA32EBE-4621-4940-984A-1EBF28AB5443}" type="parTrans" cxnId="{61619EDF-E026-4ED2-A906-6761DE3453DC}">
      <dgm:prSet/>
      <dgm:spPr/>
    </dgm:pt>
    <dgm:pt modelId="{E7F99430-66B6-40DA-800A-23DC12F7F69E}" type="sibTrans" cxnId="{61619EDF-E026-4ED2-A906-6761DE3453DC}">
      <dgm:prSet/>
      <dgm:spPr/>
    </dgm:pt>
    <dgm:pt modelId="{FF8CD912-7BD6-4971-85D7-0B6F72662660}">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Level of certainty</a:t>
          </a:r>
        </a:p>
      </dgm:t>
    </dgm:pt>
    <dgm:pt modelId="{452DBA12-ACF6-461E-BFC7-BE2EF090D982}" type="parTrans" cxnId="{CA7A2FF6-8529-4EFF-A98F-A40F1652A549}">
      <dgm:prSet/>
      <dgm:spPr/>
    </dgm:pt>
    <dgm:pt modelId="{6AA0BC99-5FBD-46EB-8F44-86986B0EAE9C}" type="sibTrans" cxnId="{CA7A2FF6-8529-4EFF-A98F-A40F1652A549}">
      <dgm:prSet/>
      <dgm:spPr/>
    </dgm:pt>
    <dgm:pt modelId="{B9FA329D-81FF-4210-8319-F543ECE5B168}">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Sure or certain/</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Probable/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Doubtful</a:t>
          </a:r>
        </a:p>
      </dgm:t>
    </dgm:pt>
    <dgm:pt modelId="{03033B10-AFEA-4400-BADE-20E025CE7E00}" type="parTrans" cxnId="{53ED2B7D-F6CE-4F93-A481-06A9691968E6}">
      <dgm:prSet/>
      <dgm:spPr/>
    </dgm:pt>
    <dgm:pt modelId="{6971B874-2390-41B5-A7D4-6078D31409C7}" type="sibTrans" cxnId="{53ED2B7D-F6CE-4F93-A481-06A9691968E6}">
      <dgm:prSet/>
      <dgm:spPr/>
    </dgm:pt>
    <dgm:pt modelId="{E0DFA32C-8E4D-476F-98E6-BB91B5667C2D}" type="pres">
      <dgm:prSet presAssocID="{85BC7C10-07E5-4B60-8B45-B9890323E90E}" presName="hierChild1" presStyleCnt="0">
        <dgm:presLayoutVars>
          <dgm:orgChart val="1"/>
          <dgm:chPref val="1"/>
          <dgm:dir/>
          <dgm:animOne val="branch"/>
          <dgm:animLvl val="lvl"/>
          <dgm:resizeHandles/>
        </dgm:presLayoutVars>
      </dgm:prSet>
      <dgm:spPr/>
    </dgm:pt>
    <dgm:pt modelId="{74B4EB39-FBBF-4A6A-8DB4-D3AA76D72D63}" type="pres">
      <dgm:prSet presAssocID="{E29EE917-1C3B-43A4-A79B-1C13E8E57C06}" presName="hierRoot1" presStyleCnt="0">
        <dgm:presLayoutVars>
          <dgm:hierBranch/>
        </dgm:presLayoutVars>
      </dgm:prSet>
      <dgm:spPr/>
    </dgm:pt>
    <dgm:pt modelId="{BE58D575-4FF1-4B90-80E6-5D818FD0E4E6}" type="pres">
      <dgm:prSet presAssocID="{E29EE917-1C3B-43A4-A79B-1C13E8E57C06}" presName="rootComposite1" presStyleCnt="0"/>
      <dgm:spPr/>
    </dgm:pt>
    <dgm:pt modelId="{94712052-674B-4DBC-9000-3CD241D3CB17}" type="pres">
      <dgm:prSet presAssocID="{E29EE917-1C3B-43A4-A79B-1C13E8E57C06}" presName="rootText1" presStyleLbl="node0" presStyleIdx="0" presStyleCnt="1">
        <dgm:presLayoutVars>
          <dgm:chPref val="3"/>
        </dgm:presLayoutVars>
      </dgm:prSet>
      <dgm:spPr/>
      <dgm:t>
        <a:bodyPr/>
        <a:lstStyle/>
        <a:p>
          <a:endParaRPr lang="en-US"/>
        </a:p>
      </dgm:t>
    </dgm:pt>
    <dgm:pt modelId="{83117857-DB87-4114-828A-069DB1444B58}" type="pres">
      <dgm:prSet presAssocID="{E29EE917-1C3B-43A4-A79B-1C13E8E57C06}" presName="rootConnector1" presStyleLbl="node1" presStyleIdx="0" presStyleCnt="0"/>
      <dgm:spPr/>
      <dgm:t>
        <a:bodyPr/>
        <a:lstStyle/>
        <a:p>
          <a:endParaRPr lang="en-US"/>
        </a:p>
      </dgm:t>
    </dgm:pt>
    <dgm:pt modelId="{8F1D5A33-07EB-419D-8AAB-B1DF73499FCB}" type="pres">
      <dgm:prSet presAssocID="{E29EE917-1C3B-43A4-A79B-1C13E8E57C06}" presName="hierChild2" presStyleCnt="0"/>
      <dgm:spPr/>
    </dgm:pt>
    <dgm:pt modelId="{28B8AC12-00FE-41D6-A68D-8199AD96BA17}" type="pres">
      <dgm:prSet presAssocID="{02AB5558-2A41-4FD3-9466-1A7EEB85FE51}" presName="Name35" presStyleLbl="parChTrans1D2" presStyleIdx="0" presStyleCnt="3"/>
      <dgm:spPr/>
    </dgm:pt>
    <dgm:pt modelId="{58492DA4-763C-4188-BBB3-33F7DAFC5B52}" type="pres">
      <dgm:prSet presAssocID="{4E0190F4-10BA-4137-AE0B-1BC0453EAD41}" presName="hierRoot2" presStyleCnt="0">
        <dgm:presLayoutVars>
          <dgm:hierBranch/>
        </dgm:presLayoutVars>
      </dgm:prSet>
      <dgm:spPr/>
    </dgm:pt>
    <dgm:pt modelId="{F1DBD00B-76BD-4840-B4CD-71F9CE0252DF}" type="pres">
      <dgm:prSet presAssocID="{4E0190F4-10BA-4137-AE0B-1BC0453EAD41}" presName="rootComposite" presStyleCnt="0"/>
      <dgm:spPr/>
    </dgm:pt>
    <dgm:pt modelId="{7BAE6B77-64BB-4956-8724-556168C68874}" type="pres">
      <dgm:prSet presAssocID="{4E0190F4-10BA-4137-AE0B-1BC0453EAD41}" presName="rootText" presStyleLbl="node2" presStyleIdx="0" presStyleCnt="3">
        <dgm:presLayoutVars>
          <dgm:chPref val="3"/>
        </dgm:presLayoutVars>
      </dgm:prSet>
      <dgm:spPr/>
      <dgm:t>
        <a:bodyPr/>
        <a:lstStyle/>
        <a:p>
          <a:endParaRPr lang="en-US"/>
        </a:p>
      </dgm:t>
    </dgm:pt>
    <dgm:pt modelId="{20C8F9C9-7085-4D52-A4E8-6871DD93C4EC}" type="pres">
      <dgm:prSet presAssocID="{4E0190F4-10BA-4137-AE0B-1BC0453EAD41}" presName="rootConnector" presStyleLbl="node2" presStyleIdx="0" presStyleCnt="3"/>
      <dgm:spPr/>
      <dgm:t>
        <a:bodyPr/>
        <a:lstStyle/>
        <a:p>
          <a:endParaRPr lang="en-US"/>
        </a:p>
      </dgm:t>
    </dgm:pt>
    <dgm:pt modelId="{64DD722A-7E0A-4138-BC3D-0A27171BB285}" type="pres">
      <dgm:prSet presAssocID="{4E0190F4-10BA-4137-AE0B-1BC0453EAD41}" presName="hierChild4" presStyleCnt="0"/>
      <dgm:spPr/>
    </dgm:pt>
    <dgm:pt modelId="{BE53EAE0-6094-4769-9E10-DAD0E697F0A9}" type="pres">
      <dgm:prSet presAssocID="{05DC66DA-C69B-4878-8285-E69B4BC6C753}" presName="Name35" presStyleLbl="parChTrans1D3" presStyleIdx="0" presStyleCnt="3"/>
      <dgm:spPr/>
    </dgm:pt>
    <dgm:pt modelId="{866BF6E0-0F6E-46B4-9E95-C4575CCBC59B}" type="pres">
      <dgm:prSet presAssocID="{F191E87F-09CD-405C-83F0-BB878A453077}" presName="hierRoot2" presStyleCnt="0">
        <dgm:presLayoutVars>
          <dgm:hierBranch val="r"/>
        </dgm:presLayoutVars>
      </dgm:prSet>
      <dgm:spPr/>
    </dgm:pt>
    <dgm:pt modelId="{EF6BA219-C5B0-4AD1-A175-A4753339C850}" type="pres">
      <dgm:prSet presAssocID="{F191E87F-09CD-405C-83F0-BB878A453077}" presName="rootComposite" presStyleCnt="0"/>
      <dgm:spPr/>
    </dgm:pt>
    <dgm:pt modelId="{52D01709-44AD-44E6-8BE0-B853A5F44573}" type="pres">
      <dgm:prSet presAssocID="{F191E87F-09CD-405C-83F0-BB878A453077}" presName="rootText" presStyleLbl="node3" presStyleIdx="0" presStyleCnt="3">
        <dgm:presLayoutVars>
          <dgm:chPref val="3"/>
        </dgm:presLayoutVars>
      </dgm:prSet>
      <dgm:spPr/>
      <dgm:t>
        <a:bodyPr/>
        <a:lstStyle/>
        <a:p>
          <a:endParaRPr lang="en-US"/>
        </a:p>
      </dgm:t>
    </dgm:pt>
    <dgm:pt modelId="{9AE4EF2E-2B91-4140-B83D-29FC73168F42}" type="pres">
      <dgm:prSet presAssocID="{F191E87F-09CD-405C-83F0-BB878A453077}" presName="rootConnector" presStyleLbl="node3" presStyleIdx="0" presStyleCnt="3"/>
      <dgm:spPr/>
      <dgm:t>
        <a:bodyPr/>
        <a:lstStyle/>
        <a:p>
          <a:endParaRPr lang="en-US"/>
        </a:p>
      </dgm:t>
    </dgm:pt>
    <dgm:pt modelId="{C2D55DF1-F4C5-4C93-AC51-3B2854C2CC69}" type="pres">
      <dgm:prSet presAssocID="{F191E87F-09CD-405C-83F0-BB878A453077}" presName="hierChild4" presStyleCnt="0"/>
      <dgm:spPr/>
    </dgm:pt>
    <dgm:pt modelId="{6CD0B26A-74C7-413C-8520-E83B7615FDFA}" type="pres">
      <dgm:prSet presAssocID="{F191E87F-09CD-405C-83F0-BB878A453077}" presName="hierChild5" presStyleCnt="0"/>
      <dgm:spPr/>
    </dgm:pt>
    <dgm:pt modelId="{D09BB426-EDB4-4F88-93FE-3E8D2CFA2388}" type="pres">
      <dgm:prSet presAssocID="{4E0190F4-10BA-4137-AE0B-1BC0453EAD41}" presName="hierChild5" presStyleCnt="0"/>
      <dgm:spPr/>
    </dgm:pt>
    <dgm:pt modelId="{B3FFBE26-931A-4E34-9368-7F767BCAD0E9}" type="pres">
      <dgm:prSet presAssocID="{0C52337D-9A22-452F-966D-FC369CBC2C36}" presName="Name35" presStyleLbl="parChTrans1D2" presStyleIdx="1" presStyleCnt="3"/>
      <dgm:spPr/>
    </dgm:pt>
    <dgm:pt modelId="{5DA9E2DA-335E-4E29-8D39-F395E684626A}" type="pres">
      <dgm:prSet presAssocID="{2D6D6EF0-E28D-49E8-ADE9-10A0622226C0}" presName="hierRoot2" presStyleCnt="0">
        <dgm:presLayoutVars>
          <dgm:hierBranch/>
        </dgm:presLayoutVars>
      </dgm:prSet>
      <dgm:spPr/>
    </dgm:pt>
    <dgm:pt modelId="{58B2FD77-8EB8-4839-B088-BB55689D8904}" type="pres">
      <dgm:prSet presAssocID="{2D6D6EF0-E28D-49E8-ADE9-10A0622226C0}" presName="rootComposite" presStyleCnt="0"/>
      <dgm:spPr/>
    </dgm:pt>
    <dgm:pt modelId="{ED194EB7-9F94-4213-BA21-BD23587A06AA}" type="pres">
      <dgm:prSet presAssocID="{2D6D6EF0-E28D-49E8-ADE9-10A0622226C0}" presName="rootText" presStyleLbl="node2" presStyleIdx="1" presStyleCnt="3">
        <dgm:presLayoutVars>
          <dgm:chPref val="3"/>
        </dgm:presLayoutVars>
      </dgm:prSet>
      <dgm:spPr/>
      <dgm:t>
        <a:bodyPr/>
        <a:lstStyle/>
        <a:p>
          <a:endParaRPr lang="en-US"/>
        </a:p>
      </dgm:t>
    </dgm:pt>
    <dgm:pt modelId="{12A85763-71DD-4C18-A400-B5FCC287F022}" type="pres">
      <dgm:prSet presAssocID="{2D6D6EF0-E28D-49E8-ADE9-10A0622226C0}" presName="rootConnector" presStyleLbl="node2" presStyleIdx="1" presStyleCnt="3"/>
      <dgm:spPr/>
      <dgm:t>
        <a:bodyPr/>
        <a:lstStyle/>
        <a:p>
          <a:endParaRPr lang="en-US"/>
        </a:p>
      </dgm:t>
    </dgm:pt>
    <dgm:pt modelId="{DE1E4E6A-4234-46C2-B5AC-B8FEBEAB5A03}" type="pres">
      <dgm:prSet presAssocID="{2D6D6EF0-E28D-49E8-ADE9-10A0622226C0}" presName="hierChild4" presStyleCnt="0"/>
      <dgm:spPr/>
    </dgm:pt>
    <dgm:pt modelId="{A49C377D-02ED-4FA6-ADDB-9F1A3ED969DB}" type="pres">
      <dgm:prSet presAssocID="{DEA32EBE-4621-4940-984A-1EBF28AB5443}" presName="Name35" presStyleLbl="parChTrans1D3" presStyleIdx="1" presStyleCnt="3"/>
      <dgm:spPr/>
    </dgm:pt>
    <dgm:pt modelId="{2D21EB0B-EFD4-4684-A41C-01A36E6B7C9E}" type="pres">
      <dgm:prSet presAssocID="{7A886C55-1C40-4736-97A8-81974EB1D45E}" presName="hierRoot2" presStyleCnt="0">
        <dgm:presLayoutVars>
          <dgm:hierBranch val="r"/>
        </dgm:presLayoutVars>
      </dgm:prSet>
      <dgm:spPr/>
    </dgm:pt>
    <dgm:pt modelId="{45734C36-6188-400F-A780-ED26F0AE0CA4}" type="pres">
      <dgm:prSet presAssocID="{7A886C55-1C40-4736-97A8-81974EB1D45E}" presName="rootComposite" presStyleCnt="0"/>
      <dgm:spPr/>
    </dgm:pt>
    <dgm:pt modelId="{FC175C8A-ADEE-44B8-870B-2C3EB024F6C1}" type="pres">
      <dgm:prSet presAssocID="{7A886C55-1C40-4736-97A8-81974EB1D45E}" presName="rootText" presStyleLbl="node3" presStyleIdx="1" presStyleCnt="3">
        <dgm:presLayoutVars>
          <dgm:chPref val="3"/>
        </dgm:presLayoutVars>
      </dgm:prSet>
      <dgm:spPr/>
      <dgm:t>
        <a:bodyPr/>
        <a:lstStyle/>
        <a:p>
          <a:endParaRPr lang="en-US"/>
        </a:p>
      </dgm:t>
    </dgm:pt>
    <dgm:pt modelId="{A3AF3149-C226-431D-902C-EA04BF637765}" type="pres">
      <dgm:prSet presAssocID="{7A886C55-1C40-4736-97A8-81974EB1D45E}" presName="rootConnector" presStyleLbl="node3" presStyleIdx="1" presStyleCnt="3"/>
      <dgm:spPr/>
      <dgm:t>
        <a:bodyPr/>
        <a:lstStyle/>
        <a:p>
          <a:endParaRPr lang="en-US"/>
        </a:p>
      </dgm:t>
    </dgm:pt>
    <dgm:pt modelId="{C316F33B-027B-450A-99E1-F9ADC86CFB54}" type="pres">
      <dgm:prSet presAssocID="{7A886C55-1C40-4736-97A8-81974EB1D45E}" presName="hierChild4" presStyleCnt="0"/>
      <dgm:spPr/>
    </dgm:pt>
    <dgm:pt modelId="{391812B9-9A4F-4EC1-A06A-116A026BC4EE}" type="pres">
      <dgm:prSet presAssocID="{7A886C55-1C40-4736-97A8-81974EB1D45E}" presName="hierChild5" presStyleCnt="0"/>
      <dgm:spPr/>
    </dgm:pt>
    <dgm:pt modelId="{D7BEAD0C-7E24-43D8-91DC-8E302187AF23}" type="pres">
      <dgm:prSet presAssocID="{2D6D6EF0-E28D-49E8-ADE9-10A0622226C0}" presName="hierChild5" presStyleCnt="0"/>
      <dgm:spPr/>
    </dgm:pt>
    <dgm:pt modelId="{DC2C39AA-953C-4FF2-8253-365AF63370DF}" type="pres">
      <dgm:prSet presAssocID="{452DBA12-ACF6-461E-BFC7-BE2EF090D982}" presName="Name35" presStyleLbl="parChTrans1D2" presStyleIdx="2" presStyleCnt="3"/>
      <dgm:spPr/>
    </dgm:pt>
    <dgm:pt modelId="{8D2BDA9B-A46B-4EAE-8FE6-86673E638064}" type="pres">
      <dgm:prSet presAssocID="{FF8CD912-7BD6-4971-85D7-0B6F72662660}" presName="hierRoot2" presStyleCnt="0">
        <dgm:presLayoutVars>
          <dgm:hierBranch/>
        </dgm:presLayoutVars>
      </dgm:prSet>
      <dgm:spPr/>
    </dgm:pt>
    <dgm:pt modelId="{163F0A72-385D-4B60-8264-0A13F2102C43}" type="pres">
      <dgm:prSet presAssocID="{FF8CD912-7BD6-4971-85D7-0B6F72662660}" presName="rootComposite" presStyleCnt="0"/>
      <dgm:spPr/>
    </dgm:pt>
    <dgm:pt modelId="{0B85A91C-AF0B-482A-A8D3-A81F8FA5AD26}" type="pres">
      <dgm:prSet presAssocID="{FF8CD912-7BD6-4971-85D7-0B6F72662660}" presName="rootText" presStyleLbl="node2" presStyleIdx="2" presStyleCnt="3">
        <dgm:presLayoutVars>
          <dgm:chPref val="3"/>
        </dgm:presLayoutVars>
      </dgm:prSet>
      <dgm:spPr/>
      <dgm:t>
        <a:bodyPr/>
        <a:lstStyle/>
        <a:p>
          <a:endParaRPr lang="en-US"/>
        </a:p>
      </dgm:t>
    </dgm:pt>
    <dgm:pt modelId="{09D7A9A6-1E2E-4A81-8FE3-10842B0935E7}" type="pres">
      <dgm:prSet presAssocID="{FF8CD912-7BD6-4971-85D7-0B6F72662660}" presName="rootConnector" presStyleLbl="node2" presStyleIdx="2" presStyleCnt="3"/>
      <dgm:spPr/>
      <dgm:t>
        <a:bodyPr/>
        <a:lstStyle/>
        <a:p>
          <a:endParaRPr lang="en-US"/>
        </a:p>
      </dgm:t>
    </dgm:pt>
    <dgm:pt modelId="{9E441DE1-86B8-4603-9F75-4FCD5D9DB263}" type="pres">
      <dgm:prSet presAssocID="{FF8CD912-7BD6-4971-85D7-0B6F72662660}" presName="hierChild4" presStyleCnt="0"/>
      <dgm:spPr/>
    </dgm:pt>
    <dgm:pt modelId="{F6A45135-9886-4EA0-A123-CAAA73092CA9}" type="pres">
      <dgm:prSet presAssocID="{03033B10-AFEA-4400-BADE-20E025CE7E00}" presName="Name35" presStyleLbl="parChTrans1D3" presStyleIdx="2" presStyleCnt="3"/>
      <dgm:spPr/>
    </dgm:pt>
    <dgm:pt modelId="{D10C590D-2E80-4386-B182-D7D4E434445B}" type="pres">
      <dgm:prSet presAssocID="{B9FA329D-81FF-4210-8319-F543ECE5B168}" presName="hierRoot2" presStyleCnt="0">
        <dgm:presLayoutVars>
          <dgm:hierBranch val="r"/>
        </dgm:presLayoutVars>
      </dgm:prSet>
      <dgm:spPr/>
    </dgm:pt>
    <dgm:pt modelId="{583D9E1D-99C0-4A53-84BF-B464EFB3C5CE}" type="pres">
      <dgm:prSet presAssocID="{B9FA329D-81FF-4210-8319-F543ECE5B168}" presName="rootComposite" presStyleCnt="0"/>
      <dgm:spPr/>
    </dgm:pt>
    <dgm:pt modelId="{694770D8-090F-463C-90FF-B0322EB5DEF0}" type="pres">
      <dgm:prSet presAssocID="{B9FA329D-81FF-4210-8319-F543ECE5B168}" presName="rootText" presStyleLbl="node3" presStyleIdx="2" presStyleCnt="3">
        <dgm:presLayoutVars>
          <dgm:chPref val="3"/>
        </dgm:presLayoutVars>
      </dgm:prSet>
      <dgm:spPr/>
      <dgm:t>
        <a:bodyPr/>
        <a:lstStyle/>
        <a:p>
          <a:endParaRPr lang="en-US"/>
        </a:p>
      </dgm:t>
    </dgm:pt>
    <dgm:pt modelId="{C95783E2-A3A7-4309-8A20-30CBC1AD11E3}" type="pres">
      <dgm:prSet presAssocID="{B9FA329D-81FF-4210-8319-F543ECE5B168}" presName="rootConnector" presStyleLbl="node3" presStyleIdx="2" presStyleCnt="3"/>
      <dgm:spPr/>
      <dgm:t>
        <a:bodyPr/>
        <a:lstStyle/>
        <a:p>
          <a:endParaRPr lang="en-US"/>
        </a:p>
      </dgm:t>
    </dgm:pt>
    <dgm:pt modelId="{6A547849-26F7-4A83-BF03-5EB58BAE4A54}" type="pres">
      <dgm:prSet presAssocID="{B9FA329D-81FF-4210-8319-F543ECE5B168}" presName="hierChild4" presStyleCnt="0"/>
      <dgm:spPr/>
    </dgm:pt>
    <dgm:pt modelId="{E20766DB-4794-4807-AD2E-2B793939DEFE}" type="pres">
      <dgm:prSet presAssocID="{B9FA329D-81FF-4210-8319-F543ECE5B168}" presName="hierChild5" presStyleCnt="0"/>
      <dgm:spPr/>
    </dgm:pt>
    <dgm:pt modelId="{ECAEEA5E-9646-461D-BCDB-486A5A1F24C9}" type="pres">
      <dgm:prSet presAssocID="{FF8CD912-7BD6-4971-85D7-0B6F72662660}" presName="hierChild5" presStyleCnt="0"/>
      <dgm:spPr/>
    </dgm:pt>
    <dgm:pt modelId="{B3874E97-408E-4561-99E2-84B1C957F32A}" type="pres">
      <dgm:prSet presAssocID="{E29EE917-1C3B-43A4-A79B-1C13E8E57C06}" presName="hierChild3" presStyleCnt="0"/>
      <dgm:spPr/>
    </dgm:pt>
  </dgm:ptLst>
  <dgm:cxnLst>
    <dgm:cxn modelId="{DBE675F2-304E-4B21-A139-E5710F4B2996}" type="presOf" srcId="{0C52337D-9A22-452F-966D-FC369CBC2C36}" destId="{B3FFBE26-931A-4E34-9368-7F767BCAD0E9}" srcOrd="0" destOrd="0" presId="urn:microsoft.com/office/officeart/2005/8/layout/orgChart1"/>
    <dgm:cxn modelId="{520E4D1F-5BB6-4024-819A-DC33F17BCE6A}" type="presOf" srcId="{85BC7C10-07E5-4B60-8B45-B9890323E90E}" destId="{E0DFA32C-8E4D-476F-98E6-BB91B5667C2D}" srcOrd="0" destOrd="0" presId="urn:microsoft.com/office/officeart/2005/8/layout/orgChart1"/>
    <dgm:cxn modelId="{33844418-7353-43F1-9F42-AB8505AC165F}" type="presOf" srcId="{7A886C55-1C40-4736-97A8-81974EB1D45E}" destId="{FC175C8A-ADEE-44B8-870B-2C3EB024F6C1}" srcOrd="0" destOrd="0" presId="urn:microsoft.com/office/officeart/2005/8/layout/orgChart1"/>
    <dgm:cxn modelId="{1B755DA8-FCB8-4F16-8A5A-556812ADE818}" type="presOf" srcId="{4E0190F4-10BA-4137-AE0B-1BC0453EAD41}" destId="{20C8F9C9-7085-4D52-A4E8-6871DD93C4EC}" srcOrd="1" destOrd="0" presId="urn:microsoft.com/office/officeart/2005/8/layout/orgChart1"/>
    <dgm:cxn modelId="{CA7A2FF6-8529-4EFF-A98F-A40F1652A549}" srcId="{E29EE917-1C3B-43A4-A79B-1C13E8E57C06}" destId="{FF8CD912-7BD6-4971-85D7-0B6F72662660}" srcOrd="2" destOrd="0" parTransId="{452DBA12-ACF6-461E-BFC7-BE2EF090D982}" sibTransId="{6AA0BC99-5FBD-46EB-8F44-86986B0EAE9C}"/>
    <dgm:cxn modelId="{61619EDF-E026-4ED2-A906-6761DE3453DC}" srcId="{2D6D6EF0-E28D-49E8-ADE9-10A0622226C0}" destId="{7A886C55-1C40-4736-97A8-81974EB1D45E}" srcOrd="0" destOrd="0" parTransId="{DEA32EBE-4621-4940-984A-1EBF28AB5443}" sibTransId="{E7F99430-66B6-40DA-800A-23DC12F7F69E}"/>
    <dgm:cxn modelId="{C35E625A-11B4-4D16-A4BA-F0520C89C437}" srcId="{E29EE917-1C3B-43A4-A79B-1C13E8E57C06}" destId="{4E0190F4-10BA-4137-AE0B-1BC0453EAD41}" srcOrd="0" destOrd="0" parTransId="{02AB5558-2A41-4FD3-9466-1A7EEB85FE51}" sibTransId="{21801105-702E-4545-9B5E-F6F48074AA74}"/>
    <dgm:cxn modelId="{4FCAE6F0-D9DF-43CC-9CDD-D5EB230C7AA0}" type="presOf" srcId="{F191E87F-09CD-405C-83F0-BB878A453077}" destId="{52D01709-44AD-44E6-8BE0-B853A5F44573}" srcOrd="0" destOrd="0" presId="urn:microsoft.com/office/officeart/2005/8/layout/orgChart1"/>
    <dgm:cxn modelId="{EEB3969B-1564-407A-A100-6AFEFBC824C7}" type="presOf" srcId="{E29EE917-1C3B-43A4-A79B-1C13E8E57C06}" destId="{94712052-674B-4DBC-9000-3CD241D3CB17}" srcOrd="0" destOrd="0" presId="urn:microsoft.com/office/officeart/2005/8/layout/orgChart1"/>
    <dgm:cxn modelId="{BD0F7D0E-4B45-4EE0-A928-34224462EBFA}" type="presOf" srcId="{B9FA329D-81FF-4210-8319-F543ECE5B168}" destId="{C95783E2-A3A7-4309-8A20-30CBC1AD11E3}" srcOrd="1" destOrd="0" presId="urn:microsoft.com/office/officeart/2005/8/layout/orgChart1"/>
    <dgm:cxn modelId="{05B6BBF7-E48B-4295-B8D2-9DC4D7BCB806}" type="presOf" srcId="{2D6D6EF0-E28D-49E8-ADE9-10A0622226C0}" destId="{ED194EB7-9F94-4213-BA21-BD23587A06AA}" srcOrd="0" destOrd="0" presId="urn:microsoft.com/office/officeart/2005/8/layout/orgChart1"/>
    <dgm:cxn modelId="{6A77C389-231C-4006-9937-DC9D140634E1}" type="presOf" srcId="{FF8CD912-7BD6-4971-85D7-0B6F72662660}" destId="{0B85A91C-AF0B-482A-A8D3-A81F8FA5AD26}" srcOrd="0" destOrd="0" presId="urn:microsoft.com/office/officeart/2005/8/layout/orgChart1"/>
    <dgm:cxn modelId="{5737C535-4997-454A-8E8A-F8A0B1D26977}" type="presOf" srcId="{4E0190F4-10BA-4137-AE0B-1BC0453EAD41}" destId="{7BAE6B77-64BB-4956-8724-556168C68874}" srcOrd="0" destOrd="0" presId="urn:microsoft.com/office/officeart/2005/8/layout/orgChart1"/>
    <dgm:cxn modelId="{53ED2B7D-F6CE-4F93-A481-06A9691968E6}" srcId="{FF8CD912-7BD6-4971-85D7-0B6F72662660}" destId="{B9FA329D-81FF-4210-8319-F543ECE5B168}" srcOrd="0" destOrd="0" parTransId="{03033B10-AFEA-4400-BADE-20E025CE7E00}" sibTransId="{6971B874-2390-41B5-A7D4-6078D31409C7}"/>
    <dgm:cxn modelId="{70EBC47F-4612-4175-9CC0-048D8C784E45}" srcId="{4E0190F4-10BA-4137-AE0B-1BC0453EAD41}" destId="{F191E87F-09CD-405C-83F0-BB878A453077}" srcOrd="0" destOrd="0" parTransId="{05DC66DA-C69B-4878-8285-E69B4BC6C753}" sibTransId="{949EA4F1-5FC6-4713-A2FB-1B8CA582B07C}"/>
    <dgm:cxn modelId="{60866D06-372D-4B03-94F3-1D95487A85BA}" type="presOf" srcId="{DEA32EBE-4621-4940-984A-1EBF28AB5443}" destId="{A49C377D-02ED-4FA6-ADDB-9F1A3ED969DB}" srcOrd="0" destOrd="0" presId="urn:microsoft.com/office/officeart/2005/8/layout/orgChart1"/>
    <dgm:cxn modelId="{810F66DD-FE26-4F75-B234-B68FCF6E8B5A}" srcId="{85BC7C10-07E5-4B60-8B45-B9890323E90E}" destId="{E29EE917-1C3B-43A4-A79B-1C13E8E57C06}" srcOrd="0" destOrd="0" parTransId="{E8A32EBA-8472-442A-A780-840FDCC680D4}" sibTransId="{AF0D58ED-0071-4A69-BD49-123FC1646CD5}"/>
    <dgm:cxn modelId="{F7AA1644-3BEA-4B52-B5EC-D644C85EB9FF}" type="presOf" srcId="{2D6D6EF0-E28D-49E8-ADE9-10A0622226C0}" destId="{12A85763-71DD-4C18-A400-B5FCC287F022}" srcOrd="1" destOrd="0" presId="urn:microsoft.com/office/officeart/2005/8/layout/orgChart1"/>
    <dgm:cxn modelId="{AAE1A0A0-8A57-42E6-BAFA-723A75659312}" type="presOf" srcId="{FF8CD912-7BD6-4971-85D7-0B6F72662660}" destId="{09D7A9A6-1E2E-4A81-8FE3-10842B0935E7}" srcOrd="1" destOrd="0" presId="urn:microsoft.com/office/officeart/2005/8/layout/orgChart1"/>
    <dgm:cxn modelId="{52F0D7CA-A937-4503-ABEE-1B488AA71643}" type="presOf" srcId="{F191E87F-09CD-405C-83F0-BB878A453077}" destId="{9AE4EF2E-2B91-4140-B83D-29FC73168F42}" srcOrd="1" destOrd="0" presId="urn:microsoft.com/office/officeart/2005/8/layout/orgChart1"/>
    <dgm:cxn modelId="{AFE23EA9-FE2F-4594-AEC4-A2E989FFDBC2}" type="presOf" srcId="{B9FA329D-81FF-4210-8319-F543ECE5B168}" destId="{694770D8-090F-463C-90FF-B0322EB5DEF0}" srcOrd="0" destOrd="0" presId="urn:microsoft.com/office/officeart/2005/8/layout/orgChart1"/>
    <dgm:cxn modelId="{E0023F62-19E5-42D6-A450-57097C7C4D2A}" type="presOf" srcId="{E29EE917-1C3B-43A4-A79B-1C13E8E57C06}" destId="{83117857-DB87-4114-828A-069DB1444B58}" srcOrd="1" destOrd="0" presId="urn:microsoft.com/office/officeart/2005/8/layout/orgChart1"/>
    <dgm:cxn modelId="{113729D2-3DFE-4A7E-A38D-B7893782467B}" type="presOf" srcId="{02AB5558-2A41-4FD3-9466-1A7EEB85FE51}" destId="{28B8AC12-00FE-41D6-A68D-8199AD96BA17}" srcOrd="0" destOrd="0" presId="urn:microsoft.com/office/officeart/2005/8/layout/orgChart1"/>
    <dgm:cxn modelId="{C83BA9B0-CEEA-4F8A-9971-83C603C6AA6E}" type="presOf" srcId="{452DBA12-ACF6-461E-BFC7-BE2EF090D982}" destId="{DC2C39AA-953C-4FF2-8253-365AF63370DF}" srcOrd="0" destOrd="0" presId="urn:microsoft.com/office/officeart/2005/8/layout/orgChart1"/>
    <dgm:cxn modelId="{DD14D476-9802-4688-A10F-D0DDB28DA0B9}" type="presOf" srcId="{7A886C55-1C40-4736-97A8-81974EB1D45E}" destId="{A3AF3149-C226-431D-902C-EA04BF637765}" srcOrd="1" destOrd="0" presId="urn:microsoft.com/office/officeart/2005/8/layout/orgChart1"/>
    <dgm:cxn modelId="{F3F6C074-D7A4-4093-9356-F3106BC59A47}" type="presOf" srcId="{05DC66DA-C69B-4878-8285-E69B4BC6C753}" destId="{BE53EAE0-6094-4769-9E10-DAD0E697F0A9}" srcOrd="0" destOrd="0" presId="urn:microsoft.com/office/officeart/2005/8/layout/orgChart1"/>
    <dgm:cxn modelId="{0F47C1A2-488F-4139-8C47-D22897805E8C}" srcId="{E29EE917-1C3B-43A4-A79B-1C13E8E57C06}" destId="{2D6D6EF0-E28D-49E8-ADE9-10A0622226C0}" srcOrd="1" destOrd="0" parTransId="{0C52337D-9A22-452F-966D-FC369CBC2C36}" sibTransId="{8B510A5C-8D66-41A6-937F-D5F78DC1E850}"/>
    <dgm:cxn modelId="{0D9CE1A0-24FE-43B8-A853-6CFC51A8B08C}" type="presOf" srcId="{03033B10-AFEA-4400-BADE-20E025CE7E00}" destId="{F6A45135-9886-4EA0-A123-CAAA73092CA9}" srcOrd="0" destOrd="0" presId="urn:microsoft.com/office/officeart/2005/8/layout/orgChart1"/>
    <dgm:cxn modelId="{6146352B-BFD9-4EFB-9EAF-0F1A638EBC0A}" type="presParOf" srcId="{E0DFA32C-8E4D-476F-98E6-BB91B5667C2D}" destId="{74B4EB39-FBBF-4A6A-8DB4-D3AA76D72D63}" srcOrd="0" destOrd="0" presId="urn:microsoft.com/office/officeart/2005/8/layout/orgChart1"/>
    <dgm:cxn modelId="{A5D4233C-93CA-492D-9A76-B1A26577C438}" type="presParOf" srcId="{74B4EB39-FBBF-4A6A-8DB4-D3AA76D72D63}" destId="{BE58D575-4FF1-4B90-80E6-5D818FD0E4E6}" srcOrd="0" destOrd="0" presId="urn:microsoft.com/office/officeart/2005/8/layout/orgChart1"/>
    <dgm:cxn modelId="{26E5DF89-DD85-4799-81BA-846D70491C61}" type="presParOf" srcId="{BE58D575-4FF1-4B90-80E6-5D818FD0E4E6}" destId="{94712052-674B-4DBC-9000-3CD241D3CB17}" srcOrd="0" destOrd="0" presId="urn:microsoft.com/office/officeart/2005/8/layout/orgChart1"/>
    <dgm:cxn modelId="{BF32B94D-D0DA-43B4-8F18-29CC603AA290}" type="presParOf" srcId="{BE58D575-4FF1-4B90-80E6-5D818FD0E4E6}" destId="{83117857-DB87-4114-828A-069DB1444B58}" srcOrd="1" destOrd="0" presId="urn:microsoft.com/office/officeart/2005/8/layout/orgChart1"/>
    <dgm:cxn modelId="{B410D96F-CD48-4600-8FF9-1F80239FCD52}" type="presParOf" srcId="{74B4EB39-FBBF-4A6A-8DB4-D3AA76D72D63}" destId="{8F1D5A33-07EB-419D-8AAB-B1DF73499FCB}" srcOrd="1" destOrd="0" presId="urn:microsoft.com/office/officeart/2005/8/layout/orgChart1"/>
    <dgm:cxn modelId="{AEDD1921-DC99-4E63-931A-0C1B2ED5A9C4}" type="presParOf" srcId="{8F1D5A33-07EB-419D-8AAB-B1DF73499FCB}" destId="{28B8AC12-00FE-41D6-A68D-8199AD96BA17}" srcOrd="0" destOrd="0" presId="urn:microsoft.com/office/officeart/2005/8/layout/orgChart1"/>
    <dgm:cxn modelId="{89E2B043-37BB-4DE1-81BA-171CC6B160F4}" type="presParOf" srcId="{8F1D5A33-07EB-419D-8AAB-B1DF73499FCB}" destId="{58492DA4-763C-4188-BBB3-33F7DAFC5B52}" srcOrd="1" destOrd="0" presId="urn:microsoft.com/office/officeart/2005/8/layout/orgChart1"/>
    <dgm:cxn modelId="{36730612-8091-459A-9FCD-F687BEE3572D}" type="presParOf" srcId="{58492DA4-763C-4188-BBB3-33F7DAFC5B52}" destId="{F1DBD00B-76BD-4840-B4CD-71F9CE0252DF}" srcOrd="0" destOrd="0" presId="urn:microsoft.com/office/officeart/2005/8/layout/orgChart1"/>
    <dgm:cxn modelId="{B56CB054-B16B-4A78-B65F-6E0BDA613569}" type="presParOf" srcId="{F1DBD00B-76BD-4840-B4CD-71F9CE0252DF}" destId="{7BAE6B77-64BB-4956-8724-556168C68874}" srcOrd="0" destOrd="0" presId="urn:microsoft.com/office/officeart/2005/8/layout/orgChart1"/>
    <dgm:cxn modelId="{46AC2933-AFD6-4743-AFAB-D616C0B19B31}" type="presParOf" srcId="{F1DBD00B-76BD-4840-B4CD-71F9CE0252DF}" destId="{20C8F9C9-7085-4D52-A4E8-6871DD93C4EC}" srcOrd="1" destOrd="0" presId="urn:microsoft.com/office/officeart/2005/8/layout/orgChart1"/>
    <dgm:cxn modelId="{0E9700F2-0A19-470D-A043-658BE41364FC}" type="presParOf" srcId="{58492DA4-763C-4188-BBB3-33F7DAFC5B52}" destId="{64DD722A-7E0A-4138-BC3D-0A27171BB285}" srcOrd="1" destOrd="0" presId="urn:microsoft.com/office/officeart/2005/8/layout/orgChart1"/>
    <dgm:cxn modelId="{B17329ED-69C8-4F1F-A300-6CB950F2B134}" type="presParOf" srcId="{64DD722A-7E0A-4138-BC3D-0A27171BB285}" destId="{BE53EAE0-6094-4769-9E10-DAD0E697F0A9}" srcOrd="0" destOrd="0" presId="urn:microsoft.com/office/officeart/2005/8/layout/orgChart1"/>
    <dgm:cxn modelId="{41C97B8F-5603-43D7-8607-959477476772}" type="presParOf" srcId="{64DD722A-7E0A-4138-BC3D-0A27171BB285}" destId="{866BF6E0-0F6E-46B4-9E95-C4575CCBC59B}" srcOrd="1" destOrd="0" presId="urn:microsoft.com/office/officeart/2005/8/layout/orgChart1"/>
    <dgm:cxn modelId="{A139C42F-743C-4918-8049-43A1DA0760BA}" type="presParOf" srcId="{866BF6E0-0F6E-46B4-9E95-C4575CCBC59B}" destId="{EF6BA219-C5B0-4AD1-A175-A4753339C850}" srcOrd="0" destOrd="0" presId="urn:microsoft.com/office/officeart/2005/8/layout/orgChart1"/>
    <dgm:cxn modelId="{58779E1C-CDD1-4E43-ACE7-91FC2866B0A4}" type="presParOf" srcId="{EF6BA219-C5B0-4AD1-A175-A4753339C850}" destId="{52D01709-44AD-44E6-8BE0-B853A5F44573}" srcOrd="0" destOrd="0" presId="urn:microsoft.com/office/officeart/2005/8/layout/orgChart1"/>
    <dgm:cxn modelId="{5169A509-F104-4DAF-A654-2969BB29950F}" type="presParOf" srcId="{EF6BA219-C5B0-4AD1-A175-A4753339C850}" destId="{9AE4EF2E-2B91-4140-B83D-29FC73168F42}" srcOrd="1" destOrd="0" presId="urn:microsoft.com/office/officeart/2005/8/layout/orgChart1"/>
    <dgm:cxn modelId="{0DB8AB2C-0ABB-4A2C-B043-C2F7D04663A1}" type="presParOf" srcId="{866BF6E0-0F6E-46B4-9E95-C4575CCBC59B}" destId="{C2D55DF1-F4C5-4C93-AC51-3B2854C2CC69}" srcOrd="1" destOrd="0" presId="urn:microsoft.com/office/officeart/2005/8/layout/orgChart1"/>
    <dgm:cxn modelId="{72754EBB-A52E-4258-9BE1-13465E997C52}" type="presParOf" srcId="{866BF6E0-0F6E-46B4-9E95-C4575CCBC59B}" destId="{6CD0B26A-74C7-413C-8520-E83B7615FDFA}" srcOrd="2" destOrd="0" presId="urn:microsoft.com/office/officeart/2005/8/layout/orgChart1"/>
    <dgm:cxn modelId="{ECD4EE6E-79C4-4EEA-942D-C4A5BAD26E5A}" type="presParOf" srcId="{58492DA4-763C-4188-BBB3-33F7DAFC5B52}" destId="{D09BB426-EDB4-4F88-93FE-3E8D2CFA2388}" srcOrd="2" destOrd="0" presId="urn:microsoft.com/office/officeart/2005/8/layout/orgChart1"/>
    <dgm:cxn modelId="{7F13456C-0F57-49FD-B8A9-0A9F51551D2A}" type="presParOf" srcId="{8F1D5A33-07EB-419D-8AAB-B1DF73499FCB}" destId="{B3FFBE26-931A-4E34-9368-7F767BCAD0E9}" srcOrd="2" destOrd="0" presId="urn:microsoft.com/office/officeart/2005/8/layout/orgChart1"/>
    <dgm:cxn modelId="{7A64E394-36F7-4C69-8F1D-2FF810154333}" type="presParOf" srcId="{8F1D5A33-07EB-419D-8AAB-B1DF73499FCB}" destId="{5DA9E2DA-335E-4E29-8D39-F395E684626A}" srcOrd="3" destOrd="0" presId="urn:microsoft.com/office/officeart/2005/8/layout/orgChart1"/>
    <dgm:cxn modelId="{F46E9BC1-1615-401B-BF26-4415C4FAE41F}" type="presParOf" srcId="{5DA9E2DA-335E-4E29-8D39-F395E684626A}" destId="{58B2FD77-8EB8-4839-B088-BB55689D8904}" srcOrd="0" destOrd="0" presId="urn:microsoft.com/office/officeart/2005/8/layout/orgChart1"/>
    <dgm:cxn modelId="{CC3E6989-3117-4E0F-9C56-C3E9DA84C9AA}" type="presParOf" srcId="{58B2FD77-8EB8-4839-B088-BB55689D8904}" destId="{ED194EB7-9F94-4213-BA21-BD23587A06AA}" srcOrd="0" destOrd="0" presId="urn:microsoft.com/office/officeart/2005/8/layout/orgChart1"/>
    <dgm:cxn modelId="{DCD6D434-29A7-4002-968D-F0907E15B848}" type="presParOf" srcId="{58B2FD77-8EB8-4839-B088-BB55689D8904}" destId="{12A85763-71DD-4C18-A400-B5FCC287F022}" srcOrd="1" destOrd="0" presId="urn:microsoft.com/office/officeart/2005/8/layout/orgChart1"/>
    <dgm:cxn modelId="{17310FCD-6599-4C4C-B79F-042ADFC8B220}" type="presParOf" srcId="{5DA9E2DA-335E-4E29-8D39-F395E684626A}" destId="{DE1E4E6A-4234-46C2-B5AC-B8FEBEAB5A03}" srcOrd="1" destOrd="0" presId="urn:microsoft.com/office/officeart/2005/8/layout/orgChart1"/>
    <dgm:cxn modelId="{50DD3167-E117-477C-87E2-30BE26C8CE90}" type="presParOf" srcId="{DE1E4E6A-4234-46C2-B5AC-B8FEBEAB5A03}" destId="{A49C377D-02ED-4FA6-ADDB-9F1A3ED969DB}" srcOrd="0" destOrd="0" presId="urn:microsoft.com/office/officeart/2005/8/layout/orgChart1"/>
    <dgm:cxn modelId="{1A233AB7-BA76-43DA-8668-0F637780C863}" type="presParOf" srcId="{DE1E4E6A-4234-46C2-B5AC-B8FEBEAB5A03}" destId="{2D21EB0B-EFD4-4684-A41C-01A36E6B7C9E}" srcOrd="1" destOrd="0" presId="urn:microsoft.com/office/officeart/2005/8/layout/orgChart1"/>
    <dgm:cxn modelId="{C4ED99B8-505B-48C1-9483-5168A1D04125}" type="presParOf" srcId="{2D21EB0B-EFD4-4684-A41C-01A36E6B7C9E}" destId="{45734C36-6188-400F-A780-ED26F0AE0CA4}" srcOrd="0" destOrd="0" presId="urn:microsoft.com/office/officeart/2005/8/layout/orgChart1"/>
    <dgm:cxn modelId="{D25FF70F-3F4B-4205-BE66-48E00E9D6D20}" type="presParOf" srcId="{45734C36-6188-400F-A780-ED26F0AE0CA4}" destId="{FC175C8A-ADEE-44B8-870B-2C3EB024F6C1}" srcOrd="0" destOrd="0" presId="urn:microsoft.com/office/officeart/2005/8/layout/orgChart1"/>
    <dgm:cxn modelId="{539398B6-E6DF-45C1-A271-73A7563D61F1}" type="presParOf" srcId="{45734C36-6188-400F-A780-ED26F0AE0CA4}" destId="{A3AF3149-C226-431D-902C-EA04BF637765}" srcOrd="1" destOrd="0" presId="urn:microsoft.com/office/officeart/2005/8/layout/orgChart1"/>
    <dgm:cxn modelId="{0929F12B-4C1A-4A63-A5E2-9E7C306A6CCF}" type="presParOf" srcId="{2D21EB0B-EFD4-4684-A41C-01A36E6B7C9E}" destId="{C316F33B-027B-450A-99E1-F9ADC86CFB54}" srcOrd="1" destOrd="0" presId="urn:microsoft.com/office/officeart/2005/8/layout/orgChart1"/>
    <dgm:cxn modelId="{402347A8-DFA4-4CBE-8D65-7C0D014EA14D}" type="presParOf" srcId="{2D21EB0B-EFD4-4684-A41C-01A36E6B7C9E}" destId="{391812B9-9A4F-4EC1-A06A-116A026BC4EE}" srcOrd="2" destOrd="0" presId="urn:microsoft.com/office/officeart/2005/8/layout/orgChart1"/>
    <dgm:cxn modelId="{82057ED2-B31F-4281-9866-FFF0841123D9}" type="presParOf" srcId="{5DA9E2DA-335E-4E29-8D39-F395E684626A}" destId="{D7BEAD0C-7E24-43D8-91DC-8E302187AF23}" srcOrd="2" destOrd="0" presId="urn:microsoft.com/office/officeart/2005/8/layout/orgChart1"/>
    <dgm:cxn modelId="{44847BD4-7F6C-4FD2-8339-AE1B3A54D4F4}" type="presParOf" srcId="{8F1D5A33-07EB-419D-8AAB-B1DF73499FCB}" destId="{DC2C39AA-953C-4FF2-8253-365AF63370DF}" srcOrd="4" destOrd="0" presId="urn:microsoft.com/office/officeart/2005/8/layout/orgChart1"/>
    <dgm:cxn modelId="{68DDEBBA-8BCE-4392-A393-F7AEF5897023}" type="presParOf" srcId="{8F1D5A33-07EB-419D-8AAB-B1DF73499FCB}" destId="{8D2BDA9B-A46B-4EAE-8FE6-86673E638064}" srcOrd="5" destOrd="0" presId="urn:microsoft.com/office/officeart/2005/8/layout/orgChart1"/>
    <dgm:cxn modelId="{303D2973-B0A6-4890-A922-E8D4E36357FF}" type="presParOf" srcId="{8D2BDA9B-A46B-4EAE-8FE6-86673E638064}" destId="{163F0A72-385D-4B60-8264-0A13F2102C43}" srcOrd="0" destOrd="0" presId="urn:microsoft.com/office/officeart/2005/8/layout/orgChart1"/>
    <dgm:cxn modelId="{AA1B97E2-A1CF-4B43-91D5-08CA81B1C770}" type="presParOf" srcId="{163F0A72-385D-4B60-8264-0A13F2102C43}" destId="{0B85A91C-AF0B-482A-A8D3-A81F8FA5AD26}" srcOrd="0" destOrd="0" presId="urn:microsoft.com/office/officeart/2005/8/layout/orgChart1"/>
    <dgm:cxn modelId="{01533376-9220-4C48-A48D-8123DE47B704}" type="presParOf" srcId="{163F0A72-385D-4B60-8264-0A13F2102C43}" destId="{09D7A9A6-1E2E-4A81-8FE3-10842B0935E7}" srcOrd="1" destOrd="0" presId="urn:microsoft.com/office/officeart/2005/8/layout/orgChart1"/>
    <dgm:cxn modelId="{60159CB7-A184-4D83-8275-7D435E19E80E}" type="presParOf" srcId="{8D2BDA9B-A46B-4EAE-8FE6-86673E638064}" destId="{9E441DE1-86B8-4603-9F75-4FCD5D9DB263}" srcOrd="1" destOrd="0" presId="urn:microsoft.com/office/officeart/2005/8/layout/orgChart1"/>
    <dgm:cxn modelId="{B9007982-D346-4E43-89E3-F9EB088F40BE}" type="presParOf" srcId="{9E441DE1-86B8-4603-9F75-4FCD5D9DB263}" destId="{F6A45135-9886-4EA0-A123-CAAA73092CA9}" srcOrd="0" destOrd="0" presId="urn:microsoft.com/office/officeart/2005/8/layout/orgChart1"/>
    <dgm:cxn modelId="{37519A34-377A-4584-A3F7-C131FF4AC79C}" type="presParOf" srcId="{9E441DE1-86B8-4603-9F75-4FCD5D9DB263}" destId="{D10C590D-2E80-4386-B182-D7D4E434445B}" srcOrd="1" destOrd="0" presId="urn:microsoft.com/office/officeart/2005/8/layout/orgChart1"/>
    <dgm:cxn modelId="{F4EA5598-2748-4745-9A60-5AF28B0E5A04}" type="presParOf" srcId="{D10C590D-2E80-4386-B182-D7D4E434445B}" destId="{583D9E1D-99C0-4A53-84BF-B464EFB3C5CE}" srcOrd="0" destOrd="0" presId="urn:microsoft.com/office/officeart/2005/8/layout/orgChart1"/>
    <dgm:cxn modelId="{7900082B-54EB-45C3-A114-D801CAFE8E48}" type="presParOf" srcId="{583D9E1D-99C0-4A53-84BF-B464EFB3C5CE}" destId="{694770D8-090F-463C-90FF-B0322EB5DEF0}" srcOrd="0" destOrd="0" presId="urn:microsoft.com/office/officeart/2005/8/layout/orgChart1"/>
    <dgm:cxn modelId="{912686E1-9D3B-4649-8833-5FB3407A0750}" type="presParOf" srcId="{583D9E1D-99C0-4A53-84BF-B464EFB3C5CE}" destId="{C95783E2-A3A7-4309-8A20-30CBC1AD11E3}" srcOrd="1" destOrd="0" presId="urn:microsoft.com/office/officeart/2005/8/layout/orgChart1"/>
    <dgm:cxn modelId="{F349B32E-69DB-485B-B89A-B41C1CE92527}" type="presParOf" srcId="{D10C590D-2E80-4386-B182-D7D4E434445B}" destId="{6A547849-26F7-4A83-BF03-5EB58BAE4A54}" srcOrd="1" destOrd="0" presId="urn:microsoft.com/office/officeart/2005/8/layout/orgChart1"/>
    <dgm:cxn modelId="{9A519D92-8D8D-4BF3-BF7A-045791529F9C}" type="presParOf" srcId="{D10C590D-2E80-4386-B182-D7D4E434445B}" destId="{E20766DB-4794-4807-AD2E-2B793939DEFE}" srcOrd="2" destOrd="0" presId="urn:microsoft.com/office/officeart/2005/8/layout/orgChart1"/>
    <dgm:cxn modelId="{80D6F83D-28B5-4A8A-9B72-228AE95775DB}" type="presParOf" srcId="{8D2BDA9B-A46B-4EAE-8FE6-86673E638064}" destId="{ECAEEA5E-9646-461D-BCDB-486A5A1F24C9}" srcOrd="2" destOrd="0" presId="urn:microsoft.com/office/officeart/2005/8/layout/orgChart1"/>
    <dgm:cxn modelId="{2C77AF55-09FE-4FF6-BF2A-6B5A8286FCCD}" type="presParOf" srcId="{74B4EB39-FBBF-4A6A-8DB4-D3AA76D72D63}" destId="{B3874E97-408E-4561-99E2-84B1C957F32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45135-9886-4EA0-A123-CAAA73092CA9}">
      <dsp:nvSpPr>
        <dsp:cNvPr id="0" name=""/>
        <dsp:cNvSpPr/>
      </dsp:nvSpPr>
      <dsp:spPr>
        <a:xfrm>
          <a:off x="6919553" y="2851922"/>
          <a:ext cx="91440" cy="494710"/>
        </a:xfrm>
        <a:custGeom>
          <a:avLst/>
          <a:gdLst/>
          <a:ahLst/>
          <a:cxnLst/>
          <a:rect l="0" t="0" r="0" b="0"/>
          <a:pathLst>
            <a:path>
              <a:moveTo>
                <a:pt x="45720" y="0"/>
              </a:moveTo>
              <a:lnTo>
                <a:pt x="45720" y="4947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2C39AA-953C-4FF2-8253-365AF63370DF}">
      <dsp:nvSpPr>
        <dsp:cNvPr id="0" name=""/>
        <dsp:cNvSpPr/>
      </dsp:nvSpPr>
      <dsp:spPr>
        <a:xfrm>
          <a:off x="4114800" y="1179330"/>
          <a:ext cx="2850473" cy="494710"/>
        </a:xfrm>
        <a:custGeom>
          <a:avLst/>
          <a:gdLst/>
          <a:ahLst/>
          <a:cxnLst/>
          <a:rect l="0" t="0" r="0" b="0"/>
          <a:pathLst>
            <a:path>
              <a:moveTo>
                <a:pt x="0" y="0"/>
              </a:moveTo>
              <a:lnTo>
                <a:pt x="0" y="247355"/>
              </a:lnTo>
              <a:lnTo>
                <a:pt x="2850473" y="247355"/>
              </a:lnTo>
              <a:lnTo>
                <a:pt x="2850473" y="4947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9C377D-02ED-4FA6-ADDB-9F1A3ED969DB}">
      <dsp:nvSpPr>
        <dsp:cNvPr id="0" name=""/>
        <dsp:cNvSpPr/>
      </dsp:nvSpPr>
      <dsp:spPr>
        <a:xfrm>
          <a:off x="4069079" y="2851922"/>
          <a:ext cx="91440" cy="494710"/>
        </a:xfrm>
        <a:custGeom>
          <a:avLst/>
          <a:gdLst/>
          <a:ahLst/>
          <a:cxnLst/>
          <a:rect l="0" t="0" r="0" b="0"/>
          <a:pathLst>
            <a:path>
              <a:moveTo>
                <a:pt x="45720" y="0"/>
              </a:moveTo>
              <a:lnTo>
                <a:pt x="45720" y="4947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FFBE26-931A-4E34-9368-7F767BCAD0E9}">
      <dsp:nvSpPr>
        <dsp:cNvPr id="0" name=""/>
        <dsp:cNvSpPr/>
      </dsp:nvSpPr>
      <dsp:spPr>
        <a:xfrm>
          <a:off x="4069079" y="1179330"/>
          <a:ext cx="91440" cy="494710"/>
        </a:xfrm>
        <a:custGeom>
          <a:avLst/>
          <a:gdLst/>
          <a:ahLst/>
          <a:cxnLst/>
          <a:rect l="0" t="0" r="0" b="0"/>
          <a:pathLst>
            <a:path>
              <a:moveTo>
                <a:pt x="45720" y="0"/>
              </a:moveTo>
              <a:lnTo>
                <a:pt x="45720" y="4947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53EAE0-6094-4769-9E10-DAD0E697F0A9}">
      <dsp:nvSpPr>
        <dsp:cNvPr id="0" name=""/>
        <dsp:cNvSpPr/>
      </dsp:nvSpPr>
      <dsp:spPr>
        <a:xfrm>
          <a:off x="1218606" y="2851922"/>
          <a:ext cx="91440" cy="494710"/>
        </a:xfrm>
        <a:custGeom>
          <a:avLst/>
          <a:gdLst/>
          <a:ahLst/>
          <a:cxnLst/>
          <a:rect l="0" t="0" r="0" b="0"/>
          <a:pathLst>
            <a:path>
              <a:moveTo>
                <a:pt x="45720" y="0"/>
              </a:moveTo>
              <a:lnTo>
                <a:pt x="45720" y="4947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B8AC12-00FE-41D6-A68D-8199AD96BA17}">
      <dsp:nvSpPr>
        <dsp:cNvPr id="0" name=""/>
        <dsp:cNvSpPr/>
      </dsp:nvSpPr>
      <dsp:spPr>
        <a:xfrm>
          <a:off x="1264326" y="1179330"/>
          <a:ext cx="2850473" cy="494710"/>
        </a:xfrm>
        <a:custGeom>
          <a:avLst/>
          <a:gdLst/>
          <a:ahLst/>
          <a:cxnLst/>
          <a:rect l="0" t="0" r="0" b="0"/>
          <a:pathLst>
            <a:path>
              <a:moveTo>
                <a:pt x="2850473" y="0"/>
              </a:moveTo>
              <a:lnTo>
                <a:pt x="2850473" y="247355"/>
              </a:lnTo>
              <a:lnTo>
                <a:pt x="0" y="247355"/>
              </a:lnTo>
              <a:lnTo>
                <a:pt x="0" y="4947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712052-674B-4DBC-9000-3CD241D3CB17}">
      <dsp:nvSpPr>
        <dsp:cNvPr id="0" name=""/>
        <dsp:cNvSpPr/>
      </dsp:nvSpPr>
      <dsp:spPr>
        <a:xfrm>
          <a:off x="2936918" y="1448"/>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Types of Conscience</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endParaRPr>
        </a:p>
      </dsp:txBody>
      <dsp:txXfrm>
        <a:off x="2936918" y="1448"/>
        <a:ext cx="2355763" cy="1177881"/>
      </dsp:txXfrm>
    </dsp:sp>
    <dsp:sp modelId="{7BAE6B77-64BB-4956-8724-556168C68874}">
      <dsp:nvSpPr>
        <dsp:cNvPr id="0" name=""/>
        <dsp:cNvSpPr/>
      </dsp:nvSpPr>
      <dsp:spPr>
        <a:xfrm>
          <a:off x="86444" y="1674040"/>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Timing of Act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endParaRPr>
        </a:p>
      </dsp:txBody>
      <dsp:txXfrm>
        <a:off x="86444" y="1674040"/>
        <a:ext cx="2355763" cy="1177881"/>
      </dsp:txXfrm>
    </dsp:sp>
    <dsp:sp modelId="{52D01709-44AD-44E6-8BE0-B853A5F44573}">
      <dsp:nvSpPr>
        <dsp:cNvPr id="0" name=""/>
        <dsp:cNvSpPr/>
      </dsp:nvSpPr>
      <dsp:spPr>
        <a:xfrm>
          <a:off x="86444" y="3346632"/>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Antecedent/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Consequent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endParaRPr>
        </a:p>
      </dsp:txBody>
      <dsp:txXfrm>
        <a:off x="86444" y="3346632"/>
        <a:ext cx="2355763" cy="1177881"/>
      </dsp:txXfrm>
    </dsp:sp>
    <dsp:sp modelId="{ED194EB7-9F94-4213-BA21-BD23587A06AA}">
      <dsp:nvSpPr>
        <dsp:cNvPr id="0" name=""/>
        <dsp:cNvSpPr/>
      </dsp:nvSpPr>
      <dsp:spPr>
        <a:xfrm>
          <a:off x="2936918" y="1674040"/>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Relation to NML</a:t>
          </a:r>
        </a:p>
      </dsp:txBody>
      <dsp:txXfrm>
        <a:off x="2936918" y="1674040"/>
        <a:ext cx="2355763" cy="1177881"/>
      </dsp:txXfrm>
    </dsp:sp>
    <dsp:sp modelId="{FC175C8A-ADEE-44B8-870B-2C3EB024F6C1}">
      <dsp:nvSpPr>
        <dsp:cNvPr id="0" name=""/>
        <dsp:cNvSpPr/>
      </dsp:nvSpPr>
      <dsp:spPr>
        <a:xfrm>
          <a:off x="2936918" y="3346632"/>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True/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Erroneous</a:t>
          </a:r>
        </a:p>
      </dsp:txBody>
      <dsp:txXfrm>
        <a:off x="2936918" y="3346632"/>
        <a:ext cx="2355763" cy="1177881"/>
      </dsp:txXfrm>
    </dsp:sp>
    <dsp:sp modelId="{0B85A91C-AF0B-482A-A8D3-A81F8FA5AD26}">
      <dsp:nvSpPr>
        <dsp:cNvPr id="0" name=""/>
        <dsp:cNvSpPr/>
      </dsp:nvSpPr>
      <dsp:spPr>
        <a:xfrm>
          <a:off x="5787391" y="1674040"/>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Level of certainty</a:t>
          </a:r>
        </a:p>
      </dsp:txBody>
      <dsp:txXfrm>
        <a:off x="5787391" y="1674040"/>
        <a:ext cx="2355763" cy="1177881"/>
      </dsp:txXfrm>
    </dsp:sp>
    <dsp:sp modelId="{694770D8-090F-463C-90FF-B0322EB5DEF0}">
      <dsp:nvSpPr>
        <dsp:cNvPr id="0" name=""/>
        <dsp:cNvSpPr/>
      </dsp:nvSpPr>
      <dsp:spPr>
        <a:xfrm>
          <a:off x="5787391" y="3346632"/>
          <a:ext cx="2355763" cy="1177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Sure or certain/</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Probable/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900" b="0" i="0" u="none" strike="noStrike" kern="1200" cap="none" normalizeH="0" baseline="0" smtClean="0">
              <a:ln>
                <a:noFill/>
              </a:ln>
              <a:solidFill>
                <a:schemeClr val="tx1"/>
              </a:solidFill>
              <a:effectLst/>
              <a:latin typeface="Arial" panose="020B0604020202020204" pitchFamily="34" charset="0"/>
              <a:cs typeface="Arial" panose="020B0604020202020204" pitchFamily="34" charset="0"/>
            </a:rPr>
            <a:t>Doubtful</a:t>
          </a:r>
        </a:p>
      </dsp:txBody>
      <dsp:txXfrm>
        <a:off x="5787391" y="3346632"/>
        <a:ext cx="2355763" cy="117788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0F6BD38-48D3-4470-9ADE-6B2CBF7991BC}" type="datetimeFigureOut">
              <a:rPr lang="en-US"/>
              <a:pPr>
                <a:defRPr/>
              </a:pPr>
              <a:t>7/27/2024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B2D02311-A5EF-452A-81DF-DB3FAF2C61A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E9E18E5-0DC7-4966-9D78-1710C0E1EAC9}" type="slidenum">
              <a:rPr lang="en-GB" altLang="en-US"/>
              <a:pPr>
                <a:spcBef>
                  <a:spcPct val="0"/>
                </a:spcBef>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DA462-50EF-4B02-BCE3-64952D8A4066}" type="slidenum">
              <a:rPr lang="en-GB" altLang="en-US"/>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1FC5729-27E5-4C1A-9C04-CBCC9EDEDB37}" type="slidenum">
              <a:rPr lang="en-GB" altLang="en-US"/>
              <a:pPr>
                <a:spcBef>
                  <a:spcPct val="0"/>
                </a:spcBef>
              </a:pPr>
              <a:t>4</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11F9667-BAC3-41A9-A30A-69023E9F6027}" type="slidenum">
              <a:rPr lang="en-GB" altLang="en-US"/>
              <a:pPr>
                <a:spcBef>
                  <a:spcPct val="0"/>
                </a:spcBef>
              </a:pPr>
              <a:t>6</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DE88DB7-28FA-4458-A826-1F2020DE8745}" type="slidenum">
              <a:rPr lang="en-GB" altLang="en-US"/>
              <a:pPr>
                <a:spcBef>
                  <a:spcPct val="0"/>
                </a:spcBef>
              </a:pPr>
              <a:t>17</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smtClean="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20733F2-18C7-4A6D-AB8D-829DE19FD9BE}" type="slidenum">
              <a:rPr lang="en-GB" altLang="en-US"/>
              <a:pPr>
                <a:spcBef>
                  <a:spcPct val="0"/>
                </a:spcBef>
              </a:pPr>
              <a:t>30</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75D875B1-3EAF-451C-A618-147C01C5E924}" type="datetimeFigureOut">
              <a:rPr lang="en-US"/>
              <a:pPr>
                <a:defRPr/>
              </a:pPr>
              <a:t>7/27/2024</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smtClean="0">
                <a:solidFill>
                  <a:srgbClr val="D1EAEE"/>
                </a:solidFill>
              </a:defRPr>
            </a:lvl1pPr>
          </a:lstStyle>
          <a:p>
            <a:pPr>
              <a:defRPr/>
            </a:pPr>
            <a:fld id="{6BE089C3-4143-4B28-AAC0-2E71D3E746C8}" type="slidenum">
              <a:rPr lang="en-US"/>
              <a:pPr>
                <a:defRPr/>
              </a:pPr>
              <a:t>‹#›</a:t>
            </a:fld>
            <a:endParaRPr lang="en-US"/>
          </a:p>
        </p:txBody>
      </p:sp>
    </p:spTree>
    <p:extLst>
      <p:ext uri="{BB962C8B-B14F-4D97-AF65-F5344CB8AC3E}">
        <p14:creationId xmlns:p14="http://schemas.microsoft.com/office/powerpoint/2010/main" val="186001409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322C8A0-EB21-411D-BFFB-F68BF214E78A}" type="datetimeFigureOut">
              <a:rPr lang="en-US"/>
              <a:pPr>
                <a:defRPr/>
              </a:pPr>
              <a:t>7/27/2024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F812F858-6085-4947-B63D-9DFDB16B1E74}" type="slidenum">
              <a:rPr lang="en-US"/>
              <a:pPr>
                <a:defRPr/>
              </a:pPr>
              <a:t>‹#›</a:t>
            </a:fld>
            <a:endParaRPr lang="en-US"/>
          </a:p>
        </p:txBody>
      </p:sp>
    </p:spTree>
    <p:extLst>
      <p:ext uri="{BB962C8B-B14F-4D97-AF65-F5344CB8AC3E}">
        <p14:creationId xmlns:p14="http://schemas.microsoft.com/office/powerpoint/2010/main" val="344726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B58D0E4-8E57-4AF8-A27E-8AA7AD71937B}" type="datetimeFigureOut">
              <a:rPr lang="en-US"/>
              <a:pPr>
                <a:defRPr/>
              </a:pPr>
              <a:t>7/27/2024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smtClean="0">
                <a:solidFill>
                  <a:srgbClr val="D1EAEE"/>
                </a:solidFill>
              </a:defRPr>
            </a:lvl1pPr>
          </a:lstStyle>
          <a:p>
            <a:pPr>
              <a:defRPr/>
            </a:pPr>
            <a:fld id="{0F853633-FCBE-47D5-ACE0-1057E9FBBD87}" type="slidenum">
              <a:rPr lang="en-US"/>
              <a:pPr>
                <a:defRPr/>
              </a:pPr>
              <a:t>‹#›</a:t>
            </a:fld>
            <a:endParaRPr lang="en-US"/>
          </a:p>
        </p:txBody>
      </p:sp>
    </p:spTree>
    <p:extLst>
      <p:ext uri="{BB962C8B-B14F-4D97-AF65-F5344CB8AC3E}">
        <p14:creationId xmlns:p14="http://schemas.microsoft.com/office/powerpoint/2010/main" val="306322800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C0894762-3354-4E7E-A181-270E4EAF739C}" type="datetimeFigureOut">
              <a:rPr lang="en-US"/>
              <a:pPr>
                <a:defRPr/>
              </a:pPr>
              <a:t>7/27/2024</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C6C3D2CB-5F2D-4F1F-9610-D077AD1A747B}" type="slidenum">
              <a:rPr lang="en-US"/>
              <a:pPr>
                <a:defRPr/>
              </a:pPr>
              <a:t>‹#›</a:t>
            </a:fld>
            <a:endParaRPr lang="en-US"/>
          </a:p>
        </p:txBody>
      </p:sp>
    </p:spTree>
    <p:extLst>
      <p:ext uri="{BB962C8B-B14F-4D97-AF65-F5344CB8AC3E}">
        <p14:creationId xmlns:p14="http://schemas.microsoft.com/office/powerpoint/2010/main" val="15663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3AB4F6EC-AF31-4582-B592-24B96502B0BA}" type="datetimeFigureOut">
              <a:rPr lang="en-US"/>
              <a:pPr>
                <a:defRPr/>
              </a:pPr>
              <a:t>7/27/2024</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9004A51F-3453-4591-8BA6-6E9BB91C846F}" type="slidenum">
              <a:rPr lang="en-US"/>
              <a:pPr>
                <a:defRPr/>
              </a:pPr>
              <a:t>‹#›</a:t>
            </a:fld>
            <a:endParaRPr lang="en-US"/>
          </a:p>
        </p:txBody>
      </p:sp>
    </p:spTree>
    <p:extLst>
      <p:ext uri="{BB962C8B-B14F-4D97-AF65-F5344CB8AC3E}">
        <p14:creationId xmlns:p14="http://schemas.microsoft.com/office/powerpoint/2010/main" val="122508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F47DB9CA-0BD4-433B-8466-60DEA5B7E39E}" type="datetimeFigureOut">
              <a:rPr lang="en-US"/>
              <a:pPr>
                <a:defRPr/>
              </a:pPr>
              <a:t>7/27/2024</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96619068-5FED-4491-9317-E2FF6C6CC784}" type="slidenum">
              <a:rPr lang="en-US"/>
              <a:pPr>
                <a:defRPr/>
              </a:pPr>
              <a:t>‹#›</a:t>
            </a:fld>
            <a:endParaRPr lang="en-US"/>
          </a:p>
        </p:txBody>
      </p:sp>
    </p:spTree>
    <p:extLst>
      <p:ext uri="{BB962C8B-B14F-4D97-AF65-F5344CB8AC3E}">
        <p14:creationId xmlns:p14="http://schemas.microsoft.com/office/powerpoint/2010/main" val="2698494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331C3925-971F-483C-B3E2-0936583DC4BE}" type="datetimeFigureOut">
              <a:rPr lang="en-US"/>
              <a:pPr>
                <a:defRPr/>
              </a:pPr>
              <a:t>7/27/2024</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2AB59140-EC69-4BB1-BD6E-1CFC8508A8C7}" type="slidenum">
              <a:rPr lang="en-US"/>
              <a:pPr>
                <a:defRPr/>
              </a:pPr>
              <a:t>‹#›</a:t>
            </a:fld>
            <a:endParaRPr lang="en-US"/>
          </a:p>
        </p:txBody>
      </p:sp>
    </p:spTree>
    <p:extLst>
      <p:ext uri="{BB962C8B-B14F-4D97-AF65-F5344CB8AC3E}">
        <p14:creationId xmlns:p14="http://schemas.microsoft.com/office/powerpoint/2010/main" val="16760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EE4CE757-6819-4E7C-9AC3-3BF880E9F02D}" type="datetimeFigureOut">
              <a:rPr lang="en-US"/>
              <a:pPr>
                <a:defRPr/>
              </a:pPr>
              <a:t>7/27/2024</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15F5CCBE-DB77-4B5E-A881-2F153312CA5A}" type="slidenum">
              <a:rPr lang="en-US"/>
              <a:pPr>
                <a:defRPr/>
              </a:pPr>
              <a:t>‹#›</a:t>
            </a:fld>
            <a:endParaRPr lang="en-US"/>
          </a:p>
        </p:txBody>
      </p:sp>
    </p:spTree>
    <p:extLst>
      <p:ext uri="{BB962C8B-B14F-4D97-AF65-F5344CB8AC3E}">
        <p14:creationId xmlns:p14="http://schemas.microsoft.com/office/powerpoint/2010/main" val="3934221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A4932107-503B-4F58-AB71-091853559E0C}" type="datetimeFigureOut">
              <a:rPr lang="en-US"/>
              <a:pPr>
                <a:defRPr/>
              </a:pPr>
              <a:t>7/27/2024</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smtClean="0"/>
            </a:lvl1pPr>
          </a:lstStyle>
          <a:p>
            <a:pPr>
              <a:defRPr/>
            </a:pPr>
            <a:fld id="{B60170A3-BD1E-43E7-8384-3720C4F5CE64}" type="slidenum">
              <a:rPr lang="en-US"/>
              <a:pPr>
                <a:defRPr/>
              </a:pPr>
              <a:t>‹#›</a:t>
            </a:fld>
            <a:endParaRPr lang="en-US"/>
          </a:p>
        </p:txBody>
      </p:sp>
    </p:spTree>
    <p:extLst>
      <p:ext uri="{BB962C8B-B14F-4D97-AF65-F5344CB8AC3E}">
        <p14:creationId xmlns:p14="http://schemas.microsoft.com/office/powerpoint/2010/main" val="3476977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03C28006-B5BD-459F-9C60-C33DDD292CBD}" type="datetimeFigureOut">
              <a:rPr lang="en-US"/>
              <a:pPr>
                <a:defRPr/>
              </a:pPr>
              <a:t>7/27/2024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42BE4B0-992C-414F-9B89-0F8821C0FF56}" type="slidenum">
              <a:rPr lang="en-US"/>
              <a:pPr>
                <a:defRPr/>
              </a:pPr>
              <a:t>‹#›</a:t>
            </a:fld>
            <a:endParaRPr lang="en-US"/>
          </a:p>
        </p:txBody>
      </p:sp>
    </p:spTree>
    <p:extLst>
      <p:ext uri="{BB962C8B-B14F-4D97-AF65-F5344CB8AC3E}">
        <p14:creationId xmlns:p14="http://schemas.microsoft.com/office/powerpoint/2010/main" val="275068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7D43A497-E1CE-45F8-B85C-61C01BBCE72E}" type="datetimeFigureOut">
              <a:rPr lang="en-US"/>
              <a:pPr>
                <a:defRPr/>
              </a:pPr>
              <a:t>7/27/2024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C9B9373E-12BD-49E1-96BF-03C4DBF1E71D}" type="slidenum">
              <a:rPr lang="en-US"/>
              <a:pPr>
                <a:defRPr/>
              </a:pPr>
              <a:t>‹#›</a:t>
            </a:fld>
            <a:endParaRPr lang="en-US"/>
          </a:p>
        </p:txBody>
      </p:sp>
    </p:spTree>
    <p:extLst>
      <p:ext uri="{BB962C8B-B14F-4D97-AF65-F5344CB8AC3E}">
        <p14:creationId xmlns:p14="http://schemas.microsoft.com/office/powerpoint/2010/main" val="3069570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smtClean="0"/>
              <a:t>Click to edit Master title style</a:t>
            </a:r>
            <a:endParaRPr lang="en-GB"/>
          </a:p>
        </p:txBody>
      </p:sp>
      <p:sp>
        <p:nvSpPr>
          <p:cNvPr id="3" name="SmartArt Placeholder 2"/>
          <p:cNvSpPr>
            <a:spLocks noGrp="1"/>
          </p:cNvSpPr>
          <p:nvPr>
            <p:ph type="dgm" idx="1"/>
          </p:nvPr>
        </p:nvSpPr>
        <p:spPr>
          <a:xfrm>
            <a:off x="1182688" y="2017713"/>
            <a:ext cx="7772400" cy="4114800"/>
          </a:xfrm>
        </p:spPr>
        <p:txBody>
          <a:bodyPr>
            <a:normAutofit/>
          </a:bodyPr>
          <a:lstStyle/>
          <a:p>
            <a:pPr lvl="0"/>
            <a:endParaRPr lang="en-GB" noProof="0" smtClean="0"/>
          </a:p>
        </p:txBody>
      </p:sp>
      <p:sp>
        <p:nvSpPr>
          <p:cNvPr id="4" name="Rectangle 11"/>
          <p:cNvSpPr>
            <a:spLocks noGrp="1" noChangeArrowheads="1"/>
          </p:cNvSpPr>
          <p:nvPr>
            <p:ph type="dt" sz="half" idx="10"/>
          </p:nvPr>
        </p:nvSpPr>
        <p:spPr/>
        <p:txBody>
          <a:bodyPr/>
          <a:lstStyle>
            <a:lvl1pPr>
              <a:defRPr/>
            </a:lvl1pPr>
          </a:lstStyle>
          <a:p>
            <a:pPr>
              <a:defRPr/>
            </a:pPr>
            <a:endParaRPr lang="en-US"/>
          </a:p>
        </p:txBody>
      </p:sp>
      <p:sp>
        <p:nvSpPr>
          <p:cNvPr id="5" name="Rectangle 12"/>
          <p:cNvSpPr>
            <a:spLocks noGrp="1" noChangeArrowheads="1"/>
          </p:cNvSpPr>
          <p:nvPr>
            <p:ph type="ftr" sz="quarter" idx="11"/>
          </p:nvPr>
        </p:nvSpPr>
        <p:spPr/>
        <p:txBody>
          <a:bodyPr/>
          <a:lstStyle>
            <a:lvl1pPr>
              <a:defRPr/>
            </a:lvl1pPr>
          </a:lstStyle>
          <a:p>
            <a:pPr>
              <a:defRPr/>
            </a:pPr>
            <a:endParaRPr lang="en-US"/>
          </a:p>
        </p:txBody>
      </p:sp>
      <p:sp>
        <p:nvSpPr>
          <p:cNvPr id="6" name="Rectangle 13"/>
          <p:cNvSpPr>
            <a:spLocks noGrp="1" noChangeArrowheads="1"/>
          </p:cNvSpPr>
          <p:nvPr>
            <p:ph type="sldNum" sz="quarter" idx="12"/>
          </p:nvPr>
        </p:nvSpPr>
        <p:spPr/>
        <p:txBody>
          <a:bodyPr/>
          <a:lstStyle>
            <a:lvl1pPr>
              <a:defRPr smtClean="0"/>
            </a:lvl1pPr>
          </a:lstStyle>
          <a:p>
            <a:pPr>
              <a:defRPr/>
            </a:pPr>
            <a:fld id="{7E6712CE-9F77-41E9-B379-E814B3BAD44A}" type="slidenum">
              <a:rPr lang="en-US"/>
              <a:pPr>
                <a:defRPr/>
              </a:pPr>
              <a:t>‹#›</a:t>
            </a:fld>
            <a:endParaRPr lang="en-US"/>
          </a:p>
        </p:txBody>
      </p:sp>
    </p:spTree>
    <p:extLst>
      <p:ext uri="{BB962C8B-B14F-4D97-AF65-F5344CB8AC3E}">
        <p14:creationId xmlns:p14="http://schemas.microsoft.com/office/powerpoint/2010/main" val="328244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052"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smtClean="0"/>
              <a:t>Click to edit Master title style</a:t>
            </a:r>
          </a:p>
        </p:txBody>
      </p:sp>
      <p:sp>
        <p:nvSpPr>
          <p:cNvPr id="2053"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531A0B6F-DE91-4A9F-9A55-79F80771E06A}" type="datetimeFigureOut">
              <a:rPr lang="en-US"/>
              <a:pPr>
                <a:defRPr/>
              </a:pPr>
              <a:t>7/27/2024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200" smtClean="0">
                <a:solidFill>
                  <a:srgbClr val="045C75"/>
                </a:solidFill>
                <a:latin typeface="Constantia" panose="02030602050306030303" pitchFamily="18" charset="0"/>
              </a:defRPr>
            </a:lvl1pPr>
          </a:lstStyle>
          <a:p>
            <a:pPr>
              <a:defRPr/>
            </a:pPr>
            <a:fld id="{13CDF34C-CFF0-4644-AEBE-8ABF37A09DFA}" type="slidenum">
              <a:rPr lang="en-US"/>
              <a:pPr>
                <a:defRPr/>
              </a:pPr>
              <a:t>‹#›</a:t>
            </a:fld>
            <a:endParaRPr lang="en-US"/>
          </a:p>
        </p:txBody>
      </p:sp>
      <p:grpSp>
        <p:nvGrpSpPr>
          <p:cNvPr id="2057"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734" r:id="rId1"/>
    <p:sldLayoutId id="2147483726" r:id="rId2"/>
    <p:sldLayoutId id="2147483735" r:id="rId3"/>
    <p:sldLayoutId id="2147483727" r:id="rId4"/>
    <p:sldLayoutId id="2147483728" r:id="rId5"/>
    <p:sldLayoutId id="2147483729" r:id="rId6"/>
    <p:sldLayoutId id="2147483730" r:id="rId7"/>
    <p:sldLayoutId id="2147483731" r:id="rId8"/>
    <p:sldLayoutId id="2147483736" r:id="rId9"/>
    <p:sldLayoutId id="2147483732" r:id="rId10"/>
    <p:sldLayoutId id="2147483733" r:id="rId11"/>
    <p:sldLayoutId id="2147483737" r:id="rId12"/>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ln>
            <a:miter lim="800000"/>
            <a:headEnd/>
            <a:tailEnd/>
          </a:ln>
          <a:extLst/>
        </p:spPr>
        <p:txBody>
          <a:bodyPr/>
          <a:lstStyle/>
          <a:p>
            <a:pPr eaLnBrk="1" fontAlgn="auto" hangingPunct="1">
              <a:spcAft>
                <a:spcPts val="0"/>
              </a:spcAft>
              <a:defRPr/>
            </a:pPr>
            <a:r>
              <a:rPr lang="en-US" sz="4000" dirty="0" smtClean="0"/>
              <a:t>V. HOW DO I KNOW WHAT IS GOOD OR BAD?</a:t>
            </a:r>
          </a:p>
        </p:txBody>
      </p:sp>
      <p:sp>
        <p:nvSpPr>
          <p:cNvPr id="8195" name="Rectangle 3"/>
          <p:cNvSpPr>
            <a:spLocks noGrp="1" noChangeArrowheads="1"/>
          </p:cNvSpPr>
          <p:nvPr>
            <p:ph type="subTitle" idx="1"/>
          </p:nvPr>
        </p:nvSpPr>
        <p:spPr>
          <a:xfrm>
            <a:off x="533400" y="3228975"/>
            <a:ext cx="7854950" cy="1752600"/>
          </a:xfrm>
        </p:spPr>
        <p:txBody>
          <a:bodyPr/>
          <a:lstStyle/>
          <a:p>
            <a:pPr marR="0" eaLnBrk="1" hangingPunct="1"/>
            <a:r>
              <a:rPr lang="en-US" altLang="en-US" dirty="0" smtClean="0"/>
              <a:t>The </a:t>
            </a:r>
            <a:r>
              <a:rPr lang="en-US" altLang="en-US" dirty="0" smtClean="0"/>
              <a:t>Moral Conscience</a:t>
            </a:r>
          </a:p>
          <a:p>
            <a:pPr marR="0" eaLnBrk="1" hangingPunct="1"/>
            <a:endParaRPr lang="en-US" altLang="en-US" dirty="0" smtClean="0"/>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GB" altLang="en-US" smtClean="0"/>
              <a:t>Subtopics</a:t>
            </a:r>
          </a:p>
        </p:txBody>
      </p:sp>
      <p:sp>
        <p:nvSpPr>
          <p:cNvPr id="10243" name="Content Placeholder 2"/>
          <p:cNvSpPr>
            <a:spLocks noGrp="1"/>
          </p:cNvSpPr>
          <p:nvPr>
            <p:ph idx="1"/>
          </p:nvPr>
        </p:nvSpPr>
        <p:spPr/>
        <p:txBody>
          <a:bodyPr/>
          <a:lstStyle/>
          <a:p>
            <a:pPr eaLnBrk="1" hangingPunct="1"/>
            <a:r>
              <a:rPr lang="en-GB" altLang="en-US" smtClean="0"/>
              <a:t>My personal judgement</a:t>
            </a:r>
          </a:p>
          <a:p>
            <a:pPr eaLnBrk="1" hangingPunct="1"/>
            <a:r>
              <a:rPr lang="en-GB" altLang="en-US" smtClean="0"/>
              <a:t>Particular moral knowledge</a:t>
            </a:r>
          </a:p>
          <a:p>
            <a:pPr eaLnBrk="1" hangingPunct="1"/>
            <a:r>
              <a:rPr lang="en-GB" altLang="en-US" smtClean="0"/>
              <a:t>Types of conscience</a:t>
            </a:r>
          </a:p>
          <a:p>
            <a:pPr eaLnBrk="1" hangingPunct="1"/>
            <a:r>
              <a:rPr lang="en-GB" altLang="en-US" smtClean="0"/>
              <a:t>Principles for following one’s conscience</a:t>
            </a:r>
          </a:p>
          <a:p>
            <a:pPr eaLnBrk="1" hangingPunct="1"/>
            <a:r>
              <a:rPr lang="en-GB" altLang="en-US" smtClean="0"/>
              <a:t>The formation of moral conscience</a:t>
            </a:r>
          </a:p>
        </p:txBody>
      </p:sp>
    </p:spTree>
  </p:cSld>
  <p:clrMapOvr>
    <a:masterClrMapping/>
  </p:clrMapOvr>
  <p:transition>
    <p:wipe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ln>
            <a:miter lim="800000"/>
            <a:headEnd/>
            <a:tailEnd/>
          </a:ln>
          <a:extLst/>
        </p:spPr>
        <p:txBody>
          <a:bodyPr/>
          <a:lstStyle/>
          <a:p>
            <a:pPr eaLnBrk="1" fontAlgn="auto" hangingPunct="1">
              <a:spcAft>
                <a:spcPts val="0"/>
              </a:spcAft>
              <a:defRPr/>
            </a:pPr>
            <a:r>
              <a:rPr lang="en-US" i="1" dirty="0">
                <a:solidFill>
                  <a:schemeClr val="tx1"/>
                </a:solidFill>
              </a:rPr>
              <a:t>The moral </a:t>
            </a:r>
            <a:r>
              <a:rPr lang="en-US" i="1" dirty="0" smtClean="0">
                <a:solidFill>
                  <a:schemeClr val="tx1"/>
                </a:solidFill>
              </a:rPr>
              <a:t>conscience</a:t>
            </a:r>
            <a:r>
              <a:rPr lang="en-US" dirty="0"/>
              <a:t/>
            </a:r>
            <a:br>
              <a:rPr lang="en-US" dirty="0"/>
            </a:br>
            <a:endParaRPr lang="en-US" dirty="0"/>
          </a:p>
        </p:txBody>
      </p:sp>
      <p:pic>
        <p:nvPicPr>
          <p:cNvPr id="12291" name="Picture 2" descr="consicence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429000"/>
            <a:ext cx="35052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43000" y="457200"/>
            <a:ext cx="7391400" cy="1143000"/>
          </a:xfrm>
        </p:spPr>
        <p:txBody>
          <a:bodyPr/>
          <a:lstStyle/>
          <a:p>
            <a:pPr eaLnBrk="1" hangingPunct="1"/>
            <a:r>
              <a:rPr lang="en-US" altLang="en-US" smtClean="0"/>
              <a:t>Moral Issues </a:t>
            </a:r>
          </a:p>
        </p:txBody>
      </p:sp>
      <p:sp>
        <p:nvSpPr>
          <p:cNvPr id="24579" name="Rectangle 3"/>
          <p:cNvSpPr>
            <a:spLocks noGrp="1" noChangeArrowheads="1"/>
          </p:cNvSpPr>
          <p:nvPr>
            <p:ph type="body" idx="1"/>
          </p:nvPr>
        </p:nvSpPr>
        <p:spPr>
          <a:xfrm>
            <a:off x="533400" y="1752600"/>
            <a:ext cx="4040188" cy="639763"/>
          </a:xfrm>
        </p:spPr>
        <p:txBody>
          <a:bodyPr/>
          <a:lstStyle/>
          <a:p>
            <a:pPr eaLnBrk="1" hangingPunct="1"/>
            <a:r>
              <a:rPr lang="en-US" altLang="en-US" smtClean="0"/>
              <a:t>The Case</a:t>
            </a:r>
          </a:p>
        </p:txBody>
      </p:sp>
      <p:sp>
        <p:nvSpPr>
          <p:cNvPr id="5" name="Text Placeholder 4"/>
          <p:cNvSpPr>
            <a:spLocks noGrp="1"/>
          </p:cNvSpPr>
          <p:nvPr>
            <p:ph type="body" sz="half" idx="3"/>
          </p:nvPr>
        </p:nvSpPr>
        <p:spPr>
          <a:xfrm>
            <a:off x="4648200" y="1752600"/>
            <a:ext cx="4041775" cy="639763"/>
          </a:xfrm>
        </p:spPr>
        <p:txBody>
          <a:bodyPr/>
          <a:lstStyle/>
          <a:p>
            <a:pPr eaLnBrk="1" hangingPunct="1"/>
            <a:r>
              <a:rPr lang="en-GB" altLang="en-US" smtClean="0"/>
              <a:t>Outcomes</a:t>
            </a:r>
          </a:p>
        </p:txBody>
      </p:sp>
      <p:sp>
        <p:nvSpPr>
          <p:cNvPr id="4" name="Content Placeholder 3"/>
          <p:cNvSpPr>
            <a:spLocks noGrp="1"/>
          </p:cNvSpPr>
          <p:nvPr>
            <p:ph sz="quarter" idx="2"/>
          </p:nvPr>
        </p:nvSpPr>
        <p:spPr>
          <a:xfrm>
            <a:off x="457200" y="2362200"/>
            <a:ext cx="4040188" cy="3951288"/>
          </a:xfrm>
        </p:spPr>
        <p:txBody>
          <a:bodyPr/>
          <a:lstStyle/>
          <a:p>
            <a:pPr eaLnBrk="1" hangingPunct="1"/>
            <a:r>
              <a:rPr lang="en-US" altLang="en-US" smtClean="0"/>
              <a:t>You forgot your ID card at home.</a:t>
            </a:r>
          </a:p>
          <a:p>
            <a:pPr eaLnBrk="1" hangingPunct="1"/>
            <a:r>
              <a:rPr lang="en-US" altLang="en-US" smtClean="0"/>
              <a:t>The Security Guard at the entrance to SU will ask you for it.</a:t>
            </a:r>
          </a:p>
          <a:p>
            <a:pPr eaLnBrk="1" hangingPunct="1"/>
            <a:r>
              <a:rPr lang="en-US" altLang="en-US" smtClean="0"/>
              <a:t>What will you do?</a:t>
            </a:r>
          </a:p>
          <a:p>
            <a:pPr lvl="1" eaLnBrk="1" hangingPunct="1"/>
            <a:r>
              <a:rPr lang="en-US" altLang="en-US" smtClean="0"/>
              <a:t>Tell him you are a visitor, not a student?</a:t>
            </a:r>
          </a:p>
          <a:p>
            <a:pPr lvl="1" eaLnBrk="1" hangingPunct="1"/>
            <a:r>
              <a:rPr lang="en-US" altLang="en-US" smtClean="0"/>
              <a:t>Explain the true situation to him?</a:t>
            </a:r>
          </a:p>
        </p:txBody>
      </p:sp>
      <p:sp>
        <p:nvSpPr>
          <p:cNvPr id="6" name="Content Placeholder 5"/>
          <p:cNvSpPr>
            <a:spLocks noGrp="1"/>
          </p:cNvSpPr>
          <p:nvPr>
            <p:ph sz="quarter" idx="4"/>
          </p:nvPr>
        </p:nvSpPr>
        <p:spPr>
          <a:xfrm>
            <a:off x="4724400" y="2438400"/>
            <a:ext cx="4041775" cy="3951288"/>
          </a:xfrm>
        </p:spPr>
        <p:txBody>
          <a:bodyPr/>
          <a:lstStyle/>
          <a:p>
            <a:pPr eaLnBrk="1" hangingPunct="1"/>
            <a:r>
              <a:rPr lang="en-US" altLang="en-US" smtClean="0"/>
              <a:t>If you lie to the guard, how will you feel? Why?</a:t>
            </a:r>
          </a:p>
          <a:p>
            <a:pPr eaLnBrk="1" hangingPunct="1"/>
            <a:endParaRPr lang="en-US" altLang="en-US" smtClean="0"/>
          </a:p>
          <a:p>
            <a:pPr eaLnBrk="1" hangingPunct="1"/>
            <a:r>
              <a:rPr lang="en-US" altLang="en-US" smtClean="0"/>
              <a:t>What makes you feel like this?</a:t>
            </a:r>
          </a:p>
          <a:p>
            <a:pPr eaLnBrk="1" hangingPunct="1"/>
            <a:endParaRPr lang="en-US" altLang="en-US" smtClean="0"/>
          </a:p>
          <a:p>
            <a:pPr eaLnBrk="1" hangingPunct="1"/>
            <a:r>
              <a:rPr lang="en-US" altLang="en-US" smtClean="0"/>
              <a:t>What is conscience?</a:t>
            </a:r>
          </a:p>
          <a:p>
            <a:pPr eaLnBrk="1" hangingPunct="1"/>
            <a:endParaRPr lang="en-GB" alt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blinds(horizontal)">
                                      <p:cBhvr>
                                        <p:cTn id="7" dur="500"/>
                                        <p:tgtEl>
                                          <p:spTgt spid="24578"/>
                                        </p:tgtEl>
                                      </p:cBhvr>
                                    </p:animEffect>
                                  </p:childTnLst>
                                </p:cTn>
                              </p:par>
                            </p:childTnLst>
                          </p:cTn>
                        </p:par>
                        <p:par>
                          <p:cTn id="8" fill="hold" nodeType="afterGroup">
                            <p:stCondLst>
                              <p:cond delay="500"/>
                            </p:stCondLst>
                            <p:childTnLst>
                              <p:par>
                                <p:cTn id="9" presetID="5" presetClass="entr" presetSubtype="10" fill="hold" nodeType="afterEffect">
                                  <p:stCondLst>
                                    <p:cond delay="0"/>
                                  </p:stCondLst>
                                  <p:childTnLst>
                                    <p:set>
                                      <p:cBhvr>
                                        <p:cTn id="10" dur="1" fill="hold">
                                          <p:stCondLst>
                                            <p:cond delay="0"/>
                                          </p:stCondLst>
                                        </p:cTn>
                                        <p:tgtEl>
                                          <p:spTgt spid="24579">
                                            <p:txEl>
                                              <p:pRg st="0" end="0"/>
                                            </p:txEl>
                                          </p:spTgt>
                                        </p:tgtEl>
                                        <p:attrNameLst>
                                          <p:attrName>style.visibility</p:attrName>
                                        </p:attrNameLst>
                                      </p:cBhvr>
                                      <p:to>
                                        <p:strVal val="visible"/>
                                      </p:to>
                                    </p:set>
                                    <p:animEffect transition="in" filter="checkerboard(across)">
                                      <p:cBhvr>
                                        <p:cTn id="11" dur="500"/>
                                        <p:tgtEl>
                                          <p:spTgt spid="24579">
                                            <p:txEl>
                                              <p:pRg st="0" end="0"/>
                                            </p:txEl>
                                          </p:spTgt>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dissolve">
                                      <p:cBhvr>
                                        <p:cTn id="15" dur="500"/>
                                        <p:tgtEl>
                                          <p:spTgt spid="4">
                                            <p:txEl>
                                              <p:pRg st="0" end="0"/>
                                            </p:txEl>
                                          </p:spTgt>
                                        </p:tgtEl>
                                      </p:cBhvr>
                                    </p:animEffect>
                                  </p:childTnLst>
                                </p:cTn>
                              </p:par>
                            </p:childTnLst>
                          </p:cTn>
                        </p:par>
                        <p:par>
                          <p:cTn id="16" fill="hold" nodeType="afterGroup">
                            <p:stCondLst>
                              <p:cond delay="1500"/>
                            </p:stCondLst>
                            <p:childTnLst>
                              <p:par>
                                <p:cTn id="17" presetID="2" presetClass="entr" presetSubtype="4" fill="hold" nodeType="after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2000"/>
                            </p:stCondLst>
                            <p:childTnLst>
                              <p:par>
                                <p:cTn id="22" presetID="13" presetClass="entr" presetSubtype="16" fill="hold" nodeType="after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plus(in)">
                                      <p:cBhvr>
                                        <p:cTn id="24" dur="2000"/>
                                        <p:tgtEl>
                                          <p:spTgt spid="4">
                                            <p:txEl>
                                              <p:pRg st="2" end="2"/>
                                            </p:txEl>
                                          </p:spTgt>
                                        </p:tgtEl>
                                      </p:cBhvr>
                                    </p:animEffect>
                                  </p:childTnLst>
                                </p:cTn>
                              </p:par>
                            </p:childTnLst>
                          </p:cTn>
                        </p:par>
                        <p:par>
                          <p:cTn id="25" fill="hold" nodeType="afterGroup">
                            <p:stCondLst>
                              <p:cond delay="4000"/>
                            </p:stCondLst>
                            <p:childTnLst>
                              <p:par>
                                <p:cTn id="26" presetID="13" presetClass="entr" presetSubtype="16" fill="hold" nodeType="after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plus(in)">
                                      <p:cBhvr>
                                        <p:cTn id="28" dur="2000"/>
                                        <p:tgtEl>
                                          <p:spTgt spid="4">
                                            <p:txEl>
                                              <p:pRg st="3" end="3"/>
                                            </p:txEl>
                                          </p:spTgt>
                                        </p:tgtEl>
                                      </p:cBhvr>
                                    </p:animEffect>
                                  </p:childTnLst>
                                </p:cTn>
                              </p:par>
                            </p:childTnLst>
                          </p:cTn>
                        </p:par>
                        <p:par>
                          <p:cTn id="29" fill="hold" nodeType="afterGroup">
                            <p:stCondLst>
                              <p:cond delay="6000"/>
                            </p:stCondLst>
                            <p:childTnLst>
                              <p:par>
                                <p:cTn id="30" presetID="20" presetClass="entr" presetSubtype="0" fill="hold" nodeType="after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edge">
                                      <p:cBhvr>
                                        <p:cTn id="32" dur="2000"/>
                                        <p:tgtEl>
                                          <p:spTgt spid="4">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1" presetClass="entr" presetSubtype="4"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wheel(4)">
                                      <p:cBhvr>
                                        <p:cTn id="37" dur="2000"/>
                                        <p:tgtEl>
                                          <p:spTgt spid="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 calcmode="lin" valueType="num">
                                      <p:cBhvr>
                                        <p:cTn id="42"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6">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nodeType="clickEffect">
                                  <p:stCondLst>
                                    <p:cond delay="0"/>
                                  </p:stCondLst>
                                  <p:childTnLst>
                                    <p:set>
                                      <p:cBhvr>
                                        <p:cTn id="47" dur="1" fill="hold">
                                          <p:stCondLst>
                                            <p:cond delay="0"/>
                                          </p:stCondLst>
                                        </p:cTn>
                                        <p:tgtEl>
                                          <p:spTgt spid="6">
                                            <p:txEl>
                                              <p:pRg st="2" end="2"/>
                                            </p:txEl>
                                          </p:spTgt>
                                        </p:tgtEl>
                                        <p:attrNameLst>
                                          <p:attrName>style.visibility</p:attrName>
                                        </p:attrNameLst>
                                      </p:cBhvr>
                                      <p:to>
                                        <p:strVal val="visible"/>
                                      </p:to>
                                    </p:set>
                                    <p:animEffect transition="in" filter="box(in)">
                                      <p:cBhvr>
                                        <p:cTn id="48" dur="500"/>
                                        <p:tgtEl>
                                          <p:spTgt spid="6">
                                            <p:txEl>
                                              <p:pRg st="2" end="2"/>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6" presetClass="entr" presetSubtype="16"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animEffect transition="in" filter="circle(in)">
                                      <p:cBhvr>
                                        <p:cTn id="53" dur="2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1"/>
          <p:cNvSpPr>
            <a:spLocks noChangeArrowheads="1"/>
          </p:cNvSpPr>
          <p:nvPr/>
        </p:nvSpPr>
        <p:spPr bwMode="auto">
          <a:xfrm>
            <a:off x="1828800" y="381000"/>
            <a:ext cx="6096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The moral law indicates a body of truths that should be followed in our human acts.</a:t>
            </a:r>
          </a:p>
          <a:p>
            <a:pPr eaLnBrk="1" hangingPunct="1">
              <a:spcBef>
                <a:spcPct val="0"/>
              </a:spcBef>
              <a:buClrTx/>
              <a:buSzTx/>
              <a:buFont typeface="Wingdings" panose="05000000000000000000" pitchFamily="2" charset="2"/>
              <a:buChar char="ü"/>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 However, our human acts are always single and specific</a:t>
            </a:r>
            <a:r>
              <a:rPr lang="en-US" altLang="en-US" sz="2800">
                <a:latin typeface="Calibri" panose="020F0502020204030204" pitchFamily="34" charset="0"/>
                <a:cs typeface="Calibri" panose="020F0502020204030204" pitchFamily="34" charset="0"/>
              </a:rPr>
              <a:t>. </a:t>
            </a:r>
          </a:p>
        </p:txBody>
      </p:sp>
      <p:sp>
        <p:nvSpPr>
          <p:cNvPr id="15363" name="Rectangle 2"/>
          <p:cNvSpPr>
            <a:spLocks noChangeArrowheads="1"/>
          </p:cNvSpPr>
          <p:nvPr/>
        </p:nvSpPr>
        <p:spPr bwMode="auto">
          <a:xfrm>
            <a:off x="1981200" y="3048000"/>
            <a:ext cx="57912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There is a great distance between the universal moral law and specific human acts.</a:t>
            </a: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 In order to discover the morality of these acts the person must apply the law to each of the acts, keeping in mind the particular circumstances. </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GB" dirty="0" smtClean="0"/>
              <a:t>Moral Conscience</a:t>
            </a:r>
          </a:p>
        </p:txBody>
      </p:sp>
      <p:sp>
        <p:nvSpPr>
          <p:cNvPr id="3" name="Content Placeholder 2"/>
          <p:cNvSpPr>
            <a:spLocks noGrp="1"/>
          </p:cNvSpPr>
          <p:nvPr>
            <p:ph idx="1"/>
          </p:nvPr>
        </p:nvSpPr>
        <p:spPr/>
        <p:txBody>
          <a:bodyPr/>
          <a:lstStyle/>
          <a:p>
            <a:pPr eaLnBrk="1" hangingPunct="1"/>
            <a:endParaRPr lang="en-GB" altLang="en-US" dirty="0" smtClean="0"/>
          </a:p>
          <a:p>
            <a:pPr eaLnBrk="1" hangingPunct="1"/>
            <a:r>
              <a:rPr lang="en-GB" altLang="en-US" dirty="0" smtClean="0"/>
              <a:t>“An act of the intellect whereby we judge specific acts to be good or bad according to whether they correspond to our final goal or not” (Debeljuh, p. 174).</a:t>
            </a:r>
          </a:p>
          <a:p>
            <a:pPr eaLnBrk="1" hangingPunct="1"/>
            <a:endParaRPr lang="en-GB" altLang="en-US" dirty="0" smtClean="0"/>
          </a:p>
          <a:p>
            <a:pPr eaLnBrk="1" hangingPunct="1"/>
            <a:r>
              <a:rPr lang="en-GB" altLang="en-US" dirty="0" smtClean="0"/>
              <a:t>“A dictate of reason on the goodness or badness of a deed to be done or which has been done” (</a:t>
            </a:r>
            <a:r>
              <a:rPr lang="en-GB" altLang="en-US" dirty="0" err="1" smtClean="0"/>
              <a:t>Mimbi</a:t>
            </a:r>
            <a:r>
              <a:rPr lang="en-GB" altLang="en-US" dirty="0" smtClean="0"/>
              <a:t>, p. 241).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lide(fromBottom)">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Font typeface="Wingdings 2" panose="05020102010507070707" pitchFamily="18" charset="2"/>
              <a:buNone/>
              <a:defRPr/>
            </a:pPr>
            <a:r>
              <a:rPr lang="en-US" dirty="0" smtClean="0"/>
              <a:t> </a:t>
            </a:r>
            <a:r>
              <a:rPr lang="en-US" sz="3000" b="1" dirty="0"/>
              <a:t>What is conscience? </a:t>
            </a:r>
          </a:p>
          <a:p>
            <a:pPr>
              <a:buFont typeface="Wingdings 2" panose="05020102010507070707" pitchFamily="18" charset="2"/>
              <a:buNone/>
              <a:defRPr/>
            </a:pPr>
            <a:r>
              <a:rPr lang="en-US" dirty="0"/>
              <a:t>	The Webster dictionary defines “conscience” as </a:t>
            </a:r>
          </a:p>
          <a:p>
            <a:pPr>
              <a:buFont typeface="Wingdings 2" panose="05020102010507070707" pitchFamily="18" charset="2"/>
              <a:buNone/>
              <a:defRPr/>
            </a:pPr>
            <a:r>
              <a:rPr lang="en-US" dirty="0"/>
              <a:t>	</a:t>
            </a:r>
            <a:r>
              <a:rPr lang="en-US" b="1" dirty="0"/>
              <a:t>a) </a:t>
            </a:r>
            <a:r>
              <a:rPr lang="en-US" dirty="0" smtClean="0"/>
              <a:t>The </a:t>
            </a:r>
            <a:r>
              <a:rPr lang="en-US" dirty="0"/>
              <a:t>awareness of the moral goodness or blameworthiness of  one's own conduct, intentions, or character together with a feeling of obligation to do right or be good </a:t>
            </a:r>
          </a:p>
          <a:p>
            <a:pPr>
              <a:buFont typeface="Wingdings 2" panose="05020102010507070707" pitchFamily="18" charset="2"/>
              <a:buNone/>
              <a:defRPr/>
            </a:pPr>
            <a:r>
              <a:rPr lang="en-US" dirty="0"/>
              <a:t>	</a:t>
            </a:r>
            <a:r>
              <a:rPr lang="en-US" b="1" dirty="0"/>
              <a:t>b</a:t>
            </a:r>
            <a:r>
              <a:rPr lang="en-US" dirty="0"/>
              <a:t>) </a:t>
            </a:r>
            <a:r>
              <a:rPr lang="en-US" dirty="0" smtClean="0"/>
              <a:t>A </a:t>
            </a:r>
            <a:r>
              <a:rPr lang="en-US" dirty="0"/>
              <a:t>faculty, power, or principle enjoining good </a:t>
            </a:r>
            <a:r>
              <a:rPr lang="en-US"/>
              <a:t>acts </a:t>
            </a:r>
            <a:r>
              <a:rPr lang="en-US" smtClean="0"/>
              <a:t>the </a:t>
            </a:r>
            <a:r>
              <a:rPr lang="en-US" dirty="0"/>
              <a:t>part of the superego in psychoanalysis that transmits commands and admonitions to the ego. The word was taken from Latin,  </a:t>
            </a:r>
            <a:r>
              <a:rPr lang="en-US" i="1" dirty="0" err="1"/>
              <a:t>cumscire</a:t>
            </a:r>
            <a:r>
              <a:rPr lang="en-US" dirty="0"/>
              <a:t> (with knowledge) </a:t>
            </a:r>
          </a:p>
          <a:p>
            <a:pPr marL="109728" indent="0">
              <a:buFont typeface="Wingdings 2" panose="05020102010507070707" pitchFamily="18" charset="2"/>
              <a:buNone/>
              <a:defRPr/>
            </a:pPr>
            <a:endParaRPr lang="en-US" dirty="0"/>
          </a:p>
        </p:txBody>
      </p:sp>
      <p:sp>
        <p:nvSpPr>
          <p:cNvPr id="3" name="Title 2"/>
          <p:cNvSpPr>
            <a:spLocks noGrp="1"/>
          </p:cNvSpPr>
          <p:nvPr>
            <p:ph type="title"/>
          </p:nvPr>
        </p:nvSpPr>
        <p:spPr>
          <a:xfrm flipV="1">
            <a:off x="457200" y="-685800"/>
            <a:ext cx="8229600" cy="152400"/>
          </a:xfrm>
        </p:spPr>
        <p:txBody>
          <a:bodyPr>
            <a:normAutofit fontScale="90000"/>
          </a:bodyPr>
          <a:lstStyle/>
          <a:p>
            <a:pPr>
              <a:defRPr/>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447800" y="301625"/>
            <a:ext cx="65532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v"/>
            </a:pPr>
            <a:r>
              <a:rPr lang="en-US" altLang="en-US" sz="2800" b="1">
                <a:latin typeface="Calibri" panose="020F0502020204030204" pitchFamily="34" charset="0"/>
                <a:cs typeface="Calibri" panose="020F0502020204030204" pitchFamily="34" charset="0"/>
              </a:rPr>
              <a:t>The conscience exists as the mediator between the general law and specific action. We always judge an action to ascertain whether it is right or wrong.</a:t>
            </a: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p:txBody>
      </p:sp>
      <p:pic>
        <p:nvPicPr>
          <p:cNvPr id="19459" name="Picture 2" descr="good or bad.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438400"/>
            <a:ext cx="44481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ChangeArrowheads="1"/>
          </p:cNvSpPr>
          <p:nvPr/>
        </p:nvSpPr>
        <p:spPr bwMode="auto">
          <a:xfrm>
            <a:off x="762000" y="304800"/>
            <a:ext cx="66294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v"/>
            </a:pPr>
            <a:r>
              <a:rPr lang="en-US" altLang="en-US" sz="2800" b="1">
                <a:latin typeface="Calibri" panose="020F0502020204030204" pitchFamily="34" charset="0"/>
                <a:cs typeface="Calibri" panose="020F0502020204030204" pitchFamily="34" charset="0"/>
              </a:rPr>
              <a:t>The faculty through which we come to know the morality of our actions is the intellect. </a:t>
            </a: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v"/>
            </a:pPr>
            <a:r>
              <a:rPr lang="en-US" altLang="en-US" sz="2800" b="1">
                <a:latin typeface="Calibri" panose="020F0502020204030204" pitchFamily="34" charset="0"/>
                <a:cs typeface="Calibri" panose="020F0502020204030204" pitchFamily="34" charset="0"/>
              </a:rPr>
              <a:t>However, the conscience is an act of the intellect whereby we judge specific acts as good or bad according to whether they correspond to our final goal or not.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838200" y="762000"/>
            <a:ext cx="58674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Courier New" panose="02070309020205020404" pitchFamily="49" charset="0"/>
              <a:buChar char="o"/>
            </a:pPr>
            <a:r>
              <a:rPr lang="en-US" altLang="en-US" sz="2800" b="1" dirty="0">
                <a:latin typeface="Calibri" panose="020F0502020204030204" pitchFamily="34" charset="0"/>
                <a:cs typeface="Calibri" panose="020F0502020204030204" pitchFamily="34" charset="0"/>
              </a:rPr>
              <a:t>C</a:t>
            </a:r>
            <a:r>
              <a:rPr lang="en-US" altLang="en-US" sz="2800" b="1" dirty="0" smtClean="0">
                <a:latin typeface="Calibri" panose="020F0502020204030204" pitchFamily="34" charset="0"/>
                <a:cs typeface="Calibri" panose="020F0502020204030204" pitchFamily="34" charset="0"/>
              </a:rPr>
              <a:t>onscience </a:t>
            </a:r>
            <a:r>
              <a:rPr lang="en-US" altLang="en-US" sz="2800" b="1" dirty="0">
                <a:latin typeface="Calibri" panose="020F0502020204030204" pitchFamily="34" charset="0"/>
                <a:cs typeface="Calibri" panose="020F0502020204030204" pitchFamily="34" charset="0"/>
              </a:rPr>
              <a:t>is the immediate reference point that a person can find for his conduct.</a:t>
            </a:r>
          </a:p>
          <a:p>
            <a:pPr eaLnBrk="1" hangingPunct="1">
              <a:spcBef>
                <a:spcPct val="0"/>
              </a:spcBef>
              <a:buClrTx/>
              <a:buSzTx/>
              <a:buFont typeface="Courier New" panose="02070309020205020404" pitchFamily="49" charset="0"/>
              <a:buChar char="o"/>
            </a:pPr>
            <a:endParaRPr lang="en-US" altLang="en-US" sz="2800" b="1" dirty="0">
              <a:latin typeface="Calibri" panose="020F0502020204030204" pitchFamily="34" charset="0"/>
              <a:cs typeface="Calibri" panose="020F0502020204030204" pitchFamily="34" charset="0"/>
            </a:endParaRPr>
          </a:p>
          <a:p>
            <a:pPr eaLnBrk="1" hangingPunct="1">
              <a:spcBef>
                <a:spcPct val="0"/>
              </a:spcBef>
              <a:buClrTx/>
              <a:buSzTx/>
              <a:buFont typeface="Courier New" panose="02070309020205020404" pitchFamily="49" charset="0"/>
              <a:buChar char="o"/>
            </a:pPr>
            <a:r>
              <a:rPr lang="en-US" altLang="en-US" sz="2800" b="1" dirty="0">
                <a:latin typeface="Calibri" panose="020F0502020204030204" pitchFamily="34" charset="0"/>
                <a:cs typeface="Calibri" panose="020F0502020204030204" pitchFamily="34" charset="0"/>
              </a:rPr>
              <a:t>However, the conscience should be true, that is, it should conform to the truth about man and his dignity. </a:t>
            </a:r>
          </a:p>
        </p:txBody>
      </p:sp>
      <p:pic>
        <p:nvPicPr>
          <p:cNvPr id="21507" name="Picture 3" descr="CONSCIENCE switch.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3581400"/>
            <a:ext cx="31242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2057400" y="1295400"/>
            <a:ext cx="6248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US" altLang="en-US" sz="2800" b="1">
                <a:latin typeface="Calibri" panose="020F0502020204030204" pitchFamily="34" charset="0"/>
                <a:cs typeface="Calibri" panose="020F0502020204030204" pitchFamily="34" charset="0"/>
              </a:rPr>
              <a:t>Moral conscience-is a specific judgment about a particular act that is emitted based on the person’s universal moral knowledge .</a:t>
            </a:r>
          </a:p>
        </p:txBody>
      </p:sp>
      <p:pic>
        <p:nvPicPr>
          <p:cNvPr id="22531" name="Picture 3" descr="CONSCIENCE switch.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3581400"/>
            <a:ext cx="31242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457200" y="1143000"/>
            <a:ext cx="76962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Synderesis formulates the universal proposition :’One ought not to do evil’. </a:t>
            </a:r>
          </a:p>
          <a:p>
            <a:pPr eaLnBrk="1" hangingPunct="1">
              <a:spcBef>
                <a:spcPct val="0"/>
              </a:spcBef>
              <a:buClrTx/>
              <a:buSzTx/>
              <a:buFont typeface="Wingdings" panose="05000000000000000000" pitchFamily="2" charset="2"/>
              <a:buChar char="ü"/>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The conscience then analyses whether that specific and particular act, for example, theft, is a bad action. </a:t>
            </a:r>
          </a:p>
          <a:p>
            <a:pPr eaLnBrk="1" hangingPunct="1">
              <a:spcBef>
                <a:spcPct val="0"/>
              </a:spcBef>
              <a:buClrTx/>
              <a:buSzTx/>
              <a:buFont typeface="Wingdings" panose="05000000000000000000" pitchFamily="2" charset="2"/>
              <a:buChar char="ü"/>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Then the conclusion will be: ‘This act of theft ought to be avoided’. So the judgment of conscience illuminates the particular and specific action.</a:t>
            </a:r>
          </a:p>
        </p:txBody>
      </p:sp>
      <p:sp>
        <p:nvSpPr>
          <p:cNvPr id="23555" name="TextBox 2"/>
          <p:cNvSpPr txBox="1">
            <a:spLocks noChangeArrowheads="1"/>
          </p:cNvSpPr>
          <p:nvPr/>
        </p:nvSpPr>
        <p:spPr bwMode="auto">
          <a:xfrm>
            <a:off x="1371600" y="304800"/>
            <a:ext cx="556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How moral conscience works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p:cNvSpPr txBox="1">
            <a:spLocks noChangeArrowheads="1"/>
          </p:cNvSpPr>
          <p:nvPr/>
        </p:nvSpPr>
        <p:spPr bwMode="auto">
          <a:xfrm>
            <a:off x="1295400" y="533400"/>
            <a:ext cx="6019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Bauhaus 93" panose="04030905020B02020C02" pitchFamily="82" charset="0"/>
                <a:cs typeface="Calibri" panose="020F0502020204030204" pitchFamily="34" charset="0"/>
              </a:rPr>
              <a:t>Moral conscience &amp; virtue of prudence. </a:t>
            </a:r>
          </a:p>
        </p:txBody>
      </p:sp>
      <p:sp>
        <p:nvSpPr>
          <p:cNvPr id="24579" name="Rectangle 2"/>
          <p:cNvSpPr>
            <a:spLocks noChangeArrowheads="1"/>
          </p:cNvSpPr>
          <p:nvPr/>
        </p:nvSpPr>
        <p:spPr bwMode="auto">
          <a:xfrm>
            <a:off x="1066800" y="1905000"/>
            <a:ext cx="74676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Ø"/>
            </a:pPr>
            <a:r>
              <a:rPr lang="en-US" altLang="en-US" sz="2800">
                <a:latin typeface="Calibri" panose="020F0502020204030204" pitchFamily="34" charset="0"/>
                <a:cs typeface="Calibri" panose="020F0502020204030204" pitchFamily="34" charset="0"/>
              </a:rPr>
              <a:t> </a:t>
            </a:r>
            <a:r>
              <a:rPr lang="en-US" altLang="en-US" sz="2800" b="1">
                <a:latin typeface="Calibri" panose="020F0502020204030204" pitchFamily="34" charset="0"/>
                <a:cs typeface="Calibri" panose="020F0502020204030204" pitchFamily="34" charset="0"/>
              </a:rPr>
              <a:t>Prudence is the habit that applies the general principles of synderesis, moral knowledge and the practical rules of experience to the particular act, in order to ascertain the moral value of the act.</a:t>
            </a: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 </a:t>
            </a:r>
          </a:p>
        </p:txBody>
      </p:sp>
      <p:pic>
        <p:nvPicPr>
          <p:cNvPr id="24580" name="Picture 2" descr="good or bad.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4379913"/>
            <a:ext cx="2971800"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ChangeArrowheads="1"/>
          </p:cNvSpPr>
          <p:nvPr/>
        </p:nvSpPr>
        <p:spPr bwMode="auto">
          <a:xfrm>
            <a:off x="990600" y="838200"/>
            <a:ext cx="6705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Arial" panose="020B0604020202020204" pitchFamily="34" charset="0"/>
              <a:buChar char="•"/>
            </a:pPr>
            <a:r>
              <a:rPr lang="en-US" altLang="en-US" sz="2800" b="1">
                <a:latin typeface="Calibri" panose="020F0502020204030204" pitchFamily="34" charset="0"/>
                <a:cs typeface="Calibri" panose="020F0502020204030204" pitchFamily="34" charset="0"/>
              </a:rPr>
              <a:t>Once the person, through prudence has discovered the moral value of the specific act, </a:t>
            </a:r>
          </a:p>
          <a:p>
            <a:pPr eaLnBrk="1" hangingPunct="1">
              <a:spcBef>
                <a:spcPct val="0"/>
              </a:spcBef>
              <a:buClrTx/>
              <a:buSzTx/>
              <a:buFont typeface="Arial" panose="020B0604020202020204" pitchFamily="34" charset="0"/>
              <a:buChar char="•"/>
            </a:pPr>
            <a:r>
              <a:rPr lang="en-US" altLang="en-US" sz="2800" b="1">
                <a:latin typeface="Calibri" panose="020F0502020204030204" pitchFamily="34" charset="0"/>
                <a:cs typeface="Calibri" panose="020F0502020204030204" pitchFamily="34" charset="0"/>
              </a:rPr>
              <a:t>The act of judgment about whether to do the act or not may be carried out by the conscience.</a:t>
            </a:r>
          </a:p>
        </p:txBody>
      </p:sp>
      <p:pic>
        <p:nvPicPr>
          <p:cNvPr id="25603" name="Picture 2" descr="good or bad.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657600"/>
            <a:ext cx="397668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304800"/>
            <a:ext cx="6400800" cy="5694363"/>
          </a:xfrm>
          <a:prstGeom prst="rect">
            <a:avLst/>
          </a:prstGeom>
        </p:spPr>
        <p:txBody>
          <a:bodyPr>
            <a:spAutoFit/>
          </a:bodyPr>
          <a:lstStyle/>
          <a:p>
            <a:pPr algn="just" eaLnBrk="1" fontAlgn="auto" hangingPunct="1">
              <a:spcBef>
                <a:spcPts val="0"/>
              </a:spcBef>
              <a:spcAft>
                <a:spcPts val="0"/>
              </a:spcAft>
              <a:defRPr/>
            </a:pPr>
            <a:r>
              <a:rPr lang="en-US" sz="2800" b="1" dirty="0">
                <a:latin typeface="Calibri" pitchFamily="34" charset="0"/>
                <a:cs typeface="Calibri" pitchFamily="34" charset="0"/>
              </a:rPr>
              <a:t>Elements which intervene in gaining knowledge of the moral value of particular acts</a:t>
            </a:r>
          </a:p>
          <a:p>
            <a:pPr algn="just" eaLnBrk="1" fontAlgn="auto" hangingPunct="1">
              <a:spcBef>
                <a:spcPts val="0"/>
              </a:spcBef>
              <a:spcAft>
                <a:spcPts val="0"/>
              </a:spcAft>
              <a:defRPr/>
            </a:pPr>
            <a:endParaRPr lang="en-US" sz="2800" dirty="0">
              <a:latin typeface="Calibri" pitchFamily="34" charset="0"/>
              <a:cs typeface="Calibri" pitchFamily="34" charset="0"/>
            </a:endParaRPr>
          </a:p>
          <a:p>
            <a:pPr marL="514350" indent="-514350" algn="just" fontAlgn="auto">
              <a:spcBef>
                <a:spcPts val="0"/>
              </a:spcBef>
              <a:spcAft>
                <a:spcPts val="0"/>
              </a:spcAft>
              <a:buFontTx/>
              <a:buAutoNum type="arabicParenR"/>
              <a:defRPr/>
            </a:pPr>
            <a:r>
              <a:rPr lang="en-US" sz="2800" b="1" dirty="0">
                <a:latin typeface="Bauhaus 93" pitchFamily="82" charset="0"/>
                <a:cs typeface="Calibri" pitchFamily="34" charset="0"/>
              </a:rPr>
              <a:t>Synderesis and the Natural law supply the general principles. Synderesis establishes that ‘we must do good and avoid evil’.</a:t>
            </a:r>
          </a:p>
          <a:p>
            <a:pPr marL="514350" indent="-514350" algn="just" fontAlgn="auto">
              <a:spcBef>
                <a:spcPts val="0"/>
              </a:spcBef>
              <a:spcAft>
                <a:spcPts val="0"/>
              </a:spcAft>
              <a:defRPr/>
            </a:pPr>
            <a:endParaRPr lang="en-US" sz="2800" b="1" dirty="0">
              <a:latin typeface="Bauhaus 93" pitchFamily="82" charset="0"/>
              <a:cs typeface="Calibri" pitchFamily="34" charset="0"/>
            </a:endParaRPr>
          </a:p>
          <a:p>
            <a:pPr algn="just" fontAlgn="auto">
              <a:spcBef>
                <a:spcPts val="0"/>
              </a:spcBef>
              <a:spcAft>
                <a:spcPts val="0"/>
              </a:spcAft>
              <a:defRPr/>
            </a:pPr>
            <a:r>
              <a:rPr lang="en-US" sz="2800" b="1" dirty="0">
                <a:latin typeface="Bauhaus 93" pitchFamily="82" charset="0"/>
                <a:cs typeface="Calibri" pitchFamily="34" charset="0"/>
              </a:rPr>
              <a:t>2)Moral knowledge applies the general 	principle to a particular type of act: 	‘theft should be avoided’.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2057400" y="152400"/>
            <a:ext cx="56388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a:spcBef>
                <a:spcPct val="0"/>
              </a:spcBef>
              <a:buClrTx/>
              <a:buSzTx/>
              <a:buFontTx/>
              <a:buNone/>
            </a:pPr>
            <a:r>
              <a:rPr lang="en-US" altLang="en-US" sz="2800">
                <a:latin typeface="Bauhaus 93" panose="04030905020B02020C02" pitchFamily="82" charset="0"/>
                <a:cs typeface="Calibri" panose="020F0502020204030204" pitchFamily="34" charset="0"/>
              </a:rPr>
              <a:t>3) Prudence considers the moral value of a specific act: ‘this is an act of theft’</a:t>
            </a:r>
          </a:p>
          <a:p>
            <a:pPr algn="just">
              <a:spcBef>
                <a:spcPct val="0"/>
              </a:spcBef>
              <a:buClrTx/>
              <a:buSzTx/>
              <a:buFontTx/>
              <a:buNone/>
            </a:pPr>
            <a:endParaRPr lang="en-US" altLang="en-US" sz="2800">
              <a:latin typeface="Bauhaus 93" panose="04030905020B02020C02" pitchFamily="82" charset="0"/>
              <a:cs typeface="Calibri" panose="020F0502020204030204" pitchFamily="34" charset="0"/>
            </a:endParaRPr>
          </a:p>
          <a:p>
            <a:pPr algn="just">
              <a:spcBef>
                <a:spcPct val="0"/>
              </a:spcBef>
              <a:buClrTx/>
              <a:buSzTx/>
              <a:buFontTx/>
              <a:buNone/>
            </a:pPr>
            <a:r>
              <a:rPr lang="en-US" altLang="en-US" sz="2800">
                <a:latin typeface="Bauhaus 93" panose="04030905020B02020C02" pitchFamily="82" charset="0"/>
                <a:cs typeface="Calibri" panose="020F0502020204030204" pitchFamily="34" charset="0"/>
              </a:rPr>
              <a:t>4) Conscience makes its judgment: ’I ought to avoid this act’</a:t>
            </a:r>
          </a:p>
          <a:p>
            <a:pPr algn="just">
              <a:spcBef>
                <a:spcPct val="0"/>
              </a:spcBef>
              <a:buClrTx/>
              <a:buSzTx/>
              <a:buFontTx/>
              <a:buNone/>
            </a:pPr>
            <a:endParaRPr lang="en-US" altLang="en-US" sz="2800">
              <a:latin typeface="Bauhaus 93" panose="04030905020B02020C02" pitchFamily="82" charset="0"/>
              <a:cs typeface="Calibri" panose="020F0502020204030204" pitchFamily="34" charset="0"/>
            </a:endParaRPr>
          </a:p>
          <a:p>
            <a:pPr algn="just">
              <a:spcBef>
                <a:spcPct val="0"/>
              </a:spcBef>
              <a:buClrTx/>
              <a:buSzTx/>
              <a:buFontTx/>
              <a:buNone/>
            </a:pPr>
            <a:r>
              <a:rPr lang="en-US" altLang="en-US" sz="2800">
                <a:latin typeface="Bauhaus 93" panose="04030905020B02020C02" pitchFamily="82" charset="0"/>
                <a:cs typeface="Calibri" panose="020F0502020204030204" pitchFamily="34" charset="0"/>
              </a:rPr>
              <a:t>Errors don’t come in at the level of first principles but can come at other levels.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14400" y="457200"/>
            <a:ext cx="8229600" cy="1295400"/>
          </a:xfrm>
        </p:spPr>
        <p:txBody>
          <a:bodyPr>
            <a:normAutofit fontScale="90000"/>
          </a:bodyPr>
          <a:lstStyle/>
          <a:p>
            <a:pPr eaLnBrk="1" fontAlgn="auto" hangingPunct="1">
              <a:spcAft>
                <a:spcPts val="0"/>
              </a:spcAft>
              <a:defRPr/>
            </a:pPr>
            <a:r>
              <a:rPr lang="en-US" sz="2800" b="1" smtClean="0"/>
              <a:t>How do these elements come together in working towards a judgement of conscience? Put them in the correct order!</a:t>
            </a:r>
          </a:p>
        </p:txBody>
      </p:sp>
      <p:sp>
        <p:nvSpPr>
          <p:cNvPr id="6" name="Oval 5"/>
          <p:cNvSpPr>
            <a:spLocks noChangeArrowheads="1"/>
          </p:cNvSpPr>
          <p:nvPr/>
        </p:nvSpPr>
        <p:spPr bwMode="auto">
          <a:xfrm>
            <a:off x="2362200" y="3810000"/>
            <a:ext cx="1905000" cy="914400"/>
          </a:xfrm>
          <a:prstGeom prst="ellipse">
            <a:avLst/>
          </a:prstGeom>
          <a:solidFill>
            <a:schemeClr val="accent1"/>
          </a:solidFill>
          <a:ln w="9525" algn="ctr">
            <a:solidFill>
              <a:schemeClr val="tx1"/>
            </a:solidFill>
            <a:round/>
            <a:headEnd/>
            <a:tailEnd/>
          </a:ln>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GB" altLang="en-US" sz="1800"/>
              <a:t>Synderesis</a:t>
            </a:r>
          </a:p>
        </p:txBody>
      </p:sp>
      <p:sp>
        <p:nvSpPr>
          <p:cNvPr id="7" name="Rounded Rectangle 6"/>
          <p:cNvSpPr>
            <a:spLocks noChangeArrowheads="1"/>
          </p:cNvSpPr>
          <p:nvPr/>
        </p:nvSpPr>
        <p:spPr bwMode="auto">
          <a:xfrm>
            <a:off x="4343400" y="2209800"/>
            <a:ext cx="2057400" cy="914400"/>
          </a:xfrm>
          <a:prstGeom prst="roundRect">
            <a:avLst>
              <a:gd name="adj" fmla="val 16667"/>
            </a:avLst>
          </a:prstGeom>
          <a:solidFill>
            <a:schemeClr val="accent1"/>
          </a:solidFill>
          <a:ln w="9525" algn="ctr">
            <a:solidFill>
              <a:schemeClr val="tx1"/>
            </a:solidFill>
            <a:round/>
            <a:headEnd/>
            <a:tailEnd/>
          </a:ln>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GB" altLang="en-US" sz="1800"/>
              <a:t>Natural Moral Law</a:t>
            </a:r>
          </a:p>
        </p:txBody>
      </p:sp>
      <p:sp>
        <p:nvSpPr>
          <p:cNvPr id="8" name="5-Point Star 7"/>
          <p:cNvSpPr/>
          <p:nvPr/>
        </p:nvSpPr>
        <p:spPr bwMode="auto">
          <a:xfrm>
            <a:off x="4191000" y="4267200"/>
            <a:ext cx="3505200" cy="2209800"/>
          </a:xfrm>
          <a:prstGeom prst="star5">
            <a:avLst/>
          </a:prstGeom>
          <a:solidFill>
            <a:schemeClr val="accent1"/>
          </a:solidFill>
          <a:ln w="9525" cap="flat" cmpd="sng" algn="ctr">
            <a:solidFill>
              <a:schemeClr val="tx1"/>
            </a:solidFill>
            <a:prstDash val="solid"/>
            <a:round/>
            <a:headEnd type="none" w="med" len="med"/>
            <a:tailEnd type="none" w="med" len="med"/>
          </a:ln>
          <a:effectLst/>
        </p:spPr>
        <p:txBody>
          <a:bodyPr/>
          <a:lstStyle/>
          <a:p>
            <a:pPr fontAlgn="auto">
              <a:spcBef>
                <a:spcPts val="0"/>
              </a:spcBef>
              <a:spcAft>
                <a:spcPts val="0"/>
              </a:spcAft>
              <a:defRPr/>
            </a:pPr>
            <a:r>
              <a:rPr lang="en-GB" dirty="0">
                <a:latin typeface="+mn-lt"/>
                <a:cs typeface="+mn-cs"/>
              </a:rPr>
              <a:t>Particular</a:t>
            </a:r>
          </a:p>
          <a:p>
            <a:pPr fontAlgn="auto">
              <a:spcBef>
                <a:spcPts val="0"/>
              </a:spcBef>
              <a:spcAft>
                <a:spcPts val="0"/>
              </a:spcAft>
              <a:defRPr/>
            </a:pPr>
            <a:r>
              <a:rPr lang="en-GB" dirty="0">
                <a:latin typeface="+mn-lt"/>
                <a:cs typeface="+mn-cs"/>
              </a:rPr>
              <a:t>moral</a:t>
            </a:r>
          </a:p>
          <a:p>
            <a:pPr fontAlgn="auto">
              <a:spcBef>
                <a:spcPts val="0"/>
              </a:spcBef>
              <a:spcAft>
                <a:spcPts val="0"/>
              </a:spcAft>
              <a:defRPr/>
            </a:pPr>
            <a:r>
              <a:rPr lang="en-GB" dirty="0">
                <a:latin typeface="+mn-lt"/>
                <a:cs typeface="+mn-cs"/>
              </a:rPr>
              <a:t>knowledge</a:t>
            </a:r>
          </a:p>
        </p:txBody>
      </p:sp>
      <p:sp>
        <p:nvSpPr>
          <p:cNvPr id="9" name="Isosceles Triangle 8"/>
          <p:cNvSpPr>
            <a:spLocks noChangeArrowheads="1"/>
          </p:cNvSpPr>
          <p:nvPr/>
        </p:nvSpPr>
        <p:spPr bwMode="auto">
          <a:xfrm>
            <a:off x="457200" y="5029200"/>
            <a:ext cx="2362200" cy="1371600"/>
          </a:xfrm>
          <a:prstGeom prst="triangle">
            <a:avLst>
              <a:gd name="adj" fmla="val 50000"/>
            </a:avLst>
          </a:prstGeom>
          <a:solidFill>
            <a:schemeClr val="accent1"/>
          </a:solidFill>
          <a:ln w="9525" algn="ctr">
            <a:solidFill>
              <a:schemeClr val="tx1"/>
            </a:solidFill>
            <a:round/>
            <a:headEnd/>
            <a:tailEnd/>
          </a:ln>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GB" altLang="en-US" sz="1800"/>
              <a:t>Prudence</a:t>
            </a:r>
          </a:p>
        </p:txBody>
      </p:sp>
      <p:sp>
        <p:nvSpPr>
          <p:cNvPr id="10" name="Rectangle 9"/>
          <p:cNvSpPr>
            <a:spLocks noChangeArrowheads="1"/>
          </p:cNvSpPr>
          <p:nvPr/>
        </p:nvSpPr>
        <p:spPr bwMode="auto">
          <a:xfrm>
            <a:off x="6477000" y="3276600"/>
            <a:ext cx="2438400" cy="1066800"/>
          </a:xfrm>
          <a:prstGeom prst="rect">
            <a:avLst/>
          </a:prstGeom>
          <a:solidFill>
            <a:schemeClr val="accent1"/>
          </a:solidFill>
          <a:ln w="9525" algn="ctr">
            <a:solidFill>
              <a:schemeClr val="tx1"/>
            </a:solidFill>
            <a:round/>
            <a:headEnd/>
            <a:tailEnd/>
          </a:ln>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endParaRPr lang="en-GB" altLang="en-US" sz="1800"/>
          </a:p>
          <a:p>
            <a:pPr>
              <a:spcBef>
                <a:spcPct val="0"/>
              </a:spcBef>
              <a:buClrTx/>
              <a:buSzTx/>
              <a:buFontTx/>
              <a:buNone/>
            </a:pPr>
            <a:r>
              <a:rPr lang="en-GB" altLang="en-US" sz="1800"/>
              <a:t>   Judgement of</a:t>
            </a:r>
          </a:p>
          <a:p>
            <a:pPr>
              <a:spcBef>
                <a:spcPct val="0"/>
              </a:spcBef>
              <a:buClrTx/>
              <a:buSzTx/>
              <a:buFontTx/>
              <a:buNone/>
            </a:pPr>
            <a:r>
              <a:rPr lang="en-GB" altLang="en-US" sz="1800"/>
              <a:t>     conscience</a:t>
            </a:r>
          </a:p>
        </p:txBody>
      </p:sp>
      <p:sp>
        <p:nvSpPr>
          <p:cNvPr id="11" name="Hexagon 10"/>
          <p:cNvSpPr>
            <a:spLocks noChangeArrowheads="1"/>
          </p:cNvSpPr>
          <p:nvPr/>
        </p:nvSpPr>
        <p:spPr bwMode="auto">
          <a:xfrm>
            <a:off x="228600" y="2057400"/>
            <a:ext cx="2286000" cy="2286000"/>
          </a:xfrm>
          <a:prstGeom prst="hexagon">
            <a:avLst>
              <a:gd name="adj" fmla="val 25000"/>
              <a:gd name="vf" fmla="val 115470"/>
            </a:avLst>
          </a:prstGeom>
          <a:solidFill>
            <a:schemeClr val="accent1"/>
          </a:solidFill>
          <a:ln w="9525" algn="ctr">
            <a:solidFill>
              <a:schemeClr val="tx1"/>
            </a:solidFill>
            <a:round/>
            <a:headEnd/>
            <a:tailEnd/>
          </a:ln>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GB" altLang="en-US" sz="1800"/>
              <a:t>To steal a         mobile phone from  shop in town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2000"/>
                            </p:stCondLst>
                            <p:childTnLst>
                              <p:par>
                                <p:cTn id="17" presetID="37"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900" decel="100000" fill="hold"/>
                                        <p:tgtEl>
                                          <p:spTgt spid="10"/>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par>
                          <p:cTn id="23" fill="hold" nodeType="afterGroup">
                            <p:stCondLst>
                              <p:cond delay="3000"/>
                            </p:stCondLst>
                            <p:childTnLst>
                              <p:par>
                                <p:cTn id="24" presetID="17" presetClass="entr" presetSubtype="1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3500"/>
                            </p:stCondLst>
                            <p:childTnLst>
                              <p:par>
                                <p:cTn id="29" presetID="49" presetClass="entr" presetSubtype="0" decel="10000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fltVal val="0"/>
                                          </p:val>
                                        </p:tav>
                                        <p:tav tm="100000">
                                          <p:val>
                                            <p:strVal val="#ppt_w"/>
                                          </p:val>
                                        </p:tav>
                                      </p:tavLst>
                                    </p:anim>
                                    <p:anim calcmode="lin" valueType="num">
                                      <p:cBhvr>
                                        <p:cTn id="32" dur="500" fill="hold"/>
                                        <p:tgtEl>
                                          <p:spTgt spid="9"/>
                                        </p:tgtEl>
                                        <p:attrNameLst>
                                          <p:attrName>ppt_h</p:attrName>
                                        </p:attrNameLst>
                                      </p:cBhvr>
                                      <p:tavLst>
                                        <p:tav tm="0">
                                          <p:val>
                                            <p:fltVal val="0"/>
                                          </p:val>
                                        </p:tav>
                                        <p:tav tm="100000">
                                          <p:val>
                                            <p:strVal val="#ppt_h"/>
                                          </p:val>
                                        </p:tav>
                                      </p:tavLst>
                                    </p:anim>
                                    <p:anim calcmode="lin" valueType="num">
                                      <p:cBhvr>
                                        <p:cTn id="33" dur="500" fill="hold"/>
                                        <p:tgtEl>
                                          <p:spTgt spid="9"/>
                                        </p:tgtEl>
                                        <p:attrNameLst>
                                          <p:attrName>style.rotation</p:attrName>
                                        </p:attrNameLst>
                                      </p:cBhvr>
                                      <p:tavLst>
                                        <p:tav tm="0">
                                          <p:val>
                                            <p:fltVal val="360"/>
                                          </p:val>
                                        </p:tav>
                                        <p:tav tm="100000">
                                          <p:val>
                                            <p:fltVal val="0"/>
                                          </p:val>
                                        </p:tav>
                                      </p:tavLst>
                                    </p:anim>
                                    <p:animEffect transition="in" filter="fade">
                                      <p:cBhvr>
                                        <p:cTn id="34" dur="500"/>
                                        <p:tgtEl>
                                          <p:spTgt spid="9"/>
                                        </p:tgtEl>
                                      </p:cBhvr>
                                    </p:animEffect>
                                  </p:childTnLst>
                                </p:cTn>
                              </p:par>
                            </p:childTnLst>
                          </p:cTn>
                        </p:par>
                        <p:par>
                          <p:cTn id="35" fill="hold" nodeType="afterGroup">
                            <p:stCondLst>
                              <p:cond delay="4000"/>
                            </p:stCondLst>
                            <p:childTnLst>
                              <p:par>
                                <p:cTn id="36" presetID="31" presetClass="entr" presetSubtype="0" fill="hold" grpId="0" nodeType="afterEffect">
                                  <p:stCondLst>
                                    <p:cond delay="0"/>
                                  </p:stCondLst>
                                  <p:iterate type="lt">
                                    <p:tmPct val="5000"/>
                                  </p:iterate>
                                  <p:childTnLst>
                                    <p:set>
                                      <p:cBhvr>
                                        <p:cTn id="37" dur="1" fill="hold">
                                          <p:stCondLst>
                                            <p:cond delay="0"/>
                                          </p:stCondLst>
                                        </p:cTn>
                                        <p:tgtEl>
                                          <p:spTgt spid="11"/>
                                        </p:tgtEl>
                                        <p:attrNameLst>
                                          <p:attrName>style.visibility</p:attrName>
                                        </p:attrNameLst>
                                      </p:cBhvr>
                                      <p:to>
                                        <p:strVal val="visible"/>
                                      </p:to>
                                    </p:set>
                                    <p:anim calcmode="lin" valueType="num">
                                      <p:cBhvr>
                                        <p:cTn id="38" dur="1000" fill="hold"/>
                                        <p:tgtEl>
                                          <p:spTgt spid="11"/>
                                        </p:tgtEl>
                                        <p:attrNameLst>
                                          <p:attrName>ppt_w</p:attrName>
                                        </p:attrNameLst>
                                      </p:cBhvr>
                                      <p:tavLst>
                                        <p:tav tm="0">
                                          <p:val>
                                            <p:fltVal val="0"/>
                                          </p:val>
                                        </p:tav>
                                        <p:tav tm="100000">
                                          <p:val>
                                            <p:strVal val="#ppt_w"/>
                                          </p:val>
                                        </p:tav>
                                      </p:tavLst>
                                    </p:anim>
                                    <p:anim calcmode="lin" valueType="num">
                                      <p:cBhvr>
                                        <p:cTn id="39" dur="1000" fill="hold"/>
                                        <p:tgtEl>
                                          <p:spTgt spid="11"/>
                                        </p:tgtEl>
                                        <p:attrNameLst>
                                          <p:attrName>ppt_h</p:attrName>
                                        </p:attrNameLst>
                                      </p:cBhvr>
                                      <p:tavLst>
                                        <p:tav tm="0">
                                          <p:val>
                                            <p:fltVal val="0"/>
                                          </p:val>
                                        </p:tav>
                                        <p:tav tm="100000">
                                          <p:val>
                                            <p:strVal val="#ppt_h"/>
                                          </p:val>
                                        </p:tav>
                                      </p:tavLst>
                                    </p:anim>
                                    <p:anim calcmode="lin" valueType="num">
                                      <p:cBhvr>
                                        <p:cTn id="40" dur="1000" fill="hold"/>
                                        <p:tgtEl>
                                          <p:spTgt spid="11"/>
                                        </p:tgtEl>
                                        <p:attrNameLst>
                                          <p:attrName>style.rotation</p:attrName>
                                        </p:attrNameLst>
                                      </p:cBhvr>
                                      <p:tavLst>
                                        <p:tav tm="0">
                                          <p:val>
                                            <p:fltVal val="90"/>
                                          </p:val>
                                        </p:tav>
                                        <p:tav tm="100000">
                                          <p:val>
                                            <p:fltVal val="0"/>
                                          </p:val>
                                        </p:tav>
                                      </p:tavLst>
                                    </p:anim>
                                    <p:animEffect transition="in" filter="fade">
                                      <p:cBhvr>
                                        <p:cTn id="41" dur="1000"/>
                                        <p:tgtEl>
                                          <p:spTgt spid="11"/>
                                        </p:tgtEl>
                                      </p:cBhvr>
                                    </p:animEffect>
                                  </p:childTnLst>
                                </p:cTn>
                              </p:par>
                            </p:childTnLst>
                          </p:cTn>
                        </p:par>
                        <p:par>
                          <p:cTn id="42" fill="hold" nodeType="afterGroup">
                            <p:stCondLst>
                              <p:cond delay="6600"/>
                            </p:stCondLst>
                            <p:childTnLst>
                              <p:par>
                                <p:cTn id="43" presetID="23" presetClass="entr" presetSubtype="16" fill="hold" grpId="0" nodeType="afterEffect">
                                  <p:stCondLst>
                                    <p:cond delay="0"/>
                                  </p:stCondLst>
                                  <p:childTnLst>
                                    <p:set>
                                      <p:cBhvr>
                                        <p:cTn id="44" dur="1" fill="hold">
                                          <p:stCondLst>
                                            <p:cond delay="0"/>
                                          </p:stCondLst>
                                        </p:cTn>
                                        <p:tgtEl>
                                          <p:spTgt spid="8194"/>
                                        </p:tgtEl>
                                        <p:attrNameLst>
                                          <p:attrName>style.visibility</p:attrName>
                                        </p:attrNameLst>
                                      </p:cBhvr>
                                      <p:to>
                                        <p:strVal val="visible"/>
                                      </p:to>
                                    </p:set>
                                    <p:anim calcmode="lin" valueType="num">
                                      <p:cBhvr>
                                        <p:cTn id="45" dur="500" fill="hold"/>
                                        <p:tgtEl>
                                          <p:spTgt spid="8194"/>
                                        </p:tgtEl>
                                        <p:attrNameLst>
                                          <p:attrName>ppt_w</p:attrName>
                                        </p:attrNameLst>
                                      </p:cBhvr>
                                      <p:tavLst>
                                        <p:tav tm="0">
                                          <p:val>
                                            <p:fltVal val="0"/>
                                          </p:val>
                                        </p:tav>
                                        <p:tav tm="100000">
                                          <p:val>
                                            <p:strVal val="#ppt_w"/>
                                          </p:val>
                                        </p:tav>
                                      </p:tavLst>
                                    </p:anim>
                                    <p:anim calcmode="lin" valueType="num">
                                      <p:cBhvr>
                                        <p:cTn id="46" dur="500" fill="hold"/>
                                        <p:tgtEl>
                                          <p:spTgt spid="81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6" grpId="0" animBg="1"/>
      <p:bldP spid="7" grpId="0" animBg="1"/>
      <p:bldP spid="8" grpId="0" animBg="1"/>
      <p:bldP spid="9"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1"/>
          <p:cNvSpPr txBox="1">
            <a:spLocks noChangeArrowheads="1"/>
          </p:cNvSpPr>
          <p:nvPr/>
        </p:nvSpPr>
        <p:spPr bwMode="auto">
          <a:xfrm>
            <a:off x="1219200" y="228600"/>
            <a:ext cx="6400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3200" b="1">
                <a:latin typeface="Times New Roman" panose="02020603050405020304" pitchFamily="18" charset="0"/>
                <a:cs typeface="Times New Roman" panose="02020603050405020304" pitchFamily="18" charset="0"/>
              </a:rPr>
              <a:t>QUALITIES OF CONSCIENCE</a:t>
            </a:r>
          </a:p>
        </p:txBody>
      </p:sp>
      <p:sp>
        <p:nvSpPr>
          <p:cNvPr id="30723" name="TextBox 2"/>
          <p:cNvSpPr txBox="1">
            <a:spLocks noChangeArrowheads="1"/>
          </p:cNvSpPr>
          <p:nvPr/>
        </p:nvSpPr>
        <p:spPr bwMode="auto">
          <a:xfrm>
            <a:off x="1676400" y="1143000"/>
            <a:ext cx="5791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AutoNum type="romanUcPeriod"/>
            </a:pPr>
            <a:r>
              <a:rPr lang="en-US" altLang="en-US" sz="2800" b="1">
                <a:latin typeface="Calibri" panose="020F0502020204030204" pitchFamily="34" charset="0"/>
                <a:cs typeface="Calibri" panose="020F0502020204030204" pitchFamily="34" charset="0"/>
              </a:rPr>
              <a:t>Conscience is knowledge</a:t>
            </a:r>
          </a:p>
          <a:p>
            <a:pPr eaLnBrk="1" hangingPunct="1">
              <a:spcBef>
                <a:spcPct val="0"/>
              </a:spcBef>
              <a:buClrTx/>
              <a:buSzTx/>
              <a:buFontTx/>
              <a:buAutoNum type="romanUcPeriod"/>
            </a:pPr>
            <a:r>
              <a:rPr lang="en-US" altLang="en-US" sz="2800" b="1">
                <a:latin typeface="Calibri" panose="020F0502020204030204" pitchFamily="34" charset="0"/>
                <a:cs typeface="Calibri" panose="020F0502020204030204" pitchFamily="34" charset="0"/>
              </a:rPr>
              <a:t>Conscience is practical</a:t>
            </a:r>
          </a:p>
          <a:p>
            <a:pPr eaLnBrk="1" hangingPunct="1">
              <a:spcBef>
                <a:spcPct val="0"/>
              </a:spcBef>
              <a:buClrTx/>
              <a:buSzTx/>
              <a:buFontTx/>
              <a:buAutoNum type="romanUcPeriod"/>
            </a:pPr>
            <a:r>
              <a:rPr lang="en-US" altLang="en-US" sz="2800" b="1">
                <a:latin typeface="Calibri" panose="020F0502020204030204" pitchFamily="34" charset="0"/>
                <a:cs typeface="Calibri" panose="020F0502020204030204" pitchFamily="34" charset="0"/>
              </a:rPr>
              <a:t>Conscience is judgment</a:t>
            </a:r>
          </a:p>
          <a:p>
            <a:pPr eaLnBrk="1" hangingPunct="1">
              <a:spcBef>
                <a:spcPct val="0"/>
              </a:spcBef>
              <a:buClrTx/>
              <a:buSzTx/>
              <a:buFontTx/>
              <a:buAutoNum type="romanUcPeriod"/>
            </a:pPr>
            <a:r>
              <a:rPr lang="en-US" altLang="en-US" sz="2800" b="1">
                <a:latin typeface="Calibri" panose="020F0502020204030204" pitchFamily="34" charset="0"/>
                <a:cs typeface="Calibri" panose="020F0502020204030204" pitchFamily="34" charset="0"/>
              </a:rPr>
              <a:t>Conscience is moral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p:txBody>
          <a:bodyPr/>
          <a:lstStyle/>
          <a:p>
            <a:pPr>
              <a:buFont typeface="Wingdings 2" panose="05020102010507070707" pitchFamily="18" charset="2"/>
              <a:buNone/>
            </a:pPr>
            <a:r>
              <a:rPr lang="en-US" altLang="en-US" dirty="0" smtClean="0"/>
              <a:t>	</a:t>
            </a:r>
            <a:r>
              <a:rPr lang="en-US" altLang="en-US" b="1" dirty="0" smtClean="0"/>
              <a:t>I. Conscience is knowledge </a:t>
            </a:r>
          </a:p>
          <a:p>
            <a:pPr>
              <a:buFont typeface="Wingdings 2" panose="05020102010507070707" pitchFamily="18" charset="2"/>
              <a:buNone/>
            </a:pPr>
            <a:r>
              <a:rPr lang="en-US" altLang="en-US" dirty="0" smtClean="0"/>
              <a:t>	Conscience is the awareness we have of whatever we are doing. It is the internal knowledge that tells us what we are thinking, what is happening to us, whether we are in control of it or not, and whether it is morally good or not. </a:t>
            </a:r>
          </a:p>
          <a:p>
            <a:pPr>
              <a:buFont typeface="Wingdings 2" panose="05020102010507070707" pitchFamily="18" charset="2"/>
              <a:buNone/>
            </a:pPr>
            <a:r>
              <a:rPr lang="en-US" altLang="en-US" dirty="0" smtClean="0"/>
              <a:t> 	Conscience is sensitive; it integrates all the external and internal senses in our perception of things. It gives us knowledge of the outside through the five external senses.</a:t>
            </a:r>
          </a:p>
          <a:p>
            <a:pPr>
              <a:buFont typeface="Wingdings 2" panose="05020102010507070707" pitchFamily="18" charset="2"/>
              <a:buNone/>
            </a:pPr>
            <a:endParaRPr lang="en-US" altLang="en-US" dirty="0" smtClean="0"/>
          </a:p>
          <a:p>
            <a:pPr>
              <a:buFont typeface="Wingdings 2" panose="05020102010507070707" pitchFamily="18" charset="2"/>
              <a:buNone/>
            </a:pPr>
            <a:endParaRPr lang="en-US" altLang="en-US" dirty="0" smtClean="0"/>
          </a:p>
        </p:txBody>
      </p:sp>
      <p:sp>
        <p:nvSpPr>
          <p:cNvPr id="2" name="Title 1"/>
          <p:cNvSpPr>
            <a:spLocks noGrp="1"/>
          </p:cNvSpPr>
          <p:nvPr>
            <p:ph type="title"/>
          </p:nvPr>
        </p:nvSpPr>
        <p:spPr>
          <a:xfrm>
            <a:off x="457200" y="-762000"/>
            <a:ext cx="8229600" cy="152400"/>
          </a:xfrm>
        </p:spPr>
        <p:txBody>
          <a:bodyPr>
            <a:normAutofit fontScale="90000"/>
          </a:bodyPr>
          <a:lstStyle/>
          <a:p>
            <a:pPr>
              <a:defRPr/>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p:txBody>
          <a:bodyPr/>
          <a:lstStyle/>
          <a:p>
            <a:r>
              <a:rPr lang="en-US" altLang="en-US" smtClean="0"/>
              <a:t>Conscience is sensitive; it integrates all the external and internal senses in our perception of things. It gives us knowledge of the outside through the five external senses.</a:t>
            </a:r>
          </a:p>
          <a:p>
            <a:r>
              <a:rPr lang="en-US" altLang="en-US" smtClean="0"/>
              <a:t>We are conscious of our identity. We integrate our spiritual knowledge with the sensitive knowledge. </a:t>
            </a:r>
          </a:p>
          <a:p>
            <a:r>
              <a:rPr lang="en-US" altLang="en-US" smtClean="0"/>
              <a:t>We know that we are different from  the external world, and that we can change ourselves and the environment. It is what we call </a:t>
            </a:r>
            <a:r>
              <a:rPr lang="en-US" altLang="en-US" i="1" smtClean="0"/>
              <a:t>consciousness</a:t>
            </a:r>
            <a:r>
              <a:rPr lang="en-US" altLang="en-US" smtClean="0"/>
              <a:t> or state of </a:t>
            </a:r>
            <a:r>
              <a:rPr lang="en-US" altLang="en-US" i="1" smtClean="0"/>
              <a:t>vigil</a:t>
            </a:r>
            <a:r>
              <a:rPr lang="en-US" altLang="en-US" smtClean="0"/>
              <a:t>. </a:t>
            </a:r>
          </a:p>
          <a:p>
            <a:endParaRPr lang="en-US" altLang="en-US" smtClean="0"/>
          </a:p>
          <a:p>
            <a:endParaRPr lang="en-US" altLang="en-US" smtClean="0"/>
          </a:p>
          <a:p>
            <a:endParaRPr lang="en-US" altLang="en-US" smtClean="0"/>
          </a:p>
          <a:p>
            <a:pPr>
              <a:buFont typeface="Wingdings 2" panose="05020102010507070707" pitchFamily="18" charset="2"/>
              <a:buNone/>
            </a:pPr>
            <a:endParaRPr lang="en-US" altLang="en-US" smtClean="0"/>
          </a:p>
        </p:txBody>
      </p:sp>
      <p:sp>
        <p:nvSpPr>
          <p:cNvPr id="2" name="Title 1"/>
          <p:cNvSpPr>
            <a:spLocks noGrp="1"/>
          </p:cNvSpPr>
          <p:nvPr>
            <p:ph type="title"/>
          </p:nvPr>
        </p:nvSpPr>
        <p:spPr>
          <a:xfrm>
            <a:off x="457200" y="-609600"/>
            <a:ext cx="8229600" cy="76200"/>
          </a:xfrm>
        </p:spPr>
        <p:txBody>
          <a:bodyPr>
            <a:normAutofit fontScale="90000"/>
          </a:bodyPr>
          <a:lstStyle/>
          <a:p>
            <a:pPr>
              <a:defRPr/>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p:txBody>
          <a:bodyPr/>
          <a:lstStyle/>
          <a:p>
            <a:r>
              <a:rPr lang="en-US" altLang="en-US" smtClean="0"/>
              <a:t> When we speak of conscience as knowledge we are talking about the “hidden eye” that knows what we think, the reasons why we choose to do one thing or another. </a:t>
            </a:r>
          </a:p>
          <a:p>
            <a:r>
              <a:rPr lang="en-US" altLang="en-US" smtClean="0"/>
              <a:t>It is an eye that is personal and cannot be perceived, or known by any other person, unless we decide to communicate it. </a:t>
            </a:r>
          </a:p>
          <a:p>
            <a:r>
              <a:rPr lang="en-US" altLang="en-US" smtClean="0"/>
              <a:t>It is also a “permanent eye” that accompanies us always. </a:t>
            </a:r>
          </a:p>
          <a:p>
            <a:pPr>
              <a:buFont typeface="Wingdings 2" panose="05020102010507070707" pitchFamily="18" charset="2"/>
              <a:buNone/>
            </a:pPr>
            <a:endParaRPr lang="en-US" altLang="en-US" smtClean="0"/>
          </a:p>
        </p:txBody>
      </p:sp>
      <p:sp>
        <p:nvSpPr>
          <p:cNvPr id="2" name="Title 1"/>
          <p:cNvSpPr>
            <a:spLocks noGrp="1"/>
          </p:cNvSpPr>
          <p:nvPr>
            <p:ph type="title"/>
          </p:nvPr>
        </p:nvSpPr>
        <p:spPr>
          <a:xfrm>
            <a:off x="457200" y="-914400"/>
            <a:ext cx="8229600" cy="228600"/>
          </a:xfrm>
        </p:spPr>
        <p:txBody>
          <a:bodyPr>
            <a:normAutofit fontScale="90000"/>
          </a:bodyPr>
          <a:lstStyle/>
          <a:p>
            <a:pPr>
              <a:defRPr/>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ChangeArrowheads="1"/>
          </p:cNvSpPr>
          <p:nvPr/>
        </p:nvSpPr>
        <p:spPr bwMode="auto">
          <a:xfrm>
            <a:off x="762000" y="228600"/>
            <a:ext cx="76200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US" altLang="en-US" sz="2800" b="1">
                <a:latin typeface="Bauhaus 93" panose="04030905020B02020C02" pitchFamily="82" charset="0"/>
                <a:cs typeface="Calibri" panose="020F0502020204030204" pitchFamily="34" charset="0"/>
              </a:rPr>
              <a:t>II.Conscience is practical</a:t>
            </a: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Tx/>
              <a:buNone/>
            </a:pPr>
            <a:r>
              <a:rPr lang="en-US" altLang="en-US" sz="2800">
                <a:latin typeface="Calibri" panose="020F0502020204030204" pitchFamily="34" charset="0"/>
                <a:cs typeface="Calibri" panose="020F0502020204030204" pitchFamily="34" charset="0"/>
              </a:rPr>
              <a:t>-</a:t>
            </a:r>
            <a:r>
              <a:rPr lang="en-US" altLang="en-US" sz="2800" b="1">
                <a:latin typeface="Calibri" panose="020F0502020204030204" pitchFamily="34" charset="0"/>
                <a:cs typeface="Calibri" panose="020F0502020204030204" pitchFamily="34" charset="0"/>
              </a:rPr>
              <a:t>Conscience acts on the now and here. Our memory is knowledge of the past and our fantasy the imagination of the future. </a:t>
            </a: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Tx/>
              <a:buNone/>
            </a:pPr>
            <a:r>
              <a:rPr lang="en-US" altLang="en-US" sz="2800" b="1">
                <a:latin typeface="Calibri" panose="020F0502020204030204" pitchFamily="34" charset="0"/>
                <a:cs typeface="Calibri" panose="020F0502020204030204" pitchFamily="34" charset="0"/>
              </a:rPr>
              <a:t>-Conscience is always knowledge of the present. </a:t>
            </a: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Tx/>
              <a:buNone/>
            </a:pPr>
            <a:r>
              <a:rPr lang="en-US" altLang="en-US" sz="2800" b="1">
                <a:latin typeface="Calibri" panose="020F0502020204030204" pitchFamily="34" charset="0"/>
                <a:cs typeface="Calibri" panose="020F0502020204030204" pitchFamily="34" charset="0"/>
              </a:rPr>
              <a:t>- Our conscience is always of a specific place and situation, here and now. </a:t>
            </a:r>
          </a:p>
        </p:txBody>
      </p:sp>
      <p:sp>
        <p:nvSpPr>
          <p:cNvPr id="34819" name="Rectangle 2"/>
          <p:cNvSpPr>
            <a:spLocks noChangeArrowheads="1"/>
          </p:cNvSpPr>
          <p:nvPr/>
        </p:nvSpPr>
        <p:spPr bwMode="auto">
          <a:xfrm>
            <a:off x="990600" y="4876800"/>
            <a:ext cx="6934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-Our conscience is what keeps us in touch with the real, practical world, our situation here and now</a:t>
            </a:r>
            <a:endParaRPr lang="en-US" altLang="en-US" sz="28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295400" y="228600"/>
            <a:ext cx="71628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US" altLang="en-US" sz="2800" b="1">
                <a:latin typeface="Calibri" panose="020F0502020204030204" pitchFamily="34" charset="0"/>
                <a:cs typeface="Calibri" panose="020F0502020204030204" pitchFamily="34" charset="0"/>
              </a:rPr>
              <a:t>III</a:t>
            </a:r>
            <a:r>
              <a:rPr lang="en-US" altLang="en-US" sz="2800" b="1">
                <a:latin typeface="Bauhaus 93" panose="04030905020B02020C02" pitchFamily="82" charset="0"/>
                <a:cs typeface="Calibri" panose="020F0502020204030204" pitchFamily="34" charset="0"/>
              </a:rPr>
              <a:t>. Conscience is judgment</a:t>
            </a:r>
          </a:p>
          <a:p>
            <a:pPr>
              <a:spcBef>
                <a:spcPct val="0"/>
              </a:spcBef>
              <a:buClrTx/>
              <a:buSzTx/>
              <a:buFontTx/>
              <a:buNone/>
            </a:pPr>
            <a:endParaRPr lang="en-US" altLang="en-US" sz="2800">
              <a:latin typeface="Bauhaus 93" panose="04030905020B02020C02" pitchFamily="82" charset="0"/>
              <a:cs typeface="Calibri" panose="020F0502020204030204" pitchFamily="34" charset="0"/>
            </a:endParaRPr>
          </a:p>
          <a:p>
            <a:pPr>
              <a:spcBef>
                <a:spcPct val="0"/>
              </a:spcBef>
              <a:buClrTx/>
              <a:buSzTx/>
              <a:buFont typeface="Wingdings" panose="05000000000000000000" pitchFamily="2" charset="2"/>
              <a:buChar char="v"/>
            </a:pPr>
            <a:r>
              <a:rPr lang="en-US" altLang="en-US" sz="2800" b="1">
                <a:latin typeface="Calibri" panose="020F0502020204030204" pitchFamily="34" charset="0"/>
                <a:cs typeface="Calibri" panose="020F0502020204030204" pitchFamily="34" charset="0"/>
              </a:rPr>
              <a:t>Conscience is always accompanied by a judgment. </a:t>
            </a:r>
          </a:p>
          <a:p>
            <a:pPr>
              <a:spcBef>
                <a:spcPct val="0"/>
              </a:spcBef>
              <a:buClrTx/>
              <a:buSzTx/>
              <a:buFont typeface="Wingdings" panose="05000000000000000000" pitchFamily="2" charset="2"/>
              <a:buChar char="v"/>
            </a:pPr>
            <a:endParaRPr lang="en-US" altLang="en-US" sz="2800" b="1">
              <a:latin typeface="Calibri" panose="020F0502020204030204" pitchFamily="34" charset="0"/>
              <a:cs typeface="Calibri" panose="020F0502020204030204" pitchFamily="34" charset="0"/>
            </a:endParaRP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 typeface="Wingdings" panose="05000000000000000000" pitchFamily="2" charset="2"/>
              <a:buChar char="v"/>
            </a:pPr>
            <a:r>
              <a:rPr lang="en-US" altLang="en-US" sz="2800" b="1">
                <a:latin typeface="Calibri" panose="020F0502020204030204" pitchFamily="34" charset="0"/>
                <a:cs typeface="Calibri" panose="020F0502020204030204" pitchFamily="34" charset="0"/>
              </a:rPr>
              <a:t>There is a kind of judgment that automatically makes us react and pulls us away or towards something.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066800" y="2743200"/>
            <a:ext cx="6553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 typeface="Wingdings" panose="05000000000000000000" pitchFamily="2" charset="2"/>
              <a:buChar char="v"/>
            </a:pPr>
            <a:r>
              <a:rPr lang="en-US" altLang="en-US" sz="2800">
                <a:latin typeface="Calibri" panose="020F0502020204030204" pitchFamily="34" charset="0"/>
                <a:cs typeface="Calibri" panose="020F0502020204030204" pitchFamily="34" charset="0"/>
              </a:rPr>
              <a:t> </a:t>
            </a:r>
            <a:r>
              <a:rPr lang="en-US" altLang="en-US" sz="2800" b="1">
                <a:latin typeface="Calibri" panose="020F0502020204030204" pitchFamily="34" charset="0"/>
                <a:cs typeface="Calibri" panose="020F0502020204030204" pitchFamily="34" charset="0"/>
              </a:rPr>
              <a:t>Conscience judges all our conscious actions saying whether they are in accord to our goals or not, and whether they are in accord to our nature or not.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447800" y="1143000"/>
            <a:ext cx="6096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Conscience is always singular, personal and individual.</a:t>
            </a:r>
          </a:p>
          <a:p>
            <a:pPr eaLnBrk="1" hangingPunct="1">
              <a:spcBef>
                <a:spcPct val="0"/>
              </a:spcBef>
              <a:buClrTx/>
              <a:buSzTx/>
              <a:buFont typeface="Wingdings" panose="05000000000000000000" pitchFamily="2" charset="2"/>
              <a:buChar char="ü"/>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One cannot properly speak of a "collective" or "social" conscience.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838200" y="228600"/>
            <a:ext cx="7772400" cy="417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Tx/>
              <a:buNone/>
            </a:pPr>
            <a:r>
              <a:rPr lang="en-US" altLang="en-US" sz="3200" b="1">
                <a:latin typeface="Bauhaus 93" panose="04030905020B02020C02" pitchFamily="82" charset="0"/>
                <a:cs typeface="Calibri" panose="020F0502020204030204" pitchFamily="34" charset="0"/>
              </a:rPr>
              <a:t>IV. Conscience is moral</a:t>
            </a:r>
          </a:p>
          <a:p>
            <a:pPr>
              <a:spcBef>
                <a:spcPct val="0"/>
              </a:spcBef>
              <a:buClrTx/>
              <a:buSzTx/>
              <a:buFontTx/>
              <a:buNone/>
            </a:pPr>
            <a:endParaRPr lang="en-US" altLang="en-US" sz="900">
              <a:latin typeface="Bauhaus 93" panose="04030905020B02020C02" pitchFamily="82" charset="0"/>
            </a:endParaRPr>
          </a:p>
          <a:p>
            <a:pPr>
              <a:spcBef>
                <a:spcPct val="0"/>
              </a:spcBef>
              <a:buClrTx/>
              <a:buSzTx/>
              <a:buFont typeface="Wingdings" panose="05000000000000000000" pitchFamily="2" charset="2"/>
              <a:buChar char="Ø"/>
            </a:pPr>
            <a:r>
              <a:rPr lang="en-US" altLang="en-US" sz="2800" b="1">
                <a:latin typeface="Calibri" panose="020F0502020204030204" pitchFamily="34" charset="0"/>
                <a:cs typeface="Calibri" panose="020F0502020204030204" pitchFamily="34" charset="0"/>
              </a:rPr>
              <a:t>Conscience is moral because it is its main function, to help us achieve our end, our perfection, to flourish. </a:t>
            </a: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 typeface="Wingdings" panose="05000000000000000000" pitchFamily="2" charset="2"/>
              <a:buChar char="Ø"/>
            </a:pPr>
            <a:r>
              <a:rPr lang="en-US" altLang="en-US" sz="2800" b="1">
                <a:latin typeface="Calibri" panose="020F0502020204030204" pitchFamily="34" charset="0"/>
                <a:cs typeface="Calibri" panose="020F0502020204030204" pitchFamily="34" charset="0"/>
              </a:rPr>
              <a:t>Similarly moral conscience aims at getting the best out of us. It pushes us through our freedom to choose the best for us in each moment.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143000" y="301625"/>
            <a:ext cx="7391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In order to do this conscience judges, based on the principles of morality inscribed inside us in the synderesis which is like our hardware, our inbuilt makeup as human beings. </a:t>
            </a:r>
          </a:p>
          <a:p>
            <a:pPr>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With the light of these principles and the knowledge of the moral laws we decide what is good for us in any particular moment, and the habit of doing this repeatedly gives us the virtue of prudence.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2057400" y="1295400"/>
            <a:ext cx="56388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 Hence because of this, </a:t>
            </a:r>
            <a:r>
              <a:rPr lang="en-US" altLang="en-US" sz="2800" b="1" i="1">
                <a:latin typeface="Calibri" panose="020F0502020204030204" pitchFamily="34" charset="0"/>
                <a:cs typeface="Calibri" panose="020F0502020204030204" pitchFamily="34" charset="0"/>
              </a:rPr>
              <a:t>conscience is the first norm of morality</a:t>
            </a:r>
            <a:r>
              <a:rPr lang="en-US" altLang="en-US" sz="2800" b="1">
                <a:latin typeface="Calibri" panose="020F0502020204030204" pitchFamily="34" charset="0"/>
                <a:cs typeface="Calibri" panose="020F0502020204030204" pitchFamily="34" charset="0"/>
              </a:rPr>
              <a:t>. </a:t>
            </a:r>
          </a:p>
          <a:p>
            <a:pPr>
              <a:spcBef>
                <a:spcPct val="0"/>
              </a:spcBef>
              <a:buClrTx/>
              <a:buSzTx/>
              <a:buFont typeface="Wingdings" panose="05000000000000000000" pitchFamily="2" charset="2"/>
              <a:buChar char="ü"/>
            </a:pPr>
            <a:endParaRPr lang="en-US" altLang="en-US" sz="2800" b="1">
              <a:latin typeface="Calibri" panose="020F0502020204030204" pitchFamily="34" charset="0"/>
              <a:cs typeface="Calibri" panose="020F0502020204030204" pitchFamily="34" charset="0"/>
            </a:endParaRPr>
          </a:p>
          <a:p>
            <a:pPr>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The judgment of conscience also has an imperative character: man must act in accordance with it.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676400" y="1524000"/>
            <a:ext cx="67818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a:spcBef>
                <a:spcPct val="0"/>
              </a:spcBef>
              <a:buClrTx/>
              <a:buSzTx/>
              <a:buFontTx/>
              <a:buNone/>
            </a:pPr>
            <a:r>
              <a:rPr lang="en-US" altLang="en-US" sz="2800" b="1">
                <a:latin typeface="Calibri" panose="020F0502020204030204" pitchFamily="34" charset="0"/>
                <a:cs typeface="Calibri" panose="020F0502020204030204" pitchFamily="34" charset="0"/>
              </a:rPr>
              <a:t>“Conscience is a “voice’, the “voice of our conscience” which tells us what is good to do, or praises us or reprimands us for what we have done.”</a:t>
            </a:r>
          </a:p>
          <a:p>
            <a:pPr algn="just">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lgn="just">
              <a:spcBef>
                <a:spcPct val="0"/>
              </a:spcBef>
              <a:buClrTx/>
              <a:buSzTx/>
              <a:buFontTx/>
              <a:buNone/>
            </a:pPr>
            <a:r>
              <a:rPr lang="en-US" altLang="en-US" sz="2800" b="1">
                <a:latin typeface="Calibri" panose="020F0502020204030204" pitchFamily="34" charset="0"/>
                <a:cs typeface="Calibri" panose="020F0502020204030204" pitchFamily="34" charset="0"/>
              </a:rPr>
              <a:t>“It is a voice that knows practically and judges morality of each one of our actions. It is a voice that never sleeps,that cannot be kept quiet, silenced. It can, nevertheless, be covered and distorted to some degree.”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457200" y="838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ChangeArrowheads="1"/>
          </p:cNvSpPr>
          <p:nvPr/>
        </p:nvSpPr>
        <p:spPr bwMode="auto">
          <a:xfrm>
            <a:off x="1676400" y="381000"/>
            <a:ext cx="7467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Types of moral conscience</a:t>
            </a:r>
            <a:r>
              <a:rPr lang="en-US" altLang="en-US" sz="1100" b="1">
                <a:ea typeface="Calibri" panose="020F0502020204030204" pitchFamily="34" charset="0"/>
                <a:cs typeface="Times New Roman" panose="02020603050405020304" pitchFamily="18" charset="0"/>
              </a:rPr>
              <a:t>.</a:t>
            </a:r>
            <a:endParaRPr lang="en-US" altLang="en-US" sz="1800"/>
          </a:p>
        </p:txBody>
      </p:sp>
      <p:sp>
        <p:nvSpPr>
          <p:cNvPr id="3" name="Rectangle 2"/>
          <p:cNvSpPr/>
          <p:nvPr/>
        </p:nvSpPr>
        <p:spPr>
          <a:xfrm>
            <a:off x="1143000" y="2133600"/>
            <a:ext cx="7696200" cy="4094163"/>
          </a:xfrm>
          <a:prstGeom prst="rect">
            <a:avLst/>
          </a:prstGeom>
        </p:spPr>
        <p:txBody>
          <a:bodyPr>
            <a:spAutoFit/>
          </a:bodyPr>
          <a:lstStyle/>
          <a:p>
            <a:pPr marL="342900" indent="-342900" eaLnBrk="1" fontAlgn="auto" hangingPunct="1">
              <a:spcBef>
                <a:spcPts val="0"/>
              </a:spcBef>
              <a:spcAft>
                <a:spcPts val="0"/>
              </a:spcAft>
              <a:buFontTx/>
              <a:buAutoNum type="alphaLcParenR"/>
              <a:defRPr/>
            </a:pPr>
            <a:r>
              <a:rPr lang="en-US" sz="2800" b="1" dirty="0">
                <a:latin typeface="Bauhaus 93" pitchFamily="82" charset="0"/>
                <a:cs typeface="Calibri" pitchFamily="34" charset="0"/>
              </a:rPr>
              <a:t>Antecedent:</a:t>
            </a:r>
            <a:r>
              <a:rPr lang="en-US" sz="2800" dirty="0">
                <a:latin typeface="Bauhaus 93" pitchFamily="82" charset="0"/>
                <a:cs typeface="Calibri" pitchFamily="34" charset="0"/>
              </a:rPr>
              <a:t> </a:t>
            </a:r>
            <a:r>
              <a:rPr lang="en-US" sz="2800" b="1" dirty="0">
                <a:latin typeface="Calibri" pitchFamily="34" charset="0"/>
                <a:cs typeface="Calibri" pitchFamily="34" charset="0"/>
              </a:rPr>
              <a:t>when one makes a moral judgment before carrying out a free act so as to command or permit an act.</a:t>
            </a:r>
          </a:p>
          <a:p>
            <a:pPr marL="342900" indent="-342900" eaLnBrk="1" fontAlgn="auto" hangingPunct="1">
              <a:spcBef>
                <a:spcPts val="0"/>
              </a:spcBef>
              <a:spcAft>
                <a:spcPts val="0"/>
              </a:spcAft>
              <a:defRPr/>
            </a:pPr>
            <a:endParaRPr lang="en-US" dirty="0">
              <a:latin typeface="+mn-lt"/>
              <a:cs typeface="+mn-cs"/>
            </a:endParaRPr>
          </a:p>
          <a:p>
            <a:pPr marL="342900" indent="-342900" eaLnBrk="1" fontAlgn="auto" hangingPunct="1">
              <a:spcBef>
                <a:spcPts val="0"/>
              </a:spcBef>
              <a:spcAft>
                <a:spcPts val="0"/>
              </a:spcAft>
              <a:defRPr/>
            </a:pPr>
            <a:endParaRPr lang="en-US" dirty="0">
              <a:latin typeface="+mn-lt"/>
              <a:cs typeface="+mn-cs"/>
            </a:endParaRPr>
          </a:p>
          <a:p>
            <a:pPr eaLnBrk="1" fontAlgn="auto" hangingPunct="1">
              <a:spcBef>
                <a:spcPts val="0"/>
              </a:spcBef>
              <a:spcAft>
                <a:spcPts val="0"/>
              </a:spcAft>
              <a:defRPr/>
            </a:pPr>
            <a:r>
              <a:rPr lang="en-US" sz="2800" dirty="0">
                <a:latin typeface="Calibri" pitchFamily="34" charset="0"/>
                <a:cs typeface="Calibri" pitchFamily="34" charset="0"/>
              </a:rPr>
              <a:t>b) </a:t>
            </a:r>
            <a:r>
              <a:rPr lang="en-US" sz="2800" b="1" dirty="0">
                <a:latin typeface="Bauhaus 93" pitchFamily="82" charset="0"/>
                <a:cs typeface="Calibri" pitchFamily="34" charset="0"/>
              </a:rPr>
              <a:t>Consequent:</a:t>
            </a:r>
            <a:r>
              <a:rPr lang="en-US" sz="2800" dirty="0">
                <a:latin typeface="Bauhaus 93" pitchFamily="82" charset="0"/>
                <a:cs typeface="Calibri" pitchFamily="34" charset="0"/>
              </a:rPr>
              <a:t> </a:t>
            </a:r>
            <a:r>
              <a:rPr lang="en-US" sz="2800" b="1" dirty="0">
                <a:latin typeface="Calibri" pitchFamily="34" charset="0"/>
                <a:cs typeface="Calibri" pitchFamily="34" charset="0"/>
              </a:rPr>
              <a:t>when a moral judgment is made    	after an act  is done in order to approve 	of it and 	enjoy satisfaction, or to 	condemn the act and experience sorrow 	or remorse.</a:t>
            </a:r>
          </a:p>
        </p:txBody>
      </p:sp>
      <p:sp>
        <p:nvSpPr>
          <p:cNvPr id="44036" name="TextBox 4"/>
          <p:cNvSpPr txBox="1">
            <a:spLocks noChangeArrowheads="1"/>
          </p:cNvSpPr>
          <p:nvPr/>
        </p:nvSpPr>
        <p:spPr bwMode="auto">
          <a:xfrm>
            <a:off x="1219200" y="990600"/>
            <a:ext cx="5562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I.How conscience relates to the timing of an act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219200" y="457200"/>
            <a:ext cx="6629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II. The judgment of conscience conforms to the moral law if it is:</a:t>
            </a:r>
            <a:endParaRPr lang="en-US" altLang="en-US" sz="2800">
              <a:latin typeface="Calibri" panose="020F0502020204030204" pitchFamily="34" charset="0"/>
              <a:cs typeface="Calibri" panose="020F0502020204030204" pitchFamily="34" charset="0"/>
            </a:endParaRPr>
          </a:p>
          <a:p>
            <a:pPr algn="just">
              <a:spcBef>
                <a:spcPct val="0"/>
              </a:spcBef>
              <a:buClrTx/>
              <a:buSzTx/>
              <a:buFontTx/>
              <a:buNone/>
            </a:pPr>
            <a:r>
              <a:rPr lang="en-US" altLang="en-US" sz="2800">
                <a:latin typeface="Calibri" panose="020F0502020204030204" pitchFamily="34" charset="0"/>
                <a:cs typeface="Calibri" panose="020F0502020204030204" pitchFamily="34" charset="0"/>
              </a:rPr>
              <a:t>a) </a:t>
            </a:r>
            <a:r>
              <a:rPr lang="en-US" altLang="en-US" sz="2800" b="1">
                <a:latin typeface="Bauhaus 93" panose="04030905020B02020C02" pitchFamily="82" charset="0"/>
                <a:cs typeface="Calibri" panose="020F0502020204030204" pitchFamily="34" charset="0"/>
              </a:rPr>
              <a:t>true or right:</a:t>
            </a:r>
            <a:r>
              <a:rPr lang="en-US" altLang="en-US" sz="2800">
                <a:latin typeface="Bauhaus 93" panose="04030905020B02020C02" pitchFamily="82" charset="0"/>
                <a:cs typeface="Calibri" panose="020F0502020204030204" pitchFamily="34" charset="0"/>
              </a:rPr>
              <a:t> </a:t>
            </a:r>
            <a:r>
              <a:rPr lang="en-US" altLang="en-US" sz="2800" b="1">
                <a:latin typeface="Calibri" panose="020F0502020204030204" pitchFamily="34" charset="0"/>
                <a:cs typeface="Calibri" panose="020F0502020204030204" pitchFamily="34" charset="0"/>
              </a:rPr>
              <a:t>when the goodness or badness has been judged in a way that conforms to and respects the moral law.</a:t>
            </a:r>
          </a:p>
          <a:p>
            <a:pPr algn="just">
              <a:spcBef>
                <a:spcPct val="0"/>
              </a:spcBef>
              <a:buClrTx/>
              <a:buSzTx/>
              <a:buFontTx/>
              <a:buNone/>
            </a:pPr>
            <a:endParaRPr lang="en-US" altLang="en-US" sz="2800">
              <a:latin typeface="Calibri" panose="020F0502020204030204" pitchFamily="34" charset="0"/>
              <a:cs typeface="Calibri" panose="020F0502020204030204" pitchFamily="34" charset="0"/>
            </a:endParaRPr>
          </a:p>
          <a:p>
            <a:pPr algn="just">
              <a:spcBef>
                <a:spcPct val="0"/>
              </a:spcBef>
              <a:buClrTx/>
              <a:buSzTx/>
              <a:buFontTx/>
              <a:buNone/>
            </a:pPr>
            <a:r>
              <a:rPr lang="en-US" altLang="en-US" sz="2800">
                <a:latin typeface="Calibri" panose="020F0502020204030204" pitchFamily="34" charset="0"/>
                <a:cs typeface="Calibri" panose="020F0502020204030204" pitchFamily="34" charset="0"/>
              </a:rPr>
              <a:t>b) </a:t>
            </a:r>
            <a:r>
              <a:rPr lang="en-US" altLang="en-US" sz="2800" b="1">
                <a:latin typeface="Bauhaus 93" panose="04030905020B02020C02" pitchFamily="82" charset="0"/>
                <a:cs typeface="Calibri" panose="020F0502020204030204" pitchFamily="34" charset="0"/>
              </a:rPr>
              <a:t>erroneous or false:</a:t>
            </a:r>
            <a:r>
              <a:rPr lang="en-US" altLang="en-US" sz="2800">
                <a:latin typeface="Bauhaus 93" panose="04030905020B02020C02" pitchFamily="82" charset="0"/>
                <a:cs typeface="Calibri" panose="020F0502020204030204" pitchFamily="34" charset="0"/>
              </a:rPr>
              <a:t> </a:t>
            </a:r>
            <a:r>
              <a:rPr lang="en-US" altLang="en-US" sz="2800" b="1">
                <a:latin typeface="Calibri" panose="020F0502020204030204" pitchFamily="34" charset="0"/>
                <a:cs typeface="Calibri" panose="020F0502020204030204" pitchFamily="34" charset="0"/>
              </a:rPr>
              <a:t>when the moral judgment made by the conscience does not agree with the moral law because it considers a bad act to be good or vice versa. The cause of this error will be some form of ignorance.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990600" y="533400"/>
            <a:ext cx="75438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III.The type of consent that the person gives to the judgment made by the conscience may be:</a:t>
            </a:r>
          </a:p>
          <a:p>
            <a:pPr algn="just" eaLnBrk="1" hangingPunct="1">
              <a:spcBef>
                <a:spcPct val="0"/>
              </a:spcBef>
              <a:buClrTx/>
              <a:buSzTx/>
              <a:buFontTx/>
              <a:buNone/>
            </a:pPr>
            <a:endParaRPr lang="en-US" altLang="en-US" sz="2800">
              <a:latin typeface="Calibri" panose="020F0502020204030204" pitchFamily="34" charset="0"/>
              <a:cs typeface="Calibri" panose="020F0502020204030204" pitchFamily="34" charset="0"/>
            </a:endParaRPr>
          </a:p>
          <a:p>
            <a:pPr algn="just">
              <a:spcBef>
                <a:spcPct val="0"/>
              </a:spcBef>
              <a:buClrTx/>
              <a:buSzTx/>
              <a:buFontTx/>
              <a:buAutoNum type="alphaLcParenR"/>
            </a:pPr>
            <a:r>
              <a:rPr lang="en-US" altLang="en-US" sz="2800" b="1">
                <a:latin typeface="Bauhaus 93" panose="04030905020B02020C02" pitchFamily="82" charset="0"/>
                <a:cs typeface="Calibri" panose="020F0502020204030204" pitchFamily="34" charset="0"/>
              </a:rPr>
              <a:t>sure or certain</a:t>
            </a:r>
            <a:r>
              <a:rPr lang="en-US" altLang="en-US" sz="2800">
                <a:latin typeface="Bauhaus 93" panose="04030905020B02020C02" pitchFamily="82" charset="0"/>
                <a:cs typeface="Calibri" panose="020F0502020204030204" pitchFamily="34" charset="0"/>
              </a:rPr>
              <a:t>: </a:t>
            </a:r>
            <a:r>
              <a:rPr lang="en-US" altLang="en-US" sz="2800" b="1">
                <a:latin typeface="Calibri" panose="020F0502020204030204" pitchFamily="34" charset="0"/>
                <a:cs typeface="Calibri" panose="020F0502020204030204" pitchFamily="34" charset="0"/>
              </a:rPr>
              <a:t>the conscience judges firmly that an act is good or bad, without fear of erring.</a:t>
            </a:r>
          </a:p>
          <a:p>
            <a:pPr algn="just">
              <a:spcBef>
                <a:spcPct val="0"/>
              </a:spcBef>
              <a:buClrTx/>
              <a:buSzTx/>
              <a:buFontTx/>
              <a:buAutoNum type="alphaLcParenR"/>
            </a:pPr>
            <a:endParaRPr lang="en-US" altLang="en-US" sz="2800" b="1">
              <a:latin typeface="Calibri" panose="020F0502020204030204" pitchFamily="34" charset="0"/>
              <a:cs typeface="Calibri" panose="020F0502020204030204" pitchFamily="34" charset="0"/>
            </a:endParaRPr>
          </a:p>
          <a:p>
            <a:pPr algn="just">
              <a:spcBef>
                <a:spcPct val="0"/>
              </a:spcBef>
              <a:buClrTx/>
              <a:buSzTx/>
              <a:buFontTx/>
              <a:buNone/>
            </a:pPr>
            <a:r>
              <a:rPr lang="en-US" altLang="en-US" sz="2800" b="1">
                <a:latin typeface="Bauhaus 93" panose="04030905020B02020C02" pitchFamily="82" charset="0"/>
                <a:cs typeface="Calibri" panose="020F0502020204030204" pitchFamily="34" charset="0"/>
              </a:rPr>
              <a:t>b) probable: </a:t>
            </a:r>
            <a:r>
              <a:rPr lang="en-US" altLang="en-US" sz="2800" b="1">
                <a:latin typeface="Calibri" panose="020F0502020204030204" pitchFamily="34" charset="0"/>
                <a:cs typeface="Calibri" panose="020F0502020204030204" pitchFamily="34" charset="0"/>
              </a:rPr>
              <a:t>the person does not have complete certainty about the morality of the act.</a:t>
            </a:r>
          </a:p>
          <a:p>
            <a:pPr algn="just">
              <a:spcBef>
                <a:spcPct val="0"/>
              </a:spcBef>
              <a:buClrTx/>
              <a:buSzTx/>
              <a:buFontTx/>
              <a:buNone/>
            </a:pPr>
            <a:endParaRPr lang="en-US" altLang="en-US" sz="2800" b="1">
              <a:latin typeface="Calibri" panose="020F0502020204030204" pitchFamily="34" charset="0"/>
              <a:cs typeface="Calibri" panose="020F0502020204030204" pitchFamily="34" charset="0"/>
            </a:endParaRPr>
          </a:p>
          <a:p>
            <a:pPr algn="just">
              <a:spcBef>
                <a:spcPct val="0"/>
              </a:spcBef>
              <a:buClrTx/>
              <a:buSzTx/>
              <a:buFontTx/>
              <a:buNone/>
            </a:pPr>
            <a:r>
              <a:rPr lang="en-US" altLang="en-US" sz="2800" b="1">
                <a:latin typeface="Bauhaus 93" panose="04030905020B02020C02" pitchFamily="82" charset="0"/>
                <a:cs typeface="Calibri" panose="020F0502020204030204" pitchFamily="34" charset="0"/>
              </a:rPr>
              <a:t>c) doubtful: </a:t>
            </a:r>
            <a:r>
              <a:rPr lang="en-US" altLang="en-US" sz="2800" b="1">
                <a:latin typeface="Calibri" panose="020F0502020204030204" pitchFamily="34" charset="0"/>
                <a:cs typeface="Calibri" panose="020F0502020204030204" pitchFamily="34" charset="0"/>
              </a:rPr>
              <a:t>fear of making mistake moves the conscience to suspend its judgment on the goodness or badness of an act.</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600200" y="457200"/>
            <a:ext cx="6096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altLang="en-US" sz="3200" b="1">
                <a:latin typeface="Calibri" panose="020F0502020204030204" pitchFamily="34" charset="0"/>
                <a:cs typeface="Calibri" panose="020F0502020204030204" pitchFamily="34" charset="0"/>
              </a:rPr>
              <a:t>Principles for following one’s conscience.</a:t>
            </a:r>
            <a:endParaRPr lang="en-US" altLang="en-US" sz="3200">
              <a:latin typeface="Calibri" panose="020F0502020204030204" pitchFamily="34" charset="0"/>
              <a:cs typeface="Calibri" panose="020F0502020204030204" pitchFamily="34" charset="0"/>
            </a:endParaRPr>
          </a:p>
        </p:txBody>
      </p:sp>
      <p:sp>
        <p:nvSpPr>
          <p:cNvPr id="47107" name="Rectangle 2"/>
          <p:cNvSpPr>
            <a:spLocks noChangeArrowheads="1"/>
          </p:cNvSpPr>
          <p:nvPr/>
        </p:nvSpPr>
        <p:spPr bwMode="auto">
          <a:xfrm>
            <a:off x="1524000" y="1752600"/>
            <a:ext cx="6705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a) only the sure and certain conscience is a rule of morality that must be followed.</a:t>
            </a:r>
          </a:p>
        </p:txBody>
      </p:sp>
      <p:sp>
        <p:nvSpPr>
          <p:cNvPr id="47108" name="Rectangle 3"/>
          <p:cNvSpPr>
            <a:spLocks noChangeArrowheads="1"/>
          </p:cNvSpPr>
          <p:nvPr/>
        </p:nvSpPr>
        <p:spPr bwMode="auto">
          <a:xfrm>
            <a:off x="1676400" y="3581400"/>
            <a:ext cx="6400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b) The conscience must be true or invincibly erroneous.</a:t>
            </a:r>
          </a:p>
        </p:txBody>
      </p:sp>
      <p:pic>
        <p:nvPicPr>
          <p:cNvPr id="47109" name="Picture 4" descr="conscience-wallpaper.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4572000"/>
            <a:ext cx="2667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905000" y="838200"/>
            <a:ext cx="6553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c) The conscience that judges erroneously, while being able to overcome that error, is not a legitimate rule of morality</a:t>
            </a:r>
            <a:r>
              <a:rPr lang="en-US" altLang="en-US" sz="1800">
                <a:latin typeface="Lucida Sans Unicode" panose="020B0602030504020204" pitchFamily="34" charset="0"/>
              </a:rPr>
              <a:t>.</a:t>
            </a:r>
          </a:p>
        </p:txBody>
      </p:sp>
      <p:sp>
        <p:nvSpPr>
          <p:cNvPr id="48131" name="Rectangle 2"/>
          <p:cNvSpPr>
            <a:spLocks noChangeArrowheads="1"/>
          </p:cNvSpPr>
          <p:nvPr/>
        </p:nvSpPr>
        <p:spPr bwMode="auto">
          <a:xfrm>
            <a:off x="1752600" y="3276600"/>
            <a:ext cx="6934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d) It is illicit to act with a doubtful conscience because one can possibly act badly.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219200" y="533400"/>
            <a:ext cx="662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eaLnBrk="1" hangingPunct="1">
              <a:spcBef>
                <a:spcPct val="0"/>
              </a:spcBef>
              <a:buClrTx/>
              <a:buSzTx/>
              <a:buFontTx/>
              <a:buNone/>
            </a:pPr>
            <a:r>
              <a:rPr lang="en-US" altLang="en-US" sz="3200" b="1">
                <a:latin typeface="Calibri" panose="020F0502020204030204" pitchFamily="34" charset="0"/>
                <a:cs typeface="Calibri" panose="020F0502020204030204" pitchFamily="34" charset="0"/>
              </a:rPr>
              <a:t>The formation of moral conscience</a:t>
            </a:r>
            <a:endParaRPr lang="en-US" altLang="en-US" sz="3200">
              <a:latin typeface="Calibri" panose="020F0502020204030204" pitchFamily="34" charset="0"/>
              <a:cs typeface="Calibri" panose="020F0502020204030204" pitchFamily="34" charset="0"/>
            </a:endParaRPr>
          </a:p>
        </p:txBody>
      </p:sp>
      <p:sp>
        <p:nvSpPr>
          <p:cNvPr id="49155" name="Rectangle 2"/>
          <p:cNvSpPr>
            <a:spLocks noChangeArrowheads="1"/>
          </p:cNvSpPr>
          <p:nvPr/>
        </p:nvSpPr>
        <p:spPr bwMode="auto">
          <a:xfrm>
            <a:off x="1524000" y="2209800"/>
            <a:ext cx="6248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Courier New" panose="02070309020205020404" pitchFamily="49" charset="0"/>
              <a:buChar char="o"/>
            </a:pPr>
            <a:r>
              <a:rPr lang="en-US" altLang="en-US" sz="2800" b="1">
                <a:latin typeface="Calibri" panose="020F0502020204030204" pitchFamily="34" charset="0"/>
                <a:cs typeface="Calibri" panose="020F0502020204030204" pitchFamily="34" charset="0"/>
              </a:rPr>
              <a:t>The human person develops the sense of what is right and what is wrong through the knowledge and formation that he receives from other people.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609600" y="228600"/>
            <a:ext cx="7010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
            </a:pPr>
            <a:r>
              <a:rPr lang="en-US" altLang="en-US" sz="2800" b="1">
                <a:latin typeface="Calibri" panose="020F0502020204030204" pitchFamily="34" charset="0"/>
                <a:cs typeface="Calibri" panose="020F0502020204030204" pitchFamily="34" charset="0"/>
              </a:rPr>
              <a:t>We therefore need to form our conscience right from when we are very young , when we begin interacting with people in a more personal and conscious way.</a:t>
            </a: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
            </a:pPr>
            <a:r>
              <a:rPr lang="en-US" altLang="en-US" sz="2800" b="1">
                <a:latin typeface="Calibri" panose="020F0502020204030204" pitchFamily="34" charset="0"/>
                <a:cs typeface="Calibri" panose="020F0502020204030204" pitchFamily="34" charset="0"/>
              </a:rPr>
              <a:t>From when we are small children we have the seed of conscience (which is a basic sense of right and wrong).</a:t>
            </a:r>
          </a:p>
        </p:txBody>
      </p:sp>
      <p:pic>
        <p:nvPicPr>
          <p:cNvPr id="50179" name="Picture 2" descr="parent and chil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505200"/>
            <a:ext cx="35433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447800" y="838200"/>
            <a:ext cx="6629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Ø"/>
            </a:pPr>
            <a:r>
              <a:rPr lang="en-US" altLang="en-US" sz="2800" b="1">
                <a:latin typeface="Calibri" panose="020F0502020204030204" pitchFamily="34" charset="0"/>
                <a:cs typeface="Calibri" panose="020F0502020204030204" pitchFamily="34" charset="0"/>
              </a:rPr>
              <a:t>To avoid the dulling of the conscience in the developing human being, it is very important for each person to acquire moral knowledge as they grow.</a:t>
            </a:r>
          </a:p>
          <a:p>
            <a:pPr eaLnBrk="1" hangingPunct="1">
              <a:spcBef>
                <a:spcPct val="0"/>
              </a:spcBef>
              <a:buClrTx/>
              <a:buSzTx/>
              <a:buFont typeface="Wingdings" panose="05000000000000000000" pitchFamily="2" charset="2"/>
              <a:buChar char="Ø"/>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Ø"/>
            </a:pPr>
            <a:r>
              <a:rPr lang="en-US" altLang="en-US" sz="2800" b="1">
                <a:latin typeface="Calibri" panose="020F0502020204030204" pitchFamily="34" charset="0"/>
                <a:cs typeface="Calibri" panose="020F0502020204030204" pitchFamily="34" charset="0"/>
              </a:rPr>
              <a:t>This basic knowledge of what is right and what is wrong is the necessary basis for the human conscience to work, because its task is not to judge the moral law in itself, but to apply it in particular cases.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143000" y="457200"/>
            <a:ext cx="6705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v"/>
            </a:pPr>
            <a:r>
              <a:rPr lang="en-US" altLang="en-US" sz="2800" b="1">
                <a:latin typeface="Calibri" panose="020F0502020204030204" pitchFamily="34" charset="0"/>
                <a:cs typeface="Calibri" panose="020F0502020204030204" pitchFamily="34" charset="0"/>
              </a:rPr>
              <a:t>Educating our conscience goes hand-in hand with growing knowledge of the truth: if the intellect can get to know the truth more and more, and better and better, then the moral judgments that a person makes can become ever more right, better, truer.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ChangeArrowheads="1"/>
          </p:cNvSpPr>
          <p:nvPr/>
        </p:nvSpPr>
        <p:spPr bwMode="auto">
          <a:xfrm>
            <a:off x="1066800" y="381000"/>
            <a:ext cx="59436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Love for the truth, the desire to know the real truth, is an important starting point, for the development and activity of the human conscience and so for determining the morality of our free acts. </a:t>
            </a:r>
          </a:p>
          <a:p>
            <a:pPr eaLnBrk="1" hangingPunct="1">
              <a:spcBef>
                <a:spcPct val="0"/>
              </a:spcBef>
              <a:buClrTx/>
              <a:buSzTx/>
              <a:buFont typeface="Wingdings" panose="05000000000000000000" pitchFamily="2" charset="2"/>
              <a:buChar char="ü"/>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ü"/>
            </a:pPr>
            <a:r>
              <a:rPr lang="en-US" altLang="en-US" sz="2800" b="1">
                <a:latin typeface="Calibri" panose="020F0502020204030204" pitchFamily="34" charset="0"/>
                <a:cs typeface="Calibri" panose="020F0502020204030204" pitchFamily="34" charset="0"/>
              </a:rPr>
              <a:t>This formation of the conscience in the truth requires effort.</a:t>
            </a:r>
          </a:p>
        </p:txBody>
      </p:sp>
      <p:pic>
        <p:nvPicPr>
          <p:cNvPr id="53251" name="Picture 2" descr="seeking-truth.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4114800"/>
            <a:ext cx="2819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762000" y="0"/>
            <a:ext cx="64770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 typeface="Wingdings" panose="05000000000000000000" pitchFamily="2" charset="2"/>
              <a:buChar char="§"/>
            </a:pPr>
            <a:r>
              <a:rPr lang="en-US" altLang="en-US" sz="2800" b="1">
                <a:latin typeface="Calibri" panose="020F0502020204030204" pitchFamily="34" charset="0"/>
                <a:cs typeface="Calibri" panose="020F0502020204030204" pitchFamily="34" charset="0"/>
              </a:rPr>
              <a:t>We need to make an effort to acquire the necessary moral knowledge in order to be able to apply these ethical principles to our acts. </a:t>
            </a:r>
          </a:p>
          <a:p>
            <a:pPr eaLnBrk="1" hangingPunct="1">
              <a:spcBef>
                <a:spcPct val="0"/>
              </a:spcBef>
              <a:buClrTx/>
              <a:buSzTx/>
              <a:buFont typeface="Wingdings" panose="05000000000000000000" pitchFamily="2" charset="2"/>
              <a:buChar char="§"/>
            </a:pPr>
            <a:endParaRPr lang="en-US" altLang="en-US" sz="2800" b="1">
              <a:latin typeface="Calibri" panose="020F0502020204030204" pitchFamily="34" charset="0"/>
              <a:cs typeface="Calibri" panose="020F0502020204030204" pitchFamily="34" charset="0"/>
            </a:endParaRPr>
          </a:p>
          <a:p>
            <a:pPr eaLnBrk="1" hangingPunct="1">
              <a:spcBef>
                <a:spcPct val="0"/>
              </a:spcBef>
              <a:buClrTx/>
              <a:buSzTx/>
              <a:buFont typeface="Wingdings" panose="05000000000000000000" pitchFamily="2" charset="2"/>
              <a:buChar char="§"/>
            </a:pPr>
            <a:r>
              <a:rPr lang="en-US" altLang="en-US" sz="2800" b="1">
                <a:latin typeface="Calibri" panose="020F0502020204030204" pitchFamily="34" charset="0"/>
                <a:cs typeface="Calibri" panose="020F0502020204030204" pitchFamily="34" charset="0"/>
              </a:rPr>
              <a:t>Specific things we need in order to form our conscience and we cannot leave it to common sense or good will. For example:</a:t>
            </a:r>
          </a:p>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a) to study</a:t>
            </a:r>
          </a:p>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b) to read</a:t>
            </a:r>
          </a:p>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c) to learn from experience of others</a:t>
            </a:r>
          </a:p>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d) seeking advice</a:t>
            </a:r>
          </a:p>
          <a:p>
            <a:pPr eaLnBrk="1" hangingPunct="1">
              <a:spcBef>
                <a:spcPct val="0"/>
              </a:spcBef>
              <a:buClrTx/>
              <a:buSzTx/>
              <a:buFontTx/>
              <a:buNone/>
            </a:pPr>
            <a:r>
              <a:rPr lang="en-US" altLang="en-US" sz="2800" b="1">
                <a:latin typeface="Calibri" panose="020F0502020204030204" pitchFamily="34" charset="0"/>
                <a:cs typeface="Calibri" panose="020F0502020204030204" pitchFamily="34" charset="0"/>
              </a:rPr>
              <a:t>e)Training in virtues</a:t>
            </a:r>
          </a:p>
          <a:p>
            <a:pPr eaLnBrk="1" hangingPunct="1">
              <a:spcBef>
                <a:spcPct val="0"/>
              </a:spcBef>
              <a:buClrTx/>
              <a:buSzTx/>
              <a:buFontTx/>
              <a:buNone/>
            </a:pPr>
            <a:endParaRPr lang="en-US" altLang="en-US" sz="2800" b="1">
              <a:latin typeface="Calibri" panose="020F0502020204030204" pitchFamily="34" charset="0"/>
              <a:cs typeface="Calibri" panose="020F0502020204030204" pitchFamily="34" charset="0"/>
            </a:endParaRPr>
          </a:p>
        </p:txBody>
      </p:sp>
      <p:pic>
        <p:nvPicPr>
          <p:cNvPr id="54275" name="Picture 2" descr="Peer Mentoring Program.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4191000"/>
            <a:ext cx="2514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181</TotalTime>
  <Words>1892</Words>
  <Application>Microsoft Office PowerPoint</Application>
  <PresentationFormat>On-screen Show (4:3)</PresentationFormat>
  <Paragraphs>188</Paragraphs>
  <Slides>41</Slides>
  <Notes>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Arial</vt:lpstr>
      <vt:lpstr>Bauhaus 93</vt:lpstr>
      <vt:lpstr>Calibri</vt:lpstr>
      <vt:lpstr>Constantia</vt:lpstr>
      <vt:lpstr>Courier New</vt:lpstr>
      <vt:lpstr>Lucida Sans Unicode</vt:lpstr>
      <vt:lpstr>Times New Roman</vt:lpstr>
      <vt:lpstr>Wingdings</vt:lpstr>
      <vt:lpstr>Wingdings 2</vt:lpstr>
      <vt:lpstr>Flow</vt:lpstr>
      <vt:lpstr>V. HOW DO I KNOW WHAT IS GOOD OR BAD?</vt:lpstr>
      <vt:lpstr>Subtopics</vt:lpstr>
      <vt:lpstr>The moral conscience </vt:lpstr>
      <vt:lpstr>Moral Issues </vt:lpstr>
      <vt:lpstr>PowerPoint Presentation</vt:lpstr>
      <vt:lpstr>Moral Conscience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 these elements come together in working towards a judgement of conscience? Put them in the correct order!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CKandagor</dc:creator>
  <cp:lastModifiedBy>user</cp:lastModifiedBy>
  <cp:revision>14</cp:revision>
  <dcterms:created xsi:type="dcterms:W3CDTF">2014-07-31T16:28:20Z</dcterms:created>
  <dcterms:modified xsi:type="dcterms:W3CDTF">2024-07-27T07:02:49Z</dcterms:modified>
</cp:coreProperties>
</file>