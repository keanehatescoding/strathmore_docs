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80" r:id="rId9"/>
    <p:sldId id="281" r:id="rId10"/>
    <p:sldId id="282" r:id="rId11"/>
    <p:sldId id="283" r:id="rId12"/>
    <p:sldId id="284" r:id="rId13"/>
    <p:sldId id="313" r:id="rId14"/>
    <p:sldId id="305" r:id="rId15"/>
    <p:sldId id="285" r:id="rId16"/>
    <p:sldId id="286" r:id="rId17"/>
    <p:sldId id="315" r:id="rId18"/>
    <p:sldId id="287" r:id="rId19"/>
    <p:sldId id="314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79" r:id="rId29"/>
    <p:sldId id="303" r:id="rId30"/>
    <p:sldId id="302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01" r:id="rId39"/>
    <p:sldId id="274" r:id="rId40"/>
    <p:sldId id="263" r:id="rId41"/>
    <p:sldId id="264" r:id="rId42"/>
    <p:sldId id="265" r:id="rId43"/>
    <p:sldId id="266" r:id="rId44"/>
    <p:sldId id="267" r:id="rId45"/>
    <p:sldId id="268" r:id="rId46"/>
    <p:sldId id="269" r:id="rId47"/>
    <p:sldId id="270" r:id="rId48"/>
    <p:sldId id="275" r:id="rId49"/>
    <p:sldId id="271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0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44D83-65EB-4F8E-890F-3AA49F8FCFE8}" type="datetimeFigureOut">
              <a:rPr lang="en-US" smtClean="0"/>
              <a:pPr/>
              <a:t>1/14/2024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08648D-49F4-418F-B751-BEB269E2AE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14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8648D-49F4-418F-B751-BEB269E2AE7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61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8A7F6F22-3E6E-47EB-8E0F-834A650A09CA}" type="datetimeFigureOut">
              <a:rPr lang="en-US" smtClean="0"/>
              <a:pPr/>
              <a:t>1/14/2024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110C1B5F-812E-4C3E-B323-E68052B881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7F6F22-3E6E-47EB-8E0F-834A650A09CA}" type="datetimeFigureOut">
              <a:rPr lang="en-US" smtClean="0"/>
              <a:pPr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0C1B5F-812E-4C3E-B323-E68052B881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8A7F6F22-3E6E-47EB-8E0F-834A650A09CA}" type="datetimeFigureOut">
              <a:rPr lang="en-US" smtClean="0"/>
              <a:pPr/>
              <a:t>1/14/2024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110C1B5F-812E-4C3E-B323-E68052B881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7F6F22-3E6E-47EB-8E0F-834A650A09CA}" type="datetimeFigureOut">
              <a:rPr lang="en-US" smtClean="0"/>
              <a:pPr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110C1B5F-812E-4C3E-B323-E68052B881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7F6F22-3E6E-47EB-8E0F-834A650A09CA}" type="datetimeFigureOut">
              <a:rPr lang="en-US" smtClean="0"/>
              <a:pPr/>
              <a:t>1/14/2024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110C1B5F-812E-4C3E-B323-E68052B881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7F6F22-3E6E-47EB-8E0F-834A650A09CA}" type="datetimeFigureOut">
              <a:rPr lang="en-US" smtClean="0"/>
              <a:pPr/>
              <a:t>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0C1B5F-812E-4C3E-B323-E68052B881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7F6F22-3E6E-47EB-8E0F-834A650A09CA}" type="datetimeFigureOut">
              <a:rPr lang="en-US" smtClean="0"/>
              <a:pPr/>
              <a:t>1/14/2024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0C1B5F-812E-4C3E-B323-E68052B881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8A7F6F22-3E6E-47EB-8E0F-834A650A09CA}" type="datetimeFigureOut">
              <a:rPr lang="en-US" smtClean="0"/>
              <a:pPr/>
              <a:t>1/14/2024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110C1B5F-812E-4C3E-B323-E68052B881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8A7F6F22-3E6E-47EB-8E0F-834A650A09CA}" type="datetimeFigureOut">
              <a:rPr lang="en-US" smtClean="0"/>
              <a:pPr/>
              <a:t>1/14/2024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110C1B5F-812E-4C3E-B323-E68052B881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7F6F22-3E6E-47EB-8E0F-834A650A09CA}" type="datetimeFigureOut">
              <a:rPr lang="en-US" smtClean="0"/>
              <a:pPr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0C1B5F-812E-4C3E-B323-E68052B881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7F6F22-3E6E-47EB-8E0F-834A650A09CA}" type="datetimeFigureOut">
              <a:rPr lang="en-US" smtClean="0"/>
              <a:pPr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0C1B5F-812E-4C3E-B323-E68052B881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2">
              <a:lumMod val="75000"/>
            </a:schemeClr>
          </a:fgClr>
          <a:bgClr>
            <a:srgbClr val="92D05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8A7F6F22-3E6E-47EB-8E0F-834A650A09CA}" type="datetimeFigureOut">
              <a:rPr lang="en-US" smtClean="0"/>
              <a:pPr/>
              <a:t>1/14/2024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110C1B5F-812E-4C3E-B323-E68052B881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dioogdensburg.org/missionoffice/Chile%20Girl%20Praying.jpg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Communicating across cultures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2024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CULTURE….some definitions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b="1" dirty="0"/>
              <a:t>System of shared values, beliefs, behaviors,</a:t>
            </a:r>
            <a:r>
              <a:rPr lang="en-US" b="1" i="1" dirty="0"/>
              <a:t> </a:t>
            </a:r>
            <a:r>
              <a:rPr lang="en-US" b="1" dirty="0"/>
              <a:t>norms (VBBN) </a:t>
            </a:r>
          </a:p>
          <a:p>
            <a:pPr>
              <a:lnSpc>
                <a:spcPct val="90000"/>
              </a:lnSpc>
              <a:defRPr/>
            </a:pPr>
            <a:r>
              <a:rPr lang="en-US" b="1" dirty="0"/>
              <a:t>Used to cope with the world and each other</a:t>
            </a:r>
          </a:p>
          <a:p>
            <a:pPr>
              <a:lnSpc>
                <a:spcPct val="90000"/>
              </a:lnSpc>
              <a:defRPr/>
            </a:pPr>
            <a:r>
              <a:rPr lang="en-US" b="1" dirty="0"/>
              <a:t>Passed between generations through learning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hlink"/>
                </a:solidFill>
              </a:rPr>
              <a:t>Values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Ideas of right and wrong</a:t>
            </a:r>
          </a:p>
          <a:p>
            <a:pPr lvl="1">
              <a:defRPr/>
            </a:pPr>
            <a:r>
              <a:rPr lang="en-US" sz="3200" b="1" dirty="0"/>
              <a:t>examples of right</a:t>
            </a:r>
          </a:p>
          <a:p>
            <a:pPr lvl="2">
              <a:defRPr/>
            </a:pPr>
            <a:r>
              <a:rPr lang="en-US" sz="2800" dirty="0"/>
              <a:t> </a:t>
            </a:r>
            <a:r>
              <a:rPr lang="en-US" sz="2800" b="1" dirty="0"/>
              <a:t>loyalty to nation</a:t>
            </a:r>
          </a:p>
          <a:p>
            <a:pPr lvl="2">
              <a:defRPr/>
            </a:pPr>
            <a:r>
              <a:rPr lang="en-US" sz="2800" b="1" dirty="0"/>
              <a:t> sense of duty</a:t>
            </a:r>
          </a:p>
          <a:p>
            <a:pPr lvl="2">
              <a:buNone/>
              <a:defRPr/>
            </a:pPr>
            <a:endParaRPr lang="en-US" sz="2800" b="1" dirty="0"/>
          </a:p>
          <a:p>
            <a:pPr lvl="1">
              <a:defRPr/>
            </a:pPr>
            <a:r>
              <a:rPr lang="en-US" sz="3200" b="1" dirty="0"/>
              <a:t>examples of wrong</a:t>
            </a:r>
            <a:endParaRPr lang="en-US" sz="1800" b="1" dirty="0"/>
          </a:p>
          <a:p>
            <a:pPr lvl="2">
              <a:defRPr/>
            </a:pPr>
            <a:r>
              <a:rPr lang="en-US" sz="2800" b="1" dirty="0"/>
              <a:t>abuse of authority</a:t>
            </a:r>
          </a:p>
          <a:p>
            <a:pPr lvl="2">
              <a:defRPr/>
            </a:pPr>
            <a:r>
              <a:rPr lang="en-US" sz="2800" b="1" dirty="0"/>
              <a:t>cowardliness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hlink"/>
                </a:solidFill>
              </a:rPr>
              <a:t>Beliefs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3600" b="1" dirty="0"/>
              <a:t>A view of reality shared by a group</a:t>
            </a:r>
          </a:p>
          <a:p>
            <a:pPr marL="411480" lvl="1" indent="0">
              <a:lnSpc>
                <a:spcPct val="120000"/>
              </a:lnSpc>
              <a:buNone/>
              <a:defRPr/>
            </a:pPr>
            <a:r>
              <a:rPr lang="en-US" sz="3200" b="1" dirty="0"/>
              <a:t>E</a:t>
            </a:r>
            <a:r>
              <a:rPr lang="en-US" sz="3200" b="1" dirty="0" smtClean="0"/>
              <a:t>xamples</a:t>
            </a:r>
            <a:r>
              <a:rPr lang="en-US" sz="3200" b="1" dirty="0"/>
              <a:t>:</a:t>
            </a:r>
          </a:p>
          <a:p>
            <a:pPr lvl="2">
              <a:lnSpc>
                <a:spcPct val="120000"/>
              </a:lnSpc>
              <a:defRPr/>
            </a:pPr>
            <a:r>
              <a:rPr lang="en-US" sz="2800" b="1" dirty="0"/>
              <a:t>relationship between gods and humans</a:t>
            </a:r>
          </a:p>
          <a:p>
            <a:pPr lvl="2">
              <a:lnSpc>
                <a:spcPct val="120000"/>
              </a:lnSpc>
              <a:defRPr/>
            </a:pPr>
            <a:r>
              <a:rPr lang="en-US" sz="2800" b="1" dirty="0"/>
              <a:t>appropriate gender roles</a:t>
            </a:r>
          </a:p>
          <a:p>
            <a:pPr lvl="2">
              <a:lnSpc>
                <a:spcPct val="120000"/>
              </a:lnSpc>
              <a:defRPr/>
            </a:pPr>
            <a:r>
              <a:rPr lang="en-US" sz="2800" b="1" dirty="0"/>
              <a:t>justification of government powers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hlink"/>
                </a:solidFill>
              </a:rPr>
              <a:t>Behaviors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3600" b="1" dirty="0"/>
              <a:t>Observable patterns of action</a:t>
            </a:r>
          </a:p>
          <a:p>
            <a:pPr lvl="1">
              <a:lnSpc>
                <a:spcPct val="90000"/>
              </a:lnSpc>
              <a:defRPr/>
            </a:pPr>
            <a:r>
              <a:rPr lang="en-US" sz="3200" b="1" dirty="0"/>
              <a:t>examples:</a:t>
            </a:r>
          </a:p>
          <a:p>
            <a:pPr lvl="2">
              <a:lnSpc>
                <a:spcPct val="90000"/>
              </a:lnSpc>
              <a:defRPr/>
            </a:pPr>
            <a:r>
              <a:rPr lang="en-US" sz="2800" b="1" dirty="0"/>
              <a:t>body language</a:t>
            </a:r>
          </a:p>
          <a:p>
            <a:pPr lvl="3">
              <a:lnSpc>
                <a:spcPct val="90000"/>
              </a:lnSpc>
              <a:defRPr/>
            </a:pPr>
            <a:r>
              <a:rPr lang="en-US" sz="2400" b="1" dirty="0"/>
              <a:t>gestures, postures, facial expressions</a:t>
            </a:r>
          </a:p>
          <a:p>
            <a:pPr lvl="2">
              <a:lnSpc>
                <a:spcPct val="90000"/>
              </a:lnSpc>
              <a:defRPr/>
            </a:pPr>
            <a:endParaRPr lang="en-US" b="1" dirty="0"/>
          </a:p>
          <a:p>
            <a:pPr lvl="2">
              <a:lnSpc>
                <a:spcPct val="90000"/>
              </a:lnSpc>
              <a:defRPr/>
            </a:pPr>
            <a:r>
              <a:rPr lang="en-US" sz="2800" b="1" dirty="0"/>
              <a:t>group behaviors</a:t>
            </a:r>
          </a:p>
          <a:p>
            <a:pPr lvl="3">
              <a:lnSpc>
                <a:spcPct val="90000"/>
              </a:lnSpc>
              <a:defRPr/>
            </a:pPr>
            <a:r>
              <a:rPr lang="en-US" sz="2400" b="1" dirty="0"/>
              <a:t>seating, speech, table manners</a:t>
            </a:r>
          </a:p>
          <a:p>
            <a:pPr lvl="2">
              <a:lnSpc>
                <a:spcPct val="90000"/>
              </a:lnSpc>
              <a:defRPr/>
            </a:pPr>
            <a:endParaRPr lang="en-US" b="1" dirty="0"/>
          </a:p>
          <a:p>
            <a:pPr lvl="2">
              <a:lnSpc>
                <a:spcPct val="90000"/>
              </a:lnSpc>
              <a:defRPr/>
            </a:pPr>
            <a:r>
              <a:rPr lang="en-US" sz="2800" b="1" dirty="0"/>
              <a:t>dress</a:t>
            </a:r>
          </a:p>
          <a:p>
            <a:pPr lvl="3">
              <a:lnSpc>
                <a:spcPct val="90000"/>
              </a:lnSpc>
              <a:defRPr/>
            </a:pPr>
            <a:r>
              <a:rPr lang="en-US" sz="2400" b="1" dirty="0"/>
              <a:t>clothing style, daily vs. festive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hlink"/>
                </a:solidFill>
              </a:rPr>
              <a:t>Norms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b="1" dirty="0"/>
              <a:t>Range of permissible behaviors established by the group</a:t>
            </a:r>
          </a:p>
          <a:p>
            <a:pPr lvl="1">
              <a:defRPr/>
            </a:pPr>
            <a:r>
              <a:rPr lang="en-US" sz="3200" b="1" dirty="0"/>
              <a:t>expected behaviors</a:t>
            </a:r>
          </a:p>
          <a:p>
            <a:pPr lvl="1">
              <a:defRPr/>
            </a:pPr>
            <a:r>
              <a:rPr lang="en-US" sz="3200" b="1" dirty="0"/>
              <a:t>range of tolerance</a:t>
            </a:r>
          </a:p>
          <a:p>
            <a:pPr lvl="1">
              <a:defRPr/>
            </a:pPr>
            <a:r>
              <a:rPr lang="en-US" sz="3200" b="1" dirty="0"/>
              <a:t>examples:</a:t>
            </a:r>
          </a:p>
          <a:p>
            <a:pPr lvl="2">
              <a:defRPr/>
            </a:pPr>
            <a:r>
              <a:rPr lang="en-US" dirty="0"/>
              <a:t> </a:t>
            </a:r>
            <a:r>
              <a:rPr lang="en-US" sz="2800" b="1" dirty="0"/>
              <a:t>dress</a:t>
            </a:r>
          </a:p>
          <a:p>
            <a:pPr lvl="2">
              <a:defRPr/>
            </a:pPr>
            <a:r>
              <a:rPr lang="en-US" sz="2800" b="1" dirty="0"/>
              <a:t> manner of greeting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Intercultural communication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Interactions between people whose cultural assumptions are distinct enough to alter the communication event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Dominant 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Attitudes, values, beliefs and customs that the majority of people in a society hold in common.</a:t>
            </a:r>
          </a:p>
          <a:p>
            <a:r>
              <a:rPr lang="en-US" i="1" dirty="0" smtClean="0"/>
              <a:t>E.g. Kenya is a multicultural society but many attitudes, values, beliefs and customs are held in common- shared system is dominant culture.  </a:t>
            </a: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Co-cultures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Groups of people living within a dominant culture but exhibiting communication that is sufficiently different to distinguish them from the dominant culture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Examples of contributors to co-cultures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Gender- biological difference and difference in socialization</a:t>
            </a:r>
          </a:p>
          <a:p>
            <a:r>
              <a:rPr lang="en-US" dirty="0" smtClean="0"/>
              <a:t>Ethnicity – classification of people based on shared characteristics such as nationality, geographic origin, language, religion, ancestral customs and tradition. (language and mother tongue is a great influence on ethnicity)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Contributors to 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Religion-  a system of beliefs shared by a group with objects for devotion, rituals for worship and a code of ethics. E.g. Buddhism relations and communication behavior is shaped by a call to embrace rather than resist personal conflict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Contributors to 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Social class- an indicator of a person’s position in a social hierarchy, as determined by income, education, occupation and social habits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Types of 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80000"/>
              </a:lnSpc>
              <a:buNone/>
            </a:pPr>
            <a:r>
              <a:rPr lang="en-US" dirty="0" smtClean="0"/>
              <a:t>● </a:t>
            </a:r>
            <a:r>
              <a:rPr lang="en-US" b="1" dirty="0" smtClean="0"/>
              <a:t>CORPORATE CULTURE</a:t>
            </a:r>
            <a:r>
              <a:rPr lang="en-US" dirty="0" smtClean="0"/>
              <a:t> </a:t>
            </a:r>
            <a:r>
              <a:rPr lang="en-US" i="1" dirty="0" smtClean="0"/>
              <a:t>(for example, the culture of Microsoft)</a:t>
            </a:r>
            <a:endParaRPr lang="en-US" dirty="0" smtClean="0"/>
          </a:p>
          <a:p>
            <a:pPr>
              <a:lnSpc>
                <a:spcPct val="80000"/>
              </a:lnSpc>
              <a:buNone/>
            </a:pPr>
            <a:endParaRPr lang="ru-RU" dirty="0" smtClean="0"/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● </a:t>
            </a:r>
            <a:r>
              <a:rPr lang="en-US" b="1" dirty="0" smtClean="0"/>
              <a:t>PROFESSIONAL CULTURE</a:t>
            </a:r>
            <a:r>
              <a:rPr lang="en-US" dirty="0" smtClean="0"/>
              <a:t> (</a:t>
            </a:r>
            <a:r>
              <a:rPr lang="en-US" i="1" dirty="0" smtClean="0"/>
              <a:t>for example, the culture of lawyers or doctors)</a:t>
            </a:r>
            <a:endParaRPr lang="en-US" dirty="0" smtClean="0"/>
          </a:p>
          <a:p>
            <a:pPr>
              <a:lnSpc>
                <a:spcPct val="80000"/>
              </a:lnSpc>
              <a:buNone/>
            </a:pPr>
            <a:endParaRPr lang="ru-RU" dirty="0" smtClean="0"/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● </a:t>
            </a:r>
            <a:r>
              <a:rPr lang="en-US" b="1" dirty="0" smtClean="0"/>
              <a:t>GENDER CULTURE</a:t>
            </a:r>
            <a:r>
              <a:rPr lang="en-US" dirty="0" smtClean="0"/>
              <a:t> (</a:t>
            </a:r>
            <a:r>
              <a:rPr lang="en-US" i="1" dirty="0" smtClean="0"/>
              <a:t>for example, the different cultures of men and women)</a:t>
            </a:r>
            <a:endParaRPr lang="en-US" dirty="0" smtClean="0"/>
          </a:p>
          <a:p>
            <a:pPr>
              <a:lnSpc>
                <a:spcPct val="80000"/>
              </a:lnSpc>
              <a:buNone/>
            </a:pPr>
            <a:endParaRPr lang="ru-RU" dirty="0" smtClean="0"/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● </a:t>
            </a:r>
            <a:r>
              <a:rPr lang="en-US" b="1" dirty="0" smtClean="0"/>
              <a:t>AGE CULTURE</a:t>
            </a:r>
            <a:r>
              <a:rPr lang="en-US" dirty="0" smtClean="0"/>
              <a:t> (</a:t>
            </a:r>
            <a:r>
              <a:rPr lang="en-US" i="1" dirty="0" smtClean="0"/>
              <a:t>for example, the culture of young, middle-aged, and old people)</a:t>
            </a:r>
            <a:endParaRPr lang="en-US" dirty="0" smtClean="0"/>
          </a:p>
          <a:p>
            <a:pPr>
              <a:lnSpc>
                <a:spcPct val="80000"/>
              </a:lnSpc>
              <a:buNone/>
            </a:pPr>
            <a:endParaRPr lang="ru-RU" dirty="0" smtClean="0"/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● </a:t>
            </a:r>
            <a:r>
              <a:rPr lang="en-US" b="1" dirty="0" smtClean="0"/>
              <a:t>RELIGIOUS CULTURE</a:t>
            </a:r>
            <a:r>
              <a:rPr lang="en-US" dirty="0" smtClean="0"/>
              <a:t> (</a:t>
            </a:r>
            <a:r>
              <a:rPr lang="en-US" i="1" dirty="0" smtClean="0"/>
              <a:t>for example, Catholicism, Islam)</a:t>
            </a:r>
            <a:endParaRPr lang="en-US" dirty="0" smtClean="0"/>
          </a:p>
          <a:p>
            <a:pPr>
              <a:lnSpc>
                <a:spcPct val="80000"/>
              </a:lnSpc>
              <a:buNone/>
            </a:pPr>
            <a:endParaRPr lang="ru-RU" dirty="0" smtClean="0"/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● </a:t>
            </a:r>
            <a:r>
              <a:rPr lang="en-US" b="1" dirty="0" smtClean="0"/>
              <a:t>REGIONAL CULTURE</a:t>
            </a:r>
            <a:r>
              <a:rPr lang="en-US" dirty="0" smtClean="0"/>
              <a:t> (</a:t>
            </a:r>
            <a:r>
              <a:rPr lang="en-US" i="1" dirty="0" smtClean="0"/>
              <a:t>for example, Northern and Southern Italy)</a:t>
            </a:r>
            <a:endParaRPr lang="en-US" dirty="0" smtClean="0"/>
          </a:p>
          <a:p>
            <a:pPr>
              <a:lnSpc>
                <a:spcPct val="80000"/>
              </a:lnSpc>
              <a:buNone/>
            </a:pPr>
            <a:endParaRPr lang="ru-RU" dirty="0" smtClean="0"/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● </a:t>
            </a:r>
            <a:r>
              <a:rPr lang="en-US" b="1" dirty="0" smtClean="0"/>
              <a:t>CLASS CULTURE</a:t>
            </a:r>
            <a:r>
              <a:rPr lang="en-US" dirty="0" smtClean="0"/>
              <a:t> (</a:t>
            </a:r>
            <a:r>
              <a:rPr lang="en-US" i="1" dirty="0" smtClean="0"/>
              <a:t>for example, working class, middle class, and upper class) </a:t>
            </a: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383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CULTURAL DIMENSIONS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/>
              <a:t>Non-verbal communication</a:t>
            </a:r>
          </a:p>
          <a:p>
            <a:r>
              <a:rPr lang="en-US" dirty="0" smtClean="0"/>
              <a:t>Communication style</a:t>
            </a:r>
          </a:p>
          <a:p>
            <a:r>
              <a:rPr lang="en-US" dirty="0" smtClean="0"/>
              <a:t>Time and space</a:t>
            </a:r>
          </a:p>
          <a:p>
            <a:r>
              <a:rPr lang="en-US" dirty="0" smtClean="0"/>
              <a:t>Power</a:t>
            </a:r>
          </a:p>
          <a:p>
            <a:r>
              <a:rPr lang="en-US" dirty="0" smtClean="0"/>
              <a:t>The individual and the group</a:t>
            </a:r>
          </a:p>
          <a:p>
            <a:r>
              <a:rPr lang="en-US" dirty="0" smtClean="0"/>
              <a:t>Uncertainty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Geert Hofstede dimensions of cultures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Individualism –collectivism</a:t>
            </a:r>
          </a:p>
          <a:p>
            <a:r>
              <a:rPr lang="en-US" dirty="0" smtClean="0"/>
              <a:t>Uncertainty avoidance</a:t>
            </a:r>
          </a:p>
          <a:p>
            <a:r>
              <a:rPr lang="en-US" dirty="0" smtClean="0"/>
              <a:t> power distance</a:t>
            </a:r>
          </a:p>
          <a:p>
            <a:r>
              <a:rPr lang="en-US" dirty="0" smtClean="0"/>
              <a:t>Masculinity- femininity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Individualism-collectivism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Individualism- people place primary value on self and personal achievement</a:t>
            </a:r>
          </a:p>
          <a:p>
            <a:r>
              <a:rPr lang="en-US" dirty="0" smtClean="0"/>
              <a:t>Individualistic culture- emphasizes personal rights and responsibilities, privacy, voicing one’s opinion, innovation and self expression. </a:t>
            </a:r>
          </a:p>
          <a:p>
            <a:r>
              <a:rPr lang="en-US" dirty="0" smtClean="0">
                <a:solidFill>
                  <a:srgbClr val="00B0F0"/>
                </a:solidFill>
              </a:rPr>
              <a:t>[United States, Australia, Great Britain, Canada and northern and eastern European countries ]  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Individualist cultures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4000" dirty="0" smtClean="0"/>
              <a:t>have the following features:</a:t>
            </a:r>
          </a:p>
          <a:p>
            <a:endParaRPr lang="en-US" dirty="0" smtClean="0"/>
          </a:p>
          <a:p>
            <a:r>
              <a:rPr lang="en-US" dirty="0" smtClean="0"/>
              <a:t>identity is based on the individual</a:t>
            </a:r>
          </a:p>
          <a:p>
            <a:r>
              <a:rPr lang="en-US" dirty="0" smtClean="0"/>
              <a:t>honest people speak their mind</a:t>
            </a:r>
          </a:p>
          <a:p>
            <a:r>
              <a:rPr lang="en-US" dirty="0" smtClean="0"/>
              <a:t>communication is low context</a:t>
            </a:r>
          </a:p>
          <a:p>
            <a:r>
              <a:rPr lang="en-US" dirty="0" smtClean="0"/>
              <a:t>employer-employee relationships are based on a contract</a:t>
            </a:r>
          </a:p>
          <a:p>
            <a:r>
              <a:rPr lang="en-US" dirty="0" smtClean="0"/>
              <a:t>decisions to employ people take skills into account</a:t>
            </a:r>
          </a:p>
          <a:p>
            <a:r>
              <a:rPr lang="en-US" dirty="0" smtClean="0"/>
              <a:t>management is management of individuals</a:t>
            </a:r>
          </a:p>
          <a:p>
            <a:r>
              <a:rPr lang="en-US" dirty="0" smtClean="0"/>
              <a:t>task is more important than relationship.</a:t>
            </a:r>
            <a:endParaRPr lang="en-US" b="1" i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668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collectivism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Collectivist culture emphasizes community, collaboration, shared interest, harmony, the public good and avoiding embarrassment.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B0F0"/>
                </a:solidFill>
                <a:latin typeface="+mj-lt"/>
              </a:rPr>
              <a:t>[South and Central America, middle east, east and south east Asia, and Africa.]</a:t>
            </a:r>
            <a:endParaRPr lang="en-US" dirty="0">
              <a:solidFill>
                <a:srgbClr val="00B0F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Collectivist cultures- revision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en-US" sz="4000" dirty="0" smtClean="0"/>
              <a:t>have the following features:</a:t>
            </a:r>
          </a:p>
          <a:p>
            <a:pPr>
              <a:lnSpc>
                <a:spcPct val="80000"/>
              </a:lnSpc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/>
              <a:t>I</a:t>
            </a:r>
            <a:r>
              <a:rPr lang="en-US" dirty="0" smtClean="0"/>
              <a:t>dentity is based on the social network to which you belong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harmony should be maintained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communication is high context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employer—employee relationships are like a family link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decisions on employing people take the group into account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management is management of groups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relationship is more important than task.</a:t>
            </a:r>
            <a:endParaRPr lang="en-US" b="1" i="1" dirty="0" smtClean="0"/>
          </a:p>
          <a:p>
            <a:pPr>
              <a:lnSpc>
                <a:spcPct val="80000"/>
              </a:lnSpc>
              <a:buNone/>
            </a:pPr>
            <a:r>
              <a:rPr lang="en-US" b="1" i="1" dirty="0" smtClean="0"/>
              <a:t>                               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97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Uncertainty avoidance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Cultures differ in how members feel about and deal with unpredictable people, relationship or events</a:t>
            </a:r>
          </a:p>
          <a:p>
            <a:r>
              <a:rPr lang="en-US" dirty="0" smtClean="0"/>
              <a:t>Uncertainty avoidance is measured by degree. If the uncertainty is HIGH, then that particular community are not easily welcoming.</a:t>
            </a:r>
          </a:p>
          <a:p>
            <a:r>
              <a:rPr lang="en-US" dirty="0" smtClean="0"/>
              <a:t>If it is LOW, then the community or that particular culture is more welcoming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Low uncertainty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Characterized by </a:t>
            </a:r>
            <a:r>
              <a:rPr lang="en-US" u="sng" dirty="0" smtClean="0">
                <a:solidFill>
                  <a:srgbClr val="C00000"/>
                </a:solidFill>
              </a:rPr>
              <a:t>greater acceptance </a:t>
            </a:r>
            <a:r>
              <a:rPr lang="en-US" dirty="0" smtClean="0"/>
              <a:t>of and less need to control, unpredictable people relationship or events.</a:t>
            </a:r>
          </a:p>
          <a:p>
            <a:r>
              <a:rPr lang="en-US" dirty="0" smtClean="0"/>
              <a:t>E.g. United States, Sweden and Denmark more tolerant of how people behave- put little emphasis on reducing unpredictability.</a:t>
            </a:r>
          </a:p>
          <a:p>
            <a:r>
              <a:rPr lang="en-US" sz="2800" dirty="0" smtClean="0">
                <a:solidFill>
                  <a:srgbClr val="C00000"/>
                </a:solidFill>
                <a:latin typeface="+mj-lt"/>
              </a:rPr>
              <a:t>[tolerant of the unusual, prize initiative, take risks, think there should be as few rules as possible ]</a:t>
            </a:r>
            <a:endParaRPr lang="en-US" sz="2800" dirty="0">
              <a:solidFill>
                <a:srgbClr val="C0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uncertainty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Characterized by </a:t>
            </a:r>
            <a:r>
              <a:rPr lang="en-US" dirty="0" smtClean="0">
                <a:solidFill>
                  <a:srgbClr val="C00000"/>
                </a:solidFill>
              </a:rPr>
              <a:t>low tolerance </a:t>
            </a:r>
            <a:r>
              <a:rPr lang="en-US" dirty="0" smtClean="0"/>
              <a:t>for, and a high  need to control, unpredictable people, relationships or events.</a:t>
            </a:r>
          </a:p>
          <a:p>
            <a:r>
              <a:rPr lang="en-US" dirty="0" smtClean="0"/>
              <a:t>Create systems of formal rules and believe in absolute truth as the way to provide more security and reduce risk.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[examples- Japan, Portugal, Greece, Peru and </a:t>
            </a:r>
            <a:r>
              <a:rPr lang="en-US" dirty="0" smtClean="0">
                <a:solidFill>
                  <a:srgbClr val="C00000"/>
                </a:solidFill>
              </a:rPr>
              <a:t>Belgium, China</a:t>
            </a:r>
            <a:r>
              <a:rPr lang="en-US" dirty="0" smtClean="0">
                <a:solidFill>
                  <a:srgbClr val="C00000"/>
                </a:solidFill>
              </a:rPr>
              <a:t>, Latin America, Africa</a:t>
            </a:r>
            <a:r>
              <a:rPr lang="en-US" dirty="0" smtClean="0">
                <a:solidFill>
                  <a:srgbClr val="C00000"/>
                </a:solidFill>
              </a:rPr>
              <a:t>]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distance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Difference in accepting wide power differences and how people of unequal power expect to be treated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power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Inequalities in power, status and rank are viewed as ‘natural’. The differences are acknowledged and accentuated by members.</a:t>
            </a:r>
          </a:p>
          <a:p>
            <a:r>
              <a:rPr lang="en-US" dirty="0" smtClean="0"/>
              <a:t>Believe that members have rightful place. Higher power, status and rank should be deferred to by those with less power, status and rank.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Low power distance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Inequalities in power, status and rank are underplayed and muted.</a:t>
            </a:r>
          </a:p>
          <a:p>
            <a:r>
              <a:rPr lang="en-US" dirty="0" smtClean="0"/>
              <a:t>Authority and influence are known but people are not in awe of it, not more respectful and do not fear higher power people.</a:t>
            </a:r>
          </a:p>
          <a:p>
            <a:r>
              <a:rPr lang="en-US" dirty="0" smtClean="0"/>
              <a:t>[value democracy and egalitarian behavior]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Masculinity-femininity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Differ in how they value traditional sex roles.</a:t>
            </a:r>
          </a:p>
          <a:p>
            <a:r>
              <a:rPr lang="en-US" dirty="0" smtClean="0"/>
              <a:t>Masculine cultures- expect adherence to traditional sex roles. Maintain different standards of behavior for men and women.</a:t>
            </a:r>
          </a:p>
          <a:p>
            <a:r>
              <a:rPr lang="en-US" dirty="0" smtClean="0"/>
              <a:t>E.g. [value men are assertive and dominant, women are nurturing, caring and service oriented </a:t>
            </a:r>
            <a:r>
              <a:rPr lang="en-US" dirty="0" smtClean="0"/>
              <a:t>]</a:t>
            </a:r>
          </a:p>
          <a:p>
            <a:r>
              <a:rPr lang="en-US" dirty="0" smtClean="0"/>
              <a:t>Masculine cultures are aggressive, go-getters (they lean on individualism)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Feminine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Assume that people regardless of sex will assume a variety of roles based on the circumstances and their own choices rather than any sex role  expectations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Feminine cultures are welcoming, focus on relationships of family, adhere to rules (mostly lean on collectivism)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Some terms in intercultural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Culture shock- psychological discomfort of adjusting to a new cultural situation</a:t>
            </a:r>
          </a:p>
          <a:p>
            <a:pPr marL="0" indent="0">
              <a:buNone/>
            </a:pPr>
            <a:r>
              <a:rPr lang="en-US" dirty="0" smtClean="0"/>
              <a:t> (</a:t>
            </a:r>
            <a:r>
              <a:rPr lang="en-US" dirty="0" err="1" smtClean="0"/>
              <a:t>Klyukanov</a:t>
            </a:r>
            <a:r>
              <a:rPr lang="en-US" dirty="0" smtClean="0"/>
              <a:t>, 2005, p. 33)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Ethnocentrism- belief that one’s own culture is superior to others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Stereotypes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Attributions that cover up individual differences and ascribe certain characteristics to an entire group of people.</a:t>
            </a:r>
          </a:p>
          <a:p>
            <a:r>
              <a:rPr lang="en-US" dirty="0" smtClean="0"/>
              <a:t>E.g. Gender stereotypes</a:t>
            </a:r>
          </a:p>
          <a:p>
            <a:pPr>
              <a:buNone/>
            </a:pPr>
            <a:r>
              <a:rPr lang="en-US" dirty="0" smtClean="0"/>
              <a:t>	simplistic generalizations about the gender attributes, differences, and roles of individuals and/or groups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Gender stereotypes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/>
              <a:t>women as a culture group are seen as simple-minded, emotional, and domesticated.</a:t>
            </a:r>
          </a:p>
          <a:p>
            <a:r>
              <a:rPr lang="en-US" dirty="0" smtClean="0"/>
              <a:t> Women excel in language, men in math and sciences. 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Gender stereotypes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Men are described by a cluster of instrumental traits such as;</a:t>
            </a:r>
          </a:p>
          <a:p>
            <a:endParaRPr lang="en-US" dirty="0"/>
          </a:p>
          <a:p>
            <a:r>
              <a:rPr lang="en-US" dirty="0" smtClean="0"/>
              <a:t>Leaders, dominant, aggressive, independent, objective and competitive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Gender stereotypes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Women are described by a cluster of affective traits such as; </a:t>
            </a:r>
          </a:p>
          <a:p>
            <a:endParaRPr lang="en-US" dirty="0"/>
          </a:p>
          <a:p>
            <a:r>
              <a:rPr lang="en-US" dirty="0"/>
              <a:t>E</a:t>
            </a:r>
            <a:r>
              <a:rPr lang="en-US" dirty="0" smtClean="0"/>
              <a:t>motional, subjective, tactful, aware of feelings of others, as having their feelings easily hurt.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masculinity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David Bakin- masculinity is associated with agency or self assertion.</a:t>
            </a:r>
          </a:p>
          <a:p>
            <a:r>
              <a:rPr lang="en-US" dirty="0" smtClean="0"/>
              <a:t>Femininity with communion and concern for others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Stereotypes about 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Begin at childhood (list of sentences..whether said by man or woman)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Women and speech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Use vocabulary having to do with domain that have been relegated to them such as cooking, decorating, and fashion</a:t>
            </a:r>
          </a:p>
          <a:p>
            <a:r>
              <a:rPr lang="en-US" dirty="0" smtClean="0"/>
              <a:t>Women use precise discriminations in naming colors (mauve, mustard, jade,acqua…</a:t>
            </a:r>
          </a:p>
          <a:p>
            <a:r>
              <a:rPr lang="en-US" dirty="0" smtClean="0"/>
              <a:t>Women use more meaningless participles.. Terms like oh dear, goodness</a:t>
            </a:r>
          </a:p>
          <a:p>
            <a:r>
              <a:rPr lang="en-US" dirty="0" smtClean="0"/>
              <a:t>Men use stronger expletives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women and speech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empty adjectives like adorable, charming, sweet [emotional rather than intellectual)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Speech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Politeness</a:t>
            </a:r>
          </a:p>
          <a:p>
            <a:r>
              <a:rPr lang="en-US" dirty="0" smtClean="0"/>
              <a:t>Tag questions</a:t>
            </a:r>
          </a:p>
          <a:p>
            <a:r>
              <a:rPr lang="en-US" dirty="0" smtClean="0"/>
              <a:t>Language we use determine our world view</a:t>
            </a:r>
          </a:p>
          <a:p>
            <a:r>
              <a:rPr lang="en-US" dirty="0" smtClean="0"/>
              <a:t>Meanings are invented and controlled by men</a:t>
            </a:r>
          </a:p>
          <a:p>
            <a:r>
              <a:rPr lang="en-US" dirty="0" smtClean="0"/>
              <a:t>Language is usually used oppressively as when ‘he’ is used to cover both genders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Gender stereotypes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Traditionally, the </a:t>
            </a:r>
            <a:r>
              <a:rPr lang="en-US" b="1" dirty="0" smtClean="0"/>
              <a:t>female stereotypic role</a:t>
            </a:r>
            <a:r>
              <a:rPr lang="en-US" dirty="0" smtClean="0"/>
              <a:t> is to marry and have children, put her family's welfare before her own; be loving, compassionate, caring, nurturing, and sympathetic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male stereotypic role</a:t>
            </a:r>
            <a:r>
              <a:rPr lang="en-US" dirty="0" smtClean="0"/>
              <a:t> is to be the financial provider, be assertive, competitive, independent, courageous, and career-focused; hold his emotions in check.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BUSINESS COMMUNICATION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/>
              <a:t>Managing people</a:t>
            </a:r>
          </a:p>
          <a:p>
            <a:r>
              <a:rPr lang="en-US" dirty="0" smtClean="0"/>
              <a:t>Negotiating</a:t>
            </a:r>
          </a:p>
          <a:p>
            <a:r>
              <a:rPr lang="en-US" dirty="0" smtClean="0"/>
              <a:t>Socializing</a:t>
            </a:r>
          </a:p>
          <a:p>
            <a:r>
              <a:rPr lang="en-US" dirty="0" smtClean="0"/>
              <a:t>Giving presentations</a:t>
            </a:r>
          </a:p>
          <a:p>
            <a:r>
              <a:rPr lang="en-US" dirty="0" smtClean="0"/>
              <a:t>Advertising</a:t>
            </a:r>
          </a:p>
          <a:p>
            <a:r>
              <a:rPr lang="en-US" dirty="0" smtClean="0"/>
              <a:t>Applying for a job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Roadblocks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40000"/>
              </a:spcBef>
              <a:defRPr/>
            </a:pPr>
            <a:r>
              <a:rPr lang="en-US" sz="2800" b="1" dirty="0"/>
              <a:t>Expecting alien culture to “mirror” your own</a:t>
            </a:r>
          </a:p>
          <a:p>
            <a:pPr>
              <a:spcBef>
                <a:spcPct val="40000"/>
              </a:spcBef>
              <a:defRPr/>
            </a:pPr>
            <a:r>
              <a:rPr lang="en-US" sz="2800" b="1" dirty="0"/>
              <a:t>Distorted cultural lenses</a:t>
            </a:r>
          </a:p>
          <a:p>
            <a:pPr lvl="1">
              <a:spcBef>
                <a:spcPct val="40000"/>
              </a:spcBef>
              <a:defRPr/>
            </a:pPr>
            <a:r>
              <a:rPr lang="en-US" sz="2400" b="1" dirty="0"/>
              <a:t>stereotypes</a:t>
            </a:r>
          </a:p>
          <a:p>
            <a:pPr lvl="1">
              <a:spcBef>
                <a:spcPct val="40000"/>
              </a:spcBef>
              <a:defRPr/>
            </a:pPr>
            <a:r>
              <a:rPr lang="en-US" sz="2400" b="1" dirty="0"/>
              <a:t>biases</a:t>
            </a:r>
          </a:p>
          <a:p>
            <a:pPr lvl="1">
              <a:spcBef>
                <a:spcPct val="40000"/>
              </a:spcBef>
              <a:defRPr/>
            </a:pPr>
            <a:r>
              <a:rPr lang="en-US" sz="2400" b="1" dirty="0"/>
              <a:t>culture shock</a:t>
            </a:r>
          </a:p>
          <a:p>
            <a:pPr>
              <a:spcBef>
                <a:spcPct val="40000"/>
              </a:spcBef>
              <a:defRPr/>
            </a:pPr>
            <a:r>
              <a:rPr lang="en-US" sz="2800" b="1" dirty="0"/>
              <a:t>Effects on mission</a:t>
            </a:r>
          </a:p>
          <a:p>
            <a:pPr lvl="1">
              <a:spcBef>
                <a:spcPct val="40000"/>
              </a:spcBef>
              <a:defRPr/>
            </a:pPr>
            <a:r>
              <a:rPr lang="en-US" sz="2400" b="1" dirty="0"/>
              <a:t>impaired judgment</a:t>
            </a:r>
          </a:p>
          <a:p>
            <a:pPr lvl="1">
              <a:spcBef>
                <a:spcPct val="40000"/>
              </a:spcBef>
              <a:defRPr/>
            </a:pPr>
            <a:r>
              <a:rPr lang="en-US" sz="2400" b="1" dirty="0"/>
              <a:t>poor decisions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Cultural Lenses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/>
              <a:t>Stereotypes</a:t>
            </a:r>
          </a:p>
          <a:p>
            <a:pPr lvl="1">
              <a:defRPr/>
            </a:pPr>
            <a:r>
              <a:rPr lang="en-US" b="1" dirty="0"/>
              <a:t>Generalizations about a group</a:t>
            </a:r>
          </a:p>
          <a:p>
            <a:pPr lvl="1">
              <a:defRPr/>
            </a:pPr>
            <a:r>
              <a:rPr lang="en-US" b="1" dirty="0"/>
              <a:t>Positive and negative</a:t>
            </a:r>
          </a:p>
          <a:p>
            <a:pPr>
              <a:defRPr/>
            </a:pPr>
            <a:r>
              <a:rPr lang="en-US" b="1" dirty="0"/>
              <a:t>Biases</a:t>
            </a:r>
          </a:p>
          <a:p>
            <a:pPr lvl="1">
              <a:defRPr/>
            </a:pPr>
            <a:r>
              <a:rPr lang="en-US" b="1" dirty="0"/>
              <a:t>Prejudices that impair judgment</a:t>
            </a:r>
          </a:p>
          <a:p>
            <a:pPr lvl="1">
              <a:defRPr/>
            </a:pPr>
            <a:r>
              <a:rPr lang="en-US" b="1" dirty="0"/>
              <a:t>Positive and negative</a:t>
            </a:r>
          </a:p>
          <a:p>
            <a:pPr>
              <a:defRPr/>
            </a:pPr>
            <a:r>
              <a:rPr lang="en-US" b="1" dirty="0"/>
              <a:t>Culture shock</a:t>
            </a:r>
          </a:p>
          <a:p>
            <a:pPr lvl="1">
              <a:defRPr/>
            </a:pPr>
            <a:r>
              <a:rPr lang="en-US" b="1" dirty="0"/>
              <a:t>Adverse reaction to an alien environment</a:t>
            </a:r>
          </a:p>
          <a:p>
            <a:pPr lvl="1">
              <a:defRPr/>
            </a:pPr>
            <a:r>
              <a:rPr lang="en-US" b="1" dirty="0"/>
              <a:t>Real emotional and physical effects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Effects on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False expectations of alien culture</a:t>
            </a:r>
          </a:p>
          <a:p>
            <a:pPr lvl="1">
              <a:defRPr/>
            </a:pPr>
            <a:r>
              <a:rPr lang="en-US" b="1" dirty="0"/>
              <a:t>Faulty planning</a:t>
            </a:r>
          </a:p>
          <a:p>
            <a:pPr lvl="1">
              <a:defRPr/>
            </a:pPr>
            <a:r>
              <a:rPr lang="en-US" b="1" dirty="0"/>
              <a:t>Surprise and anxiety</a:t>
            </a:r>
          </a:p>
          <a:p>
            <a:pPr lvl="1">
              <a:defRPr/>
            </a:pPr>
            <a:r>
              <a:rPr lang="en-US" b="1" dirty="0"/>
              <a:t>Misinterpretation of actions</a:t>
            </a:r>
          </a:p>
          <a:p>
            <a:pPr lvl="1">
              <a:defRPr/>
            </a:pPr>
            <a:r>
              <a:rPr lang="en-US" b="1" dirty="0"/>
              <a:t>Inappropriate reaction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Student Check 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What is culture?</a:t>
            </a:r>
          </a:p>
          <a:p>
            <a:pPr>
              <a:defRPr/>
            </a:pPr>
            <a:r>
              <a:rPr lang="en-US" b="1" dirty="0"/>
              <a:t>What are the four major components of culture?  Define them.</a:t>
            </a:r>
          </a:p>
          <a:p>
            <a:pPr>
              <a:defRPr/>
            </a:pPr>
            <a:r>
              <a:rPr lang="en-US" b="1" dirty="0"/>
              <a:t>What do the behaviors of an individual tell you about his/her culture?</a:t>
            </a:r>
          </a:p>
          <a:p>
            <a:pPr>
              <a:defRPr/>
            </a:pPr>
            <a:r>
              <a:rPr lang="en-US" b="1" dirty="0"/>
              <a:t>How do cultural lenses affect </a:t>
            </a:r>
            <a:r>
              <a:rPr lang="en-US" b="1" dirty="0" smtClean="0"/>
              <a:t>communication?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Behaviors and symbols can indicate the values, beliefs and norms of an individual, society or nation.</a:t>
            </a:r>
          </a:p>
          <a:p>
            <a:pPr>
              <a:defRPr/>
            </a:pPr>
            <a:endParaRPr lang="en-US" b="1" dirty="0"/>
          </a:p>
          <a:p>
            <a:pPr>
              <a:defRPr/>
            </a:pPr>
            <a:r>
              <a:rPr lang="en-US" b="1" dirty="0"/>
              <a:t>View each of the following pictures, and discuss what each behavior or symbol may indicate to those viewing it.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What does this behavior indicate about the person?</a:t>
            </a:r>
          </a:p>
          <a:p>
            <a:endParaRPr lang="en-US" b="1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endParaRPr lang="en-US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endParaRPr lang="en-US" b="1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endParaRPr lang="en-US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endParaRPr lang="en-US" b="1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Values 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of loyalty to country and respect for the flag.</a:t>
            </a:r>
          </a:p>
          <a:p>
            <a:endParaRPr lang="en-US" dirty="0"/>
          </a:p>
        </p:txBody>
      </p:sp>
      <p:pic>
        <p:nvPicPr>
          <p:cNvPr id="4" name="Picture 5" descr="208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2590800"/>
            <a:ext cx="3276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3" indent="-342900">
              <a:buFont typeface="Arial" pitchFamily="34" charset="0"/>
              <a:buChar char="•"/>
            </a:pPr>
            <a:r>
              <a:rPr lang="en-US" sz="2800" b="1" dirty="0" smtClean="0"/>
              <a:t>What does this behavior indicate about the person?</a:t>
            </a:r>
          </a:p>
          <a:p>
            <a:pPr marL="342900" lvl="3" indent="-342900">
              <a:buFont typeface="Arial" pitchFamily="34" charset="0"/>
              <a:buChar char="•"/>
            </a:pPr>
            <a:endParaRPr lang="en-US" b="1" dirty="0"/>
          </a:p>
          <a:p>
            <a:pPr marL="342900" lvl="3" indent="-342900">
              <a:buFont typeface="Arial" pitchFamily="34" charset="0"/>
              <a:buChar char="•"/>
            </a:pPr>
            <a:endParaRPr lang="en-US" b="1" dirty="0" smtClean="0"/>
          </a:p>
          <a:p>
            <a:pPr marL="342900" lvl="3" indent="-342900">
              <a:buFont typeface="Arial" pitchFamily="34" charset="0"/>
              <a:buChar char="•"/>
            </a:pPr>
            <a:endParaRPr lang="en-US" b="1" dirty="0"/>
          </a:p>
          <a:p>
            <a:pPr marL="342900" lvl="3" indent="-342900">
              <a:buFont typeface="Arial" pitchFamily="34" charset="0"/>
              <a:buChar char="•"/>
            </a:pPr>
            <a:endParaRPr lang="en-US" b="1" dirty="0" smtClean="0"/>
          </a:p>
          <a:p>
            <a:pPr marL="342900" lvl="3" indent="-342900">
              <a:buFont typeface="Arial" pitchFamily="34" charset="0"/>
              <a:buChar char="•"/>
            </a:pPr>
            <a:endParaRPr lang="en-US" b="1" dirty="0"/>
          </a:p>
          <a:p>
            <a:pPr marL="342900" lvl="3" indent="-342900">
              <a:buFont typeface="Arial" pitchFamily="34" charset="0"/>
              <a:buChar char="•"/>
            </a:pPr>
            <a:endParaRPr lang="en-US" b="1" dirty="0" smtClean="0"/>
          </a:p>
          <a:p>
            <a:pPr marL="342900" lvl="3" indent="-342900">
              <a:buFont typeface="Arial" pitchFamily="34" charset="0"/>
              <a:buChar char="•"/>
            </a:pPr>
            <a:endParaRPr lang="en-US" b="1" dirty="0"/>
          </a:p>
          <a:p>
            <a:pPr marL="342900" lvl="3" indent="-342900">
              <a:buFont typeface="Arial" pitchFamily="34" charset="0"/>
              <a:buChar char="•"/>
            </a:pPr>
            <a:endParaRPr lang="en-US" b="1" dirty="0" smtClean="0"/>
          </a:p>
          <a:p>
            <a:pPr marL="342900" lvl="3" indent="-342900">
              <a:buFont typeface="Arial" pitchFamily="34" charset="0"/>
              <a:buChar char="•"/>
            </a:pPr>
            <a:endParaRPr lang="en-US" b="1" dirty="0"/>
          </a:p>
          <a:p>
            <a:pPr marL="342900" lvl="3" indent="-342900">
              <a:buFont typeface="Arial" pitchFamily="34" charset="0"/>
              <a:buChar char="•"/>
            </a:pPr>
            <a:r>
              <a:rPr 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Belief in religion/God.</a:t>
            </a:r>
            <a:endParaRPr lang="en-US" sz="2800" b="1" dirty="0" smtClean="0">
              <a:effectLst/>
              <a:latin typeface="Arial Unicode MS" pitchFamily="34" charset="-128"/>
            </a:endParaRPr>
          </a:p>
          <a:p>
            <a:pPr marL="342900" lvl="3" indent="-342900">
              <a:buFont typeface="Arial" pitchFamily="34" charset="0"/>
              <a:buChar char="•"/>
            </a:pPr>
            <a:endParaRPr lang="en-US" b="1" dirty="0" smtClean="0"/>
          </a:p>
          <a:p>
            <a:endParaRPr lang="en-US" dirty="0"/>
          </a:p>
        </p:txBody>
      </p:sp>
      <p:pic>
        <p:nvPicPr>
          <p:cNvPr id="4" name="Picture 6" descr="Chile%2520Girl%2520Prayi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2590800"/>
            <a:ext cx="3581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What does the picture indicate the person is doing?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Challenging norms of society, challenging authority, expressing free speech</a:t>
            </a:r>
            <a:endParaRPr lang="en-US" dirty="0"/>
          </a:p>
        </p:txBody>
      </p:sp>
      <p:pic>
        <p:nvPicPr>
          <p:cNvPr id="4" name="Picture 6" descr="Spiked hai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2743200"/>
            <a:ext cx="37338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Hofstede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1000" indent="-381000" algn="just">
              <a:lnSpc>
                <a:spcPct val="80000"/>
              </a:lnSpc>
              <a:buNone/>
            </a:pPr>
            <a:r>
              <a:rPr lang="en-US" i="1" dirty="0" smtClean="0"/>
              <a:t>Geert Hofstede, Dutch social psychologist </a:t>
            </a:r>
            <a:r>
              <a:rPr lang="en-US" b="1" i="1" dirty="0" smtClean="0"/>
              <a:t>1960s</a:t>
            </a:r>
            <a:r>
              <a:rPr lang="en-US" i="1" dirty="0" smtClean="0"/>
              <a:t> and early </a:t>
            </a:r>
            <a:r>
              <a:rPr lang="en-US" b="1" i="1" dirty="0" smtClean="0"/>
              <a:t>1970s- identified four dimensions:</a:t>
            </a:r>
            <a:endParaRPr lang="en-US" b="1" dirty="0" smtClean="0"/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en-US" b="1" dirty="0" smtClean="0"/>
              <a:t>individualism/collectivism</a:t>
            </a:r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en-US" b="1" dirty="0" smtClean="0"/>
              <a:t>uncertainty avoidance</a:t>
            </a:r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en-US" b="1" dirty="0" smtClean="0"/>
              <a:t>power distance</a:t>
            </a:r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en-US" b="1" dirty="0" smtClean="0"/>
              <a:t>masculinity/femininity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b="1" dirty="0"/>
              <a:t>Understanding VBBN helps predict actions.</a:t>
            </a:r>
          </a:p>
          <a:p>
            <a:pPr>
              <a:lnSpc>
                <a:spcPct val="120000"/>
              </a:lnSpc>
              <a:defRPr/>
            </a:pPr>
            <a:r>
              <a:rPr lang="en-US" b="1" dirty="0"/>
              <a:t>“Mirroring” alien culture leads to false expectations and roadblocks.</a:t>
            </a:r>
          </a:p>
          <a:p>
            <a:pPr>
              <a:lnSpc>
                <a:spcPct val="120000"/>
              </a:lnSpc>
              <a:defRPr/>
            </a:pPr>
            <a:r>
              <a:rPr lang="en-US" b="1" dirty="0"/>
              <a:t>Minimizing roadblocks increases likelihood of </a:t>
            </a:r>
            <a:r>
              <a:rPr lang="en-US" b="1" dirty="0" smtClean="0"/>
              <a:t>effective communication.</a:t>
            </a: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404</TotalTime>
  <Words>1698</Words>
  <Application>Microsoft Office PowerPoint</Application>
  <PresentationFormat>On-screen Show (4:3)</PresentationFormat>
  <Paragraphs>263</Paragraphs>
  <Slides>49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 Unicode MS</vt:lpstr>
      <vt:lpstr>Arial</vt:lpstr>
      <vt:lpstr>Calibri</vt:lpstr>
      <vt:lpstr>Cambria</vt:lpstr>
      <vt:lpstr>Rockwell</vt:lpstr>
      <vt:lpstr>Wingdings 2</vt:lpstr>
      <vt:lpstr>Foundry</vt:lpstr>
      <vt:lpstr>Communicating across cultures</vt:lpstr>
      <vt:lpstr>CULTURE….some definitions </vt:lpstr>
      <vt:lpstr>Values</vt:lpstr>
      <vt:lpstr>Beliefs</vt:lpstr>
      <vt:lpstr>Behaviors</vt:lpstr>
      <vt:lpstr>Norms</vt:lpstr>
      <vt:lpstr>Intercultural communication </vt:lpstr>
      <vt:lpstr>Dominant culture</vt:lpstr>
      <vt:lpstr>Co-cultures</vt:lpstr>
      <vt:lpstr>Examples of contributors to co-cultures</vt:lpstr>
      <vt:lpstr>Contributors to culture</vt:lpstr>
      <vt:lpstr>Contributors to culture</vt:lpstr>
      <vt:lpstr>Types of culture</vt:lpstr>
      <vt:lpstr>CULTURAL DIMENSIONS </vt:lpstr>
      <vt:lpstr>Geert Hofstede dimensions of cultures</vt:lpstr>
      <vt:lpstr>Individualism-collectivism</vt:lpstr>
      <vt:lpstr>Individualist cultures</vt:lpstr>
      <vt:lpstr>collectivism</vt:lpstr>
      <vt:lpstr>Collectivist cultures- revision</vt:lpstr>
      <vt:lpstr>Uncertainty avoidance</vt:lpstr>
      <vt:lpstr>Low uncertainty </vt:lpstr>
      <vt:lpstr>High uncertainty</vt:lpstr>
      <vt:lpstr>Power distance</vt:lpstr>
      <vt:lpstr>High power</vt:lpstr>
      <vt:lpstr>Low power distance</vt:lpstr>
      <vt:lpstr>Masculinity-femininity</vt:lpstr>
      <vt:lpstr>Feminine</vt:lpstr>
      <vt:lpstr>Some terms in intercultural communication</vt:lpstr>
      <vt:lpstr>Stereotypes</vt:lpstr>
      <vt:lpstr>Gender stereotypes</vt:lpstr>
      <vt:lpstr>Gender stereotypes</vt:lpstr>
      <vt:lpstr>Gender stereotypes</vt:lpstr>
      <vt:lpstr>masculinity</vt:lpstr>
      <vt:lpstr>Stereotypes about language</vt:lpstr>
      <vt:lpstr>Women and speech</vt:lpstr>
      <vt:lpstr>women and speech</vt:lpstr>
      <vt:lpstr>Speech features</vt:lpstr>
      <vt:lpstr>Gender stereotypes</vt:lpstr>
      <vt:lpstr>BUSINESS COMMUNICATION </vt:lpstr>
      <vt:lpstr>Roadblocks</vt:lpstr>
      <vt:lpstr>Cultural Lenses</vt:lpstr>
      <vt:lpstr>Effects on Communication</vt:lpstr>
      <vt:lpstr>Student Check point</vt:lpstr>
      <vt:lpstr>Discussion Exercise</vt:lpstr>
      <vt:lpstr>Discussion Exercise</vt:lpstr>
      <vt:lpstr>Discussion Exercise</vt:lpstr>
      <vt:lpstr>Discussion Exercise</vt:lpstr>
      <vt:lpstr>Hofstede</vt:lpstr>
      <vt:lpstr>Conclusion</vt:lpstr>
    </vt:vector>
  </TitlesOfParts>
  <Company>SU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Culture</dc:title>
  <dc:creator>mmukami</dc:creator>
  <cp:lastModifiedBy>Microsoft account</cp:lastModifiedBy>
  <cp:revision>42</cp:revision>
  <dcterms:created xsi:type="dcterms:W3CDTF">2012-01-18T13:31:35Z</dcterms:created>
  <dcterms:modified xsi:type="dcterms:W3CDTF">2024-01-14T19:54:46Z</dcterms:modified>
</cp:coreProperties>
</file>