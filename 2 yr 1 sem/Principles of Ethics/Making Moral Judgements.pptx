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8" r:id="rId2"/>
    <p:sldId id="256" r:id="rId3"/>
    <p:sldId id="306" r:id="rId4"/>
    <p:sldId id="259" r:id="rId5"/>
    <p:sldId id="286"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88" r:id="rId19"/>
    <p:sldId id="289" r:id="rId20"/>
    <p:sldId id="272" r:id="rId21"/>
    <p:sldId id="310" r:id="rId22"/>
    <p:sldId id="311" r:id="rId23"/>
    <p:sldId id="277" r:id="rId24"/>
    <p:sldId id="278" r:id="rId25"/>
    <p:sldId id="279" r:id="rId26"/>
    <p:sldId id="292" r:id="rId27"/>
    <p:sldId id="293" r:id="rId28"/>
    <p:sldId id="280" r:id="rId29"/>
    <p:sldId id="312" r:id="rId30"/>
    <p:sldId id="282" r:id="rId31"/>
    <p:sldId id="309" r:id="rId32"/>
    <p:sldId id="283" r:id="rId33"/>
    <p:sldId id="313" r:id="rId34"/>
    <p:sldId id="284" r:id="rId35"/>
    <p:sldId id="296" r:id="rId36"/>
    <p:sldId id="297" r:id="rId37"/>
    <p:sldId id="298" r:id="rId38"/>
    <p:sldId id="308" r:id="rId39"/>
    <p:sldId id="301" r:id="rId40"/>
    <p:sldId id="302" r:id="rId41"/>
    <p:sldId id="307"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76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B466DE-81EC-469E-B7E0-CAE28425C90B}"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en-US"/>
        </a:p>
      </dgm:t>
    </dgm:pt>
    <dgm:pt modelId="{55FF5FC4-F141-4445-998A-00200FCCE510}">
      <dgm:prSet phldrT="[Text]" custT="1"/>
      <dgm:spPr/>
      <dgm:t>
        <a:bodyPr/>
        <a:lstStyle/>
        <a:p>
          <a:r>
            <a:rPr lang="en-US" sz="2800" b="1" dirty="0"/>
            <a:t>DECISION</a:t>
          </a:r>
        </a:p>
      </dgm:t>
    </dgm:pt>
    <dgm:pt modelId="{6532A297-02E8-40E7-AF27-7A0478958579}" type="parTrans" cxnId="{7AA8A553-5956-4AD8-8445-0936C24E9206}">
      <dgm:prSet/>
      <dgm:spPr/>
      <dgm:t>
        <a:bodyPr/>
        <a:lstStyle/>
        <a:p>
          <a:endParaRPr lang="en-US"/>
        </a:p>
      </dgm:t>
    </dgm:pt>
    <dgm:pt modelId="{10A10113-3BCE-4C4B-B242-5AD18027E839}" type="sibTrans" cxnId="{7AA8A553-5956-4AD8-8445-0936C24E9206}">
      <dgm:prSet/>
      <dgm:spPr/>
      <dgm:t>
        <a:bodyPr/>
        <a:lstStyle/>
        <a:p>
          <a:endParaRPr lang="en-US"/>
        </a:p>
      </dgm:t>
    </dgm:pt>
    <dgm:pt modelId="{9DC9E13B-2119-422F-B8E2-2F00297826E7}">
      <dgm:prSet phldrT="[Text]" custT="1"/>
      <dgm:spPr/>
      <dgm:t>
        <a:bodyPr/>
        <a:lstStyle/>
        <a:p>
          <a:r>
            <a:rPr lang="en-US" sz="2400" b="1" dirty="0">
              <a:solidFill>
                <a:schemeClr val="bg1"/>
              </a:solidFill>
            </a:rPr>
            <a:t>1. ACTION</a:t>
          </a:r>
        </a:p>
        <a:p>
          <a:r>
            <a:rPr lang="en-US" sz="2400" b="1" dirty="0">
              <a:solidFill>
                <a:schemeClr val="bg1"/>
              </a:solidFill>
            </a:rPr>
            <a:t>MEANS</a:t>
          </a:r>
        </a:p>
      </dgm:t>
    </dgm:pt>
    <dgm:pt modelId="{1C34BB89-AA20-416C-8685-05B46658632A}" type="parTrans" cxnId="{D5D44290-1FC0-474B-A820-8231A2E00EF2}">
      <dgm:prSet/>
      <dgm:spPr/>
      <dgm:t>
        <a:bodyPr/>
        <a:lstStyle/>
        <a:p>
          <a:endParaRPr lang="en-US" dirty="0"/>
        </a:p>
      </dgm:t>
    </dgm:pt>
    <dgm:pt modelId="{C84C0030-578A-4ADB-B1B9-EC3DB1C9E462}" type="sibTrans" cxnId="{D5D44290-1FC0-474B-A820-8231A2E00EF2}">
      <dgm:prSet/>
      <dgm:spPr/>
      <dgm:t>
        <a:bodyPr/>
        <a:lstStyle/>
        <a:p>
          <a:endParaRPr lang="en-US"/>
        </a:p>
      </dgm:t>
    </dgm:pt>
    <dgm:pt modelId="{CCBF0FE6-C3ED-4B14-A4D5-CBD7ED8CF7D7}">
      <dgm:prSet phldrT="[Text]" custT="1"/>
      <dgm:spPr/>
      <dgm:t>
        <a:bodyPr/>
        <a:lstStyle/>
        <a:p>
          <a:r>
            <a:rPr lang="en-US" sz="2400" b="1" dirty="0">
              <a:solidFill>
                <a:schemeClr val="bg1"/>
              </a:solidFill>
            </a:rPr>
            <a:t>2. INTENTION</a:t>
          </a:r>
        </a:p>
        <a:p>
          <a:r>
            <a:rPr lang="en-US" sz="2400" b="1" dirty="0">
              <a:solidFill>
                <a:schemeClr val="bg1"/>
              </a:solidFill>
            </a:rPr>
            <a:t>GOAL</a:t>
          </a:r>
        </a:p>
      </dgm:t>
    </dgm:pt>
    <dgm:pt modelId="{232FB0F1-1C31-4608-97DC-99B67BEE8B19}" type="parTrans" cxnId="{82217172-E729-490F-BE79-3193BEAFFE35}">
      <dgm:prSet/>
      <dgm:spPr/>
      <dgm:t>
        <a:bodyPr/>
        <a:lstStyle/>
        <a:p>
          <a:endParaRPr lang="en-US" dirty="0"/>
        </a:p>
      </dgm:t>
    </dgm:pt>
    <dgm:pt modelId="{80097A19-279C-4326-8514-A4A0C7978085}" type="sibTrans" cxnId="{82217172-E729-490F-BE79-3193BEAFFE35}">
      <dgm:prSet/>
      <dgm:spPr/>
      <dgm:t>
        <a:bodyPr/>
        <a:lstStyle/>
        <a:p>
          <a:endParaRPr lang="en-US"/>
        </a:p>
      </dgm:t>
    </dgm:pt>
    <dgm:pt modelId="{89935ACA-7A3F-42B8-A3ED-70B5424C4F9D}">
      <dgm:prSet phldrT="[Text]" custT="1"/>
      <dgm:spPr/>
      <dgm:t>
        <a:bodyPr/>
        <a:lstStyle/>
        <a:p>
          <a:r>
            <a:rPr lang="en-US" sz="2000" b="1" dirty="0">
              <a:solidFill>
                <a:schemeClr val="bg1"/>
              </a:solidFill>
            </a:rPr>
            <a:t>3. CIRCUMSTANCES</a:t>
          </a:r>
        </a:p>
        <a:p>
          <a:r>
            <a:rPr lang="en-US" sz="1600" b="1" dirty="0">
              <a:solidFill>
                <a:schemeClr val="bg1"/>
              </a:solidFill>
            </a:rPr>
            <a:t>PREDICTABLE CONSEQUENCES</a:t>
          </a:r>
        </a:p>
        <a:p>
          <a:r>
            <a:rPr lang="en-US" sz="1600" b="1" dirty="0">
              <a:solidFill>
                <a:schemeClr val="bg1"/>
              </a:solidFill>
            </a:rPr>
            <a:t>SITUATIONAL FACTORS -EXISTING CIRCUMSTANCES</a:t>
          </a:r>
        </a:p>
      </dgm:t>
    </dgm:pt>
    <dgm:pt modelId="{D4814BEA-0BEE-454C-B2E3-D9E1DEC24C26}" type="parTrans" cxnId="{95C6D7E4-618B-4FA1-8ED4-6780BDFAFAF5}">
      <dgm:prSet/>
      <dgm:spPr/>
      <dgm:t>
        <a:bodyPr/>
        <a:lstStyle/>
        <a:p>
          <a:endParaRPr lang="en-US" dirty="0"/>
        </a:p>
      </dgm:t>
    </dgm:pt>
    <dgm:pt modelId="{9B5779EF-85A7-441E-A80F-215B4E37EADE}" type="sibTrans" cxnId="{95C6D7E4-618B-4FA1-8ED4-6780BDFAFAF5}">
      <dgm:prSet/>
      <dgm:spPr/>
      <dgm:t>
        <a:bodyPr/>
        <a:lstStyle/>
        <a:p>
          <a:endParaRPr lang="en-US"/>
        </a:p>
      </dgm:t>
    </dgm:pt>
    <dgm:pt modelId="{DD40AE08-8856-446B-9F51-43C8BC03C1EC}" type="pres">
      <dgm:prSet presAssocID="{A5B466DE-81EC-469E-B7E0-CAE28425C90B}" presName="Name0" presStyleCnt="0">
        <dgm:presLayoutVars>
          <dgm:chMax val="1"/>
          <dgm:dir/>
          <dgm:animLvl val="ctr"/>
          <dgm:resizeHandles val="exact"/>
        </dgm:presLayoutVars>
      </dgm:prSet>
      <dgm:spPr/>
      <dgm:t>
        <a:bodyPr/>
        <a:lstStyle/>
        <a:p>
          <a:endParaRPr lang="en-US"/>
        </a:p>
      </dgm:t>
    </dgm:pt>
    <dgm:pt modelId="{87D7D650-C7D9-474A-84C0-7458D3C39EC0}" type="pres">
      <dgm:prSet presAssocID="{55FF5FC4-F141-4445-998A-00200FCCE510}" presName="centerShape" presStyleLbl="node0" presStyleIdx="0" presStyleCnt="1" custScaleX="176952" custLinFactNeighborX="8334" custLinFactNeighborY="50"/>
      <dgm:spPr/>
      <dgm:t>
        <a:bodyPr/>
        <a:lstStyle/>
        <a:p>
          <a:endParaRPr lang="en-US"/>
        </a:p>
      </dgm:t>
    </dgm:pt>
    <dgm:pt modelId="{5CF0BDF1-3629-488E-8EA7-C606BAC52515}" type="pres">
      <dgm:prSet presAssocID="{1C34BB89-AA20-416C-8685-05B46658632A}" presName="parTrans" presStyleLbl="sibTrans2D1" presStyleIdx="0" presStyleCnt="3"/>
      <dgm:spPr/>
      <dgm:t>
        <a:bodyPr/>
        <a:lstStyle/>
        <a:p>
          <a:endParaRPr lang="en-US"/>
        </a:p>
      </dgm:t>
    </dgm:pt>
    <dgm:pt modelId="{E8C29B7E-5FA1-4E28-9092-A744F6E5D114}" type="pres">
      <dgm:prSet presAssocID="{1C34BB89-AA20-416C-8685-05B46658632A}" presName="connectorText" presStyleLbl="sibTrans2D1" presStyleIdx="0" presStyleCnt="3"/>
      <dgm:spPr/>
      <dgm:t>
        <a:bodyPr/>
        <a:lstStyle/>
        <a:p>
          <a:endParaRPr lang="en-US"/>
        </a:p>
      </dgm:t>
    </dgm:pt>
    <dgm:pt modelId="{57176737-113F-4701-AFD8-BABF06FC03D3}" type="pres">
      <dgm:prSet presAssocID="{9DC9E13B-2119-422F-B8E2-2F00297826E7}" presName="node" presStyleLbl="node1" presStyleIdx="0" presStyleCnt="3" custScaleX="145729" custRadScaleRad="88463" custRadScaleInc="16729">
        <dgm:presLayoutVars>
          <dgm:bulletEnabled val="1"/>
        </dgm:presLayoutVars>
      </dgm:prSet>
      <dgm:spPr/>
      <dgm:t>
        <a:bodyPr/>
        <a:lstStyle/>
        <a:p>
          <a:endParaRPr lang="en-US"/>
        </a:p>
      </dgm:t>
    </dgm:pt>
    <dgm:pt modelId="{818B5C13-0BCF-4FA1-85A6-4F6940ADC9DB}" type="pres">
      <dgm:prSet presAssocID="{232FB0F1-1C31-4608-97DC-99B67BEE8B19}" presName="parTrans" presStyleLbl="sibTrans2D1" presStyleIdx="1" presStyleCnt="3"/>
      <dgm:spPr/>
      <dgm:t>
        <a:bodyPr/>
        <a:lstStyle/>
        <a:p>
          <a:endParaRPr lang="en-US"/>
        </a:p>
      </dgm:t>
    </dgm:pt>
    <dgm:pt modelId="{3E95C2DA-2178-47A5-B2D0-BA4F52889B7D}" type="pres">
      <dgm:prSet presAssocID="{232FB0F1-1C31-4608-97DC-99B67BEE8B19}" presName="connectorText" presStyleLbl="sibTrans2D1" presStyleIdx="1" presStyleCnt="3"/>
      <dgm:spPr/>
      <dgm:t>
        <a:bodyPr/>
        <a:lstStyle/>
        <a:p>
          <a:endParaRPr lang="en-US"/>
        </a:p>
      </dgm:t>
    </dgm:pt>
    <dgm:pt modelId="{AFBA42DC-94E4-438C-95E2-F386F7836774}" type="pres">
      <dgm:prSet presAssocID="{CCBF0FE6-C3ED-4B14-A4D5-CBD7ED8CF7D7}" presName="node" presStyleLbl="node1" presStyleIdx="1" presStyleCnt="3" custScaleX="165863" custRadScaleRad="131068" custRadScaleInc="-1993">
        <dgm:presLayoutVars>
          <dgm:bulletEnabled val="1"/>
        </dgm:presLayoutVars>
      </dgm:prSet>
      <dgm:spPr/>
      <dgm:t>
        <a:bodyPr/>
        <a:lstStyle/>
        <a:p>
          <a:endParaRPr lang="en-US"/>
        </a:p>
      </dgm:t>
    </dgm:pt>
    <dgm:pt modelId="{AA43F381-A20A-4C95-A6FC-835B49A9EE43}" type="pres">
      <dgm:prSet presAssocID="{D4814BEA-0BEE-454C-B2E3-D9E1DEC24C26}" presName="parTrans" presStyleLbl="sibTrans2D1" presStyleIdx="2" presStyleCnt="3"/>
      <dgm:spPr/>
      <dgm:t>
        <a:bodyPr/>
        <a:lstStyle/>
        <a:p>
          <a:endParaRPr lang="en-US"/>
        </a:p>
      </dgm:t>
    </dgm:pt>
    <dgm:pt modelId="{5B2E20EF-D5A0-4911-8497-4AA0F46067A5}" type="pres">
      <dgm:prSet presAssocID="{D4814BEA-0BEE-454C-B2E3-D9E1DEC24C26}" presName="connectorText" presStyleLbl="sibTrans2D1" presStyleIdx="2" presStyleCnt="3"/>
      <dgm:spPr/>
      <dgm:t>
        <a:bodyPr/>
        <a:lstStyle/>
        <a:p>
          <a:endParaRPr lang="en-US"/>
        </a:p>
      </dgm:t>
    </dgm:pt>
    <dgm:pt modelId="{E8506C5D-31DD-4B3E-8700-7625075BFB20}" type="pres">
      <dgm:prSet presAssocID="{89935ACA-7A3F-42B8-A3ED-70B5424C4F9D}" presName="node" presStyleLbl="node1" presStyleIdx="2" presStyleCnt="3" custScaleX="192333" custScaleY="172958" custRadScaleRad="135961" custRadScaleInc="11970">
        <dgm:presLayoutVars>
          <dgm:bulletEnabled val="1"/>
        </dgm:presLayoutVars>
      </dgm:prSet>
      <dgm:spPr/>
      <dgm:t>
        <a:bodyPr/>
        <a:lstStyle/>
        <a:p>
          <a:endParaRPr lang="en-US"/>
        </a:p>
      </dgm:t>
    </dgm:pt>
  </dgm:ptLst>
  <dgm:cxnLst>
    <dgm:cxn modelId="{95C6D7E4-618B-4FA1-8ED4-6780BDFAFAF5}" srcId="{55FF5FC4-F141-4445-998A-00200FCCE510}" destId="{89935ACA-7A3F-42B8-A3ED-70B5424C4F9D}" srcOrd="2" destOrd="0" parTransId="{D4814BEA-0BEE-454C-B2E3-D9E1DEC24C26}" sibTransId="{9B5779EF-85A7-441E-A80F-215B4E37EADE}"/>
    <dgm:cxn modelId="{09579975-B16D-4149-B737-C6EF89A3F08D}" type="presOf" srcId="{232FB0F1-1C31-4608-97DC-99B67BEE8B19}" destId="{818B5C13-0BCF-4FA1-85A6-4F6940ADC9DB}" srcOrd="0" destOrd="0" presId="urn:microsoft.com/office/officeart/2005/8/layout/radial5"/>
    <dgm:cxn modelId="{4182FA48-743D-4310-83F6-9A2434383501}" type="presOf" srcId="{D4814BEA-0BEE-454C-B2E3-D9E1DEC24C26}" destId="{5B2E20EF-D5A0-4911-8497-4AA0F46067A5}" srcOrd="1" destOrd="0" presId="urn:microsoft.com/office/officeart/2005/8/layout/radial5"/>
    <dgm:cxn modelId="{2E0A17CD-D60A-43E2-B972-9D884D7C01AC}" type="presOf" srcId="{A5B466DE-81EC-469E-B7E0-CAE28425C90B}" destId="{DD40AE08-8856-446B-9F51-43C8BC03C1EC}" srcOrd="0" destOrd="0" presId="urn:microsoft.com/office/officeart/2005/8/layout/radial5"/>
    <dgm:cxn modelId="{85810DEA-BFA2-4F00-A57B-566E45667472}" type="presOf" srcId="{CCBF0FE6-C3ED-4B14-A4D5-CBD7ED8CF7D7}" destId="{AFBA42DC-94E4-438C-95E2-F386F7836774}" srcOrd="0" destOrd="0" presId="urn:microsoft.com/office/officeart/2005/8/layout/radial5"/>
    <dgm:cxn modelId="{7AA8A553-5956-4AD8-8445-0936C24E9206}" srcId="{A5B466DE-81EC-469E-B7E0-CAE28425C90B}" destId="{55FF5FC4-F141-4445-998A-00200FCCE510}" srcOrd="0" destOrd="0" parTransId="{6532A297-02E8-40E7-AF27-7A0478958579}" sibTransId="{10A10113-3BCE-4C4B-B242-5AD18027E839}"/>
    <dgm:cxn modelId="{82217172-E729-490F-BE79-3193BEAFFE35}" srcId="{55FF5FC4-F141-4445-998A-00200FCCE510}" destId="{CCBF0FE6-C3ED-4B14-A4D5-CBD7ED8CF7D7}" srcOrd="1" destOrd="0" parTransId="{232FB0F1-1C31-4608-97DC-99B67BEE8B19}" sibTransId="{80097A19-279C-4326-8514-A4A0C7978085}"/>
    <dgm:cxn modelId="{1D5085BE-154F-41BB-A664-E33E8D5B99E0}" type="presOf" srcId="{D4814BEA-0BEE-454C-B2E3-D9E1DEC24C26}" destId="{AA43F381-A20A-4C95-A6FC-835B49A9EE43}" srcOrd="0" destOrd="0" presId="urn:microsoft.com/office/officeart/2005/8/layout/radial5"/>
    <dgm:cxn modelId="{D5D44290-1FC0-474B-A820-8231A2E00EF2}" srcId="{55FF5FC4-F141-4445-998A-00200FCCE510}" destId="{9DC9E13B-2119-422F-B8E2-2F00297826E7}" srcOrd="0" destOrd="0" parTransId="{1C34BB89-AA20-416C-8685-05B46658632A}" sibTransId="{C84C0030-578A-4ADB-B1B9-EC3DB1C9E462}"/>
    <dgm:cxn modelId="{368704E2-9FE5-4116-A52A-9860556B3D51}" type="presOf" srcId="{1C34BB89-AA20-416C-8685-05B46658632A}" destId="{E8C29B7E-5FA1-4E28-9092-A744F6E5D114}" srcOrd="1" destOrd="0" presId="urn:microsoft.com/office/officeart/2005/8/layout/radial5"/>
    <dgm:cxn modelId="{724B7EF5-FF62-4321-9A2F-26E300E06EF2}" type="presOf" srcId="{1C34BB89-AA20-416C-8685-05B46658632A}" destId="{5CF0BDF1-3629-488E-8EA7-C606BAC52515}" srcOrd="0" destOrd="0" presId="urn:microsoft.com/office/officeart/2005/8/layout/radial5"/>
    <dgm:cxn modelId="{46F4A823-C7EE-4FB1-8479-3C399119368B}" type="presOf" srcId="{89935ACA-7A3F-42B8-A3ED-70B5424C4F9D}" destId="{E8506C5D-31DD-4B3E-8700-7625075BFB20}" srcOrd="0" destOrd="0" presId="urn:microsoft.com/office/officeart/2005/8/layout/radial5"/>
    <dgm:cxn modelId="{D12B307D-775B-41E6-B4E6-FF0B3BBED81D}" type="presOf" srcId="{232FB0F1-1C31-4608-97DC-99B67BEE8B19}" destId="{3E95C2DA-2178-47A5-B2D0-BA4F52889B7D}" srcOrd="1" destOrd="0" presId="urn:microsoft.com/office/officeart/2005/8/layout/radial5"/>
    <dgm:cxn modelId="{00E364EB-FCBC-4ACE-BDE0-F391F71A7830}" type="presOf" srcId="{55FF5FC4-F141-4445-998A-00200FCCE510}" destId="{87D7D650-C7D9-474A-84C0-7458D3C39EC0}" srcOrd="0" destOrd="0" presId="urn:microsoft.com/office/officeart/2005/8/layout/radial5"/>
    <dgm:cxn modelId="{2B3DB5CA-156E-4AE6-B744-A1B48836A40A}" type="presOf" srcId="{9DC9E13B-2119-422F-B8E2-2F00297826E7}" destId="{57176737-113F-4701-AFD8-BABF06FC03D3}" srcOrd="0" destOrd="0" presId="urn:microsoft.com/office/officeart/2005/8/layout/radial5"/>
    <dgm:cxn modelId="{3E2D2077-8857-445C-958B-F02CAE724CD2}" type="presParOf" srcId="{DD40AE08-8856-446B-9F51-43C8BC03C1EC}" destId="{87D7D650-C7D9-474A-84C0-7458D3C39EC0}" srcOrd="0" destOrd="0" presId="urn:microsoft.com/office/officeart/2005/8/layout/radial5"/>
    <dgm:cxn modelId="{F473550F-7E04-4421-A78C-DEFBC5ACD937}" type="presParOf" srcId="{DD40AE08-8856-446B-9F51-43C8BC03C1EC}" destId="{5CF0BDF1-3629-488E-8EA7-C606BAC52515}" srcOrd="1" destOrd="0" presId="urn:microsoft.com/office/officeart/2005/8/layout/radial5"/>
    <dgm:cxn modelId="{149DED77-61A7-4B74-91A4-C6159E97407F}" type="presParOf" srcId="{5CF0BDF1-3629-488E-8EA7-C606BAC52515}" destId="{E8C29B7E-5FA1-4E28-9092-A744F6E5D114}" srcOrd="0" destOrd="0" presId="urn:microsoft.com/office/officeart/2005/8/layout/radial5"/>
    <dgm:cxn modelId="{EEA71D14-0A53-4088-AAC9-E4D6AAD053D4}" type="presParOf" srcId="{DD40AE08-8856-446B-9F51-43C8BC03C1EC}" destId="{57176737-113F-4701-AFD8-BABF06FC03D3}" srcOrd="2" destOrd="0" presId="urn:microsoft.com/office/officeart/2005/8/layout/radial5"/>
    <dgm:cxn modelId="{B878F4F9-2CDA-4DD0-AF29-A31EFFF92532}" type="presParOf" srcId="{DD40AE08-8856-446B-9F51-43C8BC03C1EC}" destId="{818B5C13-0BCF-4FA1-85A6-4F6940ADC9DB}" srcOrd="3" destOrd="0" presId="urn:microsoft.com/office/officeart/2005/8/layout/radial5"/>
    <dgm:cxn modelId="{3B938EDF-7884-481B-8D9C-C094A8A69482}" type="presParOf" srcId="{818B5C13-0BCF-4FA1-85A6-4F6940ADC9DB}" destId="{3E95C2DA-2178-47A5-B2D0-BA4F52889B7D}" srcOrd="0" destOrd="0" presId="urn:microsoft.com/office/officeart/2005/8/layout/radial5"/>
    <dgm:cxn modelId="{B1F7C9D5-B8E5-4E81-81EA-F8AA10F05ADC}" type="presParOf" srcId="{DD40AE08-8856-446B-9F51-43C8BC03C1EC}" destId="{AFBA42DC-94E4-438C-95E2-F386F7836774}" srcOrd="4" destOrd="0" presId="urn:microsoft.com/office/officeart/2005/8/layout/radial5"/>
    <dgm:cxn modelId="{A2B7BC28-DBA3-46AD-9CFE-52AD337CC811}" type="presParOf" srcId="{DD40AE08-8856-446B-9F51-43C8BC03C1EC}" destId="{AA43F381-A20A-4C95-A6FC-835B49A9EE43}" srcOrd="5" destOrd="0" presId="urn:microsoft.com/office/officeart/2005/8/layout/radial5"/>
    <dgm:cxn modelId="{9DDC6BB6-2DEF-41B1-B605-307F67AFEA54}" type="presParOf" srcId="{AA43F381-A20A-4C95-A6FC-835B49A9EE43}" destId="{5B2E20EF-D5A0-4911-8497-4AA0F46067A5}" srcOrd="0" destOrd="0" presId="urn:microsoft.com/office/officeart/2005/8/layout/radial5"/>
    <dgm:cxn modelId="{AAFF577A-E559-4F48-985B-35404043BDA5}" type="presParOf" srcId="{DD40AE08-8856-446B-9F51-43C8BC03C1EC}" destId="{E8506C5D-31DD-4B3E-8700-7625075BFB20}" srcOrd="6"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8E1B2F-08C6-4950-BF85-758423AA5C06}" type="doc">
      <dgm:prSet loTypeId="urn:microsoft.com/office/officeart/2005/8/layout/equation2" loCatId="relationship" qsTypeId="urn:microsoft.com/office/officeart/2005/8/quickstyle/simple1" qsCatId="simple" csTypeId="urn:microsoft.com/office/officeart/2005/8/colors/accent1_2" csCatId="accent1" phldr="1"/>
      <dgm:spPr/>
    </dgm:pt>
    <dgm:pt modelId="{D1218433-3077-4437-A364-07F783588BEA}">
      <dgm:prSet phldrT="[Text]"/>
      <dgm:spPr/>
      <dgm:t>
        <a:bodyPr/>
        <a:lstStyle/>
        <a:p>
          <a:r>
            <a:rPr lang="en-GB" b="1" dirty="0">
              <a:solidFill>
                <a:schemeClr val="bg1"/>
              </a:solidFill>
            </a:rPr>
            <a:t>Bad moral act</a:t>
          </a:r>
        </a:p>
      </dgm:t>
    </dgm:pt>
    <dgm:pt modelId="{57910008-7DF3-40BB-9766-CBFCDB9BE587}" type="parTrans" cxnId="{7DA4AC28-2F04-4EBE-852A-649929947B43}">
      <dgm:prSet/>
      <dgm:spPr/>
      <dgm:t>
        <a:bodyPr/>
        <a:lstStyle/>
        <a:p>
          <a:endParaRPr lang="en-GB"/>
        </a:p>
      </dgm:t>
    </dgm:pt>
    <dgm:pt modelId="{E757B080-B752-435E-A889-AEBB53083F28}" type="sibTrans" cxnId="{7DA4AC28-2F04-4EBE-852A-649929947B43}">
      <dgm:prSet/>
      <dgm:spPr/>
      <dgm:t>
        <a:bodyPr/>
        <a:lstStyle/>
        <a:p>
          <a:endParaRPr lang="en-GB" dirty="0"/>
        </a:p>
      </dgm:t>
    </dgm:pt>
    <dgm:pt modelId="{AD49A573-4C51-4C5C-9AED-379630E24F93}">
      <dgm:prSet phldrT="[Text]"/>
      <dgm:spPr/>
      <dgm:t>
        <a:bodyPr/>
        <a:lstStyle/>
        <a:p>
          <a:r>
            <a:rPr lang="en-GB" b="1" dirty="0">
              <a:solidFill>
                <a:schemeClr val="bg1"/>
              </a:solidFill>
            </a:rPr>
            <a:t>Good intention</a:t>
          </a:r>
        </a:p>
      </dgm:t>
    </dgm:pt>
    <dgm:pt modelId="{6563C18D-6B64-474B-BCC4-5D5645280E2B}" type="parTrans" cxnId="{44DE7EC5-D1CF-4CED-9B52-E8EE420A3A50}">
      <dgm:prSet/>
      <dgm:spPr/>
      <dgm:t>
        <a:bodyPr/>
        <a:lstStyle/>
        <a:p>
          <a:endParaRPr lang="en-GB"/>
        </a:p>
      </dgm:t>
    </dgm:pt>
    <dgm:pt modelId="{54444D3C-DC87-4DBF-BB97-BCAB3FF90A17}" type="sibTrans" cxnId="{44DE7EC5-D1CF-4CED-9B52-E8EE420A3A50}">
      <dgm:prSet/>
      <dgm:spPr/>
      <dgm:t>
        <a:bodyPr/>
        <a:lstStyle/>
        <a:p>
          <a:endParaRPr lang="en-GB" dirty="0"/>
        </a:p>
      </dgm:t>
    </dgm:pt>
    <dgm:pt modelId="{8F6A4653-1520-4D26-9689-CAC8F2C9B054}">
      <dgm:prSet phldrT="[Text]" custT="1"/>
      <dgm:spPr/>
      <dgm:t>
        <a:bodyPr/>
        <a:lstStyle/>
        <a:p>
          <a:r>
            <a:rPr lang="en-GB" sz="5400" b="1" dirty="0">
              <a:solidFill>
                <a:schemeClr val="bg1"/>
              </a:solidFill>
            </a:rPr>
            <a:t>Bad act</a:t>
          </a:r>
        </a:p>
      </dgm:t>
    </dgm:pt>
    <dgm:pt modelId="{F1C48097-A2CF-4152-8EBA-746069598EBE}" type="parTrans" cxnId="{2D64F43E-DC4E-4D46-89B8-41F67B4F8191}">
      <dgm:prSet/>
      <dgm:spPr/>
      <dgm:t>
        <a:bodyPr/>
        <a:lstStyle/>
        <a:p>
          <a:endParaRPr lang="en-GB"/>
        </a:p>
      </dgm:t>
    </dgm:pt>
    <dgm:pt modelId="{3861A529-8455-4DA9-A382-29A30BE0CD06}" type="sibTrans" cxnId="{2D64F43E-DC4E-4D46-89B8-41F67B4F8191}">
      <dgm:prSet/>
      <dgm:spPr/>
      <dgm:t>
        <a:bodyPr/>
        <a:lstStyle/>
        <a:p>
          <a:endParaRPr lang="en-GB"/>
        </a:p>
      </dgm:t>
    </dgm:pt>
    <dgm:pt modelId="{4106CB28-218A-432D-9F6E-DDDC6D9D9286}" type="pres">
      <dgm:prSet presAssocID="{808E1B2F-08C6-4950-BF85-758423AA5C06}" presName="Name0" presStyleCnt="0">
        <dgm:presLayoutVars>
          <dgm:dir/>
          <dgm:resizeHandles val="exact"/>
        </dgm:presLayoutVars>
      </dgm:prSet>
      <dgm:spPr/>
    </dgm:pt>
    <dgm:pt modelId="{60376F2C-90B5-4472-B7C9-AFD08C536482}" type="pres">
      <dgm:prSet presAssocID="{808E1B2F-08C6-4950-BF85-758423AA5C06}" presName="vNodes" presStyleCnt="0"/>
      <dgm:spPr/>
    </dgm:pt>
    <dgm:pt modelId="{BED6F4CE-5205-4822-B588-FBA7A35C5D00}" type="pres">
      <dgm:prSet presAssocID="{D1218433-3077-4437-A364-07F783588BEA}" presName="node" presStyleLbl="node1" presStyleIdx="0" presStyleCnt="3" custScaleX="174231">
        <dgm:presLayoutVars>
          <dgm:bulletEnabled val="1"/>
        </dgm:presLayoutVars>
      </dgm:prSet>
      <dgm:spPr/>
      <dgm:t>
        <a:bodyPr/>
        <a:lstStyle/>
        <a:p>
          <a:endParaRPr lang="en-US"/>
        </a:p>
      </dgm:t>
    </dgm:pt>
    <dgm:pt modelId="{A0EBF9E5-EB2E-40C4-8CFB-6418C8D4C662}" type="pres">
      <dgm:prSet presAssocID="{E757B080-B752-435E-A889-AEBB53083F28}" presName="spacerT" presStyleCnt="0"/>
      <dgm:spPr/>
    </dgm:pt>
    <dgm:pt modelId="{D5AAD64C-C781-4A10-A1BA-6474BE81D77D}" type="pres">
      <dgm:prSet presAssocID="{E757B080-B752-435E-A889-AEBB53083F28}" presName="sibTrans" presStyleLbl="sibTrans2D1" presStyleIdx="0" presStyleCnt="2"/>
      <dgm:spPr/>
      <dgm:t>
        <a:bodyPr/>
        <a:lstStyle/>
        <a:p>
          <a:endParaRPr lang="en-US"/>
        </a:p>
      </dgm:t>
    </dgm:pt>
    <dgm:pt modelId="{20F52FB1-6F79-48F3-8A22-78C9CB7E175B}" type="pres">
      <dgm:prSet presAssocID="{E757B080-B752-435E-A889-AEBB53083F28}" presName="spacerB" presStyleCnt="0"/>
      <dgm:spPr/>
    </dgm:pt>
    <dgm:pt modelId="{FB6ABCEA-635A-4638-A7B8-94966F14928F}" type="pres">
      <dgm:prSet presAssocID="{AD49A573-4C51-4C5C-9AED-379630E24F93}" presName="node" presStyleLbl="node1" presStyleIdx="1" presStyleCnt="3" custScaleX="174231">
        <dgm:presLayoutVars>
          <dgm:bulletEnabled val="1"/>
        </dgm:presLayoutVars>
      </dgm:prSet>
      <dgm:spPr/>
      <dgm:t>
        <a:bodyPr/>
        <a:lstStyle/>
        <a:p>
          <a:endParaRPr lang="en-US"/>
        </a:p>
      </dgm:t>
    </dgm:pt>
    <dgm:pt modelId="{313CF8E4-C6F9-414F-B90B-7D5B2F9A50D8}" type="pres">
      <dgm:prSet presAssocID="{808E1B2F-08C6-4950-BF85-758423AA5C06}" presName="sibTransLast" presStyleLbl="sibTrans2D1" presStyleIdx="1" presStyleCnt="2" custScaleX="178236" custLinFactNeighborX="-80363" custLinFactNeighborY="11468"/>
      <dgm:spPr/>
      <dgm:t>
        <a:bodyPr/>
        <a:lstStyle/>
        <a:p>
          <a:endParaRPr lang="en-US"/>
        </a:p>
      </dgm:t>
    </dgm:pt>
    <dgm:pt modelId="{31FEA94A-B83B-4CCB-B691-40E4E47DF0D7}" type="pres">
      <dgm:prSet presAssocID="{808E1B2F-08C6-4950-BF85-758423AA5C06}" presName="connectorText" presStyleLbl="sibTrans2D1" presStyleIdx="1" presStyleCnt="2"/>
      <dgm:spPr/>
      <dgm:t>
        <a:bodyPr/>
        <a:lstStyle/>
        <a:p>
          <a:endParaRPr lang="en-US"/>
        </a:p>
      </dgm:t>
    </dgm:pt>
    <dgm:pt modelId="{A6D8CB08-A670-465D-A3A3-38FF7E675F3F}" type="pres">
      <dgm:prSet presAssocID="{808E1B2F-08C6-4950-BF85-758423AA5C06}" presName="lastNode" presStyleLbl="node1" presStyleIdx="2" presStyleCnt="3" custScaleX="108310" custScaleY="72516" custLinFactNeighborX="-38407" custLinFactNeighborY="-2310">
        <dgm:presLayoutVars>
          <dgm:bulletEnabled val="1"/>
        </dgm:presLayoutVars>
      </dgm:prSet>
      <dgm:spPr/>
      <dgm:t>
        <a:bodyPr/>
        <a:lstStyle/>
        <a:p>
          <a:endParaRPr lang="en-US"/>
        </a:p>
      </dgm:t>
    </dgm:pt>
  </dgm:ptLst>
  <dgm:cxnLst>
    <dgm:cxn modelId="{316B8451-4BA4-491F-97DB-67B8F4512A12}" type="presOf" srcId="{808E1B2F-08C6-4950-BF85-758423AA5C06}" destId="{4106CB28-218A-432D-9F6E-DDDC6D9D9286}" srcOrd="0" destOrd="0" presId="urn:microsoft.com/office/officeart/2005/8/layout/equation2"/>
    <dgm:cxn modelId="{8DE95071-160E-4BD0-ABFA-3B9383269045}" type="presOf" srcId="{8F6A4653-1520-4D26-9689-CAC8F2C9B054}" destId="{A6D8CB08-A670-465D-A3A3-38FF7E675F3F}" srcOrd="0" destOrd="0" presId="urn:microsoft.com/office/officeart/2005/8/layout/equation2"/>
    <dgm:cxn modelId="{2D64F43E-DC4E-4D46-89B8-41F67B4F8191}" srcId="{808E1B2F-08C6-4950-BF85-758423AA5C06}" destId="{8F6A4653-1520-4D26-9689-CAC8F2C9B054}" srcOrd="2" destOrd="0" parTransId="{F1C48097-A2CF-4152-8EBA-746069598EBE}" sibTransId="{3861A529-8455-4DA9-A382-29A30BE0CD06}"/>
    <dgm:cxn modelId="{7DA4AC28-2F04-4EBE-852A-649929947B43}" srcId="{808E1B2F-08C6-4950-BF85-758423AA5C06}" destId="{D1218433-3077-4437-A364-07F783588BEA}" srcOrd="0" destOrd="0" parTransId="{57910008-7DF3-40BB-9766-CBFCDB9BE587}" sibTransId="{E757B080-B752-435E-A889-AEBB53083F28}"/>
    <dgm:cxn modelId="{EA35F922-19C2-405B-B5CC-9489AB76A9C6}" type="presOf" srcId="{D1218433-3077-4437-A364-07F783588BEA}" destId="{BED6F4CE-5205-4822-B588-FBA7A35C5D00}" srcOrd="0" destOrd="0" presId="urn:microsoft.com/office/officeart/2005/8/layout/equation2"/>
    <dgm:cxn modelId="{44DE7EC5-D1CF-4CED-9B52-E8EE420A3A50}" srcId="{808E1B2F-08C6-4950-BF85-758423AA5C06}" destId="{AD49A573-4C51-4C5C-9AED-379630E24F93}" srcOrd="1" destOrd="0" parTransId="{6563C18D-6B64-474B-BCC4-5D5645280E2B}" sibTransId="{54444D3C-DC87-4DBF-BB97-BCAB3FF90A17}"/>
    <dgm:cxn modelId="{D6968894-D376-4751-AC48-57A810012E9A}" type="presOf" srcId="{AD49A573-4C51-4C5C-9AED-379630E24F93}" destId="{FB6ABCEA-635A-4638-A7B8-94966F14928F}" srcOrd="0" destOrd="0" presId="urn:microsoft.com/office/officeart/2005/8/layout/equation2"/>
    <dgm:cxn modelId="{2356C664-42CD-40C2-AB63-1D4178A5806F}" type="presOf" srcId="{E757B080-B752-435E-A889-AEBB53083F28}" destId="{D5AAD64C-C781-4A10-A1BA-6474BE81D77D}" srcOrd="0" destOrd="0" presId="urn:microsoft.com/office/officeart/2005/8/layout/equation2"/>
    <dgm:cxn modelId="{1719B6DB-06F9-418E-9A9D-F007FFF15860}" type="presOf" srcId="{54444D3C-DC87-4DBF-BB97-BCAB3FF90A17}" destId="{31FEA94A-B83B-4CCB-B691-40E4E47DF0D7}" srcOrd="1" destOrd="0" presId="urn:microsoft.com/office/officeart/2005/8/layout/equation2"/>
    <dgm:cxn modelId="{8C655C1F-2379-4C3B-8201-3E299D97B1AE}" type="presOf" srcId="{54444D3C-DC87-4DBF-BB97-BCAB3FF90A17}" destId="{313CF8E4-C6F9-414F-B90B-7D5B2F9A50D8}" srcOrd="0" destOrd="0" presId="urn:microsoft.com/office/officeart/2005/8/layout/equation2"/>
    <dgm:cxn modelId="{65FBAFD0-8BE0-4EDA-9FCC-F73341DA4BD7}" type="presParOf" srcId="{4106CB28-218A-432D-9F6E-DDDC6D9D9286}" destId="{60376F2C-90B5-4472-B7C9-AFD08C536482}" srcOrd="0" destOrd="0" presId="urn:microsoft.com/office/officeart/2005/8/layout/equation2"/>
    <dgm:cxn modelId="{429DDE0C-E589-413A-BC98-8FC08A1FB9BC}" type="presParOf" srcId="{60376F2C-90B5-4472-B7C9-AFD08C536482}" destId="{BED6F4CE-5205-4822-B588-FBA7A35C5D00}" srcOrd="0" destOrd="0" presId="urn:microsoft.com/office/officeart/2005/8/layout/equation2"/>
    <dgm:cxn modelId="{1645BFBB-BA10-4267-AD99-8464E48FBBB3}" type="presParOf" srcId="{60376F2C-90B5-4472-B7C9-AFD08C536482}" destId="{A0EBF9E5-EB2E-40C4-8CFB-6418C8D4C662}" srcOrd="1" destOrd="0" presId="urn:microsoft.com/office/officeart/2005/8/layout/equation2"/>
    <dgm:cxn modelId="{791954EC-8C55-4120-961D-55A741E4429C}" type="presParOf" srcId="{60376F2C-90B5-4472-B7C9-AFD08C536482}" destId="{D5AAD64C-C781-4A10-A1BA-6474BE81D77D}" srcOrd="2" destOrd="0" presId="urn:microsoft.com/office/officeart/2005/8/layout/equation2"/>
    <dgm:cxn modelId="{E0633E05-5273-4700-B511-47EECA4BF1B0}" type="presParOf" srcId="{60376F2C-90B5-4472-B7C9-AFD08C536482}" destId="{20F52FB1-6F79-48F3-8A22-78C9CB7E175B}" srcOrd="3" destOrd="0" presId="urn:microsoft.com/office/officeart/2005/8/layout/equation2"/>
    <dgm:cxn modelId="{D3574CE0-9243-4747-85B6-07513E924DB0}" type="presParOf" srcId="{60376F2C-90B5-4472-B7C9-AFD08C536482}" destId="{FB6ABCEA-635A-4638-A7B8-94966F14928F}" srcOrd="4" destOrd="0" presId="urn:microsoft.com/office/officeart/2005/8/layout/equation2"/>
    <dgm:cxn modelId="{ACA7643A-80C5-4CAF-B9AB-382F32E46FF7}" type="presParOf" srcId="{4106CB28-218A-432D-9F6E-DDDC6D9D9286}" destId="{313CF8E4-C6F9-414F-B90B-7D5B2F9A50D8}" srcOrd="1" destOrd="0" presId="urn:microsoft.com/office/officeart/2005/8/layout/equation2"/>
    <dgm:cxn modelId="{79AC2D9B-36B6-4F82-8FA5-90A4F3E39FB6}" type="presParOf" srcId="{313CF8E4-C6F9-414F-B90B-7D5B2F9A50D8}" destId="{31FEA94A-B83B-4CCB-B691-40E4E47DF0D7}" srcOrd="0" destOrd="0" presId="urn:microsoft.com/office/officeart/2005/8/layout/equation2"/>
    <dgm:cxn modelId="{43505F4D-B0C2-4189-8C79-ABD029DB4F00}" type="presParOf" srcId="{4106CB28-218A-432D-9F6E-DDDC6D9D9286}" destId="{A6D8CB08-A670-465D-A3A3-38FF7E675F3F}"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8E1B2F-08C6-4950-BF85-758423AA5C06}" type="doc">
      <dgm:prSet loTypeId="urn:microsoft.com/office/officeart/2005/8/layout/equation2" loCatId="relationship" qsTypeId="urn:microsoft.com/office/officeart/2005/8/quickstyle/simple1" qsCatId="simple" csTypeId="urn:microsoft.com/office/officeart/2005/8/colors/accent1_2" csCatId="accent1" phldr="1"/>
      <dgm:spPr/>
    </dgm:pt>
    <dgm:pt modelId="{D1218433-3077-4437-A364-07F783588BEA}">
      <dgm:prSet phldrT="[Text]"/>
      <dgm:spPr/>
      <dgm:t>
        <a:bodyPr/>
        <a:lstStyle/>
        <a:p>
          <a:r>
            <a:rPr lang="en-GB" b="1" dirty="0">
              <a:solidFill>
                <a:schemeClr val="bg1"/>
              </a:solidFill>
            </a:rPr>
            <a:t>Good moral act</a:t>
          </a:r>
        </a:p>
      </dgm:t>
    </dgm:pt>
    <dgm:pt modelId="{57910008-7DF3-40BB-9766-CBFCDB9BE587}" type="parTrans" cxnId="{7DA4AC28-2F04-4EBE-852A-649929947B43}">
      <dgm:prSet/>
      <dgm:spPr/>
      <dgm:t>
        <a:bodyPr/>
        <a:lstStyle/>
        <a:p>
          <a:endParaRPr lang="en-GB"/>
        </a:p>
      </dgm:t>
    </dgm:pt>
    <dgm:pt modelId="{E757B080-B752-435E-A889-AEBB53083F28}" type="sibTrans" cxnId="{7DA4AC28-2F04-4EBE-852A-649929947B43}">
      <dgm:prSet/>
      <dgm:spPr/>
      <dgm:t>
        <a:bodyPr/>
        <a:lstStyle/>
        <a:p>
          <a:endParaRPr lang="en-GB" dirty="0"/>
        </a:p>
      </dgm:t>
    </dgm:pt>
    <dgm:pt modelId="{AD49A573-4C51-4C5C-9AED-379630E24F93}">
      <dgm:prSet phldrT="[Text]"/>
      <dgm:spPr/>
      <dgm:t>
        <a:bodyPr/>
        <a:lstStyle/>
        <a:p>
          <a:r>
            <a:rPr lang="en-GB" b="1" dirty="0">
              <a:solidFill>
                <a:schemeClr val="bg1"/>
              </a:solidFill>
            </a:rPr>
            <a:t>Bad intention</a:t>
          </a:r>
        </a:p>
      </dgm:t>
    </dgm:pt>
    <dgm:pt modelId="{6563C18D-6B64-474B-BCC4-5D5645280E2B}" type="parTrans" cxnId="{44DE7EC5-D1CF-4CED-9B52-E8EE420A3A50}">
      <dgm:prSet/>
      <dgm:spPr/>
      <dgm:t>
        <a:bodyPr/>
        <a:lstStyle/>
        <a:p>
          <a:endParaRPr lang="en-GB"/>
        </a:p>
      </dgm:t>
    </dgm:pt>
    <dgm:pt modelId="{54444D3C-DC87-4DBF-BB97-BCAB3FF90A17}" type="sibTrans" cxnId="{44DE7EC5-D1CF-4CED-9B52-E8EE420A3A50}">
      <dgm:prSet/>
      <dgm:spPr/>
      <dgm:t>
        <a:bodyPr/>
        <a:lstStyle/>
        <a:p>
          <a:endParaRPr lang="en-GB" dirty="0"/>
        </a:p>
      </dgm:t>
    </dgm:pt>
    <dgm:pt modelId="{8F6A4653-1520-4D26-9689-CAC8F2C9B054}">
      <dgm:prSet phldrT="[Text]" custT="1"/>
      <dgm:spPr/>
      <dgm:t>
        <a:bodyPr/>
        <a:lstStyle/>
        <a:p>
          <a:r>
            <a:rPr lang="en-GB" sz="4800" b="1" dirty="0">
              <a:solidFill>
                <a:schemeClr val="bg1"/>
              </a:solidFill>
            </a:rPr>
            <a:t>Bad act</a:t>
          </a:r>
        </a:p>
      </dgm:t>
    </dgm:pt>
    <dgm:pt modelId="{F1C48097-A2CF-4152-8EBA-746069598EBE}" type="parTrans" cxnId="{2D64F43E-DC4E-4D46-89B8-41F67B4F8191}">
      <dgm:prSet/>
      <dgm:spPr/>
      <dgm:t>
        <a:bodyPr/>
        <a:lstStyle/>
        <a:p>
          <a:endParaRPr lang="en-GB"/>
        </a:p>
      </dgm:t>
    </dgm:pt>
    <dgm:pt modelId="{3861A529-8455-4DA9-A382-29A30BE0CD06}" type="sibTrans" cxnId="{2D64F43E-DC4E-4D46-89B8-41F67B4F8191}">
      <dgm:prSet/>
      <dgm:spPr/>
      <dgm:t>
        <a:bodyPr/>
        <a:lstStyle/>
        <a:p>
          <a:endParaRPr lang="en-GB"/>
        </a:p>
      </dgm:t>
    </dgm:pt>
    <dgm:pt modelId="{4106CB28-218A-432D-9F6E-DDDC6D9D9286}" type="pres">
      <dgm:prSet presAssocID="{808E1B2F-08C6-4950-BF85-758423AA5C06}" presName="Name0" presStyleCnt="0">
        <dgm:presLayoutVars>
          <dgm:dir/>
          <dgm:resizeHandles val="exact"/>
        </dgm:presLayoutVars>
      </dgm:prSet>
      <dgm:spPr/>
    </dgm:pt>
    <dgm:pt modelId="{60376F2C-90B5-4472-B7C9-AFD08C536482}" type="pres">
      <dgm:prSet presAssocID="{808E1B2F-08C6-4950-BF85-758423AA5C06}" presName="vNodes" presStyleCnt="0"/>
      <dgm:spPr/>
    </dgm:pt>
    <dgm:pt modelId="{BED6F4CE-5205-4822-B588-FBA7A35C5D00}" type="pres">
      <dgm:prSet presAssocID="{D1218433-3077-4437-A364-07F783588BEA}" presName="node" presStyleLbl="node1" presStyleIdx="0" presStyleCnt="3" custScaleX="220426" custLinFactNeighborX="-27717" custLinFactNeighborY="9067">
        <dgm:presLayoutVars>
          <dgm:bulletEnabled val="1"/>
        </dgm:presLayoutVars>
      </dgm:prSet>
      <dgm:spPr/>
      <dgm:t>
        <a:bodyPr/>
        <a:lstStyle/>
        <a:p>
          <a:endParaRPr lang="en-US"/>
        </a:p>
      </dgm:t>
    </dgm:pt>
    <dgm:pt modelId="{A0EBF9E5-EB2E-40C4-8CFB-6418C8D4C662}" type="pres">
      <dgm:prSet presAssocID="{E757B080-B752-435E-A889-AEBB53083F28}" presName="spacerT" presStyleCnt="0"/>
      <dgm:spPr/>
    </dgm:pt>
    <dgm:pt modelId="{D5AAD64C-C781-4A10-A1BA-6474BE81D77D}" type="pres">
      <dgm:prSet presAssocID="{E757B080-B752-435E-A889-AEBB53083F28}" presName="sibTrans" presStyleLbl="sibTrans2D1" presStyleIdx="0" presStyleCnt="2" custLinFactNeighborX="-52412" custLinFactNeighborY="-23902"/>
      <dgm:spPr/>
      <dgm:t>
        <a:bodyPr/>
        <a:lstStyle/>
        <a:p>
          <a:endParaRPr lang="en-US"/>
        </a:p>
      </dgm:t>
    </dgm:pt>
    <dgm:pt modelId="{20F52FB1-6F79-48F3-8A22-78C9CB7E175B}" type="pres">
      <dgm:prSet presAssocID="{E757B080-B752-435E-A889-AEBB53083F28}" presName="spacerB" presStyleCnt="0"/>
      <dgm:spPr/>
    </dgm:pt>
    <dgm:pt modelId="{FB6ABCEA-635A-4638-A7B8-94966F14928F}" type="pres">
      <dgm:prSet presAssocID="{AD49A573-4C51-4C5C-9AED-379630E24F93}" presName="node" presStyleLbl="node1" presStyleIdx="1" presStyleCnt="3" custScaleX="201948" custLinFactNeighborX="-46195" custLinFactNeighborY="15164">
        <dgm:presLayoutVars>
          <dgm:bulletEnabled val="1"/>
        </dgm:presLayoutVars>
      </dgm:prSet>
      <dgm:spPr/>
      <dgm:t>
        <a:bodyPr/>
        <a:lstStyle/>
        <a:p>
          <a:endParaRPr lang="en-US"/>
        </a:p>
      </dgm:t>
    </dgm:pt>
    <dgm:pt modelId="{313CF8E4-C6F9-414F-B90B-7D5B2F9A50D8}" type="pres">
      <dgm:prSet presAssocID="{808E1B2F-08C6-4950-BF85-758423AA5C06}" presName="sibTransLast" presStyleLbl="sibTrans2D1" presStyleIdx="1" presStyleCnt="2" custScaleX="178236" custLinFactX="-39717" custLinFactNeighborX="-100000" custLinFactNeighborY="13755"/>
      <dgm:spPr/>
      <dgm:t>
        <a:bodyPr/>
        <a:lstStyle/>
        <a:p>
          <a:endParaRPr lang="en-US"/>
        </a:p>
      </dgm:t>
    </dgm:pt>
    <dgm:pt modelId="{31FEA94A-B83B-4CCB-B691-40E4E47DF0D7}" type="pres">
      <dgm:prSet presAssocID="{808E1B2F-08C6-4950-BF85-758423AA5C06}" presName="connectorText" presStyleLbl="sibTrans2D1" presStyleIdx="1" presStyleCnt="2"/>
      <dgm:spPr/>
      <dgm:t>
        <a:bodyPr/>
        <a:lstStyle/>
        <a:p>
          <a:endParaRPr lang="en-US"/>
        </a:p>
      </dgm:t>
    </dgm:pt>
    <dgm:pt modelId="{A6D8CB08-A670-465D-A3A3-38FF7E675F3F}" type="pres">
      <dgm:prSet presAssocID="{808E1B2F-08C6-4950-BF85-758423AA5C06}" presName="lastNode" presStyleLbl="node1" presStyleIdx="2" presStyleCnt="3" custScaleX="81522" custScaleY="72516" custLinFactX="-965" custLinFactNeighborX="-100000" custLinFactNeighborY="-6929">
        <dgm:presLayoutVars>
          <dgm:bulletEnabled val="1"/>
        </dgm:presLayoutVars>
      </dgm:prSet>
      <dgm:spPr/>
      <dgm:t>
        <a:bodyPr/>
        <a:lstStyle/>
        <a:p>
          <a:endParaRPr lang="en-US"/>
        </a:p>
      </dgm:t>
    </dgm:pt>
  </dgm:ptLst>
  <dgm:cxnLst>
    <dgm:cxn modelId="{2D64F43E-DC4E-4D46-89B8-41F67B4F8191}" srcId="{808E1B2F-08C6-4950-BF85-758423AA5C06}" destId="{8F6A4653-1520-4D26-9689-CAC8F2C9B054}" srcOrd="2" destOrd="0" parTransId="{F1C48097-A2CF-4152-8EBA-746069598EBE}" sibTransId="{3861A529-8455-4DA9-A382-29A30BE0CD06}"/>
    <dgm:cxn modelId="{7DA4AC28-2F04-4EBE-852A-649929947B43}" srcId="{808E1B2F-08C6-4950-BF85-758423AA5C06}" destId="{D1218433-3077-4437-A364-07F783588BEA}" srcOrd="0" destOrd="0" parTransId="{57910008-7DF3-40BB-9766-CBFCDB9BE587}" sibTransId="{E757B080-B752-435E-A889-AEBB53083F28}"/>
    <dgm:cxn modelId="{44DE7EC5-D1CF-4CED-9B52-E8EE420A3A50}" srcId="{808E1B2F-08C6-4950-BF85-758423AA5C06}" destId="{AD49A573-4C51-4C5C-9AED-379630E24F93}" srcOrd="1" destOrd="0" parTransId="{6563C18D-6B64-474B-BCC4-5D5645280E2B}" sibTransId="{54444D3C-DC87-4DBF-BB97-BCAB3FF90A17}"/>
    <dgm:cxn modelId="{73558570-ADAA-4996-80E9-E6A2C7A1D851}" type="presOf" srcId="{54444D3C-DC87-4DBF-BB97-BCAB3FF90A17}" destId="{31FEA94A-B83B-4CCB-B691-40E4E47DF0D7}" srcOrd="1" destOrd="0" presId="urn:microsoft.com/office/officeart/2005/8/layout/equation2"/>
    <dgm:cxn modelId="{3EB9E7EC-505B-4E04-BB06-12311184FA52}" type="presOf" srcId="{E757B080-B752-435E-A889-AEBB53083F28}" destId="{D5AAD64C-C781-4A10-A1BA-6474BE81D77D}" srcOrd="0" destOrd="0" presId="urn:microsoft.com/office/officeart/2005/8/layout/equation2"/>
    <dgm:cxn modelId="{B68C0063-1841-4561-9A09-F5DFB08681CC}" type="presOf" srcId="{54444D3C-DC87-4DBF-BB97-BCAB3FF90A17}" destId="{313CF8E4-C6F9-414F-B90B-7D5B2F9A50D8}" srcOrd="0" destOrd="0" presId="urn:microsoft.com/office/officeart/2005/8/layout/equation2"/>
    <dgm:cxn modelId="{D252632A-4BE5-4D35-BC98-BA33768D2690}" type="presOf" srcId="{AD49A573-4C51-4C5C-9AED-379630E24F93}" destId="{FB6ABCEA-635A-4638-A7B8-94966F14928F}" srcOrd="0" destOrd="0" presId="urn:microsoft.com/office/officeart/2005/8/layout/equation2"/>
    <dgm:cxn modelId="{1C44F7C0-7C8B-4D10-A4AC-30C429BCD822}" type="presOf" srcId="{808E1B2F-08C6-4950-BF85-758423AA5C06}" destId="{4106CB28-218A-432D-9F6E-DDDC6D9D9286}" srcOrd="0" destOrd="0" presId="urn:microsoft.com/office/officeart/2005/8/layout/equation2"/>
    <dgm:cxn modelId="{19FBD17F-57C4-47CB-A206-96BFA1C9A2D8}" type="presOf" srcId="{D1218433-3077-4437-A364-07F783588BEA}" destId="{BED6F4CE-5205-4822-B588-FBA7A35C5D00}" srcOrd="0" destOrd="0" presId="urn:microsoft.com/office/officeart/2005/8/layout/equation2"/>
    <dgm:cxn modelId="{7A156521-5C0C-4762-A275-3875C1F7DE00}" type="presOf" srcId="{8F6A4653-1520-4D26-9689-CAC8F2C9B054}" destId="{A6D8CB08-A670-465D-A3A3-38FF7E675F3F}" srcOrd="0" destOrd="0" presId="urn:microsoft.com/office/officeart/2005/8/layout/equation2"/>
    <dgm:cxn modelId="{59586B27-CFD9-42B0-A727-9F74CB3CFE63}" type="presParOf" srcId="{4106CB28-218A-432D-9F6E-DDDC6D9D9286}" destId="{60376F2C-90B5-4472-B7C9-AFD08C536482}" srcOrd="0" destOrd="0" presId="urn:microsoft.com/office/officeart/2005/8/layout/equation2"/>
    <dgm:cxn modelId="{72B557CA-E8A1-4436-BE16-884AA19D9C99}" type="presParOf" srcId="{60376F2C-90B5-4472-B7C9-AFD08C536482}" destId="{BED6F4CE-5205-4822-B588-FBA7A35C5D00}" srcOrd="0" destOrd="0" presId="urn:microsoft.com/office/officeart/2005/8/layout/equation2"/>
    <dgm:cxn modelId="{38B99E92-7DED-4E7A-9498-4DAE65A03067}" type="presParOf" srcId="{60376F2C-90B5-4472-B7C9-AFD08C536482}" destId="{A0EBF9E5-EB2E-40C4-8CFB-6418C8D4C662}" srcOrd="1" destOrd="0" presId="urn:microsoft.com/office/officeart/2005/8/layout/equation2"/>
    <dgm:cxn modelId="{13792D68-7567-470C-9911-9251E4AEFACA}" type="presParOf" srcId="{60376F2C-90B5-4472-B7C9-AFD08C536482}" destId="{D5AAD64C-C781-4A10-A1BA-6474BE81D77D}" srcOrd="2" destOrd="0" presId="urn:microsoft.com/office/officeart/2005/8/layout/equation2"/>
    <dgm:cxn modelId="{85EE6BC3-FED4-4F4B-B8F5-5A1AD40AC754}" type="presParOf" srcId="{60376F2C-90B5-4472-B7C9-AFD08C536482}" destId="{20F52FB1-6F79-48F3-8A22-78C9CB7E175B}" srcOrd="3" destOrd="0" presId="urn:microsoft.com/office/officeart/2005/8/layout/equation2"/>
    <dgm:cxn modelId="{B10F24E7-3436-41B6-BF85-A385645EF239}" type="presParOf" srcId="{60376F2C-90B5-4472-B7C9-AFD08C536482}" destId="{FB6ABCEA-635A-4638-A7B8-94966F14928F}" srcOrd="4" destOrd="0" presId="urn:microsoft.com/office/officeart/2005/8/layout/equation2"/>
    <dgm:cxn modelId="{675831B2-5410-4857-9A8A-62797526FF45}" type="presParOf" srcId="{4106CB28-218A-432D-9F6E-DDDC6D9D9286}" destId="{313CF8E4-C6F9-414F-B90B-7D5B2F9A50D8}" srcOrd="1" destOrd="0" presId="urn:microsoft.com/office/officeart/2005/8/layout/equation2"/>
    <dgm:cxn modelId="{9B1E2E14-1E37-4665-B1DF-D388C1A5D66C}" type="presParOf" srcId="{313CF8E4-C6F9-414F-B90B-7D5B2F9A50D8}" destId="{31FEA94A-B83B-4CCB-B691-40E4E47DF0D7}" srcOrd="0" destOrd="0" presId="urn:microsoft.com/office/officeart/2005/8/layout/equation2"/>
    <dgm:cxn modelId="{11F017A5-F306-485D-ADAC-E48CA9358DB9}" type="presParOf" srcId="{4106CB28-218A-432D-9F6E-DDDC6D9D9286}" destId="{A6D8CB08-A670-465D-A3A3-38FF7E675F3F}"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08E1B2F-08C6-4950-BF85-758423AA5C06}" type="doc">
      <dgm:prSet loTypeId="urn:microsoft.com/office/officeart/2005/8/layout/equation2" loCatId="relationship" qsTypeId="urn:microsoft.com/office/officeart/2005/8/quickstyle/simple1" qsCatId="simple" csTypeId="urn:microsoft.com/office/officeart/2005/8/colors/accent1_2" csCatId="accent1" phldr="1"/>
      <dgm:spPr/>
    </dgm:pt>
    <dgm:pt modelId="{D1218433-3077-4437-A364-07F783588BEA}">
      <dgm:prSet phldrT="[Text]"/>
      <dgm:spPr/>
      <dgm:t>
        <a:bodyPr/>
        <a:lstStyle/>
        <a:p>
          <a:r>
            <a:rPr lang="en-GB" b="1" dirty="0">
              <a:solidFill>
                <a:schemeClr val="bg1"/>
              </a:solidFill>
            </a:rPr>
            <a:t>Good moral act</a:t>
          </a:r>
        </a:p>
      </dgm:t>
    </dgm:pt>
    <dgm:pt modelId="{57910008-7DF3-40BB-9766-CBFCDB9BE587}" type="parTrans" cxnId="{7DA4AC28-2F04-4EBE-852A-649929947B43}">
      <dgm:prSet/>
      <dgm:spPr/>
      <dgm:t>
        <a:bodyPr/>
        <a:lstStyle/>
        <a:p>
          <a:endParaRPr lang="en-GB"/>
        </a:p>
      </dgm:t>
    </dgm:pt>
    <dgm:pt modelId="{E757B080-B752-435E-A889-AEBB53083F28}" type="sibTrans" cxnId="{7DA4AC28-2F04-4EBE-852A-649929947B43}">
      <dgm:prSet/>
      <dgm:spPr/>
      <dgm:t>
        <a:bodyPr/>
        <a:lstStyle/>
        <a:p>
          <a:endParaRPr lang="en-GB" dirty="0"/>
        </a:p>
      </dgm:t>
    </dgm:pt>
    <dgm:pt modelId="{AD49A573-4C51-4C5C-9AED-379630E24F93}">
      <dgm:prSet phldrT="[Text]"/>
      <dgm:spPr/>
      <dgm:t>
        <a:bodyPr/>
        <a:lstStyle/>
        <a:p>
          <a:r>
            <a:rPr lang="en-GB" b="1" dirty="0">
              <a:solidFill>
                <a:schemeClr val="bg1"/>
              </a:solidFill>
            </a:rPr>
            <a:t>Good intention</a:t>
          </a:r>
        </a:p>
      </dgm:t>
    </dgm:pt>
    <dgm:pt modelId="{6563C18D-6B64-474B-BCC4-5D5645280E2B}" type="parTrans" cxnId="{44DE7EC5-D1CF-4CED-9B52-E8EE420A3A50}">
      <dgm:prSet/>
      <dgm:spPr/>
      <dgm:t>
        <a:bodyPr/>
        <a:lstStyle/>
        <a:p>
          <a:endParaRPr lang="en-GB"/>
        </a:p>
      </dgm:t>
    </dgm:pt>
    <dgm:pt modelId="{54444D3C-DC87-4DBF-BB97-BCAB3FF90A17}" type="sibTrans" cxnId="{44DE7EC5-D1CF-4CED-9B52-E8EE420A3A50}">
      <dgm:prSet/>
      <dgm:spPr/>
      <dgm:t>
        <a:bodyPr/>
        <a:lstStyle/>
        <a:p>
          <a:endParaRPr lang="en-GB" dirty="0"/>
        </a:p>
      </dgm:t>
    </dgm:pt>
    <dgm:pt modelId="{8F6A4653-1520-4D26-9689-CAC8F2C9B054}">
      <dgm:prSet phldrT="[Text]" custT="1"/>
      <dgm:spPr/>
      <dgm:t>
        <a:bodyPr/>
        <a:lstStyle/>
        <a:p>
          <a:r>
            <a:rPr lang="en-GB" sz="4800" b="1" dirty="0">
              <a:solidFill>
                <a:schemeClr val="bg1"/>
              </a:solidFill>
            </a:rPr>
            <a:t>Good act</a:t>
          </a:r>
        </a:p>
      </dgm:t>
    </dgm:pt>
    <dgm:pt modelId="{F1C48097-A2CF-4152-8EBA-746069598EBE}" type="parTrans" cxnId="{2D64F43E-DC4E-4D46-89B8-41F67B4F8191}">
      <dgm:prSet/>
      <dgm:spPr/>
      <dgm:t>
        <a:bodyPr/>
        <a:lstStyle/>
        <a:p>
          <a:endParaRPr lang="en-GB"/>
        </a:p>
      </dgm:t>
    </dgm:pt>
    <dgm:pt modelId="{3861A529-8455-4DA9-A382-29A30BE0CD06}" type="sibTrans" cxnId="{2D64F43E-DC4E-4D46-89B8-41F67B4F8191}">
      <dgm:prSet/>
      <dgm:spPr/>
      <dgm:t>
        <a:bodyPr/>
        <a:lstStyle/>
        <a:p>
          <a:endParaRPr lang="en-GB"/>
        </a:p>
      </dgm:t>
    </dgm:pt>
    <dgm:pt modelId="{4106CB28-218A-432D-9F6E-DDDC6D9D9286}" type="pres">
      <dgm:prSet presAssocID="{808E1B2F-08C6-4950-BF85-758423AA5C06}" presName="Name0" presStyleCnt="0">
        <dgm:presLayoutVars>
          <dgm:dir/>
          <dgm:resizeHandles val="exact"/>
        </dgm:presLayoutVars>
      </dgm:prSet>
      <dgm:spPr/>
    </dgm:pt>
    <dgm:pt modelId="{60376F2C-90B5-4472-B7C9-AFD08C536482}" type="pres">
      <dgm:prSet presAssocID="{808E1B2F-08C6-4950-BF85-758423AA5C06}" presName="vNodes" presStyleCnt="0"/>
      <dgm:spPr/>
    </dgm:pt>
    <dgm:pt modelId="{BED6F4CE-5205-4822-B588-FBA7A35C5D00}" type="pres">
      <dgm:prSet presAssocID="{D1218433-3077-4437-A364-07F783588BEA}" presName="node" presStyleLbl="node1" presStyleIdx="0" presStyleCnt="3" custScaleX="229665" custLinFactY="-729" custLinFactNeighborX="-22096" custLinFactNeighborY="-100000">
        <dgm:presLayoutVars>
          <dgm:bulletEnabled val="1"/>
        </dgm:presLayoutVars>
      </dgm:prSet>
      <dgm:spPr/>
      <dgm:t>
        <a:bodyPr/>
        <a:lstStyle/>
        <a:p>
          <a:endParaRPr lang="en-US"/>
        </a:p>
      </dgm:t>
    </dgm:pt>
    <dgm:pt modelId="{A0EBF9E5-EB2E-40C4-8CFB-6418C8D4C662}" type="pres">
      <dgm:prSet presAssocID="{E757B080-B752-435E-A889-AEBB53083F28}" presName="spacerT" presStyleCnt="0"/>
      <dgm:spPr/>
    </dgm:pt>
    <dgm:pt modelId="{D5AAD64C-C781-4A10-A1BA-6474BE81D77D}" type="pres">
      <dgm:prSet presAssocID="{E757B080-B752-435E-A889-AEBB53083F28}" presName="sibTrans" presStyleLbl="sibTrans2D1" presStyleIdx="0" presStyleCnt="2" custLinFactY="-5158" custLinFactNeighborX="-53811" custLinFactNeighborY="-100000"/>
      <dgm:spPr/>
      <dgm:t>
        <a:bodyPr/>
        <a:lstStyle/>
        <a:p>
          <a:endParaRPr lang="en-US"/>
        </a:p>
      </dgm:t>
    </dgm:pt>
    <dgm:pt modelId="{20F52FB1-6F79-48F3-8A22-78C9CB7E175B}" type="pres">
      <dgm:prSet presAssocID="{E757B080-B752-435E-A889-AEBB53083F28}" presName="spacerB" presStyleCnt="0"/>
      <dgm:spPr/>
    </dgm:pt>
    <dgm:pt modelId="{FB6ABCEA-635A-4638-A7B8-94966F14928F}" type="pres">
      <dgm:prSet presAssocID="{AD49A573-4C51-4C5C-9AED-379630E24F93}" presName="node" presStyleLbl="node1" presStyleIdx="1" presStyleCnt="3" custScaleX="183470" custLinFactY="-10364" custLinFactNeighborX="-46601" custLinFactNeighborY="-100000">
        <dgm:presLayoutVars>
          <dgm:bulletEnabled val="1"/>
        </dgm:presLayoutVars>
      </dgm:prSet>
      <dgm:spPr/>
      <dgm:t>
        <a:bodyPr/>
        <a:lstStyle/>
        <a:p>
          <a:endParaRPr lang="en-US"/>
        </a:p>
      </dgm:t>
    </dgm:pt>
    <dgm:pt modelId="{313CF8E4-C6F9-414F-B90B-7D5B2F9A50D8}" type="pres">
      <dgm:prSet presAssocID="{808E1B2F-08C6-4950-BF85-758423AA5C06}" presName="sibTransLast" presStyleLbl="sibTrans2D1" presStyleIdx="1" presStyleCnt="2" custScaleX="531112" custLinFactX="-76985" custLinFactNeighborX="-100000" custLinFactNeighborY="10725"/>
      <dgm:spPr/>
      <dgm:t>
        <a:bodyPr/>
        <a:lstStyle/>
        <a:p>
          <a:endParaRPr lang="en-US"/>
        </a:p>
      </dgm:t>
    </dgm:pt>
    <dgm:pt modelId="{31FEA94A-B83B-4CCB-B691-40E4E47DF0D7}" type="pres">
      <dgm:prSet presAssocID="{808E1B2F-08C6-4950-BF85-758423AA5C06}" presName="connectorText" presStyleLbl="sibTrans2D1" presStyleIdx="1" presStyleCnt="2"/>
      <dgm:spPr/>
      <dgm:t>
        <a:bodyPr/>
        <a:lstStyle/>
        <a:p>
          <a:endParaRPr lang="en-US"/>
        </a:p>
      </dgm:t>
    </dgm:pt>
    <dgm:pt modelId="{A6D8CB08-A670-465D-A3A3-38FF7E675F3F}" type="pres">
      <dgm:prSet presAssocID="{808E1B2F-08C6-4950-BF85-758423AA5C06}" presName="lastNode" presStyleLbl="node1" presStyleIdx="2" presStyleCnt="3" custScaleX="81522" custScaleY="69711" custLinFactX="-5585" custLinFactNeighborX="-100000" custLinFactNeighborY="-8332">
        <dgm:presLayoutVars>
          <dgm:bulletEnabled val="1"/>
        </dgm:presLayoutVars>
      </dgm:prSet>
      <dgm:spPr/>
      <dgm:t>
        <a:bodyPr/>
        <a:lstStyle/>
        <a:p>
          <a:endParaRPr lang="en-US"/>
        </a:p>
      </dgm:t>
    </dgm:pt>
  </dgm:ptLst>
  <dgm:cxnLst>
    <dgm:cxn modelId="{2D64F43E-DC4E-4D46-89B8-41F67B4F8191}" srcId="{808E1B2F-08C6-4950-BF85-758423AA5C06}" destId="{8F6A4653-1520-4D26-9689-CAC8F2C9B054}" srcOrd="2" destOrd="0" parTransId="{F1C48097-A2CF-4152-8EBA-746069598EBE}" sibTransId="{3861A529-8455-4DA9-A382-29A30BE0CD06}"/>
    <dgm:cxn modelId="{F2E1CD21-BC7C-4C70-A78E-90EE70C552C4}" type="presOf" srcId="{AD49A573-4C51-4C5C-9AED-379630E24F93}" destId="{FB6ABCEA-635A-4638-A7B8-94966F14928F}" srcOrd="0" destOrd="0" presId="urn:microsoft.com/office/officeart/2005/8/layout/equation2"/>
    <dgm:cxn modelId="{7EEC0D8C-8EDF-4CAD-8A44-5C66DFDFF2E8}" type="presOf" srcId="{54444D3C-DC87-4DBF-BB97-BCAB3FF90A17}" destId="{31FEA94A-B83B-4CCB-B691-40E4E47DF0D7}" srcOrd="1" destOrd="0" presId="urn:microsoft.com/office/officeart/2005/8/layout/equation2"/>
    <dgm:cxn modelId="{259C4505-FCCD-4E7B-9B91-B9439C835262}" type="presOf" srcId="{D1218433-3077-4437-A364-07F783588BEA}" destId="{BED6F4CE-5205-4822-B588-FBA7A35C5D00}" srcOrd="0" destOrd="0" presId="urn:microsoft.com/office/officeart/2005/8/layout/equation2"/>
    <dgm:cxn modelId="{F4744291-E949-40CD-93D8-80E5BFB8E0B1}" type="presOf" srcId="{8F6A4653-1520-4D26-9689-CAC8F2C9B054}" destId="{A6D8CB08-A670-465D-A3A3-38FF7E675F3F}" srcOrd="0" destOrd="0" presId="urn:microsoft.com/office/officeart/2005/8/layout/equation2"/>
    <dgm:cxn modelId="{44DE7EC5-D1CF-4CED-9B52-E8EE420A3A50}" srcId="{808E1B2F-08C6-4950-BF85-758423AA5C06}" destId="{AD49A573-4C51-4C5C-9AED-379630E24F93}" srcOrd="1" destOrd="0" parTransId="{6563C18D-6B64-474B-BCC4-5D5645280E2B}" sibTransId="{54444D3C-DC87-4DBF-BB97-BCAB3FF90A17}"/>
    <dgm:cxn modelId="{811CC6E6-FF29-4F4C-9BF1-99B10AA68BF4}" type="presOf" srcId="{E757B080-B752-435E-A889-AEBB53083F28}" destId="{D5AAD64C-C781-4A10-A1BA-6474BE81D77D}" srcOrd="0" destOrd="0" presId="urn:microsoft.com/office/officeart/2005/8/layout/equation2"/>
    <dgm:cxn modelId="{13999530-9481-47E8-9B86-796AFDE0F014}" type="presOf" srcId="{54444D3C-DC87-4DBF-BB97-BCAB3FF90A17}" destId="{313CF8E4-C6F9-414F-B90B-7D5B2F9A50D8}" srcOrd="0" destOrd="0" presId="urn:microsoft.com/office/officeart/2005/8/layout/equation2"/>
    <dgm:cxn modelId="{7DA4AC28-2F04-4EBE-852A-649929947B43}" srcId="{808E1B2F-08C6-4950-BF85-758423AA5C06}" destId="{D1218433-3077-4437-A364-07F783588BEA}" srcOrd="0" destOrd="0" parTransId="{57910008-7DF3-40BB-9766-CBFCDB9BE587}" sibTransId="{E757B080-B752-435E-A889-AEBB53083F28}"/>
    <dgm:cxn modelId="{0A30B6FA-DF5D-4F78-B83B-140A6F2517A5}" type="presOf" srcId="{808E1B2F-08C6-4950-BF85-758423AA5C06}" destId="{4106CB28-218A-432D-9F6E-DDDC6D9D9286}" srcOrd="0" destOrd="0" presId="urn:microsoft.com/office/officeart/2005/8/layout/equation2"/>
    <dgm:cxn modelId="{7DBFE5F4-5E70-47FE-83D0-C71456CBD651}" type="presParOf" srcId="{4106CB28-218A-432D-9F6E-DDDC6D9D9286}" destId="{60376F2C-90B5-4472-B7C9-AFD08C536482}" srcOrd="0" destOrd="0" presId="urn:microsoft.com/office/officeart/2005/8/layout/equation2"/>
    <dgm:cxn modelId="{5695A829-B4CB-4510-9CEF-3F8B81B1BEEA}" type="presParOf" srcId="{60376F2C-90B5-4472-B7C9-AFD08C536482}" destId="{BED6F4CE-5205-4822-B588-FBA7A35C5D00}" srcOrd="0" destOrd="0" presId="urn:microsoft.com/office/officeart/2005/8/layout/equation2"/>
    <dgm:cxn modelId="{390DEA69-560D-441A-A2E3-779AA38154C7}" type="presParOf" srcId="{60376F2C-90B5-4472-B7C9-AFD08C536482}" destId="{A0EBF9E5-EB2E-40C4-8CFB-6418C8D4C662}" srcOrd="1" destOrd="0" presId="urn:microsoft.com/office/officeart/2005/8/layout/equation2"/>
    <dgm:cxn modelId="{A5D75AC5-DC25-42CB-918C-8176BBDD6643}" type="presParOf" srcId="{60376F2C-90B5-4472-B7C9-AFD08C536482}" destId="{D5AAD64C-C781-4A10-A1BA-6474BE81D77D}" srcOrd="2" destOrd="0" presId="urn:microsoft.com/office/officeart/2005/8/layout/equation2"/>
    <dgm:cxn modelId="{CBE1358A-407D-4AD3-A7A4-D70636691DAE}" type="presParOf" srcId="{60376F2C-90B5-4472-B7C9-AFD08C536482}" destId="{20F52FB1-6F79-48F3-8A22-78C9CB7E175B}" srcOrd="3" destOrd="0" presId="urn:microsoft.com/office/officeart/2005/8/layout/equation2"/>
    <dgm:cxn modelId="{5BBFC0E0-60B6-46AA-994F-7594D78DA60E}" type="presParOf" srcId="{60376F2C-90B5-4472-B7C9-AFD08C536482}" destId="{FB6ABCEA-635A-4638-A7B8-94966F14928F}" srcOrd="4" destOrd="0" presId="urn:microsoft.com/office/officeart/2005/8/layout/equation2"/>
    <dgm:cxn modelId="{2B322D95-18DD-4DC7-8CB8-085DCB540F27}" type="presParOf" srcId="{4106CB28-218A-432D-9F6E-DDDC6D9D9286}" destId="{313CF8E4-C6F9-414F-B90B-7D5B2F9A50D8}" srcOrd="1" destOrd="0" presId="urn:microsoft.com/office/officeart/2005/8/layout/equation2"/>
    <dgm:cxn modelId="{C625E0CC-6C30-4B39-9F4E-002580684D1E}" type="presParOf" srcId="{313CF8E4-C6F9-414F-B90B-7D5B2F9A50D8}" destId="{31FEA94A-B83B-4CCB-B691-40E4E47DF0D7}" srcOrd="0" destOrd="0" presId="urn:microsoft.com/office/officeart/2005/8/layout/equation2"/>
    <dgm:cxn modelId="{736A5AE9-FB96-4709-AE98-66272AAC785B}" type="presParOf" srcId="{4106CB28-218A-432D-9F6E-DDDC6D9D9286}" destId="{A6D8CB08-A670-465D-A3A3-38FF7E675F3F}"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55F0570-EFFD-4A77-8D1C-368BF9178F03}"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GB"/>
        </a:p>
      </dgm:t>
    </dgm:pt>
    <dgm:pt modelId="{AD590FB9-045F-4F29-A34E-1BE0603C6323}">
      <dgm:prSet phldrT="[Text]"/>
      <dgm:spPr/>
      <dgm:t>
        <a:bodyPr/>
        <a:lstStyle/>
        <a:p>
          <a:r>
            <a:rPr lang="en-GB" b="1" dirty="0"/>
            <a:t>Decision</a:t>
          </a:r>
        </a:p>
      </dgm:t>
    </dgm:pt>
    <dgm:pt modelId="{DF29B2E4-897D-4CF0-8B43-6CA2CB94F50F}" type="parTrans" cxnId="{8D09935D-1EA5-40BD-A340-EAD9686A0E06}">
      <dgm:prSet/>
      <dgm:spPr/>
      <dgm:t>
        <a:bodyPr/>
        <a:lstStyle/>
        <a:p>
          <a:endParaRPr lang="en-GB"/>
        </a:p>
      </dgm:t>
    </dgm:pt>
    <dgm:pt modelId="{98C67EBD-2EF2-4C9A-9756-596146C72A23}" type="sibTrans" cxnId="{8D09935D-1EA5-40BD-A340-EAD9686A0E06}">
      <dgm:prSet/>
      <dgm:spPr/>
      <dgm:t>
        <a:bodyPr/>
        <a:lstStyle/>
        <a:p>
          <a:endParaRPr lang="en-GB"/>
        </a:p>
      </dgm:t>
    </dgm:pt>
    <dgm:pt modelId="{253EFA0F-30E5-401A-9DE2-AC51FEA9E3A6}">
      <dgm:prSet phldrT="[Text]" custT="1"/>
      <dgm:spPr/>
      <dgm:t>
        <a:bodyPr/>
        <a:lstStyle/>
        <a:p>
          <a:r>
            <a:rPr lang="en-GB" sz="2800" b="1" dirty="0">
              <a:solidFill>
                <a:schemeClr val="bg1"/>
              </a:solidFill>
            </a:rPr>
            <a:t>Act</a:t>
          </a:r>
        </a:p>
      </dgm:t>
    </dgm:pt>
    <dgm:pt modelId="{5E0EE81E-66C3-4EDA-8B91-CAB67017CC15}" type="parTrans" cxnId="{706C38DB-117C-44AE-B212-CD60E90EBA17}">
      <dgm:prSet/>
      <dgm:spPr/>
      <dgm:t>
        <a:bodyPr/>
        <a:lstStyle/>
        <a:p>
          <a:endParaRPr lang="en-GB"/>
        </a:p>
      </dgm:t>
    </dgm:pt>
    <dgm:pt modelId="{4F9F388A-BC4E-41A2-B1DC-8BDCD8292BF2}" type="sibTrans" cxnId="{706C38DB-117C-44AE-B212-CD60E90EBA17}">
      <dgm:prSet/>
      <dgm:spPr/>
      <dgm:t>
        <a:bodyPr/>
        <a:lstStyle/>
        <a:p>
          <a:endParaRPr lang="en-GB"/>
        </a:p>
      </dgm:t>
    </dgm:pt>
    <dgm:pt modelId="{C7D454E7-0FCF-48C4-B9B3-B00D459D420B}">
      <dgm:prSet phldrT="[Text]" custT="1"/>
      <dgm:spPr/>
      <dgm:t>
        <a:bodyPr/>
        <a:lstStyle/>
        <a:p>
          <a:r>
            <a:rPr lang="en-GB" sz="2800" b="1" dirty="0">
              <a:solidFill>
                <a:schemeClr val="bg1"/>
              </a:solidFill>
            </a:rPr>
            <a:t>Intention</a:t>
          </a:r>
        </a:p>
      </dgm:t>
    </dgm:pt>
    <dgm:pt modelId="{5CCAA5EE-EBD1-4C8A-A08D-D817E0775C5E}" type="parTrans" cxnId="{E206100F-6BC2-49D6-A511-9DB57A223497}">
      <dgm:prSet/>
      <dgm:spPr/>
      <dgm:t>
        <a:bodyPr/>
        <a:lstStyle/>
        <a:p>
          <a:endParaRPr lang="en-GB"/>
        </a:p>
      </dgm:t>
    </dgm:pt>
    <dgm:pt modelId="{CC45181E-5C4F-4653-A2D2-0B67DB1A4BC5}" type="sibTrans" cxnId="{E206100F-6BC2-49D6-A511-9DB57A223497}">
      <dgm:prSet/>
      <dgm:spPr/>
      <dgm:t>
        <a:bodyPr/>
        <a:lstStyle/>
        <a:p>
          <a:endParaRPr lang="en-GB"/>
        </a:p>
      </dgm:t>
    </dgm:pt>
    <dgm:pt modelId="{CC3CB254-A387-4928-A752-20C34AA28289}">
      <dgm:prSet phldrT="[Text]" custT="1"/>
      <dgm:spPr/>
      <dgm:t>
        <a:bodyPr/>
        <a:lstStyle/>
        <a:p>
          <a:r>
            <a:rPr lang="en-GB" sz="2400" b="1" dirty="0"/>
            <a:t>Circumstances</a:t>
          </a:r>
        </a:p>
      </dgm:t>
    </dgm:pt>
    <dgm:pt modelId="{A7D76062-719A-493B-8669-4694786A4969}" type="parTrans" cxnId="{1A88F5D2-8F3D-4661-8D34-4CC71334EA2D}">
      <dgm:prSet/>
      <dgm:spPr/>
      <dgm:t>
        <a:bodyPr/>
        <a:lstStyle/>
        <a:p>
          <a:endParaRPr lang="en-GB"/>
        </a:p>
      </dgm:t>
    </dgm:pt>
    <dgm:pt modelId="{FAB29B2C-1200-4F10-AC75-F57304BCB490}" type="sibTrans" cxnId="{1A88F5D2-8F3D-4661-8D34-4CC71334EA2D}">
      <dgm:prSet/>
      <dgm:spPr/>
      <dgm:t>
        <a:bodyPr/>
        <a:lstStyle/>
        <a:p>
          <a:endParaRPr lang="en-GB"/>
        </a:p>
      </dgm:t>
    </dgm:pt>
    <dgm:pt modelId="{9B41EDCE-1DD1-4DAE-A482-B154570BB943}" type="pres">
      <dgm:prSet presAssocID="{B55F0570-EFFD-4A77-8D1C-368BF9178F03}" presName="cycle" presStyleCnt="0">
        <dgm:presLayoutVars>
          <dgm:chMax val="1"/>
          <dgm:dir/>
          <dgm:animLvl val="ctr"/>
          <dgm:resizeHandles val="exact"/>
        </dgm:presLayoutVars>
      </dgm:prSet>
      <dgm:spPr/>
      <dgm:t>
        <a:bodyPr/>
        <a:lstStyle/>
        <a:p>
          <a:endParaRPr lang="en-US"/>
        </a:p>
      </dgm:t>
    </dgm:pt>
    <dgm:pt modelId="{04CBD240-51B9-40E0-A302-77DF0D321BB7}" type="pres">
      <dgm:prSet presAssocID="{AD590FB9-045F-4F29-A34E-1BE0603C6323}" presName="centerShape" presStyleLbl="node0" presStyleIdx="0" presStyleCnt="1"/>
      <dgm:spPr/>
      <dgm:t>
        <a:bodyPr/>
        <a:lstStyle/>
        <a:p>
          <a:endParaRPr lang="en-US"/>
        </a:p>
      </dgm:t>
    </dgm:pt>
    <dgm:pt modelId="{8CEF721F-4407-4FA7-9078-F6A04A343442}" type="pres">
      <dgm:prSet presAssocID="{5E0EE81E-66C3-4EDA-8B91-CAB67017CC15}" presName="parTrans" presStyleLbl="bgSibTrans2D1" presStyleIdx="0" presStyleCnt="3"/>
      <dgm:spPr/>
      <dgm:t>
        <a:bodyPr/>
        <a:lstStyle/>
        <a:p>
          <a:endParaRPr lang="en-US"/>
        </a:p>
      </dgm:t>
    </dgm:pt>
    <dgm:pt modelId="{FFC7C0F2-7802-4780-9AA6-D41083B3B92B}" type="pres">
      <dgm:prSet presAssocID="{253EFA0F-30E5-401A-9DE2-AC51FEA9E3A6}" presName="node" presStyleLbl="node1" presStyleIdx="0" presStyleCnt="3">
        <dgm:presLayoutVars>
          <dgm:bulletEnabled val="1"/>
        </dgm:presLayoutVars>
      </dgm:prSet>
      <dgm:spPr/>
      <dgm:t>
        <a:bodyPr/>
        <a:lstStyle/>
        <a:p>
          <a:endParaRPr lang="en-US"/>
        </a:p>
      </dgm:t>
    </dgm:pt>
    <dgm:pt modelId="{278348A1-3EDD-4B8A-BB78-CB20FCC1B371}" type="pres">
      <dgm:prSet presAssocID="{5CCAA5EE-EBD1-4C8A-A08D-D817E0775C5E}" presName="parTrans" presStyleLbl="bgSibTrans2D1" presStyleIdx="1" presStyleCnt="3"/>
      <dgm:spPr/>
      <dgm:t>
        <a:bodyPr/>
        <a:lstStyle/>
        <a:p>
          <a:endParaRPr lang="en-US"/>
        </a:p>
      </dgm:t>
    </dgm:pt>
    <dgm:pt modelId="{8C556B53-EF55-4A50-92FE-A932A593E441}" type="pres">
      <dgm:prSet presAssocID="{C7D454E7-0FCF-48C4-B9B3-B00D459D420B}" presName="node" presStyleLbl="node1" presStyleIdx="1" presStyleCnt="3">
        <dgm:presLayoutVars>
          <dgm:bulletEnabled val="1"/>
        </dgm:presLayoutVars>
      </dgm:prSet>
      <dgm:spPr/>
      <dgm:t>
        <a:bodyPr/>
        <a:lstStyle/>
        <a:p>
          <a:endParaRPr lang="en-US"/>
        </a:p>
      </dgm:t>
    </dgm:pt>
    <dgm:pt modelId="{CB235D1E-2193-4924-9FB6-17C6A904EC24}" type="pres">
      <dgm:prSet presAssocID="{A7D76062-719A-493B-8669-4694786A4969}" presName="parTrans" presStyleLbl="bgSibTrans2D1" presStyleIdx="2" presStyleCnt="3" custLinFactNeighborX="-7301" custLinFactNeighborY="108"/>
      <dgm:spPr/>
      <dgm:t>
        <a:bodyPr/>
        <a:lstStyle/>
        <a:p>
          <a:endParaRPr lang="en-US"/>
        </a:p>
      </dgm:t>
    </dgm:pt>
    <dgm:pt modelId="{3D21F5A8-CF01-4038-9AF8-41FFDF6E90A9}" type="pres">
      <dgm:prSet presAssocID="{CC3CB254-A387-4928-A752-20C34AA28289}" presName="node" presStyleLbl="node1" presStyleIdx="2" presStyleCnt="3" custScaleX="125443" custScaleY="74915" custRadScaleRad="124501" custRadScaleInc="13223">
        <dgm:presLayoutVars>
          <dgm:bulletEnabled val="1"/>
        </dgm:presLayoutVars>
      </dgm:prSet>
      <dgm:spPr/>
      <dgm:t>
        <a:bodyPr/>
        <a:lstStyle/>
        <a:p>
          <a:endParaRPr lang="en-US"/>
        </a:p>
      </dgm:t>
    </dgm:pt>
  </dgm:ptLst>
  <dgm:cxnLst>
    <dgm:cxn modelId="{8AE85256-9C71-439E-8C86-37BD6C53037A}" type="presOf" srcId="{C7D454E7-0FCF-48C4-B9B3-B00D459D420B}" destId="{8C556B53-EF55-4A50-92FE-A932A593E441}" srcOrd="0" destOrd="0" presId="urn:microsoft.com/office/officeart/2005/8/layout/radial4"/>
    <dgm:cxn modelId="{4A9D7104-CD80-490D-A875-407D92101CA6}" type="presOf" srcId="{A7D76062-719A-493B-8669-4694786A4969}" destId="{CB235D1E-2193-4924-9FB6-17C6A904EC24}" srcOrd="0" destOrd="0" presId="urn:microsoft.com/office/officeart/2005/8/layout/radial4"/>
    <dgm:cxn modelId="{6702F6C5-6D3B-4C9E-A53D-4BF407533C8D}" type="presOf" srcId="{CC3CB254-A387-4928-A752-20C34AA28289}" destId="{3D21F5A8-CF01-4038-9AF8-41FFDF6E90A9}" srcOrd="0" destOrd="0" presId="urn:microsoft.com/office/officeart/2005/8/layout/radial4"/>
    <dgm:cxn modelId="{1A88F5D2-8F3D-4661-8D34-4CC71334EA2D}" srcId="{AD590FB9-045F-4F29-A34E-1BE0603C6323}" destId="{CC3CB254-A387-4928-A752-20C34AA28289}" srcOrd="2" destOrd="0" parTransId="{A7D76062-719A-493B-8669-4694786A4969}" sibTransId="{FAB29B2C-1200-4F10-AC75-F57304BCB490}"/>
    <dgm:cxn modelId="{71D364FA-83B3-4425-BA7D-4FAFEFC80FEF}" type="presOf" srcId="{5E0EE81E-66C3-4EDA-8B91-CAB67017CC15}" destId="{8CEF721F-4407-4FA7-9078-F6A04A343442}" srcOrd="0" destOrd="0" presId="urn:microsoft.com/office/officeart/2005/8/layout/radial4"/>
    <dgm:cxn modelId="{706C38DB-117C-44AE-B212-CD60E90EBA17}" srcId="{AD590FB9-045F-4F29-A34E-1BE0603C6323}" destId="{253EFA0F-30E5-401A-9DE2-AC51FEA9E3A6}" srcOrd="0" destOrd="0" parTransId="{5E0EE81E-66C3-4EDA-8B91-CAB67017CC15}" sibTransId="{4F9F388A-BC4E-41A2-B1DC-8BDCD8292BF2}"/>
    <dgm:cxn modelId="{7405EF27-6100-4D41-B653-20A679A89257}" type="presOf" srcId="{253EFA0F-30E5-401A-9DE2-AC51FEA9E3A6}" destId="{FFC7C0F2-7802-4780-9AA6-D41083B3B92B}" srcOrd="0" destOrd="0" presId="urn:microsoft.com/office/officeart/2005/8/layout/radial4"/>
    <dgm:cxn modelId="{B12F8E66-7248-4D3F-A7AD-CD8D65B0563F}" type="presOf" srcId="{AD590FB9-045F-4F29-A34E-1BE0603C6323}" destId="{04CBD240-51B9-40E0-A302-77DF0D321BB7}" srcOrd="0" destOrd="0" presId="urn:microsoft.com/office/officeart/2005/8/layout/radial4"/>
    <dgm:cxn modelId="{E206100F-6BC2-49D6-A511-9DB57A223497}" srcId="{AD590FB9-045F-4F29-A34E-1BE0603C6323}" destId="{C7D454E7-0FCF-48C4-B9B3-B00D459D420B}" srcOrd="1" destOrd="0" parTransId="{5CCAA5EE-EBD1-4C8A-A08D-D817E0775C5E}" sibTransId="{CC45181E-5C4F-4653-A2D2-0B67DB1A4BC5}"/>
    <dgm:cxn modelId="{7613A2E8-60DB-4442-8E1B-CE49CF0ECD5E}" type="presOf" srcId="{B55F0570-EFFD-4A77-8D1C-368BF9178F03}" destId="{9B41EDCE-1DD1-4DAE-A482-B154570BB943}" srcOrd="0" destOrd="0" presId="urn:microsoft.com/office/officeart/2005/8/layout/radial4"/>
    <dgm:cxn modelId="{8D09935D-1EA5-40BD-A340-EAD9686A0E06}" srcId="{B55F0570-EFFD-4A77-8D1C-368BF9178F03}" destId="{AD590FB9-045F-4F29-A34E-1BE0603C6323}" srcOrd="0" destOrd="0" parTransId="{DF29B2E4-897D-4CF0-8B43-6CA2CB94F50F}" sibTransId="{98C67EBD-2EF2-4C9A-9756-596146C72A23}"/>
    <dgm:cxn modelId="{B2DB9248-B399-45D2-81D7-FF9432AF9ABB}" type="presOf" srcId="{5CCAA5EE-EBD1-4C8A-A08D-D817E0775C5E}" destId="{278348A1-3EDD-4B8A-BB78-CB20FCC1B371}" srcOrd="0" destOrd="0" presId="urn:microsoft.com/office/officeart/2005/8/layout/radial4"/>
    <dgm:cxn modelId="{18D8CC71-E04E-4647-B46B-5C73A2E667BC}" type="presParOf" srcId="{9B41EDCE-1DD1-4DAE-A482-B154570BB943}" destId="{04CBD240-51B9-40E0-A302-77DF0D321BB7}" srcOrd="0" destOrd="0" presId="urn:microsoft.com/office/officeart/2005/8/layout/radial4"/>
    <dgm:cxn modelId="{24567D00-45A8-4036-B071-169B5614A89D}" type="presParOf" srcId="{9B41EDCE-1DD1-4DAE-A482-B154570BB943}" destId="{8CEF721F-4407-4FA7-9078-F6A04A343442}" srcOrd="1" destOrd="0" presId="urn:microsoft.com/office/officeart/2005/8/layout/radial4"/>
    <dgm:cxn modelId="{22E51B45-AECE-4C98-8D43-BD2B95150C5D}" type="presParOf" srcId="{9B41EDCE-1DD1-4DAE-A482-B154570BB943}" destId="{FFC7C0F2-7802-4780-9AA6-D41083B3B92B}" srcOrd="2" destOrd="0" presId="urn:microsoft.com/office/officeart/2005/8/layout/radial4"/>
    <dgm:cxn modelId="{B8789967-53E0-4466-BFF1-E628B1648E43}" type="presParOf" srcId="{9B41EDCE-1DD1-4DAE-A482-B154570BB943}" destId="{278348A1-3EDD-4B8A-BB78-CB20FCC1B371}" srcOrd="3" destOrd="0" presId="urn:microsoft.com/office/officeart/2005/8/layout/radial4"/>
    <dgm:cxn modelId="{2008FC5E-86A8-4262-B051-B358413EFD10}" type="presParOf" srcId="{9B41EDCE-1DD1-4DAE-A482-B154570BB943}" destId="{8C556B53-EF55-4A50-92FE-A932A593E441}" srcOrd="4" destOrd="0" presId="urn:microsoft.com/office/officeart/2005/8/layout/radial4"/>
    <dgm:cxn modelId="{E68E00BF-284D-4DF3-BBC0-879A9D455173}" type="presParOf" srcId="{9B41EDCE-1DD1-4DAE-A482-B154570BB943}" destId="{CB235D1E-2193-4924-9FB6-17C6A904EC24}" srcOrd="5" destOrd="0" presId="urn:microsoft.com/office/officeart/2005/8/layout/radial4"/>
    <dgm:cxn modelId="{2D8D8C64-4C79-49B0-B3A9-127CFA5BFFD5}" type="presParOf" srcId="{9B41EDCE-1DD1-4DAE-A482-B154570BB943}" destId="{3D21F5A8-CF01-4038-9AF8-41FFDF6E90A9}"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1DF0564-8203-44F7-A73A-78186664CF52}" type="doc">
      <dgm:prSet loTypeId="urn:microsoft.com/office/officeart/2005/8/layout/gear1" loCatId="relationship" qsTypeId="urn:microsoft.com/office/officeart/2005/8/quickstyle/simple1" qsCatId="simple" csTypeId="urn:microsoft.com/office/officeart/2005/8/colors/accent1_2" csCatId="accent1" phldr="1"/>
      <dgm:spPr/>
    </dgm:pt>
    <dgm:pt modelId="{ACED2677-4517-471A-BC72-695124A1C2B6}">
      <dgm:prSet phldrT="[Text]" custT="1"/>
      <dgm:spPr/>
      <dgm:t>
        <a:bodyPr/>
        <a:lstStyle/>
        <a:p>
          <a:r>
            <a:rPr lang="en-GB" sz="2400" b="1" dirty="0"/>
            <a:t>GOOD ACTION Downsize number of employees to save firm</a:t>
          </a:r>
        </a:p>
      </dgm:t>
    </dgm:pt>
    <dgm:pt modelId="{E9A7BCEC-A819-441A-8B15-E4B4EB4F5A3F}" type="parTrans" cxnId="{701F1B18-8CF6-4110-9A15-0FDEC150F717}">
      <dgm:prSet/>
      <dgm:spPr/>
      <dgm:t>
        <a:bodyPr/>
        <a:lstStyle/>
        <a:p>
          <a:endParaRPr lang="en-GB"/>
        </a:p>
      </dgm:t>
    </dgm:pt>
    <dgm:pt modelId="{5F5F1B73-0AC1-4C48-A291-8E38F5703EAA}" type="sibTrans" cxnId="{701F1B18-8CF6-4110-9A15-0FDEC150F717}">
      <dgm:prSet/>
      <dgm:spPr/>
      <dgm:t>
        <a:bodyPr/>
        <a:lstStyle/>
        <a:p>
          <a:endParaRPr lang="en-GB"/>
        </a:p>
      </dgm:t>
    </dgm:pt>
    <dgm:pt modelId="{0A8A860A-EC06-424C-913B-BAA8E4BAD77F}">
      <dgm:prSet phldrT="[Text]" custT="1"/>
      <dgm:spPr/>
      <dgm:t>
        <a:bodyPr/>
        <a:lstStyle/>
        <a:p>
          <a:r>
            <a:rPr lang="en-GB" sz="2400" b="1" dirty="0"/>
            <a:t>GOOD MAIN EFFECT Financial improvement of firm</a:t>
          </a:r>
        </a:p>
      </dgm:t>
    </dgm:pt>
    <dgm:pt modelId="{6B2CD6EF-257E-4852-AEF7-B074F22B7C29}" type="parTrans" cxnId="{E57B4925-C9C9-4687-B2C4-F722B86310A4}">
      <dgm:prSet/>
      <dgm:spPr/>
      <dgm:t>
        <a:bodyPr/>
        <a:lstStyle/>
        <a:p>
          <a:endParaRPr lang="en-GB"/>
        </a:p>
      </dgm:t>
    </dgm:pt>
    <dgm:pt modelId="{1CA5AE46-FE1E-43FA-A0E8-F6C5D9DE6CD3}" type="sibTrans" cxnId="{E57B4925-C9C9-4687-B2C4-F722B86310A4}">
      <dgm:prSet/>
      <dgm:spPr/>
      <dgm:t>
        <a:bodyPr/>
        <a:lstStyle/>
        <a:p>
          <a:endParaRPr lang="en-GB"/>
        </a:p>
      </dgm:t>
    </dgm:pt>
    <dgm:pt modelId="{4C9C495C-99EE-41FD-92C9-73667F7AB913}">
      <dgm:prSet phldrT="[Text]" custT="1"/>
      <dgm:spPr/>
      <dgm:t>
        <a:bodyPr/>
        <a:lstStyle/>
        <a:p>
          <a:r>
            <a:rPr lang="en-GB" sz="2400" b="1" dirty="0"/>
            <a:t>BAD </a:t>
          </a:r>
        </a:p>
        <a:p>
          <a:r>
            <a:rPr lang="en-GB" sz="2400" b="1" dirty="0"/>
            <a:t>INDIRECT EFFECT E</a:t>
          </a:r>
          <a:r>
            <a:rPr lang="en-GB" sz="1800" b="1" dirty="0"/>
            <a:t>mployees with little education lose their jobs</a:t>
          </a:r>
        </a:p>
      </dgm:t>
    </dgm:pt>
    <dgm:pt modelId="{A9980463-3A1B-43F5-A39C-26B05CB9BB60}" type="parTrans" cxnId="{EFD45A92-E2F0-4D6C-9764-7C7CBB368A44}">
      <dgm:prSet/>
      <dgm:spPr/>
      <dgm:t>
        <a:bodyPr/>
        <a:lstStyle/>
        <a:p>
          <a:endParaRPr lang="en-GB"/>
        </a:p>
      </dgm:t>
    </dgm:pt>
    <dgm:pt modelId="{FEB66978-6B78-4279-B0AC-645B0EE545BB}" type="sibTrans" cxnId="{EFD45A92-E2F0-4D6C-9764-7C7CBB368A44}">
      <dgm:prSet/>
      <dgm:spPr/>
      <dgm:t>
        <a:bodyPr/>
        <a:lstStyle/>
        <a:p>
          <a:endParaRPr lang="en-GB"/>
        </a:p>
      </dgm:t>
    </dgm:pt>
    <dgm:pt modelId="{4E03F77E-E920-4CAA-AA1D-0062DF4722ED}" type="pres">
      <dgm:prSet presAssocID="{A1DF0564-8203-44F7-A73A-78186664CF52}" presName="composite" presStyleCnt="0">
        <dgm:presLayoutVars>
          <dgm:chMax val="3"/>
          <dgm:animLvl val="lvl"/>
          <dgm:resizeHandles val="exact"/>
        </dgm:presLayoutVars>
      </dgm:prSet>
      <dgm:spPr/>
    </dgm:pt>
    <dgm:pt modelId="{34FDE311-9D5C-429E-AA91-35FFAA7049B4}" type="pres">
      <dgm:prSet presAssocID="{ACED2677-4517-471A-BC72-695124A1C2B6}" presName="gear1" presStyleLbl="node1" presStyleIdx="0" presStyleCnt="3" custScaleX="123080" custLinFactNeighborX="41437" custLinFactNeighborY="-709">
        <dgm:presLayoutVars>
          <dgm:chMax val="1"/>
          <dgm:bulletEnabled val="1"/>
        </dgm:presLayoutVars>
      </dgm:prSet>
      <dgm:spPr/>
      <dgm:t>
        <a:bodyPr/>
        <a:lstStyle/>
        <a:p>
          <a:endParaRPr lang="en-US"/>
        </a:p>
      </dgm:t>
    </dgm:pt>
    <dgm:pt modelId="{417543DC-E77C-48C1-A5A7-980187E25B46}" type="pres">
      <dgm:prSet presAssocID="{ACED2677-4517-471A-BC72-695124A1C2B6}" presName="gear1srcNode" presStyleLbl="node1" presStyleIdx="0" presStyleCnt="3"/>
      <dgm:spPr/>
      <dgm:t>
        <a:bodyPr/>
        <a:lstStyle/>
        <a:p>
          <a:endParaRPr lang="en-US"/>
        </a:p>
      </dgm:t>
    </dgm:pt>
    <dgm:pt modelId="{F04887FD-E673-4819-A5FE-71A440AE03E4}" type="pres">
      <dgm:prSet presAssocID="{ACED2677-4517-471A-BC72-695124A1C2B6}" presName="gear1dstNode" presStyleLbl="node1" presStyleIdx="0" presStyleCnt="3"/>
      <dgm:spPr/>
      <dgm:t>
        <a:bodyPr/>
        <a:lstStyle/>
        <a:p>
          <a:endParaRPr lang="en-US"/>
        </a:p>
      </dgm:t>
    </dgm:pt>
    <dgm:pt modelId="{C573E588-D76C-4A43-84CC-36F10E34E773}" type="pres">
      <dgm:prSet presAssocID="{0A8A860A-EC06-424C-913B-BAA8E4BAD77F}" presName="gear2" presStyleLbl="node1" presStyleIdx="1" presStyleCnt="3" custScaleX="181377" custScaleY="143701" custLinFactNeighborX="-73648" custLinFactNeighborY="20339">
        <dgm:presLayoutVars>
          <dgm:chMax val="1"/>
          <dgm:bulletEnabled val="1"/>
        </dgm:presLayoutVars>
      </dgm:prSet>
      <dgm:spPr/>
      <dgm:t>
        <a:bodyPr/>
        <a:lstStyle/>
        <a:p>
          <a:endParaRPr lang="en-US"/>
        </a:p>
      </dgm:t>
    </dgm:pt>
    <dgm:pt modelId="{6580AEAD-3326-4B53-B44F-B6B51CC33196}" type="pres">
      <dgm:prSet presAssocID="{0A8A860A-EC06-424C-913B-BAA8E4BAD77F}" presName="gear2srcNode" presStyleLbl="node1" presStyleIdx="1" presStyleCnt="3"/>
      <dgm:spPr/>
      <dgm:t>
        <a:bodyPr/>
        <a:lstStyle/>
        <a:p>
          <a:endParaRPr lang="en-US"/>
        </a:p>
      </dgm:t>
    </dgm:pt>
    <dgm:pt modelId="{B9170D9D-A0B2-4AAB-A686-4183ECE46FB5}" type="pres">
      <dgm:prSet presAssocID="{0A8A860A-EC06-424C-913B-BAA8E4BAD77F}" presName="gear2dstNode" presStyleLbl="node1" presStyleIdx="1" presStyleCnt="3"/>
      <dgm:spPr/>
      <dgm:t>
        <a:bodyPr/>
        <a:lstStyle/>
        <a:p>
          <a:endParaRPr lang="en-US"/>
        </a:p>
      </dgm:t>
    </dgm:pt>
    <dgm:pt modelId="{07F67475-D524-403E-9654-45312A513140}" type="pres">
      <dgm:prSet presAssocID="{4C9C495C-99EE-41FD-92C9-73667F7AB913}" presName="gear3" presStyleLbl="node1" presStyleIdx="2" presStyleCnt="3" custScaleX="190314" custScaleY="161964" custLinFactNeighborX="6608" custLinFactNeighborY="-13893"/>
      <dgm:spPr/>
      <dgm:t>
        <a:bodyPr/>
        <a:lstStyle/>
        <a:p>
          <a:endParaRPr lang="en-US"/>
        </a:p>
      </dgm:t>
    </dgm:pt>
    <dgm:pt modelId="{509C6939-13B9-4A8E-A4CF-F20C90F4CBD2}" type="pres">
      <dgm:prSet presAssocID="{4C9C495C-99EE-41FD-92C9-73667F7AB913}" presName="gear3tx" presStyleLbl="node1" presStyleIdx="2" presStyleCnt="3">
        <dgm:presLayoutVars>
          <dgm:chMax val="1"/>
          <dgm:bulletEnabled val="1"/>
        </dgm:presLayoutVars>
      </dgm:prSet>
      <dgm:spPr/>
      <dgm:t>
        <a:bodyPr/>
        <a:lstStyle/>
        <a:p>
          <a:endParaRPr lang="en-US"/>
        </a:p>
      </dgm:t>
    </dgm:pt>
    <dgm:pt modelId="{30191340-6D15-4033-96A9-8A1961E059D2}" type="pres">
      <dgm:prSet presAssocID="{4C9C495C-99EE-41FD-92C9-73667F7AB913}" presName="gear3srcNode" presStyleLbl="node1" presStyleIdx="2" presStyleCnt="3"/>
      <dgm:spPr/>
      <dgm:t>
        <a:bodyPr/>
        <a:lstStyle/>
        <a:p>
          <a:endParaRPr lang="en-US"/>
        </a:p>
      </dgm:t>
    </dgm:pt>
    <dgm:pt modelId="{ED4BD606-3241-4693-842C-2A46A46A9EBD}" type="pres">
      <dgm:prSet presAssocID="{4C9C495C-99EE-41FD-92C9-73667F7AB913}" presName="gear3dstNode" presStyleLbl="node1" presStyleIdx="2" presStyleCnt="3"/>
      <dgm:spPr/>
      <dgm:t>
        <a:bodyPr/>
        <a:lstStyle/>
        <a:p>
          <a:endParaRPr lang="en-US"/>
        </a:p>
      </dgm:t>
    </dgm:pt>
    <dgm:pt modelId="{1EFA6391-54C4-469E-85F8-4CFD2CAD90B1}" type="pres">
      <dgm:prSet presAssocID="{5F5F1B73-0AC1-4C48-A291-8E38F5703EAA}" presName="connector1" presStyleLbl="sibTrans2D1" presStyleIdx="0" presStyleCnt="3" custAng="4706629" custFlipVert="1" custScaleX="16109" custScaleY="64439" custLinFactNeighborX="-48075" custLinFactNeighborY="19418"/>
      <dgm:spPr>
        <a:prstGeom prst="curvedRightArrow">
          <a:avLst/>
        </a:prstGeom>
      </dgm:spPr>
      <dgm:t>
        <a:bodyPr/>
        <a:lstStyle/>
        <a:p>
          <a:endParaRPr lang="en-US"/>
        </a:p>
      </dgm:t>
    </dgm:pt>
    <dgm:pt modelId="{BDD38335-6CC1-42CE-9266-A7FAD789F279}" type="pres">
      <dgm:prSet presAssocID="{1CA5AE46-FE1E-43FA-A0E8-F6C5D9DE6CD3}" presName="connector2" presStyleLbl="sibTrans2D1" presStyleIdx="1" presStyleCnt="3" custAng="9143493" custFlipVert="0" custScaleX="80124" custScaleY="63123" custLinFactNeighborX="-57694" custLinFactNeighborY="-63405"/>
      <dgm:spPr/>
      <dgm:t>
        <a:bodyPr/>
        <a:lstStyle/>
        <a:p>
          <a:endParaRPr lang="en-US"/>
        </a:p>
      </dgm:t>
    </dgm:pt>
    <dgm:pt modelId="{163A5976-C233-46E7-ACDD-B62B9C28FD2C}" type="pres">
      <dgm:prSet presAssocID="{FEB66978-6B78-4279-B0AC-645B0EE545BB}" presName="connector3" presStyleLbl="sibTrans2D1" presStyleIdx="2" presStyleCnt="3" custFlipHor="1" custLinFactNeighborX="53937" custLinFactNeighborY="36680"/>
      <dgm:spPr/>
      <dgm:t>
        <a:bodyPr/>
        <a:lstStyle/>
        <a:p>
          <a:endParaRPr lang="en-US"/>
        </a:p>
      </dgm:t>
    </dgm:pt>
  </dgm:ptLst>
  <dgm:cxnLst>
    <dgm:cxn modelId="{24D81344-57B3-4ED7-8151-A965434BE8A1}" type="presOf" srcId="{0A8A860A-EC06-424C-913B-BAA8E4BAD77F}" destId="{6580AEAD-3326-4B53-B44F-B6B51CC33196}" srcOrd="1" destOrd="0" presId="urn:microsoft.com/office/officeart/2005/8/layout/gear1"/>
    <dgm:cxn modelId="{249F0E89-555A-4AA3-A7E4-FD82794B2ABF}" type="presOf" srcId="{5F5F1B73-0AC1-4C48-A291-8E38F5703EAA}" destId="{1EFA6391-54C4-469E-85F8-4CFD2CAD90B1}" srcOrd="0" destOrd="0" presId="urn:microsoft.com/office/officeart/2005/8/layout/gear1"/>
    <dgm:cxn modelId="{07FCF950-C265-4434-AC42-10FD95A31420}" type="presOf" srcId="{0A8A860A-EC06-424C-913B-BAA8E4BAD77F}" destId="{C573E588-D76C-4A43-84CC-36F10E34E773}" srcOrd="0" destOrd="0" presId="urn:microsoft.com/office/officeart/2005/8/layout/gear1"/>
    <dgm:cxn modelId="{EFD45A92-E2F0-4D6C-9764-7C7CBB368A44}" srcId="{A1DF0564-8203-44F7-A73A-78186664CF52}" destId="{4C9C495C-99EE-41FD-92C9-73667F7AB913}" srcOrd="2" destOrd="0" parTransId="{A9980463-3A1B-43F5-A39C-26B05CB9BB60}" sibTransId="{FEB66978-6B78-4279-B0AC-645B0EE545BB}"/>
    <dgm:cxn modelId="{4D9802E1-D6C7-4C9A-A235-B0676E23FCE3}" type="presOf" srcId="{ACED2677-4517-471A-BC72-695124A1C2B6}" destId="{417543DC-E77C-48C1-A5A7-980187E25B46}" srcOrd="1" destOrd="0" presId="urn:microsoft.com/office/officeart/2005/8/layout/gear1"/>
    <dgm:cxn modelId="{C217B643-995E-4D27-BC6E-3EE36EA5A3D5}" type="presOf" srcId="{4C9C495C-99EE-41FD-92C9-73667F7AB913}" destId="{ED4BD606-3241-4693-842C-2A46A46A9EBD}" srcOrd="3" destOrd="0" presId="urn:microsoft.com/office/officeart/2005/8/layout/gear1"/>
    <dgm:cxn modelId="{53D1581C-ABE9-4AC7-8224-A1727A30E252}" type="presOf" srcId="{4C9C495C-99EE-41FD-92C9-73667F7AB913}" destId="{30191340-6D15-4033-96A9-8A1961E059D2}" srcOrd="2" destOrd="0" presId="urn:microsoft.com/office/officeart/2005/8/layout/gear1"/>
    <dgm:cxn modelId="{E57B4925-C9C9-4687-B2C4-F722B86310A4}" srcId="{A1DF0564-8203-44F7-A73A-78186664CF52}" destId="{0A8A860A-EC06-424C-913B-BAA8E4BAD77F}" srcOrd="1" destOrd="0" parTransId="{6B2CD6EF-257E-4852-AEF7-B074F22B7C29}" sibTransId="{1CA5AE46-FE1E-43FA-A0E8-F6C5D9DE6CD3}"/>
    <dgm:cxn modelId="{5E190A30-DDFC-4BE7-AAD1-02A784973D89}" type="presOf" srcId="{0A8A860A-EC06-424C-913B-BAA8E4BAD77F}" destId="{B9170D9D-A0B2-4AAB-A686-4183ECE46FB5}" srcOrd="2" destOrd="0" presId="urn:microsoft.com/office/officeart/2005/8/layout/gear1"/>
    <dgm:cxn modelId="{9A67DB85-F7A7-4910-929C-12603AB93FBF}" type="presOf" srcId="{4C9C495C-99EE-41FD-92C9-73667F7AB913}" destId="{07F67475-D524-403E-9654-45312A513140}" srcOrd="0" destOrd="0" presId="urn:microsoft.com/office/officeart/2005/8/layout/gear1"/>
    <dgm:cxn modelId="{6760ED60-17E3-4F5E-916B-EB91A106DCB1}" type="presOf" srcId="{A1DF0564-8203-44F7-A73A-78186664CF52}" destId="{4E03F77E-E920-4CAA-AA1D-0062DF4722ED}" srcOrd="0" destOrd="0" presId="urn:microsoft.com/office/officeart/2005/8/layout/gear1"/>
    <dgm:cxn modelId="{C0D88D44-7322-4F60-A0D0-BA74179D559D}" type="presOf" srcId="{FEB66978-6B78-4279-B0AC-645B0EE545BB}" destId="{163A5976-C233-46E7-ACDD-B62B9C28FD2C}" srcOrd="0" destOrd="0" presId="urn:microsoft.com/office/officeart/2005/8/layout/gear1"/>
    <dgm:cxn modelId="{2F4C2438-FC58-4FF5-BB46-AD69AE14D0B6}" type="presOf" srcId="{1CA5AE46-FE1E-43FA-A0E8-F6C5D9DE6CD3}" destId="{BDD38335-6CC1-42CE-9266-A7FAD789F279}" srcOrd="0" destOrd="0" presId="urn:microsoft.com/office/officeart/2005/8/layout/gear1"/>
    <dgm:cxn modelId="{B4995BD9-0D29-45B1-B313-8F3A156A3E9E}" type="presOf" srcId="{ACED2677-4517-471A-BC72-695124A1C2B6}" destId="{34FDE311-9D5C-429E-AA91-35FFAA7049B4}" srcOrd="0" destOrd="0" presId="urn:microsoft.com/office/officeart/2005/8/layout/gear1"/>
    <dgm:cxn modelId="{701F1B18-8CF6-4110-9A15-0FDEC150F717}" srcId="{A1DF0564-8203-44F7-A73A-78186664CF52}" destId="{ACED2677-4517-471A-BC72-695124A1C2B6}" srcOrd="0" destOrd="0" parTransId="{E9A7BCEC-A819-441A-8B15-E4B4EB4F5A3F}" sibTransId="{5F5F1B73-0AC1-4C48-A291-8E38F5703EAA}"/>
    <dgm:cxn modelId="{8A1C4EB2-D3C4-4045-8774-07AFA61BDDE9}" type="presOf" srcId="{4C9C495C-99EE-41FD-92C9-73667F7AB913}" destId="{509C6939-13B9-4A8E-A4CF-F20C90F4CBD2}" srcOrd="1" destOrd="0" presId="urn:microsoft.com/office/officeart/2005/8/layout/gear1"/>
    <dgm:cxn modelId="{EE11BEF8-65F1-4FB7-AED5-A44A70C15F70}" type="presOf" srcId="{ACED2677-4517-471A-BC72-695124A1C2B6}" destId="{F04887FD-E673-4819-A5FE-71A440AE03E4}" srcOrd="2" destOrd="0" presId="urn:microsoft.com/office/officeart/2005/8/layout/gear1"/>
    <dgm:cxn modelId="{3BDCD87E-E6B2-4CE1-90C8-C18EC8D38C67}" type="presParOf" srcId="{4E03F77E-E920-4CAA-AA1D-0062DF4722ED}" destId="{34FDE311-9D5C-429E-AA91-35FFAA7049B4}" srcOrd="0" destOrd="0" presId="urn:microsoft.com/office/officeart/2005/8/layout/gear1"/>
    <dgm:cxn modelId="{35D61A8B-8992-4A79-85BD-B15A44B6A474}" type="presParOf" srcId="{4E03F77E-E920-4CAA-AA1D-0062DF4722ED}" destId="{417543DC-E77C-48C1-A5A7-980187E25B46}" srcOrd="1" destOrd="0" presId="urn:microsoft.com/office/officeart/2005/8/layout/gear1"/>
    <dgm:cxn modelId="{7E06F68F-B34B-452D-BC3B-D74383254C4C}" type="presParOf" srcId="{4E03F77E-E920-4CAA-AA1D-0062DF4722ED}" destId="{F04887FD-E673-4819-A5FE-71A440AE03E4}" srcOrd="2" destOrd="0" presId="urn:microsoft.com/office/officeart/2005/8/layout/gear1"/>
    <dgm:cxn modelId="{F13ACBB6-849C-49F4-AD82-F9AB16255D8A}" type="presParOf" srcId="{4E03F77E-E920-4CAA-AA1D-0062DF4722ED}" destId="{C573E588-D76C-4A43-84CC-36F10E34E773}" srcOrd="3" destOrd="0" presId="urn:microsoft.com/office/officeart/2005/8/layout/gear1"/>
    <dgm:cxn modelId="{4EDDF079-541F-4443-A3FD-0E8892AC2C9D}" type="presParOf" srcId="{4E03F77E-E920-4CAA-AA1D-0062DF4722ED}" destId="{6580AEAD-3326-4B53-B44F-B6B51CC33196}" srcOrd="4" destOrd="0" presId="urn:microsoft.com/office/officeart/2005/8/layout/gear1"/>
    <dgm:cxn modelId="{A7A496B6-4582-4883-9BA4-5B6DB409BB1D}" type="presParOf" srcId="{4E03F77E-E920-4CAA-AA1D-0062DF4722ED}" destId="{B9170D9D-A0B2-4AAB-A686-4183ECE46FB5}" srcOrd="5" destOrd="0" presId="urn:microsoft.com/office/officeart/2005/8/layout/gear1"/>
    <dgm:cxn modelId="{5D682107-5B31-4F2C-9C45-E560F017B4D7}" type="presParOf" srcId="{4E03F77E-E920-4CAA-AA1D-0062DF4722ED}" destId="{07F67475-D524-403E-9654-45312A513140}" srcOrd="6" destOrd="0" presId="urn:microsoft.com/office/officeart/2005/8/layout/gear1"/>
    <dgm:cxn modelId="{F38A7E8D-7069-4E4E-BEF7-47BE2BF76A6E}" type="presParOf" srcId="{4E03F77E-E920-4CAA-AA1D-0062DF4722ED}" destId="{509C6939-13B9-4A8E-A4CF-F20C90F4CBD2}" srcOrd="7" destOrd="0" presId="urn:microsoft.com/office/officeart/2005/8/layout/gear1"/>
    <dgm:cxn modelId="{5F81B4EB-BFE2-46C6-AAFB-37C955C38054}" type="presParOf" srcId="{4E03F77E-E920-4CAA-AA1D-0062DF4722ED}" destId="{30191340-6D15-4033-96A9-8A1961E059D2}" srcOrd="8" destOrd="0" presId="urn:microsoft.com/office/officeart/2005/8/layout/gear1"/>
    <dgm:cxn modelId="{B9340FFF-9BD5-48E4-B3F7-37C99E0ED770}" type="presParOf" srcId="{4E03F77E-E920-4CAA-AA1D-0062DF4722ED}" destId="{ED4BD606-3241-4693-842C-2A46A46A9EBD}" srcOrd="9" destOrd="0" presId="urn:microsoft.com/office/officeart/2005/8/layout/gear1"/>
    <dgm:cxn modelId="{CD07FDBD-7B26-45B9-B6BB-EE222D4015B0}" type="presParOf" srcId="{4E03F77E-E920-4CAA-AA1D-0062DF4722ED}" destId="{1EFA6391-54C4-469E-85F8-4CFD2CAD90B1}" srcOrd="10" destOrd="0" presId="urn:microsoft.com/office/officeart/2005/8/layout/gear1"/>
    <dgm:cxn modelId="{FA86A469-4F20-47C8-BB62-5BD5DD3C8755}" type="presParOf" srcId="{4E03F77E-E920-4CAA-AA1D-0062DF4722ED}" destId="{BDD38335-6CC1-42CE-9266-A7FAD789F279}" srcOrd="11" destOrd="0" presId="urn:microsoft.com/office/officeart/2005/8/layout/gear1"/>
    <dgm:cxn modelId="{DBAE57DC-AE0D-4E70-BE72-285EF1255EC4}" type="presParOf" srcId="{4E03F77E-E920-4CAA-AA1D-0062DF4722ED}" destId="{163A5976-C233-46E7-ACDD-B62B9C28FD2C}"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D7D650-C7D9-474A-84C0-7458D3C39EC0}">
      <dsp:nvSpPr>
        <dsp:cNvPr id="0" name=""/>
        <dsp:cNvSpPr/>
      </dsp:nvSpPr>
      <dsp:spPr>
        <a:xfrm>
          <a:off x="2885982" y="1932557"/>
          <a:ext cx="2799305" cy="15819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a:t>DECISION</a:t>
          </a:r>
        </a:p>
      </dsp:txBody>
      <dsp:txXfrm>
        <a:off x="3295931" y="2164229"/>
        <a:ext cx="1979407" cy="1118613"/>
      </dsp:txXfrm>
    </dsp:sp>
    <dsp:sp modelId="{5CF0BDF1-3629-488E-8EA7-C606BAC52515}">
      <dsp:nvSpPr>
        <dsp:cNvPr id="0" name=""/>
        <dsp:cNvSpPr/>
      </dsp:nvSpPr>
      <dsp:spPr>
        <a:xfrm rot="16150741">
          <a:off x="4178931" y="1493583"/>
          <a:ext cx="185865" cy="53786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22350">
            <a:lnSpc>
              <a:spcPct val="90000"/>
            </a:lnSpc>
            <a:spcBef>
              <a:spcPct val="0"/>
            </a:spcBef>
            <a:spcAft>
              <a:spcPct val="35000"/>
            </a:spcAft>
          </a:pPr>
          <a:endParaRPr lang="en-US" sz="2300" kern="1200" dirty="0"/>
        </a:p>
      </dsp:txBody>
      <dsp:txXfrm rot="10800000">
        <a:off x="4207210" y="1629033"/>
        <a:ext cx="130106" cy="322719"/>
      </dsp:txXfrm>
    </dsp:sp>
    <dsp:sp modelId="{57176737-113F-4701-AFD8-BABF06FC03D3}">
      <dsp:nvSpPr>
        <dsp:cNvPr id="0" name=""/>
        <dsp:cNvSpPr/>
      </dsp:nvSpPr>
      <dsp:spPr>
        <a:xfrm>
          <a:off x="3105256" y="9"/>
          <a:ext cx="2305371" cy="15819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a:solidFill>
                <a:schemeClr val="bg1"/>
              </a:solidFill>
            </a:rPr>
            <a:t>1. ACTION</a:t>
          </a:r>
        </a:p>
        <a:p>
          <a:pPr lvl="0" algn="ctr" defTabSz="1066800">
            <a:lnSpc>
              <a:spcPct val="90000"/>
            </a:lnSpc>
            <a:spcBef>
              <a:spcPct val="0"/>
            </a:spcBef>
            <a:spcAft>
              <a:spcPct val="35000"/>
            </a:spcAft>
          </a:pPr>
          <a:r>
            <a:rPr lang="en-US" sz="2400" b="1" kern="1200" dirty="0">
              <a:solidFill>
                <a:schemeClr val="bg1"/>
              </a:solidFill>
            </a:rPr>
            <a:t>MEANS</a:t>
          </a:r>
        </a:p>
      </dsp:txBody>
      <dsp:txXfrm>
        <a:off x="3442870" y="231681"/>
        <a:ext cx="1630143" cy="1118613"/>
      </dsp:txXfrm>
    </dsp:sp>
    <dsp:sp modelId="{818B5C13-0BCF-4FA1-85A6-4F6940ADC9DB}">
      <dsp:nvSpPr>
        <dsp:cNvPr id="0" name=""/>
        <dsp:cNvSpPr/>
      </dsp:nvSpPr>
      <dsp:spPr>
        <a:xfrm rot="2075815">
          <a:off x="5217539" y="3158510"/>
          <a:ext cx="177169" cy="53786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22350">
            <a:lnSpc>
              <a:spcPct val="90000"/>
            </a:lnSpc>
            <a:spcBef>
              <a:spcPct val="0"/>
            </a:spcBef>
            <a:spcAft>
              <a:spcPct val="35000"/>
            </a:spcAft>
          </a:pPr>
          <a:endParaRPr lang="en-US" sz="2300" kern="1200" dirty="0"/>
        </a:p>
      </dsp:txBody>
      <dsp:txXfrm>
        <a:off x="5222238" y="3250993"/>
        <a:ext cx="124018" cy="322719"/>
      </dsp:txXfrm>
    </dsp:sp>
    <dsp:sp modelId="{AFBA42DC-94E4-438C-95E2-F386F7836774}">
      <dsp:nvSpPr>
        <dsp:cNvPr id="0" name=""/>
        <dsp:cNvSpPr/>
      </dsp:nvSpPr>
      <dsp:spPr>
        <a:xfrm>
          <a:off x="4999292" y="3329762"/>
          <a:ext cx="2623882" cy="15819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a:solidFill>
                <a:schemeClr val="bg1"/>
              </a:solidFill>
            </a:rPr>
            <a:t>2. INTENTION</a:t>
          </a:r>
        </a:p>
        <a:p>
          <a:pPr lvl="0" algn="ctr" defTabSz="1066800">
            <a:lnSpc>
              <a:spcPct val="90000"/>
            </a:lnSpc>
            <a:spcBef>
              <a:spcPct val="0"/>
            </a:spcBef>
            <a:spcAft>
              <a:spcPct val="35000"/>
            </a:spcAft>
          </a:pPr>
          <a:r>
            <a:rPr lang="en-US" sz="2400" b="1" kern="1200" dirty="0">
              <a:solidFill>
                <a:schemeClr val="bg1"/>
              </a:solidFill>
            </a:rPr>
            <a:t>GOAL</a:t>
          </a:r>
        </a:p>
      </dsp:txBody>
      <dsp:txXfrm>
        <a:off x="5383551" y="3561434"/>
        <a:ext cx="1855364" cy="1118613"/>
      </dsp:txXfrm>
    </dsp:sp>
    <dsp:sp modelId="{AA43F381-A20A-4C95-A6FC-835B49A9EE43}">
      <dsp:nvSpPr>
        <dsp:cNvPr id="0" name=""/>
        <dsp:cNvSpPr/>
      </dsp:nvSpPr>
      <dsp:spPr>
        <a:xfrm rot="9491859">
          <a:off x="2964551" y="2956584"/>
          <a:ext cx="132382" cy="53786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22350">
            <a:lnSpc>
              <a:spcPct val="90000"/>
            </a:lnSpc>
            <a:spcBef>
              <a:spcPct val="0"/>
            </a:spcBef>
            <a:spcAft>
              <a:spcPct val="35000"/>
            </a:spcAft>
          </a:pPr>
          <a:endParaRPr lang="en-US" sz="2300" kern="1200" dirty="0"/>
        </a:p>
      </dsp:txBody>
      <dsp:txXfrm rot="10800000">
        <a:off x="3002846" y="3056782"/>
        <a:ext cx="92667" cy="322719"/>
      </dsp:txXfrm>
    </dsp:sp>
    <dsp:sp modelId="{E8506C5D-31DD-4B3E-8700-7625075BFB20}">
      <dsp:nvSpPr>
        <dsp:cNvPr id="0" name=""/>
        <dsp:cNvSpPr/>
      </dsp:nvSpPr>
      <dsp:spPr>
        <a:xfrm>
          <a:off x="0" y="2461256"/>
          <a:ext cx="3042626" cy="273612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b="1" kern="1200" dirty="0">
              <a:solidFill>
                <a:schemeClr val="bg1"/>
              </a:solidFill>
            </a:rPr>
            <a:t>3. CIRCUMSTANCES</a:t>
          </a:r>
        </a:p>
        <a:p>
          <a:pPr lvl="0" algn="ctr" defTabSz="889000">
            <a:lnSpc>
              <a:spcPct val="90000"/>
            </a:lnSpc>
            <a:spcBef>
              <a:spcPct val="0"/>
            </a:spcBef>
            <a:spcAft>
              <a:spcPct val="35000"/>
            </a:spcAft>
          </a:pPr>
          <a:r>
            <a:rPr lang="en-US" sz="1600" b="1" kern="1200" dirty="0">
              <a:solidFill>
                <a:schemeClr val="bg1"/>
              </a:solidFill>
            </a:rPr>
            <a:t>PREDICTABLE CONSEQUENCES</a:t>
          </a:r>
        </a:p>
        <a:p>
          <a:pPr lvl="0" algn="ctr" defTabSz="889000">
            <a:lnSpc>
              <a:spcPct val="90000"/>
            </a:lnSpc>
            <a:spcBef>
              <a:spcPct val="0"/>
            </a:spcBef>
            <a:spcAft>
              <a:spcPct val="35000"/>
            </a:spcAft>
          </a:pPr>
          <a:r>
            <a:rPr lang="en-US" sz="1600" b="1" kern="1200" dirty="0">
              <a:solidFill>
                <a:schemeClr val="bg1"/>
              </a:solidFill>
            </a:rPr>
            <a:t>SITUATIONAL FACTORS -EXISTING CIRCUMSTANCES</a:t>
          </a:r>
        </a:p>
      </dsp:txBody>
      <dsp:txXfrm>
        <a:off x="445582" y="2861952"/>
        <a:ext cx="2151462" cy="19347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6F4CE-5205-4822-B588-FBA7A35C5D00}">
      <dsp:nvSpPr>
        <dsp:cNvPr id="0" name=""/>
        <dsp:cNvSpPr/>
      </dsp:nvSpPr>
      <dsp:spPr>
        <a:xfrm>
          <a:off x="2115" y="138667"/>
          <a:ext cx="2944334" cy="16899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b="1" kern="1200" dirty="0">
              <a:solidFill>
                <a:schemeClr val="bg1"/>
              </a:solidFill>
            </a:rPr>
            <a:t>Bad moral act</a:t>
          </a:r>
        </a:p>
      </dsp:txBody>
      <dsp:txXfrm>
        <a:off x="433303" y="386148"/>
        <a:ext cx="2081958" cy="1194941"/>
      </dsp:txXfrm>
    </dsp:sp>
    <dsp:sp modelId="{D5AAD64C-C781-4A10-A1BA-6474BE81D77D}">
      <dsp:nvSpPr>
        <dsp:cNvPr id="0" name=""/>
        <dsp:cNvSpPr/>
      </dsp:nvSpPr>
      <dsp:spPr>
        <a:xfrm>
          <a:off x="984210" y="1965790"/>
          <a:ext cx="980143" cy="980143"/>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GB" sz="1600" kern="1200" dirty="0"/>
        </a:p>
      </dsp:txBody>
      <dsp:txXfrm>
        <a:off x="1114128" y="2340597"/>
        <a:ext cx="720307" cy="230529"/>
      </dsp:txXfrm>
    </dsp:sp>
    <dsp:sp modelId="{FB6ABCEA-635A-4638-A7B8-94966F14928F}">
      <dsp:nvSpPr>
        <dsp:cNvPr id="0" name=""/>
        <dsp:cNvSpPr/>
      </dsp:nvSpPr>
      <dsp:spPr>
        <a:xfrm>
          <a:off x="2115" y="3083154"/>
          <a:ext cx="2944334" cy="16899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b="1" kern="1200" dirty="0">
              <a:solidFill>
                <a:schemeClr val="bg1"/>
              </a:solidFill>
            </a:rPr>
            <a:t>Good intention</a:t>
          </a:r>
        </a:p>
      </dsp:txBody>
      <dsp:txXfrm>
        <a:off x="433303" y="3330635"/>
        <a:ext cx="2081958" cy="1194941"/>
      </dsp:txXfrm>
    </dsp:sp>
    <dsp:sp modelId="{313CF8E4-C6F9-414F-B90B-7D5B2F9A50D8}">
      <dsp:nvSpPr>
        <dsp:cNvPr id="0" name=""/>
        <dsp:cNvSpPr/>
      </dsp:nvSpPr>
      <dsp:spPr>
        <a:xfrm rot="21534513">
          <a:off x="2641179" y="2177773"/>
          <a:ext cx="752261" cy="6286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00150">
            <a:lnSpc>
              <a:spcPct val="90000"/>
            </a:lnSpc>
            <a:spcBef>
              <a:spcPct val="0"/>
            </a:spcBef>
            <a:spcAft>
              <a:spcPct val="35000"/>
            </a:spcAft>
          </a:pPr>
          <a:endParaRPr lang="en-GB" sz="2700" kern="1200" dirty="0"/>
        </a:p>
      </dsp:txBody>
      <dsp:txXfrm>
        <a:off x="2641196" y="2305298"/>
        <a:ext cx="563668" cy="377185"/>
      </dsp:txXfrm>
    </dsp:sp>
    <dsp:sp modelId="{A6D8CB08-A670-465D-A3A3-38FF7E675F3F}">
      <dsp:nvSpPr>
        <dsp:cNvPr id="0" name=""/>
        <dsp:cNvSpPr/>
      </dsp:nvSpPr>
      <dsp:spPr>
        <a:xfrm>
          <a:off x="3741903" y="1152338"/>
          <a:ext cx="3660667" cy="245090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2400300">
            <a:lnSpc>
              <a:spcPct val="90000"/>
            </a:lnSpc>
            <a:spcBef>
              <a:spcPct val="0"/>
            </a:spcBef>
            <a:spcAft>
              <a:spcPct val="35000"/>
            </a:spcAft>
          </a:pPr>
          <a:r>
            <a:rPr lang="en-GB" sz="5400" b="1" kern="1200" dirty="0">
              <a:solidFill>
                <a:schemeClr val="bg1"/>
              </a:solidFill>
            </a:rPr>
            <a:t>Bad act</a:t>
          </a:r>
        </a:p>
      </dsp:txBody>
      <dsp:txXfrm>
        <a:off x="4277995" y="1511264"/>
        <a:ext cx="2588483" cy="17330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6F4CE-5205-4822-B588-FBA7A35C5D00}">
      <dsp:nvSpPr>
        <dsp:cNvPr id="0" name=""/>
        <dsp:cNvSpPr/>
      </dsp:nvSpPr>
      <dsp:spPr>
        <a:xfrm>
          <a:off x="0" y="113035"/>
          <a:ext cx="3786521" cy="171781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b="1" kern="1200" dirty="0">
              <a:solidFill>
                <a:schemeClr val="bg1"/>
              </a:solidFill>
            </a:rPr>
            <a:t>Good moral act</a:t>
          </a:r>
        </a:p>
      </dsp:txBody>
      <dsp:txXfrm>
        <a:off x="554523" y="364604"/>
        <a:ext cx="2677475" cy="1214681"/>
      </dsp:txXfrm>
    </dsp:sp>
    <dsp:sp modelId="{D5AAD64C-C781-4A10-A1BA-6474BE81D77D}">
      <dsp:nvSpPr>
        <dsp:cNvPr id="0" name=""/>
        <dsp:cNvSpPr/>
      </dsp:nvSpPr>
      <dsp:spPr>
        <a:xfrm>
          <a:off x="875473" y="1924354"/>
          <a:ext cx="996335" cy="996335"/>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GB" sz="1600" kern="1200" dirty="0"/>
        </a:p>
      </dsp:txBody>
      <dsp:txXfrm>
        <a:off x="1007537" y="2305353"/>
        <a:ext cx="732207" cy="234337"/>
      </dsp:txXfrm>
    </dsp:sp>
    <dsp:sp modelId="{FB6ABCEA-635A-4638-A7B8-94966F14928F}">
      <dsp:nvSpPr>
        <dsp:cNvPr id="0" name=""/>
        <dsp:cNvSpPr/>
      </dsp:nvSpPr>
      <dsp:spPr>
        <a:xfrm>
          <a:off x="0" y="3114669"/>
          <a:ext cx="3469103" cy="171781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b="1" kern="1200" dirty="0">
              <a:solidFill>
                <a:schemeClr val="bg1"/>
              </a:solidFill>
            </a:rPr>
            <a:t>Bad intention</a:t>
          </a:r>
        </a:p>
      </dsp:txBody>
      <dsp:txXfrm>
        <a:off x="508038" y="3366238"/>
        <a:ext cx="2453027" cy="1214681"/>
      </dsp:txXfrm>
    </dsp:sp>
    <dsp:sp modelId="{313CF8E4-C6F9-414F-B90B-7D5B2F9A50D8}">
      <dsp:nvSpPr>
        <dsp:cNvPr id="0" name=""/>
        <dsp:cNvSpPr/>
      </dsp:nvSpPr>
      <dsp:spPr>
        <a:xfrm rot="21364474">
          <a:off x="3488038" y="2096177"/>
          <a:ext cx="403359" cy="6390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00150">
            <a:lnSpc>
              <a:spcPct val="90000"/>
            </a:lnSpc>
            <a:spcBef>
              <a:spcPct val="0"/>
            </a:spcBef>
            <a:spcAft>
              <a:spcPct val="35000"/>
            </a:spcAft>
          </a:pPr>
          <a:endParaRPr lang="en-GB" sz="2700" kern="1200" dirty="0"/>
        </a:p>
      </dsp:txBody>
      <dsp:txXfrm>
        <a:off x="3488180" y="2228125"/>
        <a:ext cx="282351" cy="383417"/>
      </dsp:txXfrm>
    </dsp:sp>
    <dsp:sp modelId="{A6D8CB08-A670-465D-A3A3-38FF7E675F3F}">
      <dsp:nvSpPr>
        <dsp:cNvPr id="0" name=""/>
        <dsp:cNvSpPr/>
      </dsp:nvSpPr>
      <dsp:spPr>
        <a:xfrm>
          <a:off x="4208365" y="972112"/>
          <a:ext cx="2800802" cy="249138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2133600">
            <a:lnSpc>
              <a:spcPct val="90000"/>
            </a:lnSpc>
            <a:spcBef>
              <a:spcPct val="0"/>
            </a:spcBef>
            <a:spcAft>
              <a:spcPct val="35000"/>
            </a:spcAft>
          </a:pPr>
          <a:r>
            <a:rPr lang="en-GB" sz="4800" b="1" kern="1200" dirty="0">
              <a:solidFill>
                <a:schemeClr val="bg1"/>
              </a:solidFill>
            </a:rPr>
            <a:t>Bad act</a:t>
          </a:r>
        </a:p>
      </dsp:txBody>
      <dsp:txXfrm>
        <a:off x="4618533" y="1336967"/>
        <a:ext cx="1980466" cy="17616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6F4CE-5205-4822-B588-FBA7A35C5D00}">
      <dsp:nvSpPr>
        <dsp:cNvPr id="0" name=""/>
        <dsp:cNvSpPr/>
      </dsp:nvSpPr>
      <dsp:spPr>
        <a:xfrm>
          <a:off x="0" y="0"/>
          <a:ext cx="3864018" cy="168245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b="1" kern="1200" dirty="0">
              <a:solidFill>
                <a:schemeClr val="bg1"/>
              </a:solidFill>
            </a:rPr>
            <a:t>Good moral act</a:t>
          </a:r>
        </a:p>
      </dsp:txBody>
      <dsp:txXfrm>
        <a:off x="565872" y="246390"/>
        <a:ext cx="2732274" cy="1189678"/>
      </dsp:txXfrm>
    </dsp:sp>
    <dsp:sp modelId="{D5AAD64C-C781-4A10-A1BA-6474BE81D77D}">
      <dsp:nvSpPr>
        <dsp:cNvPr id="0" name=""/>
        <dsp:cNvSpPr/>
      </dsp:nvSpPr>
      <dsp:spPr>
        <a:xfrm>
          <a:off x="922261" y="1781000"/>
          <a:ext cx="975825" cy="975825"/>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GB" sz="1600" kern="1200" dirty="0"/>
        </a:p>
      </dsp:txBody>
      <dsp:txXfrm>
        <a:off x="1051607" y="2154155"/>
        <a:ext cx="717133" cy="229515"/>
      </dsp:txXfrm>
    </dsp:sp>
    <dsp:sp modelId="{FB6ABCEA-635A-4638-A7B8-94966F14928F}">
      <dsp:nvSpPr>
        <dsp:cNvPr id="0" name=""/>
        <dsp:cNvSpPr/>
      </dsp:nvSpPr>
      <dsp:spPr>
        <a:xfrm>
          <a:off x="0" y="2769405"/>
          <a:ext cx="3086806" cy="168245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b="1" kern="1200" dirty="0">
              <a:solidFill>
                <a:schemeClr val="bg1"/>
              </a:solidFill>
            </a:rPr>
            <a:t>Good intention</a:t>
          </a:r>
        </a:p>
      </dsp:txBody>
      <dsp:txXfrm>
        <a:off x="452052" y="3015795"/>
        <a:ext cx="2182702" cy="1189678"/>
      </dsp:txXfrm>
    </dsp:sp>
    <dsp:sp modelId="{313CF8E4-C6F9-414F-B90B-7D5B2F9A50D8}">
      <dsp:nvSpPr>
        <dsp:cNvPr id="0" name=""/>
        <dsp:cNvSpPr/>
      </dsp:nvSpPr>
      <dsp:spPr>
        <a:xfrm rot="21555978">
          <a:off x="2701738" y="1951191"/>
          <a:ext cx="1787313" cy="6258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55700">
            <a:lnSpc>
              <a:spcPct val="90000"/>
            </a:lnSpc>
            <a:spcBef>
              <a:spcPct val="0"/>
            </a:spcBef>
            <a:spcAft>
              <a:spcPct val="35000"/>
            </a:spcAft>
          </a:pPr>
          <a:endParaRPr lang="en-GB" sz="2600" kern="1200" dirty="0"/>
        </a:p>
      </dsp:txBody>
      <dsp:txXfrm>
        <a:off x="2701746" y="2077568"/>
        <a:ext cx="1599551" cy="375524"/>
      </dsp:txXfrm>
    </dsp:sp>
    <dsp:sp modelId="{A6D8CB08-A670-465D-A3A3-38FF7E675F3F}">
      <dsp:nvSpPr>
        <dsp:cNvPr id="0" name=""/>
        <dsp:cNvSpPr/>
      </dsp:nvSpPr>
      <dsp:spPr>
        <a:xfrm>
          <a:off x="4498761" y="1002638"/>
          <a:ext cx="2743147" cy="234571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2133600">
            <a:lnSpc>
              <a:spcPct val="90000"/>
            </a:lnSpc>
            <a:spcBef>
              <a:spcPct val="0"/>
            </a:spcBef>
            <a:spcAft>
              <a:spcPct val="35000"/>
            </a:spcAft>
          </a:pPr>
          <a:r>
            <a:rPr lang="en-GB" sz="4800" b="1" kern="1200" dirty="0">
              <a:solidFill>
                <a:schemeClr val="bg1"/>
              </a:solidFill>
            </a:rPr>
            <a:t>Good act</a:t>
          </a:r>
        </a:p>
      </dsp:txBody>
      <dsp:txXfrm>
        <a:off x="4900486" y="1346160"/>
        <a:ext cx="1939697" cy="165867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CBD240-51B9-40E0-A302-77DF0D321BB7}">
      <dsp:nvSpPr>
        <dsp:cNvPr id="0" name=""/>
        <dsp:cNvSpPr/>
      </dsp:nvSpPr>
      <dsp:spPr>
        <a:xfrm>
          <a:off x="2560623" y="2677846"/>
          <a:ext cx="2232160" cy="22321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GB" sz="3400" b="1" kern="1200" dirty="0"/>
            <a:t>Decision</a:t>
          </a:r>
        </a:p>
      </dsp:txBody>
      <dsp:txXfrm>
        <a:off x="2887515" y="3004738"/>
        <a:ext cx="1578376" cy="1578376"/>
      </dsp:txXfrm>
    </dsp:sp>
    <dsp:sp modelId="{8CEF721F-4407-4FA7-9078-F6A04A343442}">
      <dsp:nvSpPr>
        <dsp:cNvPr id="0" name=""/>
        <dsp:cNvSpPr/>
      </dsp:nvSpPr>
      <dsp:spPr>
        <a:xfrm rot="12900000">
          <a:off x="1108934" y="2282631"/>
          <a:ext cx="1727372" cy="636165"/>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FC7C0F2-7802-4780-9AA6-D41083B3B92B}">
      <dsp:nvSpPr>
        <dsp:cNvPr id="0" name=""/>
        <dsp:cNvSpPr/>
      </dsp:nvSpPr>
      <dsp:spPr>
        <a:xfrm>
          <a:off x="204854" y="1257103"/>
          <a:ext cx="2120552" cy="16964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1244600">
            <a:lnSpc>
              <a:spcPct val="90000"/>
            </a:lnSpc>
            <a:spcBef>
              <a:spcPct val="0"/>
            </a:spcBef>
            <a:spcAft>
              <a:spcPct val="35000"/>
            </a:spcAft>
          </a:pPr>
          <a:r>
            <a:rPr lang="en-GB" sz="2800" b="1" kern="1200" dirty="0">
              <a:solidFill>
                <a:schemeClr val="bg1"/>
              </a:solidFill>
            </a:rPr>
            <a:t>Act</a:t>
          </a:r>
        </a:p>
      </dsp:txBody>
      <dsp:txXfrm>
        <a:off x="254541" y="1306790"/>
        <a:ext cx="2021178" cy="1597068"/>
      </dsp:txXfrm>
    </dsp:sp>
    <dsp:sp modelId="{278348A1-3EDD-4B8A-BB78-CB20FCC1B371}">
      <dsp:nvSpPr>
        <dsp:cNvPr id="0" name=""/>
        <dsp:cNvSpPr/>
      </dsp:nvSpPr>
      <dsp:spPr>
        <a:xfrm rot="16200000">
          <a:off x="2813018" y="1395542"/>
          <a:ext cx="1727372" cy="636165"/>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C556B53-EF55-4A50-92FE-A932A593E441}">
      <dsp:nvSpPr>
        <dsp:cNvPr id="0" name=""/>
        <dsp:cNvSpPr/>
      </dsp:nvSpPr>
      <dsp:spPr>
        <a:xfrm>
          <a:off x="2616427" y="1717"/>
          <a:ext cx="2120552" cy="16964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1244600">
            <a:lnSpc>
              <a:spcPct val="90000"/>
            </a:lnSpc>
            <a:spcBef>
              <a:spcPct val="0"/>
            </a:spcBef>
            <a:spcAft>
              <a:spcPct val="35000"/>
            </a:spcAft>
          </a:pPr>
          <a:r>
            <a:rPr lang="en-GB" sz="2800" b="1" kern="1200" dirty="0">
              <a:solidFill>
                <a:schemeClr val="bg1"/>
              </a:solidFill>
            </a:rPr>
            <a:t>Intention</a:t>
          </a:r>
        </a:p>
      </dsp:txBody>
      <dsp:txXfrm>
        <a:off x="2666114" y="51404"/>
        <a:ext cx="2021178" cy="1597068"/>
      </dsp:txXfrm>
    </dsp:sp>
    <dsp:sp modelId="{CB235D1E-2193-4924-9FB6-17C6A904EC24}">
      <dsp:nvSpPr>
        <dsp:cNvPr id="0" name=""/>
        <dsp:cNvSpPr/>
      </dsp:nvSpPr>
      <dsp:spPr>
        <a:xfrm rot="19649129">
          <a:off x="4425777" y="2313319"/>
          <a:ext cx="1877422" cy="636165"/>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D21F5A8-CF01-4038-9AF8-41FFDF6E90A9}">
      <dsp:nvSpPr>
        <dsp:cNvPr id="0" name=""/>
        <dsp:cNvSpPr/>
      </dsp:nvSpPr>
      <dsp:spPr>
        <a:xfrm>
          <a:off x="4963089" y="1490700"/>
          <a:ext cx="2660085" cy="127088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GB" sz="2400" b="1" kern="1200" dirty="0"/>
            <a:t>Circumstances</a:t>
          </a:r>
        </a:p>
      </dsp:txBody>
      <dsp:txXfrm>
        <a:off x="5000312" y="1527923"/>
        <a:ext cx="2585639" cy="11964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DE311-9D5C-429E-AA91-35FFAA7049B4}">
      <dsp:nvSpPr>
        <dsp:cNvPr id="0" name=""/>
        <dsp:cNvSpPr/>
      </dsp:nvSpPr>
      <dsp:spPr>
        <a:xfrm>
          <a:off x="4298219" y="2556343"/>
          <a:ext cx="3324943" cy="2701448"/>
        </a:xfrm>
        <a:prstGeom prst="gear9">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GB" sz="2400" b="1" kern="1200" dirty="0"/>
            <a:t>GOOD ACTION Downsize number of employees to save firm</a:t>
          </a:r>
        </a:p>
      </dsp:txBody>
      <dsp:txXfrm>
        <a:off x="4920081" y="3189144"/>
        <a:ext cx="2081219" cy="1388600"/>
      </dsp:txXfrm>
    </dsp:sp>
    <dsp:sp modelId="{C573E588-D76C-4A43-84CC-36F10E34E773}">
      <dsp:nvSpPr>
        <dsp:cNvPr id="0" name=""/>
        <dsp:cNvSpPr/>
      </dsp:nvSpPr>
      <dsp:spPr>
        <a:xfrm>
          <a:off x="0" y="1907275"/>
          <a:ext cx="3563495" cy="2823279"/>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GB" sz="2400" b="1" kern="1200" dirty="0"/>
            <a:t>GOOD MAIN EFFECT Financial improvement of firm</a:t>
          </a:r>
        </a:p>
      </dsp:txBody>
      <dsp:txXfrm>
        <a:off x="818368" y="2622340"/>
        <a:ext cx="1926759" cy="1393149"/>
      </dsp:txXfrm>
    </dsp:sp>
    <dsp:sp modelId="{07F67475-D524-403E-9654-45312A513140}">
      <dsp:nvSpPr>
        <dsp:cNvPr id="0" name=""/>
        <dsp:cNvSpPr/>
      </dsp:nvSpPr>
      <dsp:spPr>
        <a:xfrm rot="20700000">
          <a:off x="2205887" y="85011"/>
          <a:ext cx="3863288" cy="2918045"/>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GB" sz="2400" b="1" kern="1200" dirty="0"/>
            <a:t>BAD </a:t>
          </a:r>
        </a:p>
        <a:p>
          <a:pPr lvl="0" algn="ctr" defTabSz="1066800">
            <a:lnSpc>
              <a:spcPct val="90000"/>
            </a:lnSpc>
            <a:spcBef>
              <a:spcPct val="0"/>
            </a:spcBef>
            <a:spcAft>
              <a:spcPct val="35000"/>
            </a:spcAft>
          </a:pPr>
          <a:r>
            <a:rPr lang="en-GB" sz="2400" b="1" kern="1200" dirty="0"/>
            <a:t>INDIRECT EFFECT E</a:t>
          </a:r>
          <a:r>
            <a:rPr lang="en-GB" sz="1800" b="1" kern="1200" dirty="0"/>
            <a:t>mployees with little education lose their jobs</a:t>
          </a:r>
        </a:p>
      </dsp:txBody>
      <dsp:txXfrm rot="-20700000">
        <a:off x="3109284" y="668959"/>
        <a:ext cx="2056494" cy="1750149"/>
      </dsp:txXfrm>
    </dsp:sp>
    <dsp:sp modelId="{1EFA6391-54C4-469E-85F8-4CFD2CAD90B1}">
      <dsp:nvSpPr>
        <dsp:cNvPr id="0" name=""/>
        <dsp:cNvSpPr/>
      </dsp:nvSpPr>
      <dsp:spPr>
        <a:xfrm rot="16893371" flipV="1">
          <a:off x="3078849" y="3449583"/>
          <a:ext cx="557025" cy="2228206"/>
        </a:xfrm>
        <a:prstGeom prst="curved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DD38335-6CC1-42CE-9266-A7FAD789F279}">
      <dsp:nvSpPr>
        <dsp:cNvPr id="0" name=""/>
        <dsp:cNvSpPr/>
      </dsp:nvSpPr>
      <dsp:spPr>
        <a:xfrm rot="9143493">
          <a:off x="371075" y="369467"/>
          <a:ext cx="2012993" cy="1585869"/>
        </a:xfrm>
        <a:prstGeom prs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63A5976-C233-46E7-ACDD-B62B9C28FD2C}">
      <dsp:nvSpPr>
        <dsp:cNvPr id="0" name=""/>
        <dsp:cNvSpPr/>
      </dsp:nvSpPr>
      <dsp:spPr>
        <a:xfrm flipH="1">
          <a:off x="4035024" y="1150405"/>
          <a:ext cx="2708816" cy="2708816"/>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3.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4.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5.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ADF83-1A14-4142-9225-DFCC301CE7B7}" type="datetimeFigureOut">
              <a:rPr lang="en-GB" smtClean="0"/>
              <a:t>12/06/2024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52B7BC-8657-4D56-9327-CEBD19AB5A7A}" type="slidenum">
              <a:rPr lang="en-GB" smtClean="0"/>
              <a:t>‹#›</a:t>
            </a:fld>
            <a:endParaRPr lang="en-GB"/>
          </a:p>
        </p:txBody>
      </p:sp>
    </p:spTree>
    <p:extLst>
      <p:ext uri="{BB962C8B-B14F-4D97-AF65-F5344CB8AC3E}">
        <p14:creationId xmlns:p14="http://schemas.microsoft.com/office/powerpoint/2010/main" val="1687694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10</a:t>
            </a:fld>
            <a:endParaRPr lang="en-GB" dirty="0"/>
          </a:p>
        </p:txBody>
      </p:sp>
    </p:spTree>
    <p:extLst>
      <p:ext uri="{BB962C8B-B14F-4D97-AF65-F5344CB8AC3E}">
        <p14:creationId xmlns:p14="http://schemas.microsoft.com/office/powerpoint/2010/main" val="1955070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11</a:t>
            </a:fld>
            <a:endParaRPr lang="en-GB" dirty="0"/>
          </a:p>
        </p:txBody>
      </p:sp>
    </p:spTree>
    <p:extLst>
      <p:ext uri="{BB962C8B-B14F-4D97-AF65-F5344CB8AC3E}">
        <p14:creationId xmlns:p14="http://schemas.microsoft.com/office/powerpoint/2010/main" val="1618574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12</a:t>
            </a:fld>
            <a:endParaRPr lang="en-GB" dirty="0"/>
          </a:p>
        </p:txBody>
      </p:sp>
    </p:spTree>
    <p:extLst>
      <p:ext uri="{BB962C8B-B14F-4D97-AF65-F5344CB8AC3E}">
        <p14:creationId xmlns:p14="http://schemas.microsoft.com/office/powerpoint/2010/main" val="3319406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13</a:t>
            </a:fld>
            <a:endParaRPr lang="en-GB" dirty="0"/>
          </a:p>
        </p:txBody>
      </p:sp>
    </p:spTree>
    <p:extLst>
      <p:ext uri="{BB962C8B-B14F-4D97-AF65-F5344CB8AC3E}">
        <p14:creationId xmlns:p14="http://schemas.microsoft.com/office/powerpoint/2010/main" val="3429855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14</a:t>
            </a:fld>
            <a:endParaRPr lang="en-GB" dirty="0"/>
          </a:p>
        </p:txBody>
      </p:sp>
    </p:spTree>
    <p:extLst>
      <p:ext uri="{BB962C8B-B14F-4D97-AF65-F5344CB8AC3E}">
        <p14:creationId xmlns:p14="http://schemas.microsoft.com/office/powerpoint/2010/main" val="2258227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15</a:t>
            </a:fld>
            <a:endParaRPr lang="en-GB" dirty="0"/>
          </a:p>
        </p:txBody>
      </p:sp>
    </p:spTree>
    <p:extLst>
      <p:ext uri="{BB962C8B-B14F-4D97-AF65-F5344CB8AC3E}">
        <p14:creationId xmlns:p14="http://schemas.microsoft.com/office/powerpoint/2010/main" val="2227173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16</a:t>
            </a:fld>
            <a:endParaRPr lang="en-GB" dirty="0"/>
          </a:p>
        </p:txBody>
      </p:sp>
    </p:spTree>
    <p:extLst>
      <p:ext uri="{BB962C8B-B14F-4D97-AF65-F5344CB8AC3E}">
        <p14:creationId xmlns:p14="http://schemas.microsoft.com/office/powerpoint/2010/main" val="679739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17</a:t>
            </a:fld>
            <a:endParaRPr lang="en-GB" dirty="0"/>
          </a:p>
        </p:txBody>
      </p:sp>
    </p:spTree>
    <p:extLst>
      <p:ext uri="{BB962C8B-B14F-4D97-AF65-F5344CB8AC3E}">
        <p14:creationId xmlns:p14="http://schemas.microsoft.com/office/powerpoint/2010/main" val="1677311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19</a:t>
            </a:fld>
            <a:endParaRPr lang="en-GB" dirty="0"/>
          </a:p>
        </p:txBody>
      </p:sp>
    </p:spTree>
    <p:extLst>
      <p:ext uri="{BB962C8B-B14F-4D97-AF65-F5344CB8AC3E}">
        <p14:creationId xmlns:p14="http://schemas.microsoft.com/office/powerpoint/2010/main" val="1478342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4E4A314-714C-419C-88B8-A0B6534104CA}" type="slidenum">
              <a:rPr lang="en-GB" smtClean="0"/>
              <a:pPr/>
              <a:t>23</a:t>
            </a:fld>
            <a:endParaRPr lang="en-GB" dirty="0"/>
          </a:p>
        </p:txBody>
      </p:sp>
    </p:spTree>
    <p:extLst>
      <p:ext uri="{BB962C8B-B14F-4D97-AF65-F5344CB8AC3E}">
        <p14:creationId xmlns:p14="http://schemas.microsoft.com/office/powerpoint/2010/main" val="4098627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4E4A314-714C-419C-88B8-A0B6534104CA}" type="slidenum">
              <a:rPr lang="en-GB" smtClean="0"/>
              <a:pPr/>
              <a:t>25</a:t>
            </a:fld>
            <a:endParaRPr lang="en-GB" dirty="0"/>
          </a:p>
        </p:txBody>
      </p:sp>
    </p:spTree>
    <p:extLst>
      <p:ext uri="{BB962C8B-B14F-4D97-AF65-F5344CB8AC3E}">
        <p14:creationId xmlns:p14="http://schemas.microsoft.com/office/powerpoint/2010/main" val="2896976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4E4A314-714C-419C-88B8-A0B6534104CA}" type="slidenum">
              <a:rPr lang="en-GB" smtClean="0"/>
              <a:pPr/>
              <a:t>26</a:t>
            </a:fld>
            <a:endParaRPr lang="en-GB" dirty="0"/>
          </a:p>
        </p:txBody>
      </p:sp>
    </p:spTree>
    <p:extLst>
      <p:ext uri="{BB962C8B-B14F-4D97-AF65-F5344CB8AC3E}">
        <p14:creationId xmlns:p14="http://schemas.microsoft.com/office/powerpoint/2010/main" val="3092815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4E4A314-714C-419C-88B8-A0B6534104CA}" type="slidenum">
              <a:rPr lang="en-GB" smtClean="0"/>
              <a:pPr/>
              <a:t>27</a:t>
            </a:fld>
            <a:endParaRPr lang="en-GB" dirty="0"/>
          </a:p>
        </p:txBody>
      </p:sp>
    </p:spTree>
    <p:extLst>
      <p:ext uri="{BB962C8B-B14F-4D97-AF65-F5344CB8AC3E}">
        <p14:creationId xmlns:p14="http://schemas.microsoft.com/office/powerpoint/2010/main" val="386222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4E4A314-714C-419C-88B8-A0B6534104CA}" type="slidenum">
              <a:rPr lang="en-GB" smtClean="0"/>
              <a:pPr/>
              <a:t>28</a:t>
            </a:fld>
            <a:endParaRPr lang="en-GB" dirty="0"/>
          </a:p>
        </p:txBody>
      </p:sp>
    </p:spTree>
    <p:extLst>
      <p:ext uri="{BB962C8B-B14F-4D97-AF65-F5344CB8AC3E}">
        <p14:creationId xmlns:p14="http://schemas.microsoft.com/office/powerpoint/2010/main" val="3594337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4E4A314-714C-419C-88B8-A0B6534104CA}" type="slidenum">
              <a:rPr lang="en-GB" smtClean="0"/>
              <a:pPr/>
              <a:t>29</a:t>
            </a:fld>
            <a:endParaRPr lang="en-GB" dirty="0"/>
          </a:p>
        </p:txBody>
      </p:sp>
    </p:spTree>
    <p:extLst>
      <p:ext uri="{BB962C8B-B14F-4D97-AF65-F5344CB8AC3E}">
        <p14:creationId xmlns:p14="http://schemas.microsoft.com/office/powerpoint/2010/main" val="25392810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4E4A314-714C-419C-88B8-A0B6534104CA}" type="slidenum">
              <a:rPr lang="en-GB" smtClean="0"/>
              <a:pPr/>
              <a:t>30</a:t>
            </a:fld>
            <a:endParaRPr lang="en-GB" dirty="0"/>
          </a:p>
        </p:txBody>
      </p:sp>
    </p:spTree>
    <p:extLst>
      <p:ext uri="{BB962C8B-B14F-4D97-AF65-F5344CB8AC3E}">
        <p14:creationId xmlns:p14="http://schemas.microsoft.com/office/powerpoint/2010/main" val="275543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33</a:t>
            </a:fld>
            <a:endParaRPr lang="en-GB" dirty="0"/>
          </a:p>
        </p:txBody>
      </p:sp>
    </p:spTree>
    <p:extLst>
      <p:ext uri="{BB962C8B-B14F-4D97-AF65-F5344CB8AC3E}">
        <p14:creationId xmlns:p14="http://schemas.microsoft.com/office/powerpoint/2010/main" val="3689035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4529C30-9307-45BD-BCEA-91C16372462A}" type="slidenum">
              <a:rPr lang="en-GB" smtClean="0"/>
              <a:pPr/>
              <a:t>34</a:t>
            </a:fld>
            <a:endParaRPr lang="en-GB" dirty="0"/>
          </a:p>
        </p:txBody>
      </p:sp>
    </p:spTree>
    <p:extLst>
      <p:ext uri="{BB962C8B-B14F-4D97-AF65-F5344CB8AC3E}">
        <p14:creationId xmlns:p14="http://schemas.microsoft.com/office/powerpoint/2010/main" val="180236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EDC200C-FF32-6547-A111-FE1A990ABEF1}"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649B1A-91C3-E64F-B506-477AB9378A63}" type="slidenum">
              <a:rPr lang="en-US" smtClean="0"/>
              <a:t>‹#›</a:t>
            </a:fld>
            <a:endParaRPr lang="en-US"/>
          </a:p>
        </p:txBody>
      </p:sp>
    </p:spTree>
    <p:extLst>
      <p:ext uri="{BB962C8B-B14F-4D97-AF65-F5344CB8AC3E}">
        <p14:creationId xmlns:p14="http://schemas.microsoft.com/office/powerpoint/2010/main" val="1268004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bg-5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30499" cy="6858000"/>
          </a:xfrm>
          <a:prstGeom prst="rect">
            <a:avLst/>
          </a:prstGeom>
        </p:spPr>
      </p:pic>
      <p:sp>
        <p:nvSpPr>
          <p:cNvPr id="2" name="Title 1"/>
          <p:cNvSpPr>
            <a:spLocks noGrp="1"/>
          </p:cNvSpPr>
          <p:nvPr>
            <p:ph type="title" hasCustomPrompt="1"/>
          </p:nvPr>
        </p:nvSpPr>
        <p:spPr>
          <a:xfrm>
            <a:off x="1063466" y="547195"/>
            <a:ext cx="5389604" cy="787847"/>
          </a:xfrm>
        </p:spPr>
        <p:txBody>
          <a:bodyPr>
            <a:noAutofit/>
          </a:bodyPr>
          <a:lstStyle>
            <a:lvl1pPr algn="l">
              <a:defRPr sz="3600" b="0" i="0">
                <a:solidFill>
                  <a:srgbClr val="18376A"/>
                </a:solidFill>
                <a:latin typeface="Frutiger LT Std 55 Roman"/>
                <a:cs typeface="Frutiger LT Std 55 Roman"/>
              </a:defRPr>
            </a:lvl1pPr>
          </a:lstStyle>
          <a:p>
            <a:r>
              <a:rPr lang="en-US" dirty="0"/>
              <a:t>Click to edit title</a:t>
            </a:r>
          </a:p>
        </p:txBody>
      </p:sp>
      <p:sp>
        <p:nvSpPr>
          <p:cNvPr id="3" name="Content Placeholder 2"/>
          <p:cNvSpPr>
            <a:spLocks noGrp="1"/>
          </p:cNvSpPr>
          <p:nvPr>
            <p:ph idx="1"/>
          </p:nvPr>
        </p:nvSpPr>
        <p:spPr>
          <a:xfrm>
            <a:off x="1063466" y="1600200"/>
            <a:ext cx="7623334" cy="4911309"/>
          </a:xfrm>
        </p:spPr>
        <p:txBody>
          <a:bodyPr/>
          <a:lstStyle>
            <a:lvl1pPr>
              <a:defRPr b="0" i="0">
                <a:latin typeface="Frutiger LT Std 45 Light"/>
                <a:cs typeface="Frutiger LT Std 45 Light"/>
              </a:defRPr>
            </a:lvl1pPr>
            <a:lvl2pPr>
              <a:defRPr b="0" i="0">
                <a:latin typeface="Frutiger LT Std 45 Light"/>
                <a:cs typeface="Frutiger LT Std 45 Light"/>
              </a:defRPr>
            </a:lvl2pPr>
            <a:lvl3pPr>
              <a:defRPr b="0" i="0">
                <a:latin typeface="Frutiger LT Std 45 Light"/>
                <a:cs typeface="Frutiger LT Std 45 Light"/>
              </a:defRPr>
            </a:lvl3pPr>
            <a:lvl4pPr>
              <a:defRPr b="0" i="0">
                <a:latin typeface="Frutiger LT Std 45 Light"/>
                <a:cs typeface="Frutiger LT Std 45 Light"/>
              </a:defRPr>
            </a:lvl4pPr>
            <a:lvl5pPr>
              <a:defRPr b="0" i="0">
                <a:latin typeface="Frutiger LT Std 45 Light"/>
                <a:cs typeface="Frutiger LT Std 45 Ligh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University Logo-01.png"/>
          <p:cNvPicPr>
            <a:picLocks noChangeAspect="1"/>
          </p:cNvPicPr>
          <p:nvPr userDrawn="1"/>
        </p:nvPicPr>
        <p:blipFill rotWithShape="1">
          <a:blip r:embed="rId3">
            <a:extLst>
              <a:ext uri="{28A0092B-C50C-407E-A947-70E740481C1C}">
                <a14:useLocalDpi xmlns:a14="http://schemas.microsoft.com/office/drawing/2010/main" val="0"/>
              </a:ext>
            </a:extLst>
          </a:blip>
          <a:srcRect l="15321" t="29152" r="15018" b="33275"/>
          <a:stretch/>
        </p:blipFill>
        <p:spPr>
          <a:xfrm>
            <a:off x="6712486" y="274638"/>
            <a:ext cx="2257655" cy="860989"/>
          </a:xfrm>
          <a:prstGeom prst="rect">
            <a:avLst/>
          </a:prstGeom>
        </p:spPr>
      </p:pic>
    </p:spTree>
    <p:extLst>
      <p:ext uri="{BB962C8B-B14F-4D97-AF65-F5344CB8AC3E}">
        <p14:creationId xmlns:p14="http://schemas.microsoft.com/office/powerpoint/2010/main" val="340238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C200C-FF32-6547-A111-FE1A990ABEF1}"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649B1A-91C3-E64F-B506-477AB9378A63}" type="slidenum">
              <a:rPr lang="en-US" smtClean="0"/>
              <a:t>‹#›</a:t>
            </a:fld>
            <a:endParaRPr lang="en-US"/>
          </a:p>
        </p:txBody>
      </p:sp>
    </p:spTree>
    <p:extLst>
      <p:ext uri="{BB962C8B-B14F-4D97-AF65-F5344CB8AC3E}">
        <p14:creationId xmlns:p14="http://schemas.microsoft.com/office/powerpoint/2010/main" val="3782258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descr="bg-5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30499" cy="6858000"/>
          </a:xfrm>
          <a:prstGeom prst="rect">
            <a:avLst/>
          </a:prstGeom>
        </p:spPr>
      </p:pic>
      <p:sp>
        <p:nvSpPr>
          <p:cNvPr id="3" name="Content Placeholder 2"/>
          <p:cNvSpPr>
            <a:spLocks noGrp="1"/>
          </p:cNvSpPr>
          <p:nvPr>
            <p:ph sz="half" idx="1"/>
          </p:nvPr>
        </p:nvSpPr>
        <p:spPr>
          <a:xfrm>
            <a:off x="997800" y="1782762"/>
            <a:ext cx="3628373" cy="4525963"/>
          </a:xfrm>
        </p:spPr>
        <p:txBody>
          <a:bodyPr/>
          <a:lstStyle>
            <a:lvl1pPr>
              <a:defRPr sz="2800" b="0" i="0">
                <a:latin typeface="Frutiger LT Std 45 Light"/>
                <a:cs typeface="Frutiger LT Std 45 Light"/>
              </a:defRPr>
            </a:lvl1pPr>
            <a:lvl2pPr>
              <a:defRPr sz="2400" b="0" i="0">
                <a:latin typeface="Frutiger LT Std 45 Light"/>
                <a:cs typeface="Frutiger LT Std 45 Light"/>
              </a:defRPr>
            </a:lvl2pPr>
            <a:lvl3pPr>
              <a:defRPr sz="2000" b="0" i="0">
                <a:latin typeface="Frutiger LT Std 45 Light"/>
                <a:cs typeface="Frutiger LT Std 45 Light"/>
              </a:defRPr>
            </a:lvl3pPr>
            <a:lvl4pPr>
              <a:defRPr sz="1800" b="0" i="0">
                <a:latin typeface="Frutiger LT Std 45 Light"/>
                <a:cs typeface="Frutiger LT Std 45 Light"/>
              </a:defRPr>
            </a:lvl4pPr>
            <a:lvl5pPr>
              <a:defRPr sz="1800" b="0" i="0">
                <a:latin typeface="Frutiger LT Std 45 Light"/>
                <a:cs typeface="Frutiger LT Std 45 Light"/>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08380" y="1782762"/>
            <a:ext cx="3627237" cy="4525963"/>
          </a:xfrm>
        </p:spPr>
        <p:txBody>
          <a:bodyPr/>
          <a:lstStyle>
            <a:lvl1pPr>
              <a:defRPr sz="2800" b="0" i="0">
                <a:latin typeface="Frutiger LT Std 45 Light"/>
                <a:cs typeface="Frutiger LT Std 45 Light"/>
              </a:defRPr>
            </a:lvl1pPr>
            <a:lvl2pPr>
              <a:defRPr sz="2400" b="0" i="0">
                <a:latin typeface="Frutiger LT Std 45 Light"/>
                <a:cs typeface="Frutiger LT Std 45 Light"/>
              </a:defRPr>
            </a:lvl2pPr>
            <a:lvl3pPr>
              <a:defRPr sz="2000" b="0" i="0">
                <a:latin typeface="Frutiger LT Std 45 Light"/>
                <a:cs typeface="Frutiger LT Std 45 Light"/>
              </a:defRPr>
            </a:lvl3pPr>
            <a:lvl4pPr>
              <a:defRPr sz="1800" b="0" i="0">
                <a:latin typeface="Frutiger LT Std 45 Light"/>
                <a:cs typeface="Frutiger LT Std 45 Light"/>
              </a:defRPr>
            </a:lvl4pPr>
            <a:lvl5pPr>
              <a:defRPr sz="1800" b="0" i="0">
                <a:latin typeface="Frutiger LT Std 45 Light"/>
                <a:cs typeface="Frutiger LT Std 45 Light"/>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hasCustomPrompt="1"/>
          </p:nvPr>
        </p:nvSpPr>
        <p:spPr>
          <a:xfrm>
            <a:off x="1063466" y="718550"/>
            <a:ext cx="4399249" cy="787847"/>
          </a:xfrm>
        </p:spPr>
        <p:txBody>
          <a:bodyPr>
            <a:noAutofit/>
          </a:bodyPr>
          <a:lstStyle>
            <a:lvl1pPr algn="l">
              <a:defRPr sz="3600" b="0" i="0">
                <a:solidFill>
                  <a:srgbClr val="18376A"/>
                </a:solidFill>
                <a:latin typeface="Frutiger LT Std 55 Roman"/>
                <a:cs typeface="Frutiger LT Std 55 Roman"/>
              </a:defRPr>
            </a:lvl1pPr>
          </a:lstStyle>
          <a:p>
            <a:r>
              <a:rPr lang="en-US" dirty="0"/>
              <a:t>Click to edit title</a:t>
            </a:r>
          </a:p>
        </p:txBody>
      </p:sp>
      <p:pic>
        <p:nvPicPr>
          <p:cNvPr id="10" name="Picture 9" descr="University Logo-01.png"/>
          <p:cNvPicPr>
            <a:picLocks noChangeAspect="1"/>
          </p:cNvPicPr>
          <p:nvPr userDrawn="1"/>
        </p:nvPicPr>
        <p:blipFill rotWithShape="1">
          <a:blip r:embed="rId3">
            <a:extLst>
              <a:ext uri="{28A0092B-C50C-407E-A947-70E740481C1C}">
                <a14:useLocalDpi xmlns:a14="http://schemas.microsoft.com/office/drawing/2010/main" val="0"/>
              </a:ext>
            </a:extLst>
          </a:blip>
          <a:srcRect l="15321" t="29152" r="15018" b="33275"/>
          <a:stretch/>
        </p:blipFill>
        <p:spPr>
          <a:xfrm>
            <a:off x="6712486" y="274638"/>
            <a:ext cx="2257655" cy="860989"/>
          </a:xfrm>
          <a:prstGeom prst="rect">
            <a:avLst/>
          </a:prstGeom>
        </p:spPr>
      </p:pic>
    </p:spTree>
    <p:extLst>
      <p:ext uri="{BB962C8B-B14F-4D97-AF65-F5344CB8AC3E}">
        <p14:creationId xmlns:p14="http://schemas.microsoft.com/office/powerpoint/2010/main" val="956973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1" name="Picture 10" descr="bg-5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30499" cy="6858000"/>
          </a:xfrm>
          <a:prstGeom prst="rect">
            <a:avLst/>
          </a:prstGeom>
        </p:spPr>
      </p:pic>
      <p:sp>
        <p:nvSpPr>
          <p:cNvPr id="3" name="Text Placeholder 2"/>
          <p:cNvSpPr>
            <a:spLocks noGrp="1"/>
          </p:cNvSpPr>
          <p:nvPr>
            <p:ph type="body" idx="1"/>
          </p:nvPr>
        </p:nvSpPr>
        <p:spPr>
          <a:xfrm>
            <a:off x="871967" y="1535113"/>
            <a:ext cx="3774363" cy="639762"/>
          </a:xfrm>
        </p:spPr>
        <p:txBody>
          <a:bodyPr anchor="b">
            <a:normAutofit/>
          </a:bodyPr>
          <a:lstStyle>
            <a:lvl1pPr marL="0" indent="0">
              <a:buNone/>
              <a:defRPr sz="2000" b="0" i="0">
                <a:latin typeface="Frutiger LT Std 45 Light"/>
                <a:cs typeface="Frutiger LT Std 45 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71967" y="2174875"/>
            <a:ext cx="3774363" cy="3951288"/>
          </a:xfrm>
        </p:spPr>
        <p:txBody>
          <a:bodyPr/>
          <a:lstStyle>
            <a:lvl1pPr>
              <a:defRPr sz="2400" b="0" i="0">
                <a:latin typeface="Frutiger LT Std 45 Light"/>
                <a:cs typeface="Frutiger LT Std 45 Light"/>
              </a:defRPr>
            </a:lvl1pPr>
            <a:lvl2pPr>
              <a:defRPr sz="2000" b="0" i="0">
                <a:latin typeface="Frutiger LT Std 45 Light"/>
                <a:cs typeface="Frutiger LT Std 45 Light"/>
              </a:defRPr>
            </a:lvl2pPr>
            <a:lvl3pPr>
              <a:defRPr sz="1800" b="0" i="0">
                <a:latin typeface="Frutiger LT Std 45 Light"/>
                <a:cs typeface="Frutiger LT Std 45 Light"/>
              </a:defRPr>
            </a:lvl3pPr>
            <a:lvl4pPr>
              <a:defRPr sz="1600" b="0" i="0">
                <a:latin typeface="Frutiger LT Std 45 Light"/>
                <a:cs typeface="Frutiger LT Std 45 Light"/>
              </a:defRPr>
            </a:lvl4pPr>
            <a:lvl5pPr>
              <a:defRPr sz="1600" b="0" i="0">
                <a:latin typeface="Frutiger LT Std 45 Light"/>
                <a:cs typeface="Frutiger LT Std 45 Ligh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857986" y="1535113"/>
            <a:ext cx="3828814" cy="639762"/>
          </a:xfrm>
        </p:spPr>
        <p:txBody>
          <a:bodyPr anchor="b">
            <a:normAutofit/>
          </a:bodyPr>
          <a:lstStyle>
            <a:lvl1pPr marL="0" indent="0">
              <a:buNone/>
              <a:defRPr sz="2000" b="0" i="0">
                <a:latin typeface="Frutiger LT Std 45 Light"/>
                <a:cs typeface="Frutiger LT Std 45 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857986" y="2174875"/>
            <a:ext cx="3828814" cy="3951288"/>
          </a:xfrm>
        </p:spPr>
        <p:txBody>
          <a:bodyPr/>
          <a:lstStyle>
            <a:lvl1pPr>
              <a:defRPr sz="2400" b="0" i="0">
                <a:latin typeface="Frutiger LT Std 45 Light"/>
                <a:cs typeface="Frutiger LT Std 45 Light"/>
              </a:defRPr>
            </a:lvl1pPr>
            <a:lvl2pPr>
              <a:defRPr sz="2000" b="0" i="0">
                <a:latin typeface="Frutiger LT Std 45 Light"/>
                <a:cs typeface="Frutiger LT Std 45 Light"/>
              </a:defRPr>
            </a:lvl2pPr>
            <a:lvl3pPr>
              <a:defRPr sz="1800" b="0" i="0">
                <a:latin typeface="Frutiger LT Std 45 Light"/>
                <a:cs typeface="Frutiger LT Std 45 Light"/>
              </a:defRPr>
            </a:lvl3pPr>
            <a:lvl4pPr>
              <a:defRPr sz="1600" b="0" i="0">
                <a:latin typeface="Frutiger LT Std 45 Light"/>
                <a:cs typeface="Frutiger LT Std 45 Light"/>
              </a:defRPr>
            </a:lvl4pPr>
            <a:lvl5pPr>
              <a:defRPr sz="1600" b="0" i="0">
                <a:latin typeface="Frutiger LT Std 45 Light"/>
                <a:cs typeface="Frutiger LT Std 45 Ligh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University Logo-01.png"/>
          <p:cNvPicPr>
            <a:picLocks noChangeAspect="1"/>
          </p:cNvPicPr>
          <p:nvPr userDrawn="1"/>
        </p:nvPicPr>
        <p:blipFill rotWithShape="1">
          <a:blip r:embed="rId3">
            <a:extLst>
              <a:ext uri="{28A0092B-C50C-407E-A947-70E740481C1C}">
                <a14:useLocalDpi xmlns:a14="http://schemas.microsoft.com/office/drawing/2010/main" val="0"/>
              </a:ext>
            </a:extLst>
          </a:blip>
          <a:srcRect l="15321" t="29152" r="15018" b="33275"/>
          <a:stretch/>
        </p:blipFill>
        <p:spPr>
          <a:xfrm>
            <a:off x="6712486" y="274638"/>
            <a:ext cx="2257655" cy="860989"/>
          </a:xfrm>
          <a:prstGeom prst="rect">
            <a:avLst/>
          </a:prstGeom>
        </p:spPr>
      </p:pic>
      <p:sp>
        <p:nvSpPr>
          <p:cNvPr id="12" name="Title 1"/>
          <p:cNvSpPr>
            <a:spLocks noGrp="1"/>
          </p:cNvSpPr>
          <p:nvPr>
            <p:ph type="title" hasCustomPrompt="1"/>
          </p:nvPr>
        </p:nvSpPr>
        <p:spPr>
          <a:xfrm>
            <a:off x="871968" y="577434"/>
            <a:ext cx="4399249" cy="787847"/>
          </a:xfrm>
        </p:spPr>
        <p:txBody>
          <a:bodyPr>
            <a:noAutofit/>
          </a:bodyPr>
          <a:lstStyle>
            <a:lvl1pPr algn="l">
              <a:defRPr sz="3600" b="0" i="0">
                <a:solidFill>
                  <a:srgbClr val="18376A"/>
                </a:solidFill>
                <a:latin typeface="Frutiger LT Std 55 Roman"/>
                <a:cs typeface="Frutiger LT Std 55 Roman"/>
              </a:defRPr>
            </a:lvl1pPr>
          </a:lstStyle>
          <a:p>
            <a:r>
              <a:rPr lang="en-US" dirty="0"/>
              <a:t>Click to edit title</a:t>
            </a:r>
          </a:p>
        </p:txBody>
      </p:sp>
    </p:spTree>
    <p:extLst>
      <p:ext uri="{BB962C8B-B14F-4D97-AF65-F5344CB8AC3E}">
        <p14:creationId xmlns:p14="http://schemas.microsoft.com/office/powerpoint/2010/main" val="271366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Picture 9" descr="bg-57-5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501" y="0"/>
            <a:ext cx="9130499" cy="6858000"/>
          </a:xfrm>
          <a:prstGeom prst="rect">
            <a:avLst/>
          </a:prstGeom>
        </p:spPr>
      </p:pic>
      <p:sp>
        <p:nvSpPr>
          <p:cNvPr id="7" name="Title 1"/>
          <p:cNvSpPr txBox="1">
            <a:spLocks/>
          </p:cNvSpPr>
          <p:nvPr userDrawn="1"/>
        </p:nvSpPr>
        <p:spPr>
          <a:xfrm>
            <a:off x="2403948" y="2764736"/>
            <a:ext cx="4399249" cy="787847"/>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rgbClr val="18376A"/>
                </a:solidFill>
                <a:latin typeface="Frutiger LT Std 55 Roman"/>
                <a:ea typeface="+mj-ea"/>
                <a:cs typeface="Frutiger LT Std 55 Roman"/>
              </a:defRPr>
            </a:lvl1pPr>
          </a:lstStyle>
          <a:p>
            <a:pPr algn="ctr"/>
            <a:r>
              <a:rPr lang="en-US" dirty="0">
                <a:solidFill>
                  <a:schemeClr val="bg1"/>
                </a:solidFill>
              </a:rPr>
              <a:t>Click to edit title</a:t>
            </a:r>
          </a:p>
        </p:txBody>
      </p:sp>
      <p:pic>
        <p:nvPicPr>
          <p:cNvPr id="11" name="Picture 10" descr="logo white-58.png"/>
          <p:cNvPicPr>
            <a:picLocks noChangeAspect="1"/>
          </p:cNvPicPr>
          <p:nvPr userDrawn="1"/>
        </p:nvPicPr>
        <p:blipFill rotWithShape="1">
          <a:blip r:embed="rId3">
            <a:extLst>
              <a:ext uri="{28A0092B-C50C-407E-A947-70E740481C1C}">
                <a14:useLocalDpi xmlns:a14="http://schemas.microsoft.com/office/drawing/2010/main" val="0"/>
              </a:ext>
            </a:extLst>
          </a:blip>
          <a:srcRect l="6850" t="13639" b="15603"/>
          <a:stretch/>
        </p:blipFill>
        <p:spPr>
          <a:xfrm>
            <a:off x="6672173" y="224970"/>
            <a:ext cx="2388678" cy="825661"/>
          </a:xfrm>
          <a:prstGeom prst="rect">
            <a:avLst/>
          </a:prstGeom>
        </p:spPr>
      </p:pic>
    </p:spTree>
    <p:extLst>
      <p:ext uri="{BB962C8B-B14F-4D97-AF65-F5344CB8AC3E}">
        <p14:creationId xmlns:p14="http://schemas.microsoft.com/office/powerpoint/2010/main" val="388418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C200C-FF32-6547-A111-FE1A990ABEF1}" type="datetimeFigureOut">
              <a:rPr lang="en-US" smtClean="0"/>
              <a:t>6/12/2024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649B1A-91C3-E64F-B506-477AB9378A63}" type="slidenum">
              <a:rPr lang="en-US" smtClean="0"/>
              <a:t>‹#›</a:t>
            </a:fld>
            <a:endParaRPr lang="en-US"/>
          </a:p>
        </p:txBody>
      </p:sp>
    </p:spTree>
    <p:extLst>
      <p:ext uri="{BB962C8B-B14F-4D97-AF65-F5344CB8AC3E}">
        <p14:creationId xmlns:p14="http://schemas.microsoft.com/office/powerpoint/2010/main" val="2366513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DC200C-FF32-6547-A111-FE1A990ABEF1}"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649B1A-91C3-E64F-B506-477AB9378A63}" type="slidenum">
              <a:rPr lang="en-US" smtClean="0"/>
              <a:t>‹#›</a:t>
            </a:fld>
            <a:endParaRPr lang="en-US"/>
          </a:p>
        </p:txBody>
      </p:sp>
    </p:spTree>
    <p:extLst>
      <p:ext uri="{BB962C8B-B14F-4D97-AF65-F5344CB8AC3E}">
        <p14:creationId xmlns:p14="http://schemas.microsoft.com/office/powerpoint/2010/main" val="3493679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DC200C-FF32-6547-A111-FE1A990ABEF1}"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649B1A-91C3-E64F-B506-477AB9378A63}" type="slidenum">
              <a:rPr lang="en-US" smtClean="0"/>
              <a:t>‹#›</a:t>
            </a:fld>
            <a:endParaRPr lang="en-US"/>
          </a:p>
        </p:txBody>
      </p:sp>
    </p:spTree>
    <p:extLst>
      <p:ext uri="{BB962C8B-B14F-4D97-AF65-F5344CB8AC3E}">
        <p14:creationId xmlns:p14="http://schemas.microsoft.com/office/powerpoint/2010/main" val="3495317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C200C-FF32-6547-A111-FE1A990ABEF1}"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649B1A-91C3-E64F-B506-477AB9378A63}" type="slidenum">
              <a:rPr lang="en-US" smtClean="0"/>
              <a:t>‹#›</a:t>
            </a:fld>
            <a:endParaRPr lang="en-US"/>
          </a:p>
        </p:txBody>
      </p:sp>
    </p:spTree>
    <p:extLst>
      <p:ext uri="{BB962C8B-B14F-4D97-AF65-F5344CB8AC3E}">
        <p14:creationId xmlns:p14="http://schemas.microsoft.com/office/powerpoint/2010/main" val="1989571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C200C-FF32-6547-A111-FE1A990ABEF1}"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649B1A-91C3-E64F-B506-477AB9378A63}" type="slidenum">
              <a:rPr lang="en-US" smtClean="0"/>
              <a:t>‹#›</a:t>
            </a:fld>
            <a:endParaRPr lang="en-US"/>
          </a:p>
        </p:txBody>
      </p:sp>
    </p:spTree>
    <p:extLst>
      <p:ext uri="{BB962C8B-B14F-4D97-AF65-F5344CB8AC3E}">
        <p14:creationId xmlns:p14="http://schemas.microsoft.com/office/powerpoint/2010/main" val="2836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C200C-FF32-6547-A111-FE1A990ABEF1}" type="datetimeFigureOut">
              <a:rPr lang="en-US" smtClean="0"/>
              <a:t>6/12/2024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649B1A-91C3-E64F-B506-477AB9378A63}" type="slidenum">
              <a:rPr lang="en-US" smtClean="0"/>
              <a:t>‹#›</a:t>
            </a:fld>
            <a:endParaRPr lang="en-US"/>
          </a:p>
        </p:txBody>
      </p:sp>
    </p:spTree>
    <p:extLst>
      <p:ext uri="{BB962C8B-B14F-4D97-AF65-F5344CB8AC3E}">
        <p14:creationId xmlns:p14="http://schemas.microsoft.com/office/powerpoint/2010/main" val="4047809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7072"/>
          <a:stretch/>
        </p:blipFill>
        <p:spPr>
          <a:xfrm flipH="1">
            <a:off x="2726163" y="0"/>
            <a:ext cx="6428987" cy="6858000"/>
          </a:xfrm>
          <a:prstGeom prst="rect">
            <a:avLst/>
          </a:prstGeom>
        </p:spPr>
      </p:pic>
      <p:pic>
        <p:nvPicPr>
          <p:cNvPr id="11" name="Picture 10" descr="ppt-57.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 y="-15562"/>
            <a:ext cx="9130499" cy="6858000"/>
          </a:xfrm>
          <a:prstGeom prst="rect">
            <a:avLst/>
          </a:prstGeom>
        </p:spPr>
      </p:pic>
      <p:sp>
        <p:nvSpPr>
          <p:cNvPr id="12" name="TextBox 11"/>
          <p:cNvSpPr txBox="1"/>
          <p:nvPr/>
        </p:nvSpPr>
        <p:spPr>
          <a:xfrm>
            <a:off x="325649" y="308925"/>
            <a:ext cx="3810113" cy="1323439"/>
          </a:xfrm>
          <a:prstGeom prst="rect">
            <a:avLst/>
          </a:prstGeom>
          <a:noFill/>
        </p:spPr>
        <p:txBody>
          <a:bodyPr wrap="square" rtlCol="0">
            <a:spAutoFit/>
          </a:bodyPr>
          <a:lstStyle/>
          <a:p>
            <a:r>
              <a:rPr lang="en-US" sz="4000" dirty="0" smtClean="0">
                <a:solidFill>
                  <a:srgbClr val="C30009"/>
                </a:solidFill>
                <a:latin typeface="Frutiger LT Std 55 Roman"/>
                <a:cs typeface="Frutiger LT Std 55 Roman"/>
              </a:rPr>
              <a:t>Making </a:t>
            </a:r>
            <a:r>
              <a:rPr lang="en-US" sz="4000" dirty="0">
                <a:solidFill>
                  <a:srgbClr val="C30009"/>
                </a:solidFill>
                <a:latin typeface="Frutiger LT Std 55 Roman"/>
                <a:cs typeface="Frutiger LT Std 55 Roman"/>
              </a:rPr>
              <a:t>Moral Judgements</a:t>
            </a:r>
          </a:p>
        </p:txBody>
      </p:sp>
      <p:sp>
        <p:nvSpPr>
          <p:cNvPr id="13" name="TextBox 12"/>
          <p:cNvSpPr txBox="1"/>
          <p:nvPr/>
        </p:nvSpPr>
        <p:spPr>
          <a:xfrm>
            <a:off x="390779" y="3187956"/>
            <a:ext cx="3810113" cy="584776"/>
          </a:xfrm>
          <a:prstGeom prst="rect">
            <a:avLst/>
          </a:prstGeom>
          <a:noFill/>
        </p:spPr>
        <p:txBody>
          <a:bodyPr wrap="square" rtlCol="0">
            <a:spAutoFit/>
          </a:bodyPr>
          <a:lstStyle/>
          <a:p>
            <a:r>
              <a:rPr lang="en-US" sz="3200" dirty="0">
                <a:solidFill>
                  <a:srgbClr val="C30009"/>
                </a:solidFill>
                <a:latin typeface="Frutiger LT Std 45 Light"/>
                <a:cs typeface="Frutiger LT Std 45 Light"/>
              </a:rPr>
              <a:t>Principles of Ethics</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1" y="3720609"/>
            <a:ext cx="3679518" cy="2601685"/>
          </a:xfrm>
          <a:prstGeom prst="rect">
            <a:avLst/>
          </a:prstGeom>
        </p:spPr>
      </p:pic>
    </p:spTree>
    <p:extLst>
      <p:ext uri="{BB962C8B-B14F-4D97-AF65-F5344CB8AC3E}">
        <p14:creationId xmlns:p14="http://schemas.microsoft.com/office/powerpoint/2010/main" val="14491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Overview</a:t>
            </a:r>
          </a:p>
        </p:txBody>
      </p:sp>
      <p:sp>
        <p:nvSpPr>
          <p:cNvPr id="5" name="Content Placeholder 4"/>
          <p:cNvSpPr>
            <a:spLocks noGrp="1"/>
          </p:cNvSpPr>
          <p:nvPr>
            <p:ph idx="1"/>
          </p:nvPr>
        </p:nvSpPr>
        <p:spPr/>
        <p:txBody>
          <a:bodyPr/>
          <a:lstStyle/>
          <a:p>
            <a:r>
              <a:rPr lang="en-US" dirty="0"/>
              <a:t>The Triple Font of Morality Theory</a:t>
            </a:r>
          </a:p>
          <a:p>
            <a:endParaRPr lang="en-US" dirty="0"/>
          </a:p>
          <a:p>
            <a:r>
              <a:rPr lang="en-US" dirty="0"/>
              <a:t>The Principle of Double Effect</a:t>
            </a:r>
          </a:p>
          <a:p>
            <a:endParaRPr lang="en-US" dirty="0"/>
          </a:p>
          <a:p>
            <a:r>
              <a:rPr lang="en-US" dirty="0"/>
              <a:t>Practical wisdom in moral judgements</a:t>
            </a:r>
          </a:p>
        </p:txBody>
      </p:sp>
    </p:spTree>
    <p:extLst>
      <p:ext uri="{BB962C8B-B14F-4D97-AF65-F5344CB8AC3E}">
        <p14:creationId xmlns:p14="http://schemas.microsoft.com/office/powerpoint/2010/main" val="3690251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Outcomes</a:t>
            </a:r>
          </a:p>
        </p:txBody>
      </p:sp>
      <p:sp>
        <p:nvSpPr>
          <p:cNvPr id="3" name="Content Placeholder 2"/>
          <p:cNvSpPr>
            <a:spLocks noGrp="1"/>
          </p:cNvSpPr>
          <p:nvPr>
            <p:ph idx="1"/>
          </p:nvPr>
        </p:nvSpPr>
        <p:spPr/>
        <p:txBody>
          <a:bodyPr>
            <a:normAutofit lnSpcReduction="10000"/>
          </a:bodyPr>
          <a:lstStyle/>
          <a:p>
            <a:pPr marL="514350" indent="-514350" algn="l">
              <a:buAutoNum type="arabicPeriod"/>
            </a:pPr>
            <a:r>
              <a:rPr lang="en-US" b="0" i="0" dirty="0">
                <a:solidFill>
                  <a:srgbClr val="4E4E4E"/>
                </a:solidFill>
                <a:effectLst/>
                <a:latin typeface="-apple-system"/>
              </a:rPr>
              <a:t>Explain the Triple Font of Morality Theory [TFM]</a:t>
            </a:r>
          </a:p>
          <a:p>
            <a:pPr marL="514350" indent="-514350" algn="l">
              <a:buAutoNum type="arabicPeriod"/>
            </a:pPr>
            <a:r>
              <a:rPr lang="en-US" b="0" i="0" dirty="0">
                <a:solidFill>
                  <a:srgbClr val="4E4E4E"/>
                </a:solidFill>
                <a:effectLst/>
                <a:latin typeface="-apple-system"/>
              </a:rPr>
              <a:t>Explain the Principle of Double Effect [PDE]</a:t>
            </a:r>
          </a:p>
          <a:p>
            <a:pPr marL="514350" indent="-514350" algn="l">
              <a:buAutoNum type="arabicPeriod"/>
            </a:pPr>
            <a:r>
              <a:rPr lang="en-US" b="0" i="0" dirty="0">
                <a:solidFill>
                  <a:srgbClr val="4E4E4E"/>
                </a:solidFill>
                <a:effectLst/>
                <a:latin typeface="-apple-system"/>
              </a:rPr>
              <a:t>Apply the Triple Font of Morality Theory to specific cases [TFM]</a:t>
            </a:r>
          </a:p>
          <a:p>
            <a:pPr marL="514350" indent="-514350" algn="l">
              <a:buAutoNum type="arabicPeriod"/>
            </a:pPr>
            <a:r>
              <a:rPr lang="en-US" b="0" i="0" dirty="0" err="1">
                <a:solidFill>
                  <a:srgbClr val="4E4E4E"/>
                </a:solidFill>
                <a:effectLst/>
                <a:latin typeface="-apple-system"/>
              </a:rPr>
              <a:t>Analyse</a:t>
            </a:r>
            <a:r>
              <a:rPr lang="en-US" b="0" i="0" dirty="0">
                <a:solidFill>
                  <a:srgbClr val="4E4E4E"/>
                </a:solidFill>
                <a:effectLst/>
                <a:latin typeface="-apple-system"/>
              </a:rPr>
              <a:t> cases using the Principle of Double Effect [PDE]</a:t>
            </a:r>
          </a:p>
          <a:p>
            <a:pPr marL="514350" indent="-514350" algn="l">
              <a:buAutoNum type="arabicPeriod"/>
            </a:pPr>
            <a:r>
              <a:rPr lang="en-US" b="0" i="0" dirty="0">
                <a:solidFill>
                  <a:srgbClr val="4E4E4E"/>
                </a:solidFill>
                <a:effectLst/>
                <a:latin typeface="-apple-system"/>
              </a:rPr>
              <a:t>Discuss the role of practical wisdom in making moral judgements</a:t>
            </a:r>
          </a:p>
          <a:p>
            <a:pPr marL="514350" indent="-514350">
              <a:buAutoNum type="arabicPeriod"/>
            </a:pPr>
            <a:endParaRPr lang="en-GB" dirty="0"/>
          </a:p>
        </p:txBody>
      </p:sp>
    </p:spTree>
    <p:extLst>
      <p:ext uri="{BB962C8B-B14F-4D97-AF65-F5344CB8AC3E}">
        <p14:creationId xmlns:p14="http://schemas.microsoft.com/office/powerpoint/2010/main" val="3050653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Case: Giving in or giving up </a:t>
            </a:r>
          </a:p>
        </p:txBody>
      </p:sp>
      <p:sp>
        <p:nvSpPr>
          <p:cNvPr id="8" name="Content Placeholder 7"/>
          <p:cNvSpPr>
            <a:spLocks noGrp="1"/>
          </p:cNvSpPr>
          <p:nvPr>
            <p:ph idx="1"/>
          </p:nvPr>
        </p:nvSpPr>
        <p:spPr/>
        <p:txBody>
          <a:bodyPr/>
          <a:lstStyle/>
          <a:p>
            <a:r>
              <a:rPr lang="en-US" dirty="0"/>
              <a:t>Read the case individually</a:t>
            </a:r>
          </a:p>
          <a:p>
            <a:endParaRPr lang="en-US" dirty="0"/>
          </a:p>
          <a:p>
            <a:r>
              <a:rPr lang="en-US" dirty="0"/>
              <a:t>Identify the key ethical “issues”</a:t>
            </a:r>
          </a:p>
          <a:p>
            <a:endParaRPr lang="en-US" dirty="0"/>
          </a:p>
          <a:p>
            <a:r>
              <a:rPr lang="en-US" dirty="0"/>
              <a:t>Suggest a possible way forward for Anne</a:t>
            </a:r>
          </a:p>
          <a:p>
            <a:endParaRPr lang="en-US" dirty="0"/>
          </a:p>
          <a:p>
            <a:r>
              <a:rPr lang="en-US" dirty="0"/>
              <a:t>Take note for future reference</a:t>
            </a:r>
          </a:p>
          <a:p>
            <a:endParaRPr lang="en-US" dirty="0"/>
          </a:p>
        </p:txBody>
      </p:sp>
      <p:sp>
        <p:nvSpPr>
          <p:cNvPr id="4" name="TextBox 3"/>
          <p:cNvSpPr txBox="1"/>
          <p:nvPr/>
        </p:nvSpPr>
        <p:spPr>
          <a:xfrm>
            <a:off x="3594982" y="4430131"/>
            <a:ext cx="4867294" cy="646331"/>
          </a:xfrm>
          <a:prstGeom prst="rect">
            <a:avLst/>
          </a:prstGeom>
          <a:noFill/>
        </p:spPr>
        <p:txBody>
          <a:bodyPr wrap="none" rtlCol="0">
            <a:spAutoFit/>
          </a:bodyPr>
          <a:lstStyle/>
          <a:p>
            <a:r>
              <a:rPr lang="en-GB" b="1" dirty="0">
                <a:solidFill>
                  <a:srgbClr val="FF0000"/>
                </a:solidFill>
              </a:rPr>
              <a:t>Individual activity [5 – 8 minutes]: read the case, </a:t>
            </a:r>
          </a:p>
          <a:p>
            <a:r>
              <a:rPr lang="en-GB" b="1" dirty="0">
                <a:solidFill>
                  <a:srgbClr val="FF0000"/>
                </a:solidFill>
              </a:rPr>
              <a:t>think and write one suggestion in the Zoom Chat</a:t>
            </a:r>
          </a:p>
        </p:txBody>
      </p:sp>
    </p:spTree>
    <p:extLst>
      <p:ext uri="{BB962C8B-B14F-4D97-AF65-F5344CB8AC3E}">
        <p14:creationId xmlns:p14="http://schemas.microsoft.com/office/powerpoint/2010/main" val="36169123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Case – Manipulative Manager</a:t>
            </a:r>
          </a:p>
        </p:txBody>
      </p:sp>
      <p:sp>
        <p:nvSpPr>
          <p:cNvPr id="8" name="Content Placeholder 7"/>
          <p:cNvSpPr>
            <a:spLocks noGrp="1"/>
          </p:cNvSpPr>
          <p:nvPr>
            <p:ph idx="1"/>
          </p:nvPr>
        </p:nvSpPr>
        <p:spPr/>
        <p:txBody>
          <a:bodyPr>
            <a:normAutofit/>
          </a:bodyPr>
          <a:lstStyle/>
          <a:p>
            <a:r>
              <a:rPr lang="en-US" dirty="0"/>
              <a:t>A manager who manipulates subordinates may obtain excellent immediate results but when those who were manipulated realize this they may act against him and refuse to cooperate in the future</a:t>
            </a:r>
          </a:p>
          <a:p>
            <a:endParaRPr lang="en-US" dirty="0"/>
          </a:p>
          <a:p>
            <a:r>
              <a:rPr lang="en-US" dirty="0"/>
              <a:t>How can we analyse the ethical dimension of the scenario?</a:t>
            </a:r>
          </a:p>
        </p:txBody>
      </p:sp>
    </p:spTree>
    <p:extLst>
      <p:ext uri="{BB962C8B-B14F-4D97-AF65-F5344CB8AC3E}">
        <p14:creationId xmlns:p14="http://schemas.microsoft.com/office/powerpoint/2010/main" val="6470511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Triple Font of Morality [TFM]</a:t>
            </a:r>
          </a:p>
        </p:txBody>
      </p:sp>
      <p:sp>
        <p:nvSpPr>
          <p:cNvPr id="3" name="Content Placeholder 2"/>
          <p:cNvSpPr>
            <a:spLocks noGrp="1"/>
          </p:cNvSpPr>
          <p:nvPr>
            <p:ph idx="1"/>
          </p:nvPr>
        </p:nvSpPr>
        <p:spPr/>
        <p:txBody>
          <a:bodyPr>
            <a:normAutofit lnSpcReduction="10000"/>
          </a:bodyPr>
          <a:lstStyle/>
          <a:p>
            <a:r>
              <a:rPr lang="en-GB" dirty="0"/>
              <a:t>The Triple Font of Morality is a framework for making moral judgements based on three elements present in any decision</a:t>
            </a:r>
          </a:p>
          <a:p>
            <a:endParaRPr lang="en-GB" dirty="0"/>
          </a:p>
          <a:p>
            <a:pPr marL="971550" lvl="1" indent="-514350">
              <a:buFont typeface="+mj-lt"/>
              <a:buAutoNum type="arabicPeriod"/>
            </a:pPr>
            <a:r>
              <a:rPr lang="en-GB" dirty="0"/>
              <a:t>Main action</a:t>
            </a:r>
          </a:p>
          <a:p>
            <a:pPr marL="971550" lvl="1" indent="-514350">
              <a:buFont typeface="+mj-lt"/>
              <a:buAutoNum type="arabicPeriod"/>
            </a:pPr>
            <a:endParaRPr lang="en-GB" dirty="0"/>
          </a:p>
          <a:p>
            <a:pPr marL="971550" lvl="1" indent="-514350">
              <a:buFont typeface="+mj-lt"/>
              <a:buAutoNum type="arabicPeriod"/>
            </a:pPr>
            <a:r>
              <a:rPr lang="en-GB" dirty="0"/>
              <a:t>The intention – end</a:t>
            </a:r>
          </a:p>
          <a:p>
            <a:pPr marL="971550" lvl="1" indent="-514350">
              <a:buFont typeface="+mj-lt"/>
              <a:buAutoNum type="arabicPeriod"/>
            </a:pPr>
            <a:endParaRPr lang="en-GB" dirty="0"/>
          </a:p>
          <a:p>
            <a:pPr marL="971550" lvl="1" indent="-514350">
              <a:buFont typeface="+mj-lt"/>
              <a:buAutoNum type="arabicPeriod"/>
            </a:pPr>
            <a:r>
              <a:rPr lang="en-GB" dirty="0"/>
              <a:t>The circumstances</a:t>
            </a:r>
          </a:p>
        </p:txBody>
      </p:sp>
    </p:spTree>
    <p:extLst>
      <p:ext uri="{BB962C8B-B14F-4D97-AF65-F5344CB8AC3E}">
        <p14:creationId xmlns:p14="http://schemas.microsoft.com/office/powerpoint/2010/main" val="116541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Triple Font Theory of Morality</a:t>
            </a:r>
          </a:p>
        </p:txBody>
      </p:sp>
      <p:graphicFrame>
        <p:nvGraphicFramePr>
          <p:cNvPr id="4" name="Content Placeholder 3"/>
          <p:cNvGraphicFramePr>
            <a:graphicFrameLocks noGrp="1"/>
          </p:cNvGraphicFramePr>
          <p:nvPr>
            <p:ph idx="1"/>
          </p:nvPr>
        </p:nvGraphicFramePr>
        <p:xfrm>
          <a:off x="923925" y="1600200"/>
          <a:ext cx="7623175" cy="4911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5495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Action – Object chosen</a:t>
            </a:r>
          </a:p>
        </p:txBody>
      </p:sp>
      <p:sp>
        <p:nvSpPr>
          <p:cNvPr id="3" name="Content Placeholder 2"/>
          <p:cNvSpPr>
            <a:spLocks noGrp="1"/>
          </p:cNvSpPr>
          <p:nvPr>
            <p:ph idx="1"/>
          </p:nvPr>
        </p:nvSpPr>
        <p:spPr/>
        <p:txBody>
          <a:bodyPr>
            <a:normAutofit fontScale="92500" lnSpcReduction="20000"/>
          </a:bodyPr>
          <a:lstStyle/>
          <a:p>
            <a:r>
              <a:rPr lang="en-US" dirty="0"/>
              <a:t>What act do you decide to carry out?</a:t>
            </a:r>
          </a:p>
          <a:p>
            <a:pPr lvl="1"/>
            <a:r>
              <a:rPr lang="en-US" dirty="0"/>
              <a:t>What is the ethical value of the act?</a:t>
            </a:r>
          </a:p>
          <a:p>
            <a:pPr lvl="1"/>
            <a:r>
              <a:rPr lang="en-US" dirty="0"/>
              <a:t>Morality of the action chosen as a means to the end</a:t>
            </a:r>
          </a:p>
          <a:p>
            <a:pPr marL="457200" lvl="1" indent="0">
              <a:buNone/>
            </a:pPr>
            <a:endParaRPr lang="en-US" dirty="0"/>
          </a:p>
          <a:p>
            <a:r>
              <a:rPr lang="en-US" dirty="0"/>
              <a:t>Distinguish: </a:t>
            </a:r>
          </a:p>
          <a:p>
            <a:pPr lvl="1"/>
            <a:r>
              <a:rPr lang="en-US" dirty="0"/>
              <a:t>Physical/material act</a:t>
            </a:r>
          </a:p>
          <a:p>
            <a:pPr lvl="2"/>
            <a:r>
              <a:rPr lang="en-US" dirty="0"/>
              <a:t>To shoot someone</a:t>
            </a:r>
          </a:p>
          <a:p>
            <a:pPr lvl="1"/>
            <a:r>
              <a:rPr lang="en-US" dirty="0"/>
              <a:t>Moral act</a:t>
            </a:r>
          </a:p>
          <a:p>
            <a:pPr lvl="2"/>
            <a:r>
              <a:rPr lang="en-US" dirty="0"/>
              <a:t>Murder</a:t>
            </a:r>
          </a:p>
          <a:p>
            <a:pPr lvl="2"/>
            <a:r>
              <a:rPr lang="en-US" dirty="0"/>
              <a:t>Killing in legitimate </a:t>
            </a:r>
            <a:r>
              <a:rPr lang="en-US" dirty="0" err="1"/>
              <a:t>self-defence</a:t>
            </a:r>
            <a:endParaRPr lang="en-US" dirty="0"/>
          </a:p>
          <a:p>
            <a:pPr lvl="2"/>
            <a:r>
              <a:rPr lang="en-US" dirty="0"/>
              <a:t>Accident</a:t>
            </a:r>
          </a:p>
          <a:p>
            <a:pPr lvl="2"/>
            <a:endParaRPr lang="en-US" dirty="0"/>
          </a:p>
        </p:txBody>
      </p:sp>
    </p:spTree>
    <p:extLst>
      <p:ext uri="{BB962C8B-B14F-4D97-AF65-F5344CB8AC3E}">
        <p14:creationId xmlns:p14="http://schemas.microsoft.com/office/powerpoint/2010/main" val="3104423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2" presetClass="entr" presetSubtype="4" fill="hold" nodeType="after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5" fill="hold">
                            <p:stCondLst>
                              <p:cond delay="2500"/>
                            </p:stCondLst>
                            <p:childTnLst>
                              <p:par>
                                <p:cTn id="26" presetID="2" presetClass="entr" presetSubtype="4" fill="hold"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additive="base">
                                        <p:cTn id="2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30" fill="hold">
                            <p:stCondLst>
                              <p:cond delay="3000"/>
                            </p:stCondLst>
                            <p:childTnLst>
                              <p:par>
                                <p:cTn id="31" presetID="2" presetClass="entr" presetSubtype="4" fill="hold" nodeType="after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5" fill="hold">
                            <p:stCondLst>
                              <p:cond delay="3500"/>
                            </p:stCondLst>
                            <p:childTnLst>
                              <p:par>
                                <p:cTn id="36" presetID="2" presetClass="entr" presetSubtype="4" fill="hold" nodeType="after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 calcmode="lin" valueType="num">
                                      <p:cBhvr additive="base">
                                        <p:cTn id="3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40" fill="hold">
                            <p:stCondLst>
                              <p:cond delay="4000"/>
                            </p:stCondLst>
                            <p:childTnLst>
                              <p:par>
                                <p:cTn id="41" presetID="2" presetClass="entr" presetSubtype="4" fill="hold" nodeType="after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45" fill="hold">
                            <p:stCondLst>
                              <p:cond delay="4500"/>
                            </p:stCondLst>
                            <p:childTnLst>
                              <p:par>
                                <p:cTn id="46" presetID="2" presetClass="entr" presetSubtype="4" fill="hold" nodeType="after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 calcmode="lin" valueType="num">
                                      <p:cBhvr additive="base">
                                        <p:cTn id="4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50" fill="hold">
                            <p:stCondLst>
                              <p:cond delay="5000"/>
                            </p:stCondLst>
                            <p:childTnLst>
                              <p:par>
                                <p:cTn id="51" presetID="2" presetClass="entr" presetSubtype="4" fill="hold" nodeType="after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 calcmode="lin" valueType="num">
                                      <p:cBhvr additive="base">
                                        <p:cTn id="5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par>
                          <p:cTn id="55" fill="hold">
                            <p:stCondLst>
                              <p:cond delay="5500"/>
                            </p:stCondLst>
                            <p:childTnLst>
                              <p:par>
                                <p:cTn id="56" presetID="2" presetClass="entr" presetSubtype="4" fill="hold" nodeType="afterEffect">
                                  <p:stCondLst>
                                    <p:cond delay="0"/>
                                  </p:stCondLst>
                                  <p:childTnLst>
                                    <p:set>
                                      <p:cBhvr>
                                        <p:cTn id="57" dur="1" fill="hold">
                                          <p:stCondLst>
                                            <p:cond delay="0"/>
                                          </p:stCondLst>
                                        </p:cTn>
                                        <p:tgtEl>
                                          <p:spTgt spid="3">
                                            <p:txEl>
                                              <p:pRg st="10" end="10"/>
                                            </p:txEl>
                                          </p:spTgt>
                                        </p:tgtEl>
                                        <p:attrNameLst>
                                          <p:attrName>style.visibility</p:attrName>
                                        </p:attrNameLst>
                                      </p:cBhvr>
                                      <p:to>
                                        <p:strVal val="visible"/>
                                      </p:to>
                                    </p:set>
                                    <p:anim calcmode="lin" valueType="num">
                                      <p:cBhvr additive="base">
                                        <p:cTn id="5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Intention - End</a:t>
            </a:r>
          </a:p>
        </p:txBody>
      </p:sp>
      <p:sp>
        <p:nvSpPr>
          <p:cNvPr id="3" name="Content Placeholder 2"/>
          <p:cNvSpPr>
            <a:spLocks noGrp="1"/>
          </p:cNvSpPr>
          <p:nvPr>
            <p:ph idx="1"/>
          </p:nvPr>
        </p:nvSpPr>
        <p:spPr/>
        <p:txBody>
          <a:bodyPr>
            <a:normAutofit/>
          </a:bodyPr>
          <a:lstStyle/>
          <a:p>
            <a:r>
              <a:rPr lang="en-US" dirty="0"/>
              <a:t>What goal do you want to achieve?</a:t>
            </a:r>
          </a:p>
          <a:p>
            <a:pPr lvl="1"/>
            <a:r>
              <a:rPr lang="en-US" dirty="0"/>
              <a:t>What is the ethical value of the goal?</a:t>
            </a:r>
          </a:p>
          <a:p>
            <a:pPr lvl="1"/>
            <a:r>
              <a:rPr lang="en-US" dirty="0"/>
              <a:t>Morality of the intention/purpose which motivates the decision</a:t>
            </a:r>
          </a:p>
          <a:p>
            <a:pPr marL="0" indent="0">
              <a:buNone/>
            </a:pPr>
            <a:endParaRPr lang="en-US" dirty="0"/>
          </a:p>
          <a:p>
            <a:r>
              <a:rPr lang="en-US" dirty="0"/>
              <a:t>Intrinsically linked to the action</a:t>
            </a:r>
          </a:p>
          <a:p>
            <a:pPr lvl="1"/>
            <a:r>
              <a:rPr lang="en-US" dirty="0"/>
              <a:t>Tell a lie to avoid punishment</a:t>
            </a:r>
          </a:p>
          <a:p>
            <a:pPr lvl="1"/>
            <a:r>
              <a:rPr lang="en-US" dirty="0"/>
              <a:t>Tell the truth to be honest</a:t>
            </a:r>
          </a:p>
          <a:p>
            <a:pPr lvl="2"/>
            <a:endParaRPr lang="en-US" dirty="0"/>
          </a:p>
          <a:p>
            <a:pPr lvl="2"/>
            <a:endParaRPr lang="en-US" dirty="0"/>
          </a:p>
        </p:txBody>
      </p:sp>
    </p:spTree>
    <p:extLst>
      <p:ext uri="{BB962C8B-B14F-4D97-AF65-F5344CB8AC3E}">
        <p14:creationId xmlns:p14="http://schemas.microsoft.com/office/powerpoint/2010/main" val="8769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Towards overall morality (1)</a:t>
            </a:r>
          </a:p>
        </p:txBody>
      </p:sp>
      <p:graphicFrame>
        <p:nvGraphicFramePr>
          <p:cNvPr id="4" name="Content Placeholder 3"/>
          <p:cNvGraphicFramePr>
            <a:graphicFrameLocks noGrp="1"/>
          </p:cNvGraphicFramePr>
          <p:nvPr>
            <p:ph idx="1"/>
          </p:nvPr>
        </p:nvGraphicFramePr>
        <p:xfrm>
          <a:off x="1063625" y="1600200"/>
          <a:ext cx="7623175" cy="4911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p:cNvSpPr/>
          <p:nvPr/>
        </p:nvSpPr>
        <p:spPr>
          <a:xfrm>
            <a:off x="4521758" y="5426109"/>
            <a:ext cx="3205424" cy="10858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rPr>
              <a:t>YOU DECIDE TO COMMIT FRAUD TO SAVE YOUR COMPANY FROM BANKRUPTCY</a:t>
            </a:r>
          </a:p>
        </p:txBody>
      </p:sp>
    </p:spTree>
    <p:extLst>
      <p:ext uri="{BB962C8B-B14F-4D97-AF65-F5344CB8AC3E}">
        <p14:creationId xmlns:p14="http://schemas.microsoft.com/office/powerpoint/2010/main" val="3023023639"/>
      </p:ext>
    </p:extLst>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Towards overall morality (2)</a:t>
            </a:r>
          </a:p>
        </p:txBody>
      </p:sp>
      <p:graphicFrame>
        <p:nvGraphicFramePr>
          <p:cNvPr id="4" name="Content Placeholder 3"/>
          <p:cNvGraphicFramePr>
            <a:graphicFrameLocks noGrp="1"/>
          </p:cNvGraphicFramePr>
          <p:nvPr>
            <p:ph idx="1"/>
          </p:nvPr>
        </p:nvGraphicFramePr>
        <p:xfrm>
          <a:off x="1063625" y="1600200"/>
          <a:ext cx="7623175" cy="4911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3937949" y="4953000"/>
            <a:ext cx="5111708" cy="1631216"/>
          </a:xfrm>
          <a:prstGeom prst="rect">
            <a:avLst/>
          </a:prstGeom>
          <a:noFill/>
          <a:ln w="3175">
            <a:solidFill>
              <a:schemeClr val="tx1"/>
            </a:solidFill>
          </a:ln>
        </p:spPr>
        <p:txBody>
          <a:bodyPr wrap="square" rtlCol="0">
            <a:spAutoFit/>
          </a:bodyPr>
          <a:lstStyle/>
          <a:p>
            <a:r>
              <a:rPr lang="en-US" sz="2000" b="1" dirty="0"/>
              <a:t>You invite a colleague out to dinner with the</a:t>
            </a:r>
          </a:p>
          <a:p>
            <a:r>
              <a:rPr lang="en-US" sz="2000" b="1" dirty="0"/>
              <a:t>intention of ‘stealing’ an interesting idea for a new product he has developed through the conversation and presenting it in your own name to the CEO. </a:t>
            </a:r>
          </a:p>
        </p:txBody>
      </p:sp>
    </p:spTree>
    <p:extLst>
      <p:ext uri="{BB962C8B-B14F-4D97-AF65-F5344CB8AC3E}">
        <p14:creationId xmlns:p14="http://schemas.microsoft.com/office/powerpoint/2010/main" val="990704823"/>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Morally correct decision</a:t>
            </a:r>
          </a:p>
        </p:txBody>
      </p:sp>
      <p:graphicFrame>
        <p:nvGraphicFramePr>
          <p:cNvPr id="4" name="Content Placeholder 3"/>
          <p:cNvGraphicFramePr>
            <a:graphicFrameLocks noGrp="1"/>
          </p:cNvGraphicFramePr>
          <p:nvPr>
            <p:ph idx="1"/>
          </p:nvPr>
        </p:nvGraphicFramePr>
        <p:xfrm>
          <a:off x="1063625" y="1600200"/>
          <a:ext cx="7623175" cy="4911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3698543" y="5034597"/>
            <a:ext cx="5445457" cy="1477328"/>
          </a:xfrm>
          <a:prstGeom prst="rect">
            <a:avLst/>
          </a:prstGeom>
          <a:noFill/>
          <a:ln w="3175">
            <a:solidFill>
              <a:schemeClr val="tx1"/>
            </a:solidFill>
          </a:ln>
        </p:spPr>
        <p:txBody>
          <a:bodyPr wrap="square" rtlCol="0">
            <a:spAutoFit/>
          </a:bodyPr>
          <a:lstStyle/>
          <a:p>
            <a:r>
              <a:rPr lang="en-GB" b="1" dirty="0"/>
              <a:t>You realise that your elderly neighbour lives alone and</a:t>
            </a:r>
          </a:p>
          <a:p>
            <a:r>
              <a:rPr lang="en-GB" b="1" dirty="0"/>
              <a:t>may have some needs as he cannot leave his home for health reasons. You go to visit him and offer to do his shopping so he has what he needs and does not need to go out.</a:t>
            </a:r>
            <a:endParaRPr lang="en-GB" b="1" dirty="0">
              <a:solidFill>
                <a:srgbClr val="FF0000"/>
              </a:solidFill>
            </a:endParaRPr>
          </a:p>
        </p:txBody>
      </p:sp>
      <p:sp>
        <p:nvSpPr>
          <p:cNvPr id="5" name="TextBox 4"/>
          <p:cNvSpPr txBox="1"/>
          <p:nvPr/>
        </p:nvSpPr>
        <p:spPr>
          <a:xfrm>
            <a:off x="5718412" y="1733266"/>
            <a:ext cx="3253198" cy="646331"/>
          </a:xfrm>
          <a:prstGeom prst="rect">
            <a:avLst/>
          </a:prstGeom>
          <a:noFill/>
        </p:spPr>
        <p:txBody>
          <a:bodyPr wrap="none" rtlCol="0">
            <a:spAutoFit/>
          </a:bodyPr>
          <a:lstStyle/>
          <a:p>
            <a:r>
              <a:rPr lang="en-GB" b="1" dirty="0">
                <a:solidFill>
                  <a:srgbClr val="FF0000"/>
                </a:solidFill>
              </a:rPr>
              <a:t>CAN YOU COME UP WITH AN </a:t>
            </a:r>
          </a:p>
          <a:p>
            <a:r>
              <a:rPr lang="en-GB" b="1" dirty="0">
                <a:solidFill>
                  <a:srgbClr val="FF0000"/>
                </a:solidFill>
              </a:rPr>
              <a:t>EXAMPLE? POST IN ZOOM CHAT</a:t>
            </a:r>
          </a:p>
        </p:txBody>
      </p:sp>
    </p:spTree>
    <p:extLst>
      <p:ext uri="{BB962C8B-B14F-4D97-AF65-F5344CB8AC3E}">
        <p14:creationId xmlns:p14="http://schemas.microsoft.com/office/powerpoint/2010/main" val="3962478132"/>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Circumstances</a:t>
            </a:r>
            <a:endParaRPr lang="en-GB" dirty="0"/>
          </a:p>
        </p:txBody>
      </p:sp>
      <p:sp>
        <p:nvSpPr>
          <p:cNvPr id="3" name="Content Placeholder 2"/>
          <p:cNvSpPr>
            <a:spLocks noGrp="1"/>
          </p:cNvSpPr>
          <p:nvPr>
            <p:ph idx="1"/>
          </p:nvPr>
        </p:nvSpPr>
        <p:spPr/>
        <p:txBody>
          <a:bodyPr>
            <a:normAutofit lnSpcReduction="10000"/>
          </a:bodyPr>
          <a:lstStyle/>
          <a:p>
            <a:r>
              <a:rPr lang="en-GB" dirty="0"/>
              <a:t>Non-essential conditions which may modify the moral nature of an act</a:t>
            </a:r>
          </a:p>
          <a:p>
            <a:pPr marL="0" indent="0">
              <a:buNone/>
            </a:pPr>
            <a:endParaRPr lang="en-GB" dirty="0"/>
          </a:p>
          <a:p>
            <a:r>
              <a:rPr lang="en-GB" dirty="0"/>
              <a:t>Foreseeable consequences</a:t>
            </a:r>
          </a:p>
          <a:p>
            <a:pPr lvl="1"/>
            <a:r>
              <a:rPr lang="en-GB" dirty="0"/>
              <a:t>Negative, disproportionate, other consequences</a:t>
            </a:r>
          </a:p>
          <a:p>
            <a:pPr lvl="1"/>
            <a:endParaRPr lang="en-GB" dirty="0"/>
          </a:p>
          <a:p>
            <a:r>
              <a:rPr lang="en-GB" dirty="0"/>
              <a:t>Situational circumstances</a:t>
            </a:r>
          </a:p>
          <a:p>
            <a:pPr lvl="1"/>
            <a:r>
              <a:rPr lang="en-GB" dirty="0"/>
              <a:t>A variety of situations surrounding the act which may have moral value</a:t>
            </a:r>
          </a:p>
          <a:p>
            <a:pPr marL="457200" lvl="1" indent="0">
              <a:buNone/>
            </a:pPr>
            <a:endParaRPr lang="en-GB" dirty="0"/>
          </a:p>
          <a:p>
            <a:endParaRPr lang="en-GB" dirty="0"/>
          </a:p>
          <a:p>
            <a:endParaRPr lang="en-GB" dirty="0"/>
          </a:p>
          <a:p>
            <a:endParaRPr lang="en-GB" dirty="0"/>
          </a:p>
        </p:txBody>
      </p:sp>
    </p:spTree>
    <p:extLst>
      <p:ext uri="{BB962C8B-B14F-4D97-AF65-F5344CB8AC3E}">
        <p14:creationId xmlns:p14="http://schemas.microsoft.com/office/powerpoint/2010/main" val="344374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3466" y="547196"/>
            <a:ext cx="5389604" cy="667658"/>
          </a:xfrm>
        </p:spPr>
        <p:txBody>
          <a:bodyPr/>
          <a:lstStyle/>
          <a:p>
            <a:r>
              <a:rPr lang="en-GB" dirty="0"/>
              <a:t>Situational circumstances</a:t>
            </a:r>
          </a:p>
        </p:txBody>
      </p:sp>
      <p:sp>
        <p:nvSpPr>
          <p:cNvPr id="3" name="Content Placeholder 2"/>
          <p:cNvSpPr>
            <a:spLocks noGrp="1"/>
          </p:cNvSpPr>
          <p:nvPr>
            <p:ph idx="1"/>
          </p:nvPr>
        </p:nvSpPr>
        <p:spPr>
          <a:xfrm>
            <a:off x="1063466" y="1214854"/>
            <a:ext cx="7623334" cy="5296655"/>
          </a:xfrm>
        </p:spPr>
        <p:txBody>
          <a:bodyPr/>
          <a:lstStyle/>
          <a:p>
            <a:endParaRPr lang="en-GB" dirty="0"/>
          </a:p>
        </p:txBody>
      </p:sp>
      <p:sp>
        <p:nvSpPr>
          <p:cNvPr id="4" name="Oval 3"/>
          <p:cNvSpPr/>
          <p:nvPr/>
        </p:nvSpPr>
        <p:spPr>
          <a:xfrm>
            <a:off x="762000" y="1805041"/>
            <a:ext cx="2438400" cy="17236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Characteristics of acting person</a:t>
            </a:r>
          </a:p>
          <a:p>
            <a:pPr algn="ctr"/>
            <a:r>
              <a:rPr lang="en-GB" sz="2000" b="1" dirty="0"/>
              <a:t>Patricide</a:t>
            </a:r>
          </a:p>
        </p:txBody>
      </p:sp>
      <p:sp>
        <p:nvSpPr>
          <p:cNvPr id="6" name="Oval 5"/>
          <p:cNvSpPr/>
          <p:nvPr/>
        </p:nvSpPr>
        <p:spPr>
          <a:xfrm>
            <a:off x="3916101" y="1440794"/>
            <a:ext cx="2922443" cy="155940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Quality  / quantity of the object</a:t>
            </a:r>
          </a:p>
          <a:p>
            <a:pPr algn="ctr"/>
            <a:r>
              <a:rPr lang="en-GB" sz="2000" b="1" dirty="0"/>
              <a:t>5,000/ or 5 billion</a:t>
            </a:r>
          </a:p>
        </p:txBody>
      </p:sp>
      <p:sp>
        <p:nvSpPr>
          <p:cNvPr id="7" name="Oval 6"/>
          <p:cNvSpPr/>
          <p:nvPr/>
        </p:nvSpPr>
        <p:spPr>
          <a:xfrm>
            <a:off x="6838544" y="2881027"/>
            <a:ext cx="1524000" cy="1295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t>Place</a:t>
            </a:r>
          </a:p>
        </p:txBody>
      </p:sp>
      <p:sp>
        <p:nvSpPr>
          <p:cNvPr id="8" name="Rounded Rectangle 7"/>
          <p:cNvSpPr/>
          <p:nvPr/>
        </p:nvSpPr>
        <p:spPr>
          <a:xfrm>
            <a:off x="1027889" y="4148175"/>
            <a:ext cx="1575836" cy="14017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t>Means used</a:t>
            </a:r>
          </a:p>
        </p:txBody>
      </p:sp>
      <p:sp>
        <p:nvSpPr>
          <p:cNvPr id="9" name="Rounded Rectangle 8"/>
          <p:cNvSpPr/>
          <p:nvPr/>
        </p:nvSpPr>
        <p:spPr>
          <a:xfrm>
            <a:off x="3422469" y="4727140"/>
            <a:ext cx="14478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Manner</a:t>
            </a:r>
          </a:p>
          <a:p>
            <a:pPr algn="ctr"/>
            <a:r>
              <a:rPr lang="en-GB" sz="2000" b="1" dirty="0"/>
              <a:t>Violence</a:t>
            </a:r>
          </a:p>
        </p:txBody>
      </p:sp>
      <p:sp>
        <p:nvSpPr>
          <p:cNvPr id="10" name="Rounded Rectangle 9"/>
          <p:cNvSpPr/>
          <p:nvPr/>
        </p:nvSpPr>
        <p:spPr>
          <a:xfrm>
            <a:off x="4419600" y="3481301"/>
            <a:ext cx="16002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t>Time</a:t>
            </a:r>
          </a:p>
        </p:txBody>
      </p:sp>
      <p:sp>
        <p:nvSpPr>
          <p:cNvPr id="11" name="Rounded Rectangle 10"/>
          <p:cNvSpPr/>
          <p:nvPr/>
        </p:nvSpPr>
        <p:spPr>
          <a:xfrm>
            <a:off x="5744902" y="4876800"/>
            <a:ext cx="14478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Secondary motives</a:t>
            </a:r>
          </a:p>
        </p:txBody>
      </p:sp>
    </p:spTree>
    <p:extLst>
      <p:ext uri="{BB962C8B-B14F-4D97-AF65-F5344CB8AC3E}">
        <p14:creationId xmlns:p14="http://schemas.microsoft.com/office/powerpoint/2010/main" val="377054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nodePh="1">
                                  <p:stCondLst>
                                    <p:cond delay="0"/>
                                  </p:stCondLst>
                                  <p:endCondLst>
                                    <p:cond evt="begin" delay="0">
                                      <p:tn val="10"/>
                                    </p:cond>
                                  </p:end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4"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5" dur="500"/>
                                        <p:tgtEl>
                                          <p:spTgt spid="3">
                                            <p:txEl>
                                              <p:pRg st="0" end="0"/>
                                            </p:txEl>
                                          </p:spTgt>
                                        </p:tgtEl>
                                      </p:cBhvr>
                                    </p:animEffect>
                                  </p:childTnLst>
                                </p:cTn>
                              </p:par>
                            </p:childTnLst>
                          </p:cTn>
                        </p:par>
                        <p:par>
                          <p:cTn id="16" fill="hold">
                            <p:stCondLst>
                              <p:cond delay="500"/>
                            </p:stCondLst>
                            <p:childTnLst>
                              <p:par>
                                <p:cTn id="17" presetID="37"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900" decel="100000" fill="hold"/>
                                        <p:tgtEl>
                                          <p:spTgt spid="7"/>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par>
                          <p:cTn id="23" fill="hold">
                            <p:stCondLst>
                              <p:cond delay="1500"/>
                            </p:stCondLst>
                            <p:childTnLst>
                              <p:par>
                                <p:cTn id="24" presetID="21" presetClass="entr" presetSubtype="4"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heel(4)">
                                      <p:cBhvr>
                                        <p:cTn id="26" dur="2000"/>
                                        <p:tgtEl>
                                          <p:spTgt spid="10"/>
                                        </p:tgtEl>
                                      </p:cBhvr>
                                    </p:animEffect>
                                  </p:childTnLst>
                                </p:cTn>
                              </p:par>
                            </p:childTnLst>
                          </p:cTn>
                        </p:par>
                        <p:par>
                          <p:cTn id="27" fill="hold">
                            <p:stCondLst>
                              <p:cond delay="3500"/>
                            </p:stCondLst>
                            <p:childTnLst>
                              <p:par>
                                <p:cTn id="28" presetID="13" presetClass="entr" presetSubtype="16" fill="hold" grpId="0"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plus(in)">
                                      <p:cBhvr>
                                        <p:cTn id="30" dur="2000"/>
                                        <p:tgtEl>
                                          <p:spTgt spid="4"/>
                                        </p:tgtEl>
                                      </p:cBhvr>
                                    </p:animEffect>
                                  </p:childTnLst>
                                </p:cTn>
                              </p:par>
                            </p:childTnLst>
                          </p:cTn>
                        </p:par>
                        <p:par>
                          <p:cTn id="31" fill="hold">
                            <p:stCondLst>
                              <p:cond delay="5500"/>
                            </p:stCondLst>
                            <p:childTnLst>
                              <p:par>
                                <p:cTn id="32" presetID="2" presetClass="entr" presetSubtype="4"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ppt_x"/>
                                          </p:val>
                                        </p:tav>
                                        <p:tav tm="100000">
                                          <p:val>
                                            <p:strVal val="#ppt_x"/>
                                          </p:val>
                                        </p:tav>
                                      </p:tavLst>
                                    </p:anim>
                                    <p:anim calcmode="lin" valueType="num">
                                      <p:cBhvr additive="base">
                                        <p:cTn id="35" dur="500" fill="hold"/>
                                        <p:tgtEl>
                                          <p:spTgt spid="6"/>
                                        </p:tgtEl>
                                        <p:attrNameLst>
                                          <p:attrName>ppt_y</p:attrName>
                                        </p:attrNameLst>
                                      </p:cBhvr>
                                      <p:tavLst>
                                        <p:tav tm="0">
                                          <p:val>
                                            <p:strVal val="1+#ppt_h/2"/>
                                          </p:val>
                                        </p:tav>
                                        <p:tav tm="100000">
                                          <p:val>
                                            <p:strVal val="#ppt_y"/>
                                          </p:val>
                                        </p:tav>
                                      </p:tavLst>
                                    </p:anim>
                                  </p:childTnLst>
                                </p:cTn>
                              </p:par>
                            </p:childTnLst>
                          </p:cTn>
                        </p:par>
                        <p:par>
                          <p:cTn id="36" fill="hold">
                            <p:stCondLst>
                              <p:cond delay="6000"/>
                            </p:stCondLst>
                            <p:childTnLst>
                              <p:par>
                                <p:cTn id="37" presetID="37"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900" decel="100000" fill="hold"/>
                                        <p:tgtEl>
                                          <p:spTgt spid="8"/>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par>
                          <p:cTn id="43" fill="hold">
                            <p:stCondLst>
                              <p:cond delay="7000"/>
                            </p:stCondLst>
                            <p:childTnLst>
                              <p:par>
                                <p:cTn id="44" presetID="47" presetClass="entr" presetSubtype="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8000"/>
                            </p:stCondLst>
                            <p:childTnLst>
                              <p:par>
                                <p:cTn id="50" presetID="37" presetClass="entr" presetSubtype="0"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900" decel="100000" fill="hold"/>
                                        <p:tgtEl>
                                          <p:spTgt spid="11"/>
                                        </p:tgtEl>
                                        <p:attrNameLst>
                                          <p:attrName>ppt_y</p:attrName>
                                        </p:attrNameLst>
                                      </p:cBhvr>
                                      <p:tavLst>
                                        <p:tav tm="0">
                                          <p:val>
                                            <p:strVal val="#ppt_y+1"/>
                                          </p:val>
                                        </p:tav>
                                        <p:tav tm="100000">
                                          <p:val>
                                            <p:strVal val="#ppt_y-.03"/>
                                          </p:val>
                                        </p:tav>
                                      </p:tavLst>
                                    </p:anim>
                                    <p:anim calcmode="lin" valueType="num">
                                      <p:cBhvr>
                                        <p:cTn id="55"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animBg="1"/>
      <p:bldP spid="7" grpId="0" animBg="1"/>
      <p:bldP spid="8" grpId="0" animBg="1"/>
      <p:bldP spid="9"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en-GB" dirty="0"/>
              <a:t>CAN</a:t>
            </a:r>
          </a:p>
        </p:txBody>
      </p:sp>
      <p:sp>
        <p:nvSpPr>
          <p:cNvPr id="6" name="Content Placeholder 5"/>
          <p:cNvSpPr>
            <a:spLocks noGrp="1"/>
          </p:cNvSpPr>
          <p:nvPr>
            <p:ph sz="half" idx="2"/>
          </p:nvPr>
        </p:nvSpPr>
        <p:spPr/>
        <p:txBody>
          <a:bodyPr/>
          <a:lstStyle/>
          <a:p>
            <a:r>
              <a:rPr lang="en-GB" dirty="0"/>
              <a:t>Increase / decrease the goodness or badness of the act</a:t>
            </a:r>
          </a:p>
          <a:p>
            <a:endParaRPr lang="en-GB" dirty="0"/>
          </a:p>
          <a:p>
            <a:r>
              <a:rPr lang="en-GB" dirty="0"/>
              <a:t>Make a good act become bad</a:t>
            </a:r>
          </a:p>
        </p:txBody>
      </p:sp>
      <p:sp>
        <p:nvSpPr>
          <p:cNvPr id="7" name="Text Placeholder 6"/>
          <p:cNvSpPr>
            <a:spLocks noGrp="1"/>
          </p:cNvSpPr>
          <p:nvPr>
            <p:ph type="body" sz="quarter" idx="3"/>
          </p:nvPr>
        </p:nvSpPr>
        <p:spPr/>
        <p:txBody>
          <a:bodyPr/>
          <a:lstStyle/>
          <a:p>
            <a:r>
              <a:rPr lang="en-GB" dirty="0"/>
              <a:t>CANNOT</a:t>
            </a:r>
          </a:p>
        </p:txBody>
      </p:sp>
      <p:sp>
        <p:nvSpPr>
          <p:cNvPr id="8" name="Content Placeholder 7"/>
          <p:cNvSpPr>
            <a:spLocks noGrp="1"/>
          </p:cNvSpPr>
          <p:nvPr>
            <p:ph sz="quarter" idx="4"/>
          </p:nvPr>
        </p:nvSpPr>
        <p:spPr/>
        <p:txBody>
          <a:bodyPr/>
          <a:lstStyle/>
          <a:p>
            <a:r>
              <a:rPr lang="en-GB" dirty="0"/>
              <a:t>Make a bad act become good!</a:t>
            </a:r>
          </a:p>
        </p:txBody>
      </p:sp>
      <p:sp>
        <p:nvSpPr>
          <p:cNvPr id="4" name="Title 3"/>
          <p:cNvSpPr>
            <a:spLocks noGrp="1"/>
          </p:cNvSpPr>
          <p:nvPr>
            <p:ph type="title"/>
          </p:nvPr>
        </p:nvSpPr>
        <p:spPr/>
        <p:txBody>
          <a:bodyPr/>
          <a:lstStyle/>
          <a:p>
            <a:r>
              <a:rPr lang="en-GB" dirty="0"/>
              <a:t>Circumstances...</a:t>
            </a:r>
          </a:p>
        </p:txBody>
      </p:sp>
    </p:spTree>
    <p:extLst>
      <p:ext uri="{BB962C8B-B14F-4D97-AF65-F5344CB8AC3E}">
        <p14:creationId xmlns:p14="http://schemas.microsoft.com/office/powerpoint/2010/main" val="338753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p:cTn id="13"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p:cTn id="19"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6">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9" presetClass="entr" presetSubtype="0" decel="100000" fill="hold"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 calcmode="lin" valueType="num">
                                      <p:cBhvr>
                                        <p:cTn id="25"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6">
                                            <p:txEl>
                                              <p:pRg st="2" end="2"/>
                                            </p:txEl>
                                          </p:spTgt>
                                        </p:tgtEl>
                                        <p:attrNameLst>
                                          <p:attrName>ppt_h</p:attrName>
                                        </p:attrNameLst>
                                      </p:cBhvr>
                                      <p:tavLst>
                                        <p:tav tm="0">
                                          <p:val>
                                            <p:fltVal val="0"/>
                                          </p:val>
                                        </p:tav>
                                        <p:tav tm="100000">
                                          <p:val>
                                            <p:strVal val="#ppt_h"/>
                                          </p:val>
                                        </p:tav>
                                      </p:tavLst>
                                    </p:anim>
                                    <p:anim calcmode="lin" valueType="num">
                                      <p:cBhvr>
                                        <p:cTn id="27" dur="500" fill="hold"/>
                                        <p:tgtEl>
                                          <p:spTgt spid="6">
                                            <p:txEl>
                                              <p:pRg st="2" end="2"/>
                                            </p:txEl>
                                          </p:spTgt>
                                        </p:tgtEl>
                                        <p:attrNameLst>
                                          <p:attrName>style.rotation</p:attrName>
                                        </p:attrNameLst>
                                      </p:cBhvr>
                                      <p:tavLst>
                                        <p:tav tm="0">
                                          <p:val>
                                            <p:fltVal val="360"/>
                                          </p:val>
                                        </p:tav>
                                        <p:tav tm="100000">
                                          <p:val>
                                            <p:fltVal val="0"/>
                                          </p:val>
                                        </p:tav>
                                      </p:tavLst>
                                    </p:anim>
                                    <p:animEffect transition="in" filter="fade">
                                      <p:cBhvr>
                                        <p:cTn id="28" dur="500"/>
                                        <p:tgtEl>
                                          <p:spTgt spid="6">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nodeType="clickEffect">
                                  <p:stCondLst>
                                    <p:cond delay="0"/>
                                  </p:stCondLst>
                                  <p:childTnLst>
                                    <p:set>
                                      <p:cBhvr>
                                        <p:cTn id="32" dur="1" fill="hold">
                                          <p:stCondLst>
                                            <p:cond delay="0"/>
                                          </p:stCondLst>
                                        </p:cTn>
                                        <p:tgtEl>
                                          <p:spTgt spid="7">
                                            <p:txEl>
                                              <p:pRg st="0" end="0"/>
                                            </p:txEl>
                                          </p:spTgt>
                                        </p:tgtEl>
                                        <p:attrNameLst>
                                          <p:attrName>style.visibility</p:attrName>
                                        </p:attrNameLst>
                                      </p:cBhvr>
                                      <p:to>
                                        <p:strVal val="visible"/>
                                      </p:to>
                                    </p:set>
                                    <p:animEffect transition="in" filter="wipe(down)">
                                      <p:cBhvr>
                                        <p:cTn id="33" dur="580">
                                          <p:stCondLst>
                                            <p:cond delay="0"/>
                                          </p:stCondLst>
                                        </p:cTn>
                                        <p:tgtEl>
                                          <p:spTgt spid="7">
                                            <p:txEl>
                                              <p:pRg st="0" end="0"/>
                                            </p:txEl>
                                          </p:spTgt>
                                        </p:tgtEl>
                                      </p:cBhvr>
                                    </p:animEffect>
                                    <p:anim calcmode="lin" valueType="num">
                                      <p:cBhvr>
                                        <p:cTn id="34" dur="1822" tmFilter="0,0; 0.14,0.36; 0.43,0.73; 0.71,0.91; 1.0,1.0">
                                          <p:stCondLst>
                                            <p:cond delay="0"/>
                                          </p:stCondLst>
                                        </p:cTn>
                                        <p:tgtEl>
                                          <p:spTgt spid="7">
                                            <p:txEl>
                                              <p:pRg st="0" end="0"/>
                                            </p:txEl>
                                          </p:spTgt>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7">
                                            <p:txEl>
                                              <p:pRg st="0" end="0"/>
                                            </p:txEl>
                                          </p:spTgt>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7">
                                            <p:txEl>
                                              <p:pRg st="0" end="0"/>
                                            </p:txEl>
                                          </p:spTgt>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7">
                                            <p:txEl>
                                              <p:pRg st="0" end="0"/>
                                            </p:txEl>
                                          </p:spTgt>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7">
                                            <p:txEl>
                                              <p:pRg st="0" end="0"/>
                                            </p:txEl>
                                          </p:spTgt>
                                        </p:tgtEl>
                                        <p:attrNameLst>
                                          <p:attrName>ppt_y</p:attrName>
                                        </p:attrNameLst>
                                      </p:cBhvr>
                                      <p:tavLst>
                                        <p:tav tm="0" fmla="#ppt_y-sin(pi*$)/81">
                                          <p:val>
                                            <p:fltVal val="0"/>
                                          </p:val>
                                        </p:tav>
                                        <p:tav tm="100000">
                                          <p:val>
                                            <p:fltVal val="1"/>
                                          </p:val>
                                        </p:tav>
                                      </p:tavLst>
                                    </p:anim>
                                    <p:animScale>
                                      <p:cBhvr>
                                        <p:cTn id="39" dur="26">
                                          <p:stCondLst>
                                            <p:cond delay="650"/>
                                          </p:stCondLst>
                                        </p:cTn>
                                        <p:tgtEl>
                                          <p:spTgt spid="7">
                                            <p:txEl>
                                              <p:pRg st="0" end="0"/>
                                            </p:txEl>
                                          </p:spTgt>
                                        </p:tgtEl>
                                      </p:cBhvr>
                                      <p:to x="100000" y="60000"/>
                                    </p:animScale>
                                    <p:animScale>
                                      <p:cBhvr>
                                        <p:cTn id="40" dur="166" decel="50000">
                                          <p:stCondLst>
                                            <p:cond delay="676"/>
                                          </p:stCondLst>
                                        </p:cTn>
                                        <p:tgtEl>
                                          <p:spTgt spid="7">
                                            <p:txEl>
                                              <p:pRg st="0" end="0"/>
                                            </p:txEl>
                                          </p:spTgt>
                                        </p:tgtEl>
                                      </p:cBhvr>
                                      <p:to x="100000" y="100000"/>
                                    </p:animScale>
                                    <p:animScale>
                                      <p:cBhvr>
                                        <p:cTn id="41" dur="26">
                                          <p:stCondLst>
                                            <p:cond delay="1312"/>
                                          </p:stCondLst>
                                        </p:cTn>
                                        <p:tgtEl>
                                          <p:spTgt spid="7">
                                            <p:txEl>
                                              <p:pRg st="0" end="0"/>
                                            </p:txEl>
                                          </p:spTgt>
                                        </p:tgtEl>
                                      </p:cBhvr>
                                      <p:to x="100000" y="80000"/>
                                    </p:animScale>
                                    <p:animScale>
                                      <p:cBhvr>
                                        <p:cTn id="42" dur="166" decel="50000">
                                          <p:stCondLst>
                                            <p:cond delay="1338"/>
                                          </p:stCondLst>
                                        </p:cTn>
                                        <p:tgtEl>
                                          <p:spTgt spid="7">
                                            <p:txEl>
                                              <p:pRg st="0" end="0"/>
                                            </p:txEl>
                                          </p:spTgt>
                                        </p:tgtEl>
                                      </p:cBhvr>
                                      <p:to x="100000" y="100000"/>
                                    </p:animScale>
                                    <p:animScale>
                                      <p:cBhvr>
                                        <p:cTn id="43" dur="26">
                                          <p:stCondLst>
                                            <p:cond delay="1642"/>
                                          </p:stCondLst>
                                        </p:cTn>
                                        <p:tgtEl>
                                          <p:spTgt spid="7">
                                            <p:txEl>
                                              <p:pRg st="0" end="0"/>
                                            </p:txEl>
                                          </p:spTgt>
                                        </p:tgtEl>
                                      </p:cBhvr>
                                      <p:to x="100000" y="90000"/>
                                    </p:animScale>
                                    <p:animScale>
                                      <p:cBhvr>
                                        <p:cTn id="44" dur="166" decel="50000">
                                          <p:stCondLst>
                                            <p:cond delay="1668"/>
                                          </p:stCondLst>
                                        </p:cTn>
                                        <p:tgtEl>
                                          <p:spTgt spid="7">
                                            <p:txEl>
                                              <p:pRg st="0" end="0"/>
                                            </p:txEl>
                                          </p:spTgt>
                                        </p:tgtEl>
                                      </p:cBhvr>
                                      <p:to x="100000" y="100000"/>
                                    </p:animScale>
                                    <p:animScale>
                                      <p:cBhvr>
                                        <p:cTn id="45" dur="26">
                                          <p:stCondLst>
                                            <p:cond delay="1808"/>
                                          </p:stCondLst>
                                        </p:cTn>
                                        <p:tgtEl>
                                          <p:spTgt spid="7">
                                            <p:txEl>
                                              <p:pRg st="0" end="0"/>
                                            </p:txEl>
                                          </p:spTgt>
                                        </p:tgtEl>
                                      </p:cBhvr>
                                      <p:to x="100000" y="95000"/>
                                    </p:animScale>
                                    <p:animScale>
                                      <p:cBhvr>
                                        <p:cTn id="46" dur="166" decel="50000">
                                          <p:stCondLst>
                                            <p:cond delay="1834"/>
                                          </p:stCondLst>
                                        </p:cTn>
                                        <p:tgtEl>
                                          <p:spTgt spid="7">
                                            <p:txEl>
                                              <p:pRg st="0" end="0"/>
                                            </p:txEl>
                                          </p:spTgt>
                                        </p:tgtEl>
                                      </p:cBhvr>
                                      <p:to x="100000" y="100000"/>
                                    </p:animScale>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iterate type="lt">
                                    <p:tmPct val="5000"/>
                                  </p:iterate>
                                  <p:childTnLst>
                                    <p:set>
                                      <p:cBhvr>
                                        <p:cTn id="50" dur="1" fill="hold">
                                          <p:stCondLst>
                                            <p:cond delay="0"/>
                                          </p:stCondLst>
                                        </p:cTn>
                                        <p:tgtEl>
                                          <p:spTgt spid="8">
                                            <p:txEl>
                                              <p:pRg st="0" end="0"/>
                                            </p:txEl>
                                          </p:spTgt>
                                        </p:tgtEl>
                                        <p:attrNameLst>
                                          <p:attrName>style.visibility</p:attrName>
                                        </p:attrNameLst>
                                      </p:cBhvr>
                                      <p:to>
                                        <p:strVal val="visible"/>
                                      </p:to>
                                    </p:set>
                                    <p:anim calcmode="lin" valueType="num">
                                      <p:cBhvr>
                                        <p:cTn id="51"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52"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53"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54" dur="1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7195"/>
            <a:ext cx="5827594" cy="787847"/>
          </a:xfrm>
        </p:spPr>
        <p:txBody>
          <a:bodyPr/>
          <a:lstStyle/>
          <a:p>
            <a:r>
              <a:rPr lang="en-GB" dirty="0"/>
              <a:t>Overall morality of Case </a:t>
            </a:r>
          </a:p>
        </p:txBody>
      </p:sp>
      <p:graphicFrame>
        <p:nvGraphicFramePr>
          <p:cNvPr id="4" name="Content Placeholder 3"/>
          <p:cNvGraphicFramePr>
            <a:graphicFrameLocks noGrp="1"/>
          </p:cNvGraphicFramePr>
          <p:nvPr>
            <p:ph idx="1"/>
          </p:nvPr>
        </p:nvGraphicFramePr>
        <p:xfrm>
          <a:off x="1063625" y="1600200"/>
          <a:ext cx="7623175" cy="4911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287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childTnLst>
                          </p:cTn>
                        </p:par>
                        <p:par>
                          <p:cTn id="10" fill="hold">
                            <p:stCondLst>
                              <p:cond delay="1000"/>
                            </p:stCondLst>
                            <p:childTnLst>
                              <p:par>
                                <p:cTn id="11" presetID="37"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900" decel="100000" fill="hold"/>
                                        <p:tgtEl>
                                          <p:spTgt spid="4"/>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Chart for ethical analysis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79347686"/>
              </p:ext>
            </p:extLst>
          </p:nvPr>
        </p:nvGraphicFramePr>
        <p:xfrm>
          <a:off x="1231900" y="1600200"/>
          <a:ext cx="6985000" cy="4814248"/>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1"/>
                    </a:ext>
                  </a:extLst>
                </a:gridCol>
                <a:gridCol w="2218647">
                  <a:extLst>
                    <a:ext uri="{9D8B030D-6E8A-4147-A177-3AD203B41FA5}">
                      <a16:colId xmlns:a16="http://schemas.microsoft.com/office/drawing/2014/main" val="20002"/>
                    </a:ext>
                  </a:extLst>
                </a:gridCol>
                <a:gridCol w="2404153">
                  <a:extLst>
                    <a:ext uri="{9D8B030D-6E8A-4147-A177-3AD203B41FA5}">
                      <a16:colId xmlns:a16="http://schemas.microsoft.com/office/drawing/2014/main" val="20003"/>
                    </a:ext>
                  </a:extLst>
                </a:gridCol>
              </a:tblGrid>
              <a:tr h="1024308">
                <a:tc>
                  <a:txBody>
                    <a:bodyPr/>
                    <a:lstStyle/>
                    <a:p>
                      <a:pPr algn="ctr"/>
                      <a:r>
                        <a:rPr lang="en-GB" sz="2000" dirty="0"/>
                        <a:t>MORAL</a:t>
                      </a:r>
                      <a:r>
                        <a:rPr lang="en-GB" sz="2000" baseline="0" dirty="0"/>
                        <a:t> OBJECT - ACT</a:t>
                      </a:r>
                    </a:p>
                  </a:txBody>
                  <a:tcPr/>
                </a:tc>
                <a:tc>
                  <a:txBody>
                    <a:bodyPr/>
                    <a:lstStyle/>
                    <a:p>
                      <a:pPr algn="ctr"/>
                      <a:r>
                        <a:rPr lang="en-GB" sz="2000" dirty="0"/>
                        <a:t>END / INTENTION</a:t>
                      </a:r>
                    </a:p>
                    <a:p>
                      <a:pPr algn="ctr"/>
                      <a:endParaRPr lang="en-GB" sz="2000" dirty="0"/>
                    </a:p>
                  </a:txBody>
                  <a:tcPr/>
                </a:tc>
                <a:tc>
                  <a:txBody>
                    <a:bodyPr/>
                    <a:lstStyle/>
                    <a:p>
                      <a:pPr algn="ctr"/>
                      <a:r>
                        <a:rPr lang="en-GB" sz="2000" dirty="0"/>
                        <a:t>CIRCUMSTANCES</a:t>
                      </a:r>
                    </a:p>
                  </a:txBody>
                  <a:tcPr/>
                </a:tc>
                <a:extLst>
                  <a:ext uri="{0D108BD9-81ED-4DB2-BD59-A6C34878D82A}">
                    <a16:rowId xmlns:a16="http://schemas.microsoft.com/office/drawing/2014/main" val="10000"/>
                  </a:ext>
                </a:extLst>
              </a:tr>
              <a:tr h="921877">
                <a:tc>
                  <a:txBody>
                    <a:bodyPr/>
                    <a:lstStyle/>
                    <a:p>
                      <a:r>
                        <a:rPr lang="en-GB" dirty="0"/>
                        <a:t>----------</a:t>
                      </a:r>
                    </a:p>
                  </a:txBody>
                  <a:tcPr/>
                </a:tc>
                <a:tc>
                  <a:txBody>
                    <a:bodyPr/>
                    <a:lstStyle/>
                    <a:p>
                      <a:r>
                        <a:rPr lang="en-GB" dirty="0"/>
                        <a:t>----------</a:t>
                      </a:r>
                    </a:p>
                  </a:txBody>
                  <a:tcPr/>
                </a:tc>
                <a:tc>
                  <a:txBody>
                    <a:bodyPr/>
                    <a:lstStyle/>
                    <a:p>
                      <a:r>
                        <a:rPr lang="en-GB" dirty="0"/>
                        <a:t>-----</a:t>
                      </a:r>
                    </a:p>
                    <a:p>
                      <a:r>
                        <a:rPr lang="en-GB" dirty="0"/>
                        <a:t>------</a:t>
                      </a:r>
                    </a:p>
                    <a:p>
                      <a:r>
                        <a:rPr lang="en-GB" dirty="0"/>
                        <a:t>-----</a:t>
                      </a:r>
                    </a:p>
                  </a:txBody>
                  <a:tcPr/>
                </a:tc>
                <a:extLst>
                  <a:ext uri="{0D108BD9-81ED-4DB2-BD59-A6C34878D82A}">
                    <a16:rowId xmlns:a16="http://schemas.microsoft.com/office/drawing/2014/main" val="10001"/>
                  </a:ext>
                </a:extLst>
              </a:tr>
              <a:tr h="1536462">
                <a:tc>
                  <a:txBody>
                    <a:bodyPr/>
                    <a:lstStyle/>
                    <a:p>
                      <a:r>
                        <a:rPr lang="en-GB" b="1" dirty="0"/>
                        <a:t>MORALITY IN TERMS OF AN</a:t>
                      </a:r>
                      <a:r>
                        <a:rPr lang="en-GB" b="1" baseline="0" dirty="0"/>
                        <a:t> ETHICAL PRINCIPLE</a:t>
                      </a:r>
                      <a:endParaRPr lang="en-GB"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MORALITY IN TERMS OF AN ETHICAL </a:t>
                      </a:r>
                      <a:r>
                        <a:rPr lang="en-GB" b="1" baseline="0" dirty="0"/>
                        <a:t>PRINCIPLE</a:t>
                      </a:r>
                      <a:endParaRPr lang="en-GB"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MORALITY IN TERMS OF AN ETHICAL </a:t>
                      </a:r>
                      <a:r>
                        <a:rPr lang="en-GB" b="1" baseline="0" dirty="0"/>
                        <a:t>PRINCIPLE</a:t>
                      </a:r>
                      <a:endParaRPr lang="en-GB" b="1" dirty="0"/>
                    </a:p>
                  </a:txBody>
                  <a:tcPr/>
                </a:tc>
                <a:extLst>
                  <a:ext uri="{0D108BD9-81ED-4DB2-BD59-A6C34878D82A}">
                    <a16:rowId xmlns:a16="http://schemas.microsoft.com/office/drawing/2014/main" val="10002"/>
                  </a:ext>
                </a:extLst>
              </a:tr>
              <a:tr h="1331601">
                <a:tc>
                  <a:txBody>
                    <a:bodyPr/>
                    <a:lstStyle/>
                    <a:p>
                      <a:r>
                        <a:rPr lang="en-GB" dirty="0"/>
                        <a:t>Bad – goes against their human dignity </a:t>
                      </a:r>
                    </a:p>
                  </a:txBody>
                  <a:tcPr/>
                </a:tc>
                <a:tc>
                  <a:txBody>
                    <a:bodyPr/>
                    <a:lstStyle/>
                    <a:p>
                      <a:r>
                        <a:rPr lang="en-GB" dirty="0"/>
                        <a:t>Good –</a:t>
                      </a:r>
                      <a:r>
                        <a:rPr lang="en-GB" baseline="0" dirty="0"/>
                        <a:t> respects common good</a:t>
                      </a:r>
                      <a:endParaRPr lang="en-GB" dirty="0"/>
                    </a:p>
                  </a:txBody>
                  <a:tcPr/>
                </a:tc>
                <a:tc>
                  <a:txBody>
                    <a:bodyPr/>
                    <a:lstStyle/>
                    <a:p>
                      <a:r>
                        <a:rPr lang="en-GB" dirty="0"/>
                        <a:t>Bad – against golden</a:t>
                      </a:r>
                      <a:r>
                        <a:rPr lang="en-GB" baseline="0" dirty="0"/>
                        <a:t> rule</a:t>
                      </a:r>
                      <a:endParaRPr lang="en-GB" dirty="0"/>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2866030" y="6323922"/>
            <a:ext cx="4207177" cy="369332"/>
          </a:xfrm>
          <a:prstGeom prst="rect">
            <a:avLst/>
          </a:prstGeom>
          <a:noFill/>
        </p:spPr>
        <p:txBody>
          <a:bodyPr wrap="none" rtlCol="0">
            <a:spAutoFit/>
          </a:bodyPr>
          <a:lstStyle/>
          <a:p>
            <a:r>
              <a:rPr lang="en-GB" b="1" dirty="0">
                <a:solidFill>
                  <a:srgbClr val="FF0000"/>
                </a:solidFill>
              </a:rPr>
              <a:t>OVERALL ETHICAL VALUE OF THE ACTION?</a:t>
            </a:r>
          </a:p>
        </p:txBody>
      </p:sp>
    </p:spTree>
    <p:extLst>
      <p:ext uri="{BB962C8B-B14F-4D97-AF65-F5344CB8AC3E}">
        <p14:creationId xmlns:p14="http://schemas.microsoft.com/office/powerpoint/2010/main" val="140838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3" presetClass="entr" presetSubtype="16"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Case – Manipulative Manager</a:t>
            </a:r>
          </a:p>
        </p:txBody>
      </p:sp>
      <p:sp>
        <p:nvSpPr>
          <p:cNvPr id="8" name="Content Placeholder 7"/>
          <p:cNvSpPr>
            <a:spLocks noGrp="1"/>
          </p:cNvSpPr>
          <p:nvPr>
            <p:ph idx="1"/>
          </p:nvPr>
        </p:nvSpPr>
        <p:spPr/>
        <p:txBody>
          <a:bodyPr>
            <a:normAutofit fontScale="92500"/>
          </a:bodyPr>
          <a:lstStyle/>
          <a:p>
            <a:r>
              <a:rPr lang="en-US" dirty="0"/>
              <a:t>A manager who manipulates subordinates may obtain excellent immediate results but when those who were manipulated realize this they may act against him and refuse to cooperate in the future</a:t>
            </a:r>
          </a:p>
          <a:p>
            <a:pPr lvl="1"/>
            <a:r>
              <a:rPr lang="en-US" dirty="0">
                <a:solidFill>
                  <a:schemeClr val="accent1"/>
                </a:solidFill>
              </a:rPr>
              <a:t>Act + moral value [ethical principle]?</a:t>
            </a:r>
          </a:p>
          <a:p>
            <a:pPr lvl="1"/>
            <a:r>
              <a:rPr lang="en-US" dirty="0">
                <a:solidFill>
                  <a:schemeClr val="accent1"/>
                </a:solidFill>
              </a:rPr>
              <a:t>Intention + moral value [ethical principle]? </a:t>
            </a:r>
          </a:p>
          <a:p>
            <a:pPr lvl="1"/>
            <a:r>
              <a:rPr lang="en-US" dirty="0">
                <a:solidFill>
                  <a:schemeClr val="accent1"/>
                </a:solidFill>
              </a:rPr>
              <a:t>Circumstances + moral value [ethical principle]?</a:t>
            </a:r>
          </a:p>
          <a:p>
            <a:pPr lvl="1"/>
            <a:r>
              <a:rPr lang="en-US" dirty="0">
                <a:solidFill>
                  <a:schemeClr val="accent1"/>
                </a:solidFill>
              </a:rPr>
              <a:t>Overall moral value?</a:t>
            </a:r>
          </a:p>
        </p:txBody>
      </p:sp>
    </p:spTree>
    <p:extLst>
      <p:ext uri="{BB962C8B-B14F-4D97-AF65-F5344CB8AC3E}">
        <p14:creationId xmlns:p14="http://schemas.microsoft.com/office/powerpoint/2010/main" val="4067993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Morality of Case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42708788"/>
              </p:ext>
            </p:extLst>
          </p:nvPr>
        </p:nvGraphicFramePr>
        <p:xfrm>
          <a:off x="1231900" y="1600200"/>
          <a:ext cx="6985000" cy="4945687"/>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1"/>
                    </a:ext>
                  </a:extLst>
                </a:gridCol>
                <a:gridCol w="2218647">
                  <a:extLst>
                    <a:ext uri="{9D8B030D-6E8A-4147-A177-3AD203B41FA5}">
                      <a16:colId xmlns:a16="http://schemas.microsoft.com/office/drawing/2014/main" val="20002"/>
                    </a:ext>
                  </a:extLst>
                </a:gridCol>
                <a:gridCol w="2404153">
                  <a:extLst>
                    <a:ext uri="{9D8B030D-6E8A-4147-A177-3AD203B41FA5}">
                      <a16:colId xmlns:a16="http://schemas.microsoft.com/office/drawing/2014/main" val="20003"/>
                    </a:ext>
                  </a:extLst>
                </a:gridCol>
              </a:tblGrid>
              <a:tr h="1024308">
                <a:tc>
                  <a:txBody>
                    <a:bodyPr/>
                    <a:lstStyle/>
                    <a:p>
                      <a:pPr algn="ctr"/>
                      <a:r>
                        <a:rPr lang="en-GB" sz="2000" dirty="0"/>
                        <a:t>MORAL</a:t>
                      </a:r>
                      <a:r>
                        <a:rPr lang="en-GB" sz="2000" baseline="0" dirty="0"/>
                        <a:t> OBJECT - ACT</a:t>
                      </a:r>
                    </a:p>
                  </a:txBody>
                  <a:tcPr/>
                </a:tc>
                <a:tc>
                  <a:txBody>
                    <a:bodyPr/>
                    <a:lstStyle/>
                    <a:p>
                      <a:pPr algn="ctr"/>
                      <a:r>
                        <a:rPr lang="en-GB" sz="2000" dirty="0"/>
                        <a:t>END / INTENTION</a:t>
                      </a:r>
                    </a:p>
                    <a:p>
                      <a:pPr algn="ctr"/>
                      <a:endParaRPr lang="en-GB" sz="2000" dirty="0"/>
                    </a:p>
                  </a:txBody>
                  <a:tcPr/>
                </a:tc>
                <a:tc>
                  <a:txBody>
                    <a:bodyPr/>
                    <a:lstStyle/>
                    <a:p>
                      <a:pPr algn="ctr"/>
                      <a:r>
                        <a:rPr lang="en-GB" sz="2000" dirty="0"/>
                        <a:t>CIRCUMSTANCES</a:t>
                      </a:r>
                    </a:p>
                  </a:txBody>
                  <a:tcPr/>
                </a:tc>
                <a:extLst>
                  <a:ext uri="{0D108BD9-81ED-4DB2-BD59-A6C34878D82A}">
                    <a16:rowId xmlns:a16="http://schemas.microsoft.com/office/drawing/2014/main" val="10000"/>
                  </a:ext>
                </a:extLst>
              </a:tr>
              <a:tr h="921877">
                <a:tc>
                  <a:txBody>
                    <a:bodyPr/>
                    <a:lstStyle/>
                    <a:p>
                      <a:r>
                        <a:rPr lang="en-GB" dirty="0"/>
                        <a:t>Manipulation</a:t>
                      </a:r>
                      <a:r>
                        <a:rPr lang="en-GB" baseline="0" dirty="0"/>
                        <a:t> of employees</a:t>
                      </a:r>
                      <a:endParaRPr lang="en-GB" dirty="0"/>
                    </a:p>
                  </a:txBody>
                  <a:tcPr/>
                </a:tc>
                <a:tc>
                  <a:txBody>
                    <a:bodyPr/>
                    <a:lstStyle/>
                    <a:p>
                      <a:r>
                        <a:rPr lang="en-GB" dirty="0"/>
                        <a:t>To get excellent results</a:t>
                      </a:r>
                    </a:p>
                  </a:txBody>
                  <a:tcPr/>
                </a:tc>
                <a:tc>
                  <a:txBody>
                    <a:bodyPr/>
                    <a:lstStyle/>
                    <a:p>
                      <a:r>
                        <a:rPr lang="en-GB" dirty="0"/>
                        <a:t>Refusal to cooperate in future</a:t>
                      </a:r>
                    </a:p>
                  </a:txBody>
                  <a:tcPr/>
                </a:tc>
                <a:extLst>
                  <a:ext uri="{0D108BD9-81ED-4DB2-BD59-A6C34878D82A}">
                    <a16:rowId xmlns:a16="http://schemas.microsoft.com/office/drawing/2014/main" val="10001"/>
                  </a:ext>
                </a:extLst>
              </a:tr>
              <a:tr h="1536462">
                <a:tc>
                  <a:txBody>
                    <a:bodyPr/>
                    <a:lstStyle/>
                    <a:p>
                      <a:r>
                        <a:rPr lang="en-GB" b="1" dirty="0"/>
                        <a:t>MORALITY IN TERMS OF SOME ETHICAL </a:t>
                      </a:r>
                      <a:r>
                        <a:rPr lang="en-GB" b="1" baseline="0" dirty="0"/>
                        <a:t>PRINCIPLE</a:t>
                      </a:r>
                      <a:endParaRPr lang="en-GB"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MORALITY IN TERMS OF SOME ETHICAL </a:t>
                      </a:r>
                      <a:r>
                        <a:rPr lang="en-GB" b="1" baseline="0" dirty="0"/>
                        <a:t>PRINCIPLE</a:t>
                      </a:r>
                      <a:endParaRPr lang="en-GB"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MORALITY IN TERMS OF SOME ETHICAL </a:t>
                      </a:r>
                      <a:r>
                        <a:rPr lang="en-GB" b="1" baseline="0" dirty="0"/>
                        <a:t>PRINCIPLE</a:t>
                      </a:r>
                      <a:endParaRPr lang="en-GB" b="1" dirty="0"/>
                    </a:p>
                  </a:txBody>
                  <a:tcPr/>
                </a:tc>
                <a:extLst>
                  <a:ext uri="{0D108BD9-81ED-4DB2-BD59-A6C34878D82A}">
                    <a16:rowId xmlns:a16="http://schemas.microsoft.com/office/drawing/2014/main" val="10002"/>
                  </a:ext>
                </a:extLst>
              </a:tr>
              <a:tr h="1331601">
                <a:tc>
                  <a:txBody>
                    <a:bodyPr/>
                    <a:lstStyle/>
                    <a:p>
                      <a:r>
                        <a:rPr lang="en-GB" dirty="0"/>
                        <a:t>Bad – goes against their human dignity </a:t>
                      </a:r>
                    </a:p>
                  </a:txBody>
                  <a:tcPr/>
                </a:tc>
                <a:tc>
                  <a:txBody>
                    <a:bodyPr/>
                    <a:lstStyle/>
                    <a:p>
                      <a:r>
                        <a:rPr lang="en-GB" dirty="0"/>
                        <a:t>Good – profit for the firm + employees: </a:t>
                      </a:r>
                      <a:r>
                        <a:rPr lang="en-GB" baseline="0" dirty="0"/>
                        <a:t>human dignity //  common good</a:t>
                      </a:r>
                      <a:endParaRPr lang="en-GB" dirty="0"/>
                    </a:p>
                  </a:txBody>
                  <a:tcPr/>
                </a:tc>
                <a:tc>
                  <a:txBody>
                    <a:bodyPr/>
                    <a:lstStyle/>
                    <a:p>
                      <a:r>
                        <a:rPr lang="en-GB" dirty="0"/>
                        <a:t>Bad – difficult</a:t>
                      </a:r>
                      <a:r>
                        <a:rPr lang="en-GB" baseline="0" dirty="0"/>
                        <a:t> to achieve good results in future: disrespect human dignity // golden rule</a:t>
                      </a:r>
                      <a:endParaRPr lang="en-GB" dirty="0"/>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573206" y="6400800"/>
            <a:ext cx="5023491" cy="369332"/>
          </a:xfrm>
          <a:prstGeom prst="rect">
            <a:avLst/>
          </a:prstGeom>
          <a:noFill/>
        </p:spPr>
        <p:txBody>
          <a:bodyPr wrap="none" rtlCol="0">
            <a:spAutoFit/>
          </a:bodyPr>
          <a:lstStyle/>
          <a:p>
            <a:r>
              <a:rPr lang="en-GB" b="1" dirty="0">
                <a:solidFill>
                  <a:srgbClr val="FF0000"/>
                </a:solidFill>
              </a:rPr>
              <a:t>OVERALL ETHICAL VALUE OF MANAGER’S ACTION?</a:t>
            </a:r>
          </a:p>
        </p:txBody>
      </p:sp>
    </p:spTree>
    <p:extLst>
      <p:ext uri="{BB962C8B-B14F-4D97-AF65-F5344CB8AC3E}">
        <p14:creationId xmlns:p14="http://schemas.microsoft.com/office/powerpoint/2010/main" val="1958385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3" presetClass="entr" presetSubtype="16"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Breakout Rooms</a:t>
            </a:r>
            <a:br>
              <a:rPr lang="en-GB" dirty="0"/>
            </a:br>
            <a:r>
              <a:rPr lang="en-GB" dirty="0"/>
              <a:t>7 to 12</a:t>
            </a:r>
          </a:p>
        </p:txBody>
      </p:sp>
      <p:sp>
        <p:nvSpPr>
          <p:cNvPr id="3" name="Content Placeholder 2"/>
          <p:cNvSpPr>
            <a:spLocks noGrp="1"/>
          </p:cNvSpPr>
          <p:nvPr>
            <p:ph idx="1"/>
          </p:nvPr>
        </p:nvSpPr>
        <p:spPr/>
        <p:txBody>
          <a:bodyPr/>
          <a:lstStyle/>
          <a:p>
            <a:r>
              <a:rPr lang="en-GB" dirty="0"/>
              <a:t>Case – Giving in or Giving up</a:t>
            </a:r>
          </a:p>
          <a:p>
            <a:r>
              <a:rPr lang="en-GB" dirty="0"/>
              <a:t>Read the case and identify:</a:t>
            </a:r>
          </a:p>
          <a:p>
            <a:pPr lvl="1"/>
            <a:r>
              <a:rPr lang="en-GB" dirty="0"/>
              <a:t>A key action + it’s morality</a:t>
            </a:r>
          </a:p>
          <a:p>
            <a:pPr lvl="1"/>
            <a:r>
              <a:rPr lang="en-GB" dirty="0"/>
              <a:t>Corresponding intention + it’s morality</a:t>
            </a:r>
          </a:p>
          <a:p>
            <a:pPr lvl="1"/>
            <a:r>
              <a:rPr lang="en-GB" dirty="0"/>
              <a:t>Related circumstances + their morality</a:t>
            </a:r>
          </a:p>
          <a:p>
            <a:pPr marL="457200" lvl="1" indent="0">
              <a:buNone/>
            </a:pPr>
            <a:endParaRPr lang="en-GB" dirty="0"/>
          </a:p>
          <a:p>
            <a:pPr lvl="1"/>
            <a:r>
              <a:rPr lang="en-GB" dirty="0"/>
              <a:t>How would you advise Anne to act?</a:t>
            </a:r>
          </a:p>
          <a:p>
            <a:pPr lvl="2"/>
            <a:r>
              <a:rPr lang="en-GB" dirty="0"/>
              <a:t>Give reasons for your answer</a:t>
            </a:r>
          </a:p>
          <a:p>
            <a:pPr lvl="3"/>
            <a:endParaRPr lang="en-GB" dirty="0"/>
          </a:p>
        </p:txBody>
      </p:sp>
    </p:spTree>
    <p:extLst>
      <p:ext uri="{BB962C8B-B14F-4D97-AF65-F5344CB8AC3E}">
        <p14:creationId xmlns:p14="http://schemas.microsoft.com/office/powerpoint/2010/main" val="3985995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4F482-09FB-534D-BAD9-DEBCE1E4A75B}"/>
              </a:ext>
            </a:extLst>
          </p:cNvPr>
          <p:cNvSpPr>
            <a:spLocks noGrp="1"/>
          </p:cNvSpPr>
          <p:nvPr>
            <p:ph type="title"/>
          </p:nvPr>
        </p:nvSpPr>
        <p:spPr/>
        <p:txBody>
          <a:bodyPr/>
          <a:lstStyle/>
          <a:p>
            <a:r>
              <a:rPr lang="es-ES" dirty="0"/>
              <a:t/>
            </a:r>
            <a:br>
              <a:rPr lang="es-ES" dirty="0"/>
            </a:br>
            <a:r>
              <a:rPr lang="es-ES" dirty="0"/>
              <a:t>The </a:t>
            </a:r>
            <a:r>
              <a:rPr lang="es-ES" dirty="0" err="1"/>
              <a:t>Principle</a:t>
            </a:r>
            <a:r>
              <a:rPr lang="es-ES" dirty="0"/>
              <a:t> of </a:t>
            </a:r>
            <a:r>
              <a:rPr lang="es-ES" dirty="0" err="1"/>
              <a:t>Double</a:t>
            </a:r>
            <a:r>
              <a:rPr lang="es-ES" dirty="0"/>
              <a:t> </a:t>
            </a:r>
            <a:r>
              <a:rPr lang="es-ES" dirty="0" err="1"/>
              <a:t>Effect</a:t>
            </a:r>
            <a:r>
              <a:rPr lang="es-ES" dirty="0"/>
              <a:t> (PDE)</a:t>
            </a:r>
            <a:br>
              <a:rPr lang="es-ES" dirty="0"/>
            </a:br>
            <a:endParaRPr lang="en-US" dirty="0"/>
          </a:p>
        </p:txBody>
      </p:sp>
      <p:sp>
        <p:nvSpPr>
          <p:cNvPr id="6" name="Content Placeholder 5"/>
          <p:cNvSpPr>
            <a:spLocks noGrp="1"/>
          </p:cNvSpPr>
          <p:nvPr>
            <p:ph idx="1"/>
          </p:nvPr>
        </p:nvSpPr>
        <p:spPr/>
        <p:txBody>
          <a:bodyPr>
            <a:normAutofit lnSpcReduction="10000"/>
          </a:bodyPr>
          <a:lstStyle/>
          <a:p>
            <a:r>
              <a:rPr lang="en-US" dirty="0"/>
              <a:t>Many personal and professional actions simultaneously give rise to a good effect specifically intended as a goal, and a bad effect</a:t>
            </a:r>
          </a:p>
          <a:p>
            <a:pPr lvl="1"/>
            <a:r>
              <a:rPr lang="en-US" dirty="0"/>
              <a:t>Actions with a double effect</a:t>
            </a:r>
          </a:p>
          <a:p>
            <a:pPr lvl="1"/>
            <a:endParaRPr lang="en-US" dirty="0"/>
          </a:p>
          <a:p>
            <a:r>
              <a:rPr lang="en-US" dirty="0"/>
              <a:t>A factory manufactures a useful product, creates wealth and provides jobs (good effects), but pollutes the environment (bad effects)</a:t>
            </a:r>
            <a:r>
              <a:rPr lang="es-ES" dirty="0"/>
              <a:t> </a:t>
            </a:r>
            <a:endParaRPr lang="en-US" dirty="0"/>
          </a:p>
          <a:p>
            <a:endParaRPr lang="en-GB" dirty="0"/>
          </a:p>
        </p:txBody>
      </p:sp>
      <p:sp>
        <p:nvSpPr>
          <p:cNvPr id="5" name="Slide Number Placeholder 4">
            <a:extLst>
              <a:ext uri="{FF2B5EF4-FFF2-40B4-BE49-F238E27FC236}">
                <a16:creationId xmlns:a16="http://schemas.microsoft.com/office/drawing/2014/main" id="{7571DCF5-5D70-A241-B535-B87EC37DFA8C}"/>
              </a:ext>
            </a:extLst>
          </p:cNvPr>
          <p:cNvSpPr>
            <a:spLocks noGrp="1"/>
          </p:cNvSpPr>
          <p:nvPr>
            <p:ph type="sldNum" sz="quarter" idx="4294967295"/>
          </p:nvPr>
        </p:nvSpPr>
        <p:spPr>
          <a:xfrm>
            <a:off x="7010400" y="6356350"/>
            <a:ext cx="2133600" cy="365125"/>
          </a:xfrm>
        </p:spPr>
        <p:txBody>
          <a:bodyPr/>
          <a:lstStyle/>
          <a:p>
            <a:fld id="{42DE34A4-2657-44C4-A8B5-45B367847798}" type="slidenum">
              <a:rPr lang="en-GB" smtClean="0"/>
              <a:pPr/>
              <a:t>21</a:t>
            </a:fld>
            <a:endParaRPr lang="en-GB"/>
          </a:p>
        </p:txBody>
      </p:sp>
    </p:spTree>
    <p:extLst>
      <p:ext uri="{BB962C8B-B14F-4D97-AF65-F5344CB8AC3E}">
        <p14:creationId xmlns:p14="http://schemas.microsoft.com/office/powerpoint/2010/main" val="1942614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Principle of Double Effect</a:t>
            </a:r>
          </a:p>
        </p:txBody>
      </p:sp>
      <p:sp>
        <p:nvSpPr>
          <p:cNvPr id="3" name="Content Placeholder 2"/>
          <p:cNvSpPr>
            <a:spLocks noGrp="1"/>
          </p:cNvSpPr>
          <p:nvPr>
            <p:ph idx="1"/>
          </p:nvPr>
        </p:nvSpPr>
        <p:spPr/>
        <p:txBody>
          <a:bodyPr>
            <a:normAutofit lnSpcReduction="10000"/>
          </a:bodyPr>
          <a:lstStyle/>
          <a:p>
            <a:r>
              <a:rPr lang="en-GB" dirty="0"/>
              <a:t>A good action, with a good intention which has a good effect and a possible bad secondary effect</a:t>
            </a:r>
          </a:p>
          <a:p>
            <a:endParaRPr lang="en-GB" dirty="0"/>
          </a:p>
          <a:p>
            <a:r>
              <a:rPr lang="en-GB" dirty="0"/>
              <a:t>The side effects may be foreseen but are not intended directly</a:t>
            </a:r>
          </a:p>
          <a:p>
            <a:endParaRPr lang="en-GB" dirty="0"/>
          </a:p>
          <a:p>
            <a:r>
              <a:rPr lang="en-GB" dirty="0">
                <a:solidFill>
                  <a:srgbClr val="FF0000"/>
                </a:solidFill>
              </a:rPr>
              <a:t>Examples in the fields of tourism, hospitality, finance?</a:t>
            </a:r>
          </a:p>
          <a:p>
            <a:pPr lvl="1"/>
            <a:r>
              <a:rPr lang="en-GB" dirty="0">
                <a:solidFill>
                  <a:srgbClr val="FF0000"/>
                </a:solidFill>
              </a:rPr>
              <a:t>Think and share</a:t>
            </a:r>
          </a:p>
        </p:txBody>
      </p:sp>
    </p:spTree>
    <p:extLst>
      <p:ext uri="{BB962C8B-B14F-4D97-AF65-F5344CB8AC3E}">
        <p14:creationId xmlns:p14="http://schemas.microsoft.com/office/powerpoint/2010/main" val="35026452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Principle of Double Effect [complex actions]</a:t>
            </a:r>
          </a:p>
        </p:txBody>
      </p:sp>
      <p:graphicFrame>
        <p:nvGraphicFramePr>
          <p:cNvPr id="4" name="Content Placeholder 3"/>
          <p:cNvGraphicFramePr>
            <a:graphicFrameLocks noGrp="1"/>
          </p:cNvGraphicFramePr>
          <p:nvPr>
            <p:ph idx="1"/>
          </p:nvPr>
        </p:nvGraphicFramePr>
        <p:xfrm>
          <a:off x="1063625" y="1600200"/>
          <a:ext cx="7623175" cy="4911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78068912"/>
      </p:ext>
    </p:extLst>
  </p:cSld>
  <p:clrMapOvr>
    <a:masterClrMapping/>
  </p:clrMapOvr>
  <p:transition>
    <p:dissolv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Covid-19 Scenario</a:t>
            </a:r>
          </a:p>
        </p:txBody>
      </p:sp>
      <p:sp>
        <p:nvSpPr>
          <p:cNvPr id="3" name="Content Placeholder 2"/>
          <p:cNvSpPr>
            <a:spLocks noGrp="1"/>
          </p:cNvSpPr>
          <p:nvPr>
            <p:ph idx="1"/>
          </p:nvPr>
        </p:nvSpPr>
        <p:spPr/>
        <p:txBody>
          <a:bodyPr>
            <a:normAutofit fontScale="77500" lnSpcReduction="20000"/>
          </a:bodyPr>
          <a:lstStyle/>
          <a:p>
            <a:pPr marL="0" indent="0">
              <a:buNone/>
            </a:pPr>
            <a:r>
              <a:rPr lang="en-GB" dirty="0"/>
              <a:t>Due to the government restrictions on movement during the coronavirus, you and your spouse are working from home; the 3 kids [ages 2-10] are also at home. Your family lives in a small apartment. For the last 10 weeks you and your spouse have been struggling to cook, wash clothes, clean the house, manage the kids and keep up with your online work. You are both exhausted and behind with your work deadlines. You are thinking of recalling your house-help, whom you sent home at the start of the shut-down. She lives in a Covid-19 affected area. As your house is small, she would have to come and go each day with the risk of bringing the virus to your home. You are in a dilemma about how to act.</a:t>
            </a:r>
          </a:p>
        </p:txBody>
      </p:sp>
    </p:spTree>
    <p:extLst>
      <p:ext uri="{BB962C8B-B14F-4D97-AF65-F5344CB8AC3E}">
        <p14:creationId xmlns:p14="http://schemas.microsoft.com/office/powerpoint/2010/main" val="2996269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GB" sz="2400" b="1" dirty="0">
                <a:solidFill>
                  <a:schemeClr val="tx2"/>
                </a:solidFill>
              </a:rPr>
              <a:t>CHART TO ANALYSE ACTS WITH </a:t>
            </a:r>
            <a:br>
              <a:rPr lang="en-GB" sz="2400" b="1" dirty="0">
                <a:solidFill>
                  <a:schemeClr val="tx2"/>
                </a:solidFill>
              </a:rPr>
            </a:br>
            <a:r>
              <a:rPr lang="en-GB" sz="2400" b="1" dirty="0">
                <a:solidFill>
                  <a:schemeClr val="tx2"/>
                </a:solidFill>
              </a:rPr>
              <a:t>DOUBLE EFFECTS</a:t>
            </a:r>
            <a:br>
              <a:rPr lang="en-GB" sz="2400" b="1" dirty="0">
                <a:solidFill>
                  <a:schemeClr val="tx2"/>
                </a:solidFill>
              </a:rPr>
            </a:br>
            <a:endParaRPr lang="en-GB"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48598781"/>
              </p:ext>
            </p:extLst>
          </p:nvPr>
        </p:nvGraphicFramePr>
        <p:xfrm>
          <a:off x="696047" y="1600197"/>
          <a:ext cx="8065818" cy="4814250"/>
        </p:xfrm>
        <a:graphic>
          <a:graphicData uri="http://schemas.openxmlformats.org/drawingml/2006/table">
            <a:tbl>
              <a:tblPr firstRow="1" bandRow="1">
                <a:tableStyleId>{5C22544A-7EE6-4342-B048-85BDC9FD1C3A}</a:tableStyleId>
              </a:tblPr>
              <a:tblGrid>
                <a:gridCol w="2688606">
                  <a:extLst>
                    <a:ext uri="{9D8B030D-6E8A-4147-A177-3AD203B41FA5}">
                      <a16:colId xmlns:a16="http://schemas.microsoft.com/office/drawing/2014/main" val="20000"/>
                    </a:ext>
                  </a:extLst>
                </a:gridCol>
                <a:gridCol w="2688606">
                  <a:extLst>
                    <a:ext uri="{9D8B030D-6E8A-4147-A177-3AD203B41FA5}">
                      <a16:colId xmlns:a16="http://schemas.microsoft.com/office/drawing/2014/main" val="20001"/>
                    </a:ext>
                  </a:extLst>
                </a:gridCol>
                <a:gridCol w="2688606">
                  <a:extLst>
                    <a:ext uri="{9D8B030D-6E8A-4147-A177-3AD203B41FA5}">
                      <a16:colId xmlns:a16="http://schemas.microsoft.com/office/drawing/2014/main" val="20002"/>
                    </a:ext>
                  </a:extLst>
                </a:gridCol>
              </a:tblGrid>
              <a:tr h="1118027">
                <a:tc>
                  <a:txBody>
                    <a:bodyPr/>
                    <a:lstStyle/>
                    <a:p>
                      <a:pPr algn="ctr"/>
                      <a:r>
                        <a:rPr lang="en-GB" sz="2400" dirty="0"/>
                        <a:t>MAIN ACTION + INTENTION</a:t>
                      </a:r>
                    </a:p>
                  </a:txBody>
                  <a:tcPr marL="86360" marR="86360"/>
                </a:tc>
                <a:tc>
                  <a:txBody>
                    <a:bodyPr/>
                    <a:lstStyle/>
                    <a:p>
                      <a:pPr algn="ctr"/>
                      <a:r>
                        <a:rPr lang="en-GB" sz="2400" dirty="0"/>
                        <a:t>MAIN EFFECT</a:t>
                      </a:r>
                    </a:p>
                  </a:txBody>
                  <a:tcPr marL="86360" marR="86360"/>
                </a:tc>
                <a:tc>
                  <a:txBody>
                    <a:bodyPr/>
                    <a:lstStyle/>
                    <a:p>
                      <a:pPr algn="ctr"/>
                      <a:r>
                        <a:rPr lang="en-GB" sz="2400" dirty="0"/>
                        <a:t>INDIRECT EFFECT</a:t>
                      </a:r>
                    </a:p>
                  </a:txBody>
                  <a:tcPr marL="86360" marR="86360"/>
                </a:tc>
                <a:extLst>
                  <a:ext uri="{0D108BD9-81ED-4DB2-BD59-A6C34878D82A}">
                    <a16:rowId xmlns:a16="http://schemas.microsoft.com/office/drawing/2014/main" val="10000"/>
                  </a:ext>
                </a:extLst>
              </a:tr>
              <a:tr h="1435696">
                <a:tc>
                  <a:txBody>
                    <a:bodyPr/>
                    <a:lstStyle/>
                    <a:p>
                      <a:endParaRPr lang="en-GB" sz="2400" b="1" dirty="0"/>
                    </a:p>
                  </a:txBody>
                  <a:tcPr marL="86360" marR="86360"/>
                </a:tc>
                <a:tc>
                  <a:txBody>
                    <a:bodyPr/>
                    <a:lstStyle/>
                    <a:p>
                      <a:endParaRPr lang="en-GB" sz="2400" b="1" dirty="0"/>
                    </a:p>
                  </a:txBody>
                  <a:tcPr marL="86360" marR="86360"/>
                </a:tc>
                <a:tc>
                  <a:txBody>
                    <a:bodyPr/>
                    <a:lstStyle/>
                    <a:p>
                      <a:endParaRPr lang="en-GB" sz="2400" b="1" dirty="0"/>
                    </a:p>
                  </a:txBody>
                  <a:tcPr marL="86360" marR="86360"/>
                </a:tc>
                <a:extLst>
                  <a:ext uri="{0D108BD9-81ED-4DB2-BD59-A6C34878D82A}">
                    <a16:rowId xmlns:a16="http://schemas.microsoft.com/office/drawing/2014/main" val="10001"/>
                  </a:ext>
                </a:extLst>
              </a:tr>
              <a:tr h="1303678">
                <a:tc>
                  <a:txBody>
                    <a:bodyPr/>
                    <a:lstStyle/>
                    <a:p>
                      <a:endParaRPr lang="en-GB" sz="2400" b="1" dirty="0"/>
                    </a:p>
                  </a:txBody>
                  <a:tcPr marL="86360" marR="86360"/>
                </a:tc>
                <a:tc>
                  <a:txBody>
                    <a:bodyPr/>
                    <a:lstStyle/>
                    <a:p>
                      <a:endParaRPr lang="en-GB" sz="2400" b="1" dirty="0"/>
                    </a:p>
                  </a:txBody>
                  <a:tcPr marL="86360" marR="86360"/>
                </a:tc>
                <a:tc>
                  <a:txBody>
                    <a:bodyPr/>
                    <a:lstStyle/>
                    <a:p>
                      <a:endParaRPr lang="en-GB" sz="2400" b="1" dirty="0"/>
                    </a:p>
                  </a:txBody>
                  <a:tcPr marL="86360" marR="86360"/>
                </a:tc>
                <a:extLst>
                  <a:ext uri="{0D108BD9-81ED-4DB2-BD59-A6C34878D82A}">
                    <a16:rowId xmlns:a16="http://schemas.microsoft.com/office/drawing/2014/main" val="10002"/>
                  </a:ext>
                </a:extLst>
              </a:tr>
              <a:tr h="956849">
                <a:tc>
                  <a:txBody>
                    <a:bodyPr/>
                    <a:lstStyle/>
                    <a:p>
                      <a:endParaRPr lang="en-GB" sz="2400" b="1" dirty="0"/>
                    </a:p>
                  </a:txBody>
                  <a:tcPr marL="86360" marR="86360"/>
                </a:tc>
                <a:tc>
                  <a:txBody>
                    <a:bodyPr/>
                    <a:lstStyle/>
                    <a:p>
                      <a:endParaRPr lang="en-GB" sz="2400" b="1" dirty="0"/>
                    </a:p>
                  </a:txBody>
                  <a:tcPr marL="86360" marR="86360"/>
                </a:tc>
                <a:tc>
                  <a:txBody>
                    <a:bodyPr/>
                    <a:lstStyle/>
                    <a:p>
                      <a:endParaRPr lang="en-GB" sz="2400" b="1" dirty="0"/>
                    </a:p>
                  </a:txBody>
                  <a:tcPr marL="86360" marR="8636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29144831"/>
      </p:ext>
    </p:extLst>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GB" sz="2400" b="1" dirty="0">
                <a:solidFill>
                  <a:schemeClr val="tx2"/>
                </a:solidFill>
              </a:rPr>
              <a:t>CHART TO ANALYSE ACTS WITH </a:t>
            </a:r>
            <a:br>
              <a:rPr lang="en-GB" sz="2400" b="1" dirty="0">
                <a:solidFill>
                  <a:schemeClr val="tx2"/>
                </a:solidFill>
              </a:rPr>
            </a:br>
            <a:r>
              <a:rPr lang="en-GB" sz="2400" b="1" dirty="0">
                <a:solidFill>
                  <a:schemeClr val="tx2"/>
                </a:solidFill>
              </a:rPr>
              <a:t>DOUBLE EFFECTS</a:t>
            </a:r>
            <a:br>
              <a:rPr lang="en-GB" sz="2400" b="1" dirty="0">
                <a:solidFill>
                  <a:schemeClr val="tx2"/>
                </a:solidFill>
              </a:rPr>
            </a:br>
            <a:endParaRPr lang="en-GB"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79263732"/>
              </p:ext>
            </p:extLst>
          </p:nvPr>
        </p:nvGraphicFramePr>
        <p:xfrm>
          <a:off x="491320" y="1335042"/>
          <a:ext cx="8407020" cy="5065758"/>
        </p:xfrm>
        <a:graphic>
          <a:graphicData uri="http://schemas.openxmlformats.org/drawingml/2006/table">
            <a:tbl>
              <a:tblPr firstRow="1" bandRow="1">
                <a:tableStyleId>{5C22544A-7EE6-4342-B048-85BDC9FD1C3A}</a:tableStyleId>
              </a:tblPr>
              <a:tblGrid>
                <a:gridCol w="2802340">
                  <a:extLst>
                    <a:ext uri="{9D8B030D-6E8A-4147-A177-3AD203B41FA5}">
                      <a16:colId xmlns:a16="http://schemas.microsoft.com/office/drawing/2014/main" val="20000"/>
                    </a:ext>
                  </a:extLst>
                </a:gridCol>
                <a:gridCol w="2802340">
                  <a:extLst>
                    <a:ext uri="{9D8B030D-6E8A-4147-A177-3AD203B41FA5}">
                      <a16:colId xmlns:a16="http://schemas.microsoft.com/office/drawing/2014/main" val="20001"/>
                    </a:ext>
                  </a:extLst>
                </a:gridCol>
                <a:gridCol w="2802340">
                  <a:extLst>
                    <a:ext uri="{9D8B030D-6E8A-4147-A177-3AD203B41FA5}">
                      <a16:colId xmlns:a16="http://schemas.microsoft.com/office/drawing/2014/main" val="20002"/>
                    </a:ext>
                  </a:extLst>
                </a:gridCol>
              </a:tblGrid>
              <a:tr h="1194935">
                <a:tc>
                  <a:txBody>
                    <a:bodyPr/>
                    <a:lstStyle/>
                    <a:p>
                      <a:pPr algn="ctr"/>
                      <a:r>
                        <a:rPr lang="en-GB" sz="2400" dirty="0"/>
                        <a:t>MAIN ACTION + INTENTION</a:t>
                      </a:r>
                    </a:p>
                  </a:txBody>
                  <a:tcPr marL="86360" marR="86360"/>
                </a:tc>
                <a:tc>
                  <a:txBody>
                    <a:bodyPr/>
                    <a:lstStyle/>
                    <a:p>
                      <a:pPr algn="ctr"/>
                      <a:r>
                        <a:rPr lang="en-GB" sz="2400" dirty="0"/>
                        <a:t>MAIN EFFECT</a:t>
                      </a:r>
                    </a:p>
                  </a:txBody>
                  <a:tcPr marL="86360" marR="86360"/>
                </a:tc>
                <a:tc>
                  <a:txBody>
                    <a:bodyPr/>
                    <a:lstStyle/>
                    <a:p>
                      <a:pPr algn="ctr"/>
                      <a:r>
                        <a:rPr lang="en-GB" sz="2400" dirty="0"/>
                        <a:t>INDIRECT EFFECT</a:t>
                      </a:r>
                    </a:p>
                  </a:txBody>
                  <a:tcPr marL="86360" marR="86360"/>
                </a:tc>
                <a:extLst>
                  <a:ext uri="{0D108BD9-81ED-4DB2-BD59-A6C34878D82A}">
                    <a16:rowId xmlns:a16="http://schemas.microsoft.com/office/drawing/2014/main" val="10000"/>
                  </a:ext>
                </a:extLst>
              </a:tr>
              <a:tr h="1733324">
                <a:tc>
                  <a:txBody>
                    <a:bodyPr/>
                    <a:lstStyle/>
                    <a:p>
                      <a:r>
                        <a:rPr lang="en-GB" sz="2000" b="1" dirty="0"/>
                        <a:t>Main Action: recall house-help</a:t>
                      </a:r>
                    </a:p>
                    <a:p>
                      <a:r>
                        <a:rPr lang="en-GB" sz="2000" b="1" dirty="0"/>
                        <a:t>Intention:</a:t>
                      </a:r>
                      <a:r>
                        <a:rPr lang="en-GB" sz="2000" b="1" baseline="0" dirty="0"/>
                        <a:t> help with the work</a:t>
                      </a:r>
                      <a:endParaRPr lang="en-GB" sz="2000" b="1" dirty="0"/>
                    </a:p>
                    <a:p>
                      <a:endParaRPr lang="en-GB" sz="20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1" dirty="0"/>
                        <a:t>Ease stress</a:t>
                      </a:r>
                      <a:r>
                        <a:rPr lang="en-GB" sz="2000" b="1" baseline="0" dirty="0"/>
                        <a:t> of work in home</a:t>
                      </a:r>
                      <a:endParaRPr lang="en-GB" sz="2000" b="1" dirty="0"/>
                    </a:p>
                    <a:p>
                      <a:endParaRPr lang="en-GB" sz="20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1" dirty="0"/>
                        <a:t>Possibility of exposing family to corona through the house-help</a:t>
                      </a:r>
                    </a:p>
                    <a:p>
                      <a:endParaRPr lang="en-GB" sz="2000" b="1" dirty="0"/>
                    </a:p>
                  </a:txBody>
                  <a:tcPr marL="86360" marR="86360"/>
                </a:tc>
                <a:extLst>
                  <a:ext uri="{0D108BD9-81ED-4DB2-BD59-A6C34878D82A}">
                    <a16:rowId xmlns:a16="http://schemas.microsoft.com/office/drawing/2014/main" val="10001"/>
                  </a:ext>
                </a:extLst>
              </a:tr>
              <a:tr h="1114829">
                <a:tc>
                  <a:txBody>
                    <a:bodyPr/>
                    <a:lstStyle/>
                    <a:p>
                      <a:r>
                        <a:rPr lang="en-GB" sz="2000" b="1" dirty="0"/>
                        <a:t>Morally good or bad?</a:t>
                      </a:r>
                      <a:r>
                        <a:rPr lang="en-GB" sz="2000" b="1" baseline="0" dirty="0"/>
                        <a:t> Ethical </a:t>
                      </a:r>
                      <a:r>
                        <a:rPr lang="en-GB" sz="2000" b="1" dirty="0"/>
                        <a:t>Principles</a:t>
                      </a:r>
                    </a:p>
                    <a:p>
                      <a:endParaRPr lang="en-GB" sz="20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1" dirty="0"/>
                        <a:t>Morally good or bad?</a:t>
                      </a:r>
                      <a:r>
                        <a:rPr lang="en-GB" sz="2000" b="1" baseline="0" dirty="0"/>
                        <a:t> Ethical </a:t>
                      </a:r>
                      <a:r>
                        <a:rPr lang="en-GB" sz="2000" b="1" dirty="0"/>
                        <a:t>Principles</a:t>
                      </a:r>
                    </a:p>
                    <a:p>
                      <a:endParaRPr lang="en-GB" sz="20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000" b="1" dirty="0"/>
                        <a:t>Morally good or bad?</a:t>
                      </a:r>
                      <a:r>
                        <a:rPr lang="en-GB" sz="2000" b="1" baseline="0" dirty="0"/>
                        <a:t> Ethical </a:t>
                      </a:r>
                      <a:r>
                        <a:rPr lang="en-GB" sz="2000" b="1" dirty="0"/>
                        <a:t>Principles</a:t>
                      </a:r>
                    </a:p>
                    <a:p>
                      <a:endParaRPr lang="en-GB" sz="2000" b="1" dirty="0"/>
                    </a:p>
                  </a:txBody>
                  <a:tcPr marL="86360" marR="86360"/>
                </a:tc>
                <a:extLst>
                  <a:ext uri="{0D108BD9-81ED-4DB2-BD59-A6C34878D82A}">
                    <a16:rowId xmlns:a16="http://schemas.microsoft.com/office/drawing/2014/main" val="10002"/>
                  </a:ext>
                </a:extLst>
              </a:tr>
              <a:tr h="1022670">
                <a:tc>
                  <a:txBody>
                    <a:bodyPr/>
                    <a:lstStyle/>
                    <a:p>
                      <a:endParaRPr lang="en-GB" sz="2400" b="1" dirty="0"/>
                    </a:p>
                  </a:txBody>
                  <a:tcPr marL="86360" marR="86360"/>
                </a:tc>
                <a:tc>
                  <a:txBody>
                    <a:bodyPr/>
                    <a:lstStyle/>
                    <a:p>
                      <a:endParaRPr lang="en-GB" sz="2400" b="1" dirty="0"/>
                    </a:p>
                  </a:txBody>
                  <a:tcPr marL="86360" marR="86360"/>
                </a:tc>
                <a:tc>
                  <a:txBody>
                    <a:bodyPr/>
                    <a:lstStyle/>
                    <a:p>
                      <a:endParaRPr lang="en-GB" sz="2400" b="1" dirty="0"/>
                    </a:p>
                  </a:txBody>
                  <a:tcPr marL="86360" marR="8636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69840196"/>
      </p:ext>
    </p:extLst>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GB" sz="2400" b="1" dirty="0">
                <a:solidFill>
                  <a:schemeClr val="tx2"/>
                </a:solidFill>
              </a:rPr>
              <a:t>CHART TO ANALYSE ACTS WITH </a:t>
            </a:r>
            <a:br>
              <a:rPr lang="en-GB" sz="2400" b="1" dirty="0">
                <a:solidFill>
                  <a:schemeClr val="tx2"/>
                </a:solidFill>
              </a:rPr>
            </a:br>
            <a:r>
              <a:rPr lang="en-GB" sz="2400" b="1" dirty="0">
                <a:solidFill>
                  <a:schemeClr val="tx2"/>
                </a:solidFill>
              </a:rPr>
              <a:t>DOUBLE EFFECTS</a:t>
            </a:r>
            <a:br>
              <a:rPr lang="en-GB" sz="2400" b="1" dirty="0">
                <a:solidFill>
                  <a:schemeClr val="tx2"/>
                </a:solidFill>
              </a:rPr>
            </a:br>
            <a:endParaRPr lang="en-GB"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8394757"/>
              </p:ext>
            </p:extLst>
          </p:nvPr>
        </p:nvGraphicFramePr>
        <p:xfrm>
          <a:off x="327547" y="1239508"/>
          <a:ext cx="8407020" cy="5069038"/>
        </p:xfrm>
        <a:graphic>
          <a:graphicData uri="http://schemas.openxmlformats.org/drawingml/2006/table">
            <a:tbl>
              <a:tblPr firstRow="1" bandRow="1">
                <a:tableStyleId>{5C22544A-7EE6-4342-B048-85BDC9FD1C3A}</a:tableStyleId>
              </a:tblPr>
              <a:tblGrid>
                <a:gridCol w="2802340">
                  <a:extLst>
                    <a:ext uri="{9D8B030D-6E8A-4147-A177-3AD203B41FA5}">
                      <a16:colId xmlns:a16="http://schemas.microsoft.com/office/drawing/2014/main" val="20000"/>
                    </a:ext>
                  </a:extLst>
                </a:gridCol>
                <a:gridCol w="2802340">
                  <a:extLst>
                    <a:ext uri="{9D8B030D-6E8A-4147-A177-3AD203B41FA5}">
                      <a16:colId xmlns:a16="http://schemas.microsoft.com/office/drawing/2014/main" val="20001"/>
                    </a:ext>
                  </a:extLst>
                </a:gridCol>
                <a:gridCol w="2802340">
                  <a:extLst>
                    <a:ext uri="{9D8B030D-6E8A-4147-A177-3AD203B41FA5}">
                      <a16:colId xmlns:a16="http://schemas.microsoft.com/office/drawing/2014/main" val="20002"/>
                    </a:ext>
                  </a:extLst>
                </a:gridCol>
              </a:tblGrid>
              <a:tr h="1118027">
                <a:tc>
                  <a:txBody>
                    <a:bodyPr/>
                    <a:lstStyle/>
                    <a:p>
                      <a:pPr algn="ctr"/>
                      <a:r>
                        <a:rPr lang="en-GB" sz="1600" dirty="0"/>
                        <a:t>MAIN ACTION + INTENTION</a:t>
                      </a:r>
                    </a:p>
                  </a:txBody>
                  <a:tcPr marL="86360" marR="86360"/>
                </a:tc>
                <a:tc>
                  <a:txBody>
                    <a:bodyPr/>
                    <a:lstStyle/>
                    <a:p>
                      <a:pPr algn="ctr"/>
                      <a:r>
                        <a:rPr lang="en-GB" sz="1600" dirty="0"/>
                        <a:t>MAIN EFFECT</a:t>
                      </a:r>
                    </a:p>
                  </a:txBody>
                  <a:tcPr marL="86360" marR="86360"/>
                </a:tc>
                <a:tc>
                  <a:txBody>
                    <a:bodyPr/>
                    <a:lstStyle/>
                    <a:p>
                      <a:pPr algn="ctr"/>
                      <a:r>
                        <a:rPr lang="en-GB" sz="1600" dirty="0"/>
                        <a:t>INDIRECT EFFECT</a:t>
                      </a:r>
                    </a:p>
                  </a:txBody>
                  <a:tcPr marL="86360" marR="86360"/>
                </a:tc>
                <a:extLst>
                  <a:ext uri="{0D108BD9-81ED-4DB2-BD59-A6C34878D82A}">
                    <a16:rowId xmlns:a16="http://schemas.microsoft.com/office/drawing/2014/main" val="10000"/>
                  </a:ext>
                </a:extLst>
              </a:tr>
              <a:tr h="1621764">
                <a:tc>
                  <a:txBody>
                    <a:bodyPr/>
                    <a:lstStyle/>
                    <a:p>
                      <a:r>
                        <a:rPr lang="en-GB" sz="1600" b="1" dirty="0"/>
                        <a:t>Main Action: recall house-help</a:t>
                      </a:r>
                    </a:p>
                    <a:p>
                      <a:r>
                        <a:rPr lang="en-GB" sz="1600" b="1" dirty="0"/>
                        <a:t>Intention:</a:t>
                      </a:r>
                      <a:r>
                        <a:rPr lang="en-GB" sz="1600" b="1" baseline="0" dirty="0"/>
                        <a:t> help with the work</a:t>
                      </a:r>
                      <a:endParaRPr lang="en-GB" sz="1600" b="1" dirty="0"/>
                    </a:p>
                    <a:p>
                      <a:endParaRPr lang="en-GB" sz="16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600" b="1" dirty="0"/>
                        <a:t>Ease stress</a:t>
                      </a:r>
                      <a:r>
                        <a:rPr lang="en-GB" sz="1600" b="1" baseline="0" dirty="0"/>
                        <a:t> of work in home</a:t>
                      </a:r>
                      <a:endParaRPr lang="en-GB" sz="1600" b="1" dirty="0"/>
                    </a:p>
                    <a:p>
                      <a:endParaRPr lang="en-GB" sz="16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600" b="1" dirty="0"/>
                        <a:t>Possibility of exposing family to corona through the house-help</a:t>
                      </a:r>
                    </a:p>
                    <a:p>
                      <a:endParaRPr lang="en-GB" sz="1600" b="1" dirty="0"/>
                    </a:p>
                  </a:txBody>
                  <a:tcPr marL="86360" marR="86360"/>
                </a:tc>
                <a:extLst>
                  <a:ext uri="{0D108BD9-81ED-4DB2-BD59-A6C34878D82A}">
                    <a16:rowId xmlns:a16="http://schemas.microsoft.com/office/drawing/2014/main" val="10001"/>
                  </a:ext>
                </a:extLst>
              </a:tr>
              <a:tr h="1372398">
                <a:tc>
                  <a:txBody>
                    <a:bodyPr/>
                    <a:lstStyle/>
                    <a:p>
                      <a:r>
                        <a:rPr lang="en-GB" sz="1600" b="1" dirty="0"/>
                        <a:t>Morally good or bad?</a:t>
                      </a:r>
                      <a:r>
                        <a:rPr lang="en-GB" sz="1600" b="1" baseline="0" dirty="0"/>
                        <a:t> Ethical </a:t>
                      </a:r>
                      <a:r>
                        <a:rPr lang="en-GB" sz="1600" b="1" dirty="0"/>
                        <a:t>Principles</a:t>
                      </a:r>
                    </a:p>
                    <a:p>
                      <a:endParaRPr lang="en-GB" sz="16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600" b="1" dirty="0"/>
                        <a:t>Morally good or bad?</a:t>
                      </a:r>
                      <a:r>
                        <a:rPr lang="en-GB" sz="1600" b="1" baseline="0" dirty="0"/>
                        <a:t> Ethical </a:t>
                      </a:r>
                      <a:r>
                        <a:rPr lang="en-GB" sz="1600" b="1" dirty="0"/>
                        <a:t>Principles</a:t>
                      </a:r>
                    </a:p>
                    <a:p>
                      <a:endParaRPr lang="en-GB" sz="16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600" b="1" dirty="0"/>
                        <a:t>Morally good or bad?</a:t>
                      </a:r>
                      <a:r>
                        <a:rPr lang="en-GB" sz="1600" b="1" baseline="0" dirty="0"/>
                        <a:t> Ethical </a:t>
                      </a:r>
                      <a:r>
                        <a:rPr lang="en-GB" sz="1600" b="1" dirty="0"/>
                        <a:t>Principles</a:t>
                      </a:r>
                    </a:p>
                    <a:p>
                      <a:endParaRPr lang="en-GB" sz="1600" b="1" dirty="0"/>
                    </a:p>
                  </a:txBody>
                  <a:tcPr marL="86360" marR="86360"/>
                </a:tc>
                <a:extLst>
                  <a:ext uri="{0D108BD9-81ED-4DB2-BD59-A6C34878D82A}">
                    <a16:rowId xmlns:a16="http://schemas.microsoft.com/office/drawing/2014/main" val="10002"/>
                  </a:ext>
                </a:extLst>
              </a:tr>
              <a:tr h="956849">
                <a:tc>
                  <a:txBody>
                    <a:bodyPr/>
                    <a:lstStyle/>
                    <a:p>
                      <a:r>
                        <a:rPr lang="en-GB" sz="1600" b="1" dirty="0"/>
                        <a:t>Good?</a:t>
                      </a:r>
                      <a:r>
                        <a:rPr lang="en-GB" sz="1600" b="1" baseline="0" dirty="0"/>
                        <a:t> Principle/s? </a:t>
                      </a:r>
                    </a:p>
                    <a:p>
                      <a:r>
                        <a:rPr lang="en-GB" sz="1600" b="1" baseline="0" dirty="0"/>
                        <a:t>Person? Dignity? Common good? NML?</a:t>
                      </a:r>
                      <a:endParaRPr lang="en-GB" sz="1600" b="1" dirty="0"/>
                    </a:p>
                  </a:txBody>
                  <a:tcPr marL="86360" marR="8636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600" b="1" dirty="0"/>
                        <a:t>Good? Principle/s?</a:t>
                      </a:r>
                    </a:p>
                    <a:p>
                      <a:endParaRPr lang="en-GB" sz="1600" b="1" dirty="0"/>
                    </a:p>
                  </a:txBody>
                  <a:tcPr marL="86360" marR="86360"/>
                </a:tc>
                <a:tc>
                  <a:txBody>
                    <a:bodyPr/>
                    <a:lstStyle/>
                    <a:p>
                      <a:r>
                        <a:rPr lang="en-GB" sz="1600" b="1" dirty="0"/>
                        <a:t>Bad? Principle/s? </a:t>
                      </a:r>
                    </a:p>
                    <a:p>
                      <a:endParaRPr lang="en-GB" sz="1600" b="1" dirty="0"/>
                    </a:p>
                  </a:txBody>
                  <a:tcPr marL="86360" marR="8636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75053749"/>
      </p:ext>
    </p:extLst>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 we carry out this good action?</a:t>
            </a:r>
          </a:p>
        </p:txBody>
      </p:sp>
      <p:sp>
        <p:nvSpPr>
          <p:cNvPr id="6" name="Content Placeholder 5"/>
          <p:cNvSpPr>
            <a:spLocks noGrp="1"/>
          </p:cNvSpPr>
          <p:nvPr>
            <p:ph idx="1"/>
          </p:nvPr>
        </p:nvSpPr>
        <p:spPr/>
        <p:txBody>
          <a:bodyPr/>
          <a:lstStyle/>
          <a:p>
            <a:endParaRPr lang="en-GB" dirty="0"/>
          </a:p>
        </p:txBody>
      </p:sp>
      <p:sp>
        <p:nvSpPr>
          <p:cNvPr id="4" name="Rounded Rectangle 3"/>
          <p:cNvSpPr/>
          <p:nvPr/>
        </p:nvSpPr>
        <p:spPr>
          <a:xfrm>
            <a:off x="3048000" y="1905000"/>
            <a:ext cx="22860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t>Good action</a:t>
            </a:r>
          </a:p>
        </p:txBody>
      </p:sp>
      <p:sp>
        <p:nvSpPr>
          <p:cNvPr id="5" name="Oval 4"/>
          <p:cNvSpPr/>
          <p:nvPr/>
        </p:nvSpPr>
        <p:spPr>
          <a:xfrm>
            <a:off x="429548" y="3810000"/>
            <a:ext cx="2618452" cy="11777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t>Good main effect</a:t>
            </a:r>
          </a:p>
        </p:txBody>
      </p:sp>
      <p:sp>
        <p:nvSpPr>
          <p:cNvPr id="7" name="Oval 6"/>
          <p:cNvSpPr/>
          <p:nvPr/>
        </p:nvSpPr>
        <p:spPr>
          <a:xfrm>
            <a:off x="5334001" y="3810000"/>
            <a:ext cx="3154906" cy="11777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t>Bad indirect effect</a:t>
            </a:r>
          </a:p>
        </p:txBody>
      </p:sp>
      <p:sp>
        <p:nvSpPr>
          <p:cNvPr id="8" name="Down Arrow 7"/>
          <p:cNvSpPr/>
          <p:nvPr/>
        </p:nvSpPr>
        <p:spPr>
          <a:xfrm rot="2400000">
            <a:off x="2791858" y="3027257"/>
            <a:ext cx="560832" cy="1066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Down Arrow 8"/>
          <p:cNvSpPr/>
          <p:nvPr/>
        </p:nvSpPr>
        <p:spPr>
          <a:xfrm rot="-2400000">
            <a:off x="4982162" y="3089305"/>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p:cNvSpPr txBox="1"/>
          <p:nvPr/>
        </p:nvSpPr>
        <p:spPr>
          <a:xfrm>
            <a:off x="557552" y="5288248"/>
            <a:ext cx="8333692" cy="1323439"/>
          </a:xfrm>
          <a:prstGeom prst="rect">
            <a:avLst/>
          </a:prstGeom>
          <a:noFill/>
        </p:spPr>
        <p:txBody>
          <a:bodyPr wrap="none" rtlCol="0">
            <a:spAutoFit/>
          </a:bodyPr>
          <a:lstStyle/>
          <a:p>
            <a:r>
              <a:rPr lang="en-GB" sz="3200" b="1" dirty="0"/>
              <a:t>In principle, we should not carry out such an act</a:t>
            </a:r>
          </a:p>
          <a:p>
            <a:pPr algn="ctr"/>
            <a:r>
              <a:rPr lang="en-GB" sz="2400" b="1" dirty="0">
                <a:solidFill>
                  <a:srgbClr val="FF0000"/>
                </a:solidFill>
              </a:rPr>
              <a:t>Acting in a way you know will bring something bad</a:t>
            </a:r>
          </a:p>
          <a:p>
            <a:pPr algn="ctr"/>
            <a:r>
              <a:rPr lang="en-GB" sz="2400" b="1" dirty="0">
                <a:solidFill>
                  <a:srgbClr val="FF0000"/>
                </a:solidFill>
              </a:rPr>
              <a:t>along with something good</a:t>
            </a:r>
          </a:p>
        </p:txBody>
      </p:sp>
    </p:spTree>
    <p:extLst>
      <p:ext uri="{BB962C8B-B14F-4D97-AF65-F5344CB8AC3E}">
        <p14:creationId xmlns:p14="http://schemas.microsoft.com/office/powerpoint/2010/main" val="19797571"/>
      </p:ext>
    </p:extLst>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fontScale="92500" lnSpcReduction="10000"/>
          </a:bodyPr>
          <a:lstStyle/>
          <a:p>
            <a:pPr marL="514350" indent="-514350">
              <a:buFont typeface="+mj-lt"/>
              <a:buAutoNum type="arabicPeriod"/>
            </a:pPr>
            <a:r>
              <a:rPr lang="en-GB" dirty="0"/>
              <a:t>The action (moral object) should be morally good </a:t>
            </a:r>
          </a:p>
          <a:p>
            <a:pPr marL="514350" indent="-514350">
              <a:buFont typeface="+mj-lt"/>
              <a:buAutoNum type="arabicPeriod"/>
            </a:pPr>
            <a:r>
              <a:rPr lang="en-GB" dirty="0"/>
              <a:t>The intention of the acting person should be morally good</a:t>
            </a:r>
          </a:p>
          <a:p>
            <a:pPr marL="514350" indent="-514350">
              <a:buFont typeface="+mj-lt"/>
              <a:buAutoNum type="arabicPeriod"/>
            </a:pPr>
            <a:r>
              <a:rPr lang="en-GB" dirty="0"/>
              <a:t>The good main effect should follow immediately on the good action</a:t>
            </a:r>
          </a:p>
        </p:txBody>
      </p:sp>
      <p:sp>
        <p:nvSpPr>
          <p:cNvPr id="4" name="Content Placeholder 3">
            <a:extLst>
              <a:ext uri="{FF2B5EF4-FFF2-40B4-BE49-F238E27FC236}">
                <a16:creationId xmlns:a16="http://schemas.microsoft.com/office/drawing/2014/main" id="{5FA71FC0-73AE-BE94-1A40-443DBDD8F4CE}"/>
              </a:ext>
            </a:extLst>
          </p:cNvPr>
          <p:cNvSpPr>
            <a:spLocks noGrp="1"/>
          </p:cNvSpPr>
          <p:nvPr>
            <p:ph sz="half" idx="2"/>
          </p:nvPr>
        </p:nvSpPr>
        <p:spPr/>
        <p:txBody>
          <a:bodyPr/>
          <a:lstStyle/>
          <a:p>
            <a:pPr marL="0" indent="0">
              <a:buNone/>
            </a:pPr>
            <a:r>
              <a:rPr lang="en-GB" dirty="0"/>
              <a:t>4. A proportionately serious reason should exist, to justify the bad indirect effect</a:t>
            </a:r>
          </a:p>
          <a:p>
            <a:pPr marL="0" indent="0">
              <a:buNone/>
            </a:pPr>
            <a:endParaRPr lang="en-GB" dirty="0"/>
          </a:p>
          <a:p>
            <a:pPr marL="0" indent="0">
              <a:buNone/>
            </a:pPr>
            <a:r>
              <a:rPr lang="en-GB" dirty="0"/>
              <a:t>5. Effort to reduce the negative impact of indirect effect</a:t>
            </a:r>
          </a:p>
          <a:p>
            <a:endParaRPr lang="en-GB" dirty="0"/>
          </a:p>
        </p:txBody>
      </p:sp>
      <p:sp>
        <p:nvSpPr>
          <p:cNvPr id="2" name="Title 1"/>
          <p:cNvSpPr>
            <a:spLocks noGrp="1"/>
          </p:cNvSpPr>
          <p:nvPr>
            <p:ph type="title"/>
          </p:nvPr>
        </p:nvSpPr>
        <p:spPr>
          <a:xfrm>
            <a:off x="997800" y="549275"/>
            <a:ext cx="5859848" cy="787847"/>
          </a:xfrm>
        </p:spPr>
        <p:txBody>
          <a:bodyPr/>
          <a:lstStyle/>
          <a:p>
            <a:r>
              <a:rPr lang="en-GB" sz="2800" b="1" dirty="0"/>
              <a:t>Conditions for an action with double effect to be morally acceptable</a:t>
            </a:r>
          </a:p>
        </p:txBody>
      </p:sp>
    </p:spTree>
    <p:extLst>
      <p:ext uri="{BB962C8B-B14F-4D97-AF65-F5344CB8AC3E}">
        <p14:creationId xmlns:p14="http://schemas.microsoft.com/office/powerpoint/2010/main" val="846602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Scale>
                                      <p:cBhvr>
                                        <p:cTn id="25" dur="1000" decel="50000" fill="hold">
                                          <p:stCondLst>
                                            <p:cond delay="0"/>
                                          </p:stCondLst>
                                        </p:cTn>
                                        <p:tgtEl>
                                          <p:spTgt spid="3">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6" dur="1000" decel="50000" fill="hold">
                                          <p:stCondLst>
                                            <p:cond delay="0"/>
                                          </p:stCondLst>
                                        </p:cTn>
                                        <p:tgtEl>
                                          <p:spTgt spid="3">
                                            <p:txEl>
                                              <p:pRg st="0" end="0"/>
                                            </p:txEl>
                                          </p:spTgt>
                                        </p:tgtEl>
                                        <p:attrNameLst>
                                          <p:attrName>ppt_x</p:attrName>
                                          <p:attrName>ppt_y</p:attrName>
                                        </p:attrNameLst>
                                      </p:cBhvr>
                                    </p:animMotion>
                                    <p:animEffect transition="in" filter="fade">
                                      <p:cBhvr>
                                        <p:cTn id="27" dur="10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2"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Scale>
                                      <p:cBhvr>
                                        <p:cTn id="32" dur="1000" decel="50000" fill="hold">
                                          <p:stCondLst>
                                            <p:cond delay="0"/>
                                          </p:stCondLst>
                                        </p:cTn>
                                        <p:tgtEl>
                                          <p:spTgt spid="3">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3" dur="1000" decel="50000" fill="hold">
                                          <p:stCondLst>
                                            <p:cond delay="0"/>
                                          </p:stCondLst>
                                        </p:cTn>
                                        <p:tgtEl>
                                          <p:spTgt spid="3">
                                            <p:txEl>
                                              <p:pRg st="1" end="1"/>
                                            </p:txEl>
                                          </p:spTgt>
                                        </p:tgtEl>
                                        <p:attrNameLst>
                                          <p:attrName>ppt_x</p:attrName>
                                          <p:attrName>ppt_y</p:attrName>
                                        </p:attrNameLst>
                                      </p:cBhvr>
                                    </p:animMotion>
                                    <p:animEffect transition="in" filter="fade">
                                      <p:cBhvr>
                                        <p:cTn id="34" dur="100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fade">
                                      <p:cBhvr>
                                        <p:cTn id="39" dur="1000"/>
                                        <p:tgtEl>
                                          <p:spTgt spid="3">
                                            <p:txEl>
                                              <p:pRg st="2" end="2"/>
                                            </p:txEl>
                                          </p:spTgt>
                                        </p:tgtEl>
                                      </p:cBhvr>
                                    </p:animEffect>
                                    <p:anim calcmode="lin" valueType="num">
                                      <p:cBhvr>
                                        <p:cTn id="4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Proportionately serious reason</a:t>
            </a:r>
          </a:p>
        </p:txBody>
      </p:sp>
      <p:sp>
        <p:nvSpPr>
          <p:cNvPr id="3" name="Content Placeholder 2"/>
          <p:cNvSpPr>
            <a:spLocks noGrp="1"/>
          </p:cNvSpPr>
          <p:nvPr>
            <p:ph idx="1"/>
          </p:nvPr>
        </p:nvSpPr>
        <p:spPr/>
        <p:txBody>
          <a:bodyPr/>
          <a:lstStyle/>
          <a:p>
            <a:r>
              <a:rPr lang="en-GB" dirty="0"/>
              <a:t>The importance of carrying out the good action with good direct effect should be greater than the importance, seriousness of the bad effect</a:t>
            </a:r>
          </a:p>
        </p:txBody>
      </p:sp>
      <p:sp>
        <p:nvSpPr>
          <p:cNvPr id="4" name="Rounded Rectangle 3"/>
          <p:cNvSpPr/>
          <p:nvPr/>
        </p:nvSpPr>
        <p:spPr>
          <a:xfrm>
            <a:off x="579120" y="4267200"/>
            <a:ext cx="2240280"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t>Good action and good effect</a:t>
            </a:r>
          </a:p>
        </p:txBody>
      </p:sp>
      <p:sp>
        <p:nvSpPr>
          <p:cNvPr id="5" name="Chevron 4"/>
          <p:cNvSpPr/>
          <p:nvPr/>
        </p:nvSpPr>
        <p:spPr>
          <a:xfrm>
            <a:off x="3810000" y="3962400"/>
            <a:ext cx="1645920" cy="164592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6" name="Rounded Rectangle 5"/>
          <p:cNvSpPr/>
          <p:nvPr/>
        </p:nvSpPr>
        <p:spPr>
          <a:xfrm>
            <a:off x="6172200" y="4267200"/>
            <a:ext cx="19050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t>Bad indirect effect</a:t>
            </a:r>
          </a:p>
        </p:txBody>
      </p:sp>
    </p:spTree>
    <p:extLst>
      <p:ext uri="{BB962C8B-B14F-4D97-AF65-F5344CB8AC3E}">
        <p14:creationId xmlns:p14="http://schemas.microsoft.com/office/powerpoint/2010/main" val="345490364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to="" calcmode="lin" valueType="num">
                                      <p:cBhvr>
                                        <p:cTn id="23" dur="1" fill="hold"/>
                                        <p:tgtEl>
                                          <p:spTgt spid="4"/>
                                        </p:tgtEl>
                                        <p:attrNameLst>
                                          <p:attrName/>
                                        </p:attrNameLst>
                                      </p:cBhvr>
                                    </p:anim>
                                  </p:childTnLst>
                                </p:cTn>
                              </p:par>
                              <p:par>
                                <p:cTn id="24" presetID="24"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 to="" calcmode="lin" valueType="num">
                                      <p:cBhvr>
                                        <p:cTn id="26" dur="1" fill="hold"/>
                                        <p:tgtEl>
                                          <p:spTgt spid="5"/>
                                        </p:tgtEl>
                                        <p:attrNameLst>
                                          <p:attrName/>
                                        </p:attrNameLst>
                                      </p:cBhvr>
                                    </p:anim>
                                  </p:childTnLst>
                                </p:cTn>
                              </p:par>
                              <p:par>
                                <p:cTn id="27" presetID="24"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to="" calcmode="lin" valueType="num">
                                      <p:cBhvr>
                                        <p:cTn id="29"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Breakout Rooms</a:t>
            </a:r>
            <a:br>
              <a:rPr lang="en-GB" dirty="0"/>
            </a:br>
            <a:r>
              <a:rPr lang="en-GB" dirty="0"/>
              <a:t>7 to 12</a:t>
            </a:r>
          </a:p>
        </p:txBody>
      </p:sp>
      <p:sp>
        <p:nvSpPr>
          <p:cNvPr id="3" name="Content Placeholder 2"/>
          <p:cNvSpPr>
            <a:spLocks noGrp="1"/>
          </p:cNvSpPr>
          <p:nvPr>
            <p:ph idx="1"/>
          </p:nvPr>
        </p:nvSpPr>
        <p:spPr/>
        <p:txBody>
          <a:bodyPr/>
          <a:lstStyle/>
          <a:p>
            <a:r>
              <a:rPr lang="en-GB" dirty="0"/>
              <a:t>Case – Giving in or Giving up</a:t>
            </a:r>
          </a:p>
          <a:p>
            <a:r>
              <a:rPr lang="en-GB" dirty="0"/>
              <a:t>Read the case and identify:</a:t>
            </a:r>
          </a:p>
          <a:p>
            <a:pPr lvl="1"/>
            <a:r>
              <a:rPr lang="en-GB" dirty="0"/>
              <a:t>A key action + it’s morality</a:t>
            </a:r>
          </a:p>
          <a:p>
            <a:pPr lvl="1"/>
            <a:r>
              <a:rPr lang="en-GB" dirty="0"/>
              <a:t>Corresponding intention + it’s morality</a:t>
            </a:r>
          </a:p>
          <a:p>
            <a:pPr lvl="1"/>
            <a:r>
              <a:rPr lang="en-GB" dirty="0"/>
              <a:t>Related circumstances + their morality</a:t>
            </a:r>
          </a:p>
          <a:p>
            <a:pPr marL="457200" lvl="1" indent="0">
              <a:buNone/>
            </a:pPr>
            <a:endParaRPr lang="en-GB" dirty="0"/>
          </a:p>
          <a:p>
            <a:pPr lvl="1"/>
            <a:r>
              <a:rPr lang="en-GB" dirty="0"/>
              <a:t>How would you advise Anne to act?</a:t>
            </a:r>
          </a:p>
          <a:p>
            <a:pPr lvl="2"/>
            <a:r>
              <a:rPr lang="en-GB" dirty="0"/>
              <a:t>Give reasons for your answer</a:t>
            </a:r>
          </a:p>
          <a:p>
            <a:pPr lvl="3"/>
            <a:endParaRPr lang="en-GB" dirty="0"/>
          </a:p>
        </p:txBody>
      </p:sp>
    </p:spTree>
    <p:extLst>
      <p:ext uri="{BB962C8B-B14F-4D97-AF65-F5344CB8AC3E}">
        <p14:creationId xmlns:p14="http://schemas.microsoft.com/office/powerpoint/2010/main" val="1670733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Breakout Rooms 1 to 6</a:t>
            </a:r>
            <a:br>
              <a:rPr lang="en-GB" sz="3200" dirty="0"/>
            </a:br>
            <a:r>
              <a:rPr lang="en-GB" sz="3200" dirty="0"/>
              <a:t>Case – CEO Remuneration</a:t>
            </a:r>
          </a:p>
        </p:txBody>
      </p:sp>
      <p:sp>
        <p:nvSpPr>
          <p:cNvPr id="3" name="Content Placeholder 2"/>
          <p:cNvSpPr>
            <a:spLocks noGrp="1"/>
          </p:cNvSpPr>
          <p:nvPr>
            <p:ph idx="1"/>
          </p:nvPr>
        </p:nvSpPr>
        <p:spPr/>
        <p:txBody>
          <a:bodyPr>
            <a:normAutofit lnSpcReduction="10000"/>
          </a:bodyPr>
          <a:lstStyle/>
          <a:p>
            <a:r>
              <a:rPr lang="en-GB" dirty="0"/>
              <a:t>Analyse the Case using the Principle of Double Effect and applying the conditions for moral acceptability</a:t>
            </a:r>
          </a:p>
          <a:p>
            <a:endParaRPr lang="en-GB" dirty="0">
              <a:solidFill>
                <a:srgbClr val="FF0000"/>
              </a:solidFill>
            </a:endParaRPr>
          </a:p>
          <a:p>
            <a:r>
              <a:rPr lang="en-GB" dirty="0"/>
              <a:t>Prepare for class discussion </a:t>
            </a:r>
          </a:p>
          <a:p>
            <a:pPr lvl="1"/>
            <a:r>
              <a:rPr lang="en-GB" dirty="0"/>
              <a:t>Main act; direct effect; indirect effect; intention; proportionate reason; reduction of any negative impact</a:t>
            </a:r>
          </a:p>
          <a:p>
            <a:pPr marL="0" indent="0">
              <a:buNone/>
            </a:pPr>
            <a:endParaRPr lang="en-GB" dirty="0">
              <a:solidFill>
                <a:srgbClr val="FF0000"/>
              </a:solidFill>
            </a:endParaRPr>
          </a:p>
          <a:p>
            <a:r>
              <a:rPr lang="en-GB" dirty="0">
                <a:solidFill>
                  <a:srgbClr val="FF0000"/>
                </a:solidFill>
              </a:rPr>
              <a:t>15 minutes</a:t>
            </a:r>
          </a:p>
          <a:p>
            <a:endParaRPr lang="en-GB" dirty="0"/>
          </a:p>
          <a:p>
            <a:endParaRPr lang="en-GB" dirty="0"/>
          </a:p>
        </p:txBody>
      </p:sp>
    </p:spTree>
    <p:extLst>
      <p:ext uri="{BB962C8B-B14F-4D97-AF65-F5344CB8AC3E}">
        <p14:creationId xmlns:p14="http://schemas.microsoft.com/office/powerpoint/2010/main" val="2147425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lstStyle/>
          <a:p>
            <a:r>
              <a:rPr lang="en-GB" dirty="0"/>
              <a:t>Need for reflection on the ethical dimension when making decisions</a:t>
            </a:r>
          </a:p>
          <a:p>
            <a:endParaRPr lang="en-GB" dirty="0"/>
          </a:p>
          <a:p>
            <a:r>
              <a:rPr lang="en-GB" dirty="0"/>
              <a:t>Practice applying ethical principles to ensure that moral judgements are wise</a:t>
            </a:r>
          </a:p>
          <a:p>
            <a:endParaRPr lang="en-GB" dirty="0"/>
          </a:p>
          <a:p>
            <a:r>
              <a:rPr lang="en-GB" dirty="0"/>
              <a:t>Use ethical frameworks when analysing decisions</a:t>
            </a:r>
          </a:p>
          <a:p>
            <a:pPr lvl="1"/>
            <a:endParaRPr lang="en-GB" dirty="0"/>
          </a:p>
        </p:txBody>
      </p:sp>
    </p:spTree>
    <p:extLst>
      <p:ext uri="{BB962C8B-B14F-4D97-AF65-F5344CB8AC3E}">
        <p14:creationId xmlns:p14="http://schemas.microsoft.com/office/powerpoint/2010/main" val="144105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par>
                          <p:cTn id="11" fill="hold">
                            <p:stCondLst>
                              <p:cond delay="1450"/>
                            </p:stCondLst>
                            <p:childTnLst>
                              <p:par>
                                <p:cTn id="12" presetID="24" presetClass="entr" presetSubtype="0" fill="hold" nodeType="after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to="" calcmode="lin" valueType="num">
                                      <p:cBhvr>
                                        <p:cTn id="14" dur="1" fill="hold"/>
                                        <p:tgtEl>
                                          <p:spTgt spid="3">
                                            <p:txEl>
                                              <p:pRg st="0" end="0"/>
                                            </p:txEl>
                                          </p:spTgt>
                                        </p:tgtEl>
                                        <p:attrNameLst>
                                          <p:attrName/>
                                        </p:attrNameLst>
                                      </p:cBhvr>
                                    </p:anim>
                                  </p:childTnLst>
                                </p:cTn>
                              </p:par>
                            </p:childTnLst>
                          </p:cTn>
                        </p:par>
                        <p:par>
                          <p:cTn id="15" fill="hold">
                            <p:stCondLst>
                              <p:cond delay="1450"/>
                            </p:stCondLst>
                            <p:childTnLst>
                              <p:par>
                                <p:cTn id="16" presetID="24" presetClass="entr" presetSubtype="0" fill="hold" nodeType="after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to="" calcmode="lin" valueType="num">
                                      <p:cBhvr>
                                        <p:cTn id="18" dur="1" fill="hold"/>
                                        <p:tgtEl>
                                          <p:spTgt spid="3">
                                            <p:txEl>
                                              <p:pRg st="2" end="2"/>
                                            </p:txEl>
                                          </p:spTgt>
                                        </p:tgtEl>
                                        <p:attrNameLst>
                                          <p:attrName/>
                                        </p:attrNameLst>
                                      </p:cBhvr>
                                    </p:anim>
                                  </p:childTnLst>
                                </p:cTn>
                              </p:par>
                            </p:childTnLst>
                          </p:cTn>
                        </p:par>
                        <p:par>
                          <p:cTn id="19" fill="hold">
                            <p:stCondLst>
                              <p:cond delay="1450"/>
                            </p:stCondLst>
                            <p:childTnLst>
                              <p:par>
                                <p:cTn id="20" presetID="24" presetClass="entr" presetSubtype="0" fill="hold" nodeType="after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 to="" calcmode="lin" valueType="num">
                                      <p:cBhvr>
                                        <p:cTn id="22" dur="1" fill="hold"/>
                                        <p:tgtEl>
                                          <p:spTgt spid="3">
                                            <p:txEl>
                                              <p:pRg st="4" end="4"/>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lstStyle/>
          <a:p>
            <a:r>
              <a:rPr lang="en-GB" dirty="0"/>
              <a:t>Think before you act</a:t>
            </a:r>
          </a:p>
          <a:p>
            <a:pPr lvl="1"/>
            <a:r>
              <a:rPr lang="en-GB" dirty="0"/>
              <a:t>Moral object</a:t>
            </a:r>
          </a:p>
          <a:p>
            <a:pPr lvl="1"/>
            <a:r>
              <a:rPr lang="en-GB" dirty="0"/>
              <a:t>End / intention</a:t>
            </a:r>
          </a:p>
          <a:p>
            <a:pPr lvl="1"/>
            <a:r>
              <a:rPr lang="en-GB" dirty="0"/>
              <a:t>Circumstances</a:t>
            </a:r>
          </a:p>
          <a:p>
            <a:pPr lvl="1"/>
            <a:r>
              <a:rPr lang="en-GB" dirty="0"/>
              <a:t>Acts with double effect</a:t>
            </a:r>
          </a:p>
          <a:p>
            <a:pPr lvl="1"/>
            <a:endParaRPr lang="en-GB" dirty="0"/>
          </a:p>
          <a:p>
            <a:r>
              <a:rPr lang="en-GB" dirty="0"/>
              <a:t>To ensure you act in the best way possible</a:t>
            </a:r>
          </a:p>
          <a:p>
            <a:pPr lvl="1"/>
            <a:endParaRPr lang="en-GB" dirty="0"/>
          </a:p>
        </p:txBody>
      </p:sp>
    </p:spTree>
    <p:extLst>
      <p:ext uri="{BB962C8B-B14F-4D97-AF65-F5344CB8AC3E}">
        <p14:creationId xmlns:p14="http://schemas.microsoft.com/office/powerpoint/2010/main" val="61222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par>
                          <p:cTn id="11" fill="hold">
                            <p:stCondLst>
                              <p:cond delay="1450"/>
                            </p:stCondLst>
                            <p:childTnLst>
                              <p:par>
                                <p:cTn id="12" presetID="24" presetClass="entr" presetSubtype="0" fill="hold" nodeType="after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to="" calcmode="lin" valueType="num">
                                      <p:cBhvr>
                                        <p:cTn id="14" dur="1" fill="hold"/>
                                        <p:tgtEl>
                                          <p:spTgt spid="3">
                                            <p:txEl>
                                              <p:pRg st="0" end="0"/>
                                            </p:txEl>
                                          </p:spTgt>
                                        </p:tgtEl>
                                        <p:attrNameLst>
                                          <p:attrName/>
                                        </p:attrNameLst>
                                      </p:cBhvr>
                                    </p:anim>
                                  </p:childTnLst>
                                </p:cTn>
                              </p:par>
                            </p:childTnLst>
                          </p:cTn>
                        </p:par>
                        <p:par>
                          <p:cTn id="15" fill="hold">
                            <p:stCondLst>
                              <p:cond delay="1450"/>
                            </p:stCondLst>
                            <p:childTnLst>
                              <p:par>
                                <p:cTn id="16" presetID="24" presetClass="entr" presetSubtype="0" fill="hold" nodeType="after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to="" calcmode="lin" valueType="num">
                                      <p:cBhvr>
                                        <p:cTn id="18" dur="1" fill="hold"/>
                                        <p:tgtEl>
                                          <p:spTgt spid="3">
                                            <p:txEl>
                                              <p:pRg st="1" end="1"/>
                                            </p:txEl>
                                          </p:spTgt>
                                        </p:tgtEl>
                                        <p:attrNameLst>
                                          <p:attrName/>
                                        </p:attrNameLst>
                                      </p:cBhvr>
                                    </p:anim>
                                  </p:childTnLst>
                                </p:cTn>
                              </p:par>
                            </p:childTnLst>
                          </p:cTn>
                        </p:par>
                        <p:par>
                          <p:cTn id="19" fill="hold">
                            <p:stCondLst>
                              <p:cond delay="1450"/>
                            </p:stCondLst>
                            <p:childTnLst>
                              <p:par>
                                <p:cTn id="20" presetID="24" presetClass="entr" presetSubtype="0" fill="hold"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to="" calcmode="lin" valueType="num">
                                      <p:cBhvr>
                                        <p:cTn id="22" dur="1" fill="hold"/>
                                        <p:tgtEl>
                                          <p:spTgt spid="3">
                                            <p:txEl>
                                              <p:pRg st="2" end="2"/>
                                            </p:txEl>
                                          </p:spTgt>
                                        </p:tgtEl>
                                        <p:attrNameLst>
                                          <p:attrName/>
                                        </p:attrNameLst>
                                      </p:cBhvr>
                                    </p:anim>
                                  </p:childTnLst>
                                </p:cTn>
                              </p:par>
                            </p:childTnLst>
                          </p:cTn>
                        </p:par>
                        <p:par>
                          <p:cTn id="23" fill="hold">
                            <p:stCondLst>
                              <p:cond delay="1450"/>
                            </p:stCondLst>
                            <p:childTnLst>
                              <p:par>
                                <p:cTn id="24" presetID="24" presetClass="entr" presetSubtype="0" fill="hold" nodeType="after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to="" calcmode="lin" valueType="num">
                                      <p:cBhvr>
                                        <p:cTn id="26" dur="1" fill="hold"/>
                                        <p:tgtEl>
                                          <p:spTgt spid="3">
                                            <p:txEl>
                                              <p:pRg st="3" end="3"/>
                                            </p:txEl>
                                          </p:spTgt>
                                        </p:tgtEl>
                                        <p:attrNameLst>
                                          <p:attrName/>
                                        </p:attrNameLst>
                                      </p:cBhvr>
                                    </p:anim>
                                  </p:childTnLst>
                                </p:cTn>
                              </p:par>
                            </p:childTnLst>
                          </p:cTn>
                        </p:par>
                        <p:par>
                          <p:cTn id="27" fill="hold">
                            <p:stCondLst>
                              <p:cond delay="1450"/>
                            </p:stCondLst>
                            <p:childTnLst>
                              <p:par>
                                <p:cTn id="28" presetID="24" presetClass="entr" presetSubtype="0" fill="hold"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to="" calcmode="lin" valueType="num">
                                      <p:cBhvr>
                                        <p:cTn id="30" dur="1" fill="hold"/>
                                        <p:tgtEl>
                                          <p:spTgt spid="3">
                                            <p:txEl>
                                              <p:pRg st="4" end="4"/>
                                            </p:txEl>
                                          </p:spTgt>
                                        </p:tgtEl>
                                        <p:attrNameLst>
                                          <p:attrName/>
                                        </p:attrNameLst>
                                      </p:cBhvr>
                                    </p:anim>
                                  </p:childTnLst>
                                </p:cTn>
                              </p:par>
                            </p:childTnLst>
                          </p:cTn>
                        </p:par>
                        <p:par>
                          <p:cTn id="31" fill="hold">
                            <p:stCondLst>
                              <p:cond delay="1450"/>
                            </p:stCondLst>
                            <p:childTnLst>
                              <p:par>
                                <p:cTn id="32" presetID="24" presetClass="entr" presetSubtype="0" fill="hold" nodeType="after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 to="" calcmode="lin" valueType="num">
                                      <p:cBhvr>
                                        <p:cTn id="34" dur="1" fill="hold"/>
                                        <p:tgtEl>
                                          <p:spTgt spid="3">
                                            <p:txEl>
                                              <p:pRg st="6" end="6"/>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Down Arrow 62"/>
          <p:cNvSpPr/>
          <p:nvPr/>
        </p:nvSpPr>
        <p:spPr>
          <a:xfrm>
            <a:off x="2483769" y="2996952"/>
            <a:ext cx="360040" cy="27842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Down Arrow 10"/>
          <p:cNvSpPr/>
          <p:nvPr/>
        </p:nvSpPr>
        <p:spPr>
          <a:xfrm>
            <a:off x="2483769" y="2279656"/>
            <a:ext cx="360040" cy="27842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 name="Slide Number Placeholder 4"/>
          <p:cNvSpPr>
            <a:spLocks noGrp="1"/>
          </p:cNvSpPr>
          <p:nvPr>
            <p:ph type="sldNum" sz="quarter" idx="12"/>
          </p:nvPr>
        </p:nvSpPr>
        <p:spPr>
          <a:prstGeom prst="rect">
            <a:avLst/>
          </a:prstGeom>
        </p:spPr>
        <p:txBody>
          <a:bodyPr/>
          <a:lstStyle/>
          <a:p>
            <a:fld id="{42DE34A4-2657-44C4-A8B5-45B367847798}" type="slidenum">
              <a:rPr lang="en-GB" smtClean="0"/>
              <a:pPr/>
              <a:t>35</a:t>
            </a:fld>
            <a:endParaRPr lang="en-GB" dirty="0"/>
          </a:p>
        </p:txBody>
      </p:sp>
      <p:sp>
        <p:nvSpPr>
          <p:cNvPr id="16" name="Title 1">
            <a:extLst>
              <a:ext uri="{FF2B5EF4-FFF2-40B4-BE49-F238E27FC236}">
                <a16:creationId xmlns:a16="http://schemas.microsoft.com/office/drawing/2014/main" id="{A2277ECE-7E42-9D42-8515-58D530D07A6B}"/>
              </a:ext>
            </a:extLst>
          </p:cNvPr>
          <p:cNvSpPr>
            <a:spLocks noGrp="1"/>
          </p:cNvSpPr>
          <p:nvPr>
            <p:ph type="title" idx="4294967295"/>
          </p:nvPr>
        </p:nvSpPr>
        <p:spPr>
          <a:xfrm>
            <a:off x="0" y="549275"/>
            <a:ext cx="8064500" cy="990600"/>
          </a:xfrm>
        </p:spPr>
        <p:txBody>
          <a:bodyPr>
            <a:noAutofit/>
          </a:bodyPr>
          <a:lstStyle/>
          <a:p>
            <a:r>
              <a:rPr lang="en-GB" dirty="0">
                <a:cs typeface="Arial" panose="020B0604020202020204" pitchFamily="34" charset="0"/>
              </a:rPr>
              <a:t>THE DECISION-MAKING PROCESS</a:t>
            </a:r>
            <a:endParaRPr lang="es-ES" dirty="0"/>
          </a:p>
        </p:txBody>
      </p:sp>
      <p:cxnSp>
        <p:nvCxnSpPr>
          <p:cNvPr id="17" name="Straight Connector 16">
            <a:extLst>
              <a:ext uri="{FF2B5EF4-FFF2-40B4-BE49-F238E27FC236}">
                <a16:creationId xmlns:a16="http://schemas.microsoft.com/office/drawing/2014/main" id="{11C366B3-E848-9D4F-80CA-F86C97D07D36}"/>
              </a:ext>
            </a:extLst>
          </p:cNvPr>
          <p:cNvCxnSpPr>
            <a:cxnSpLocks/>
          </p:cNvCxnSpPr>
          <p:nvPr/>
        </p:nvCxnSpPr>
        <p:spPr>
          <a:xfrm>
            <a:off x="508659" y="1700808"/>
            <a:ext cx="8178141" cy="0"/>
          </a:xfrm>
          <a:prstGeom prst="line">
            <a:avLst/>
          </a:prstGeom>
        </p:spPr>
        <p:style>
          <a:lnRef idx="1">
            <a:schemeClr val="dk1"/>
          </a:lnRef>
          <a:fillRef idx="0">
            <a:schemeClr val="dk1"/>
          </a:fillRef>
          <a:effectRef idx="0">
            <a:schemeClr val="dk1"/>
          </a:effectRef>
          <a:fontRef idx="minor">
            <a:schemeClr val="tx1"/>
          </a:fontRef>
        </p:style>
      </p:cxnSp>
      <p:sp>
        <p:nvSpPr>
          <p:cNvPr id="10" name="Rectangle 9"/>
          <p:cNvSpPr/>
          <p:nvPr/>
        </p:nvSpPr>
        <p:spPr>
          <a:xfrm>
            <a:off x="566691" y="1844824"/>
            <a:ext cx="4194197" cy="50405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Formulation of the problem</a:t>
            </a:r>
          </a:p>
        </p:txBody>
      </p:sp>
      <p:sp>
        <p:nvSpPr>
          <p:cNvPr id="54" name="Rectangle 53"/>
          <p:cNvSpPr/>
          <p:nvPr/>
        </p:nvSpPr>
        <p:spPr>
          <a:xfrm>
            <a:off x="539553" y="2564904"/>
            <a:ext cx="4248472" cy="50405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chemeClr val="bg1"/>
                </a:solidFill>
              </a:rPr>
              <a:t>Setting and evaluation of the goal</a:t>
            </a:r>
          </a:p>
        </p:txBody>
      </p:sp>
      <p:sp>
        <p:nvSpPr>
          <p:cNvPr id="60" name="Down Arrow 59"/>
          <p:cNvSpPr/>
          <p:nvPr/>
        </p:nvSpPr>
        <p:spPr>
          <a:xfrm>
            <a:off x="2483769" y="3717032"/>
            <a:ext cx="360040" cy="27842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2" name="Rectangle 61"/>
          <p:cNvSpPr/>
          <p:nvPr/>
        </p:nvSpPr>
        <p:spPr>
          <a:xfrm>
            <a:off x="566691" y="3284984"/>
            <a:ext cx="4194197" cy="50405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Generation of alternatives</a:t>
            </a:r>
          </a:p>
        </p:txBody>
      </p:sp>
      <p:sp>
        <p:nvSpPr>
          <p:cNvPr id="65" name="Down Arrow 64"/>
          <p:cNvSpPr/>
          <p:nvPr/>
        </p:nvSpPr>
        <p:spPr>
          <a:xfrm>
            <a:off x="2483769" y="4509120"/>
            <a:ext cx="360040" cy="27842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7" name="Rectangle 66"/>
          <p:cNvSpPr/>
          <p:nvPr/>
        </p:nvSpPr>
        <p:spPr>
          <a:xfrm>
            <a:off x="566691" y="4005064"/>
            <a:ext cx="4194197" cy="50405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Evaluative criteria</a:t>
            </a:r>
          </a:p>
        </p:txBody>
      </p:sp>
      <p:sp>
        <p:nvSpPr>
          <p:cNvPr id="71" name="Rectangle 70"/>
          <p:cNvSpPr/>
          <p:nvPr/>
        </p:nvSpPr>
        <p:spPr>
          <a:xfrm>
            <a:off x="566691" y="4797152"/>
            <a:ext cx="4194197" cy="50405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Evaluation of alternatives</a:t>
            </a:r>
          </a:p>
        </p:txBody>
      </p:sp>
      <p:sp>
        <p:nvSpPr>
          <p:cNvPr id="75" name="Rectangle 74"/>
          <p:cNvSpPr/>
          <p:nvPr/>
        </p:nvSpPr>
        <p:spPr>
          <a:xfrm>
            <a:off x="566692" y="5517232"/>
            <a:ext cx="4221334" cy="504056"/>
          </a:xfrm>
          <a:prstGeom prst="rect">
            <a:avLst/>
          </a:prstGeom>
          <a:solidFill>
            <a:schemeClr val="accent1">
              <a:lumMod val="20000"/>
              <a:lumOff val="80000"/>
            </a:schemeClr>
          </a:solidFill>
          <a:ln w="57150">
            <a:solidFill>
              <a:srgbClr val="EF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ELECTION of one alternative</a:t>
            </a:r>
          </a:p>
        </p:txBody>
      </p:sp>
      <p:grpSp>
        <p:nvGrpSpPr>
          <p:cNvPr id="7" name="Group 6"/>
          <p:cNvGrpSpPr/>
          <p:nvPr/>
        </p:nvGrpSpPr>
        <p:grpSpPr>
          <a:xfrm>
            <a:off x="4788024" y="6309320"/>
            <a:ext cx="4099385" cy="504056"/>
            <a:chOff x="4788024" y="6309320"/>
            <a:chExt cx="4099385" cy="504056"/>
          </a:xfrm>
        </p:grpSpPr>
        <p:sp>
          <p:nvSpPr>
            <p:cNvPr id="69" name="Down Arrow 68"/>
            <p:cNvSpPr/>
            <p:nvPr/>
          </p:nvSpPr>
          <p:spPr>
            <a:xfrm rot="16200000">
              <a:off x="4800458" y="6368894"/>
              <a:ext cx="360040" cy="38490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9" name="Rectangle 78"/>
            <p:cNvSpPr/>
            <p:nvPr/>
          </p:nvSpPr>
          <p:spPr>
            <a:xfrm>
              <a:off x="5148064" y="6309320"/>
              <a:ext cx="3739345"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chemeClr val="bg1"/>
                  </a:solidFill>
                </a:rPr>
                <a:t>Evaluation of the outcomes</a:t>
              </a:r>
            </a:p>
          </p:txBody>
        </p:sp>
      </p:grpSp>
      <p:sp>
        <p:nvSpPr>
          <p:cNvPr id="80" name="Down Arrow 79"/>
          <p:cNvSpPr/>
          <p:nvPr/>
        </p:nvSpPr>
        <p:spPr>
          <a:xfrm>
            <a:off x="2555776" y="6030892"/>
            <a:ext cx="360040" cy="27842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1" name="Rectangle 80"/>
          <p:cNvSpPr/>
          <p:nvPr/>
        </p:nvSpPr>
        <p:spPr>
          <a:xfrm>
            <a:off x="566691" y="6309320"/>
            <a:ext cx="4221334" cy="504056"/>
          </a:xfrm>
          <a:prstGeom prst="rect">
            <a:avLst/>
          </a:prstGeom>
          <a:solidFill>
            <a:srgbClr val="20A0AC"/>
          </a:solidFill>
          <a:ln w="57150">
            <a:solidFill>
              <a:srgbClr val="EF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IMPLEMENTATION </a:t>
            </a:r>
          </a:p>
        </p:txBody>
      </p:sp>
      <p:sp>
        <p:nvSpPr>
          <p:cNvPr id="73" name="Down Arrow 72"/>
          <p:cNvSpPr/>
          <p:nvPr/>
        </p:nvSpPr>
        <p:spPr>
          <a:xfrm>
            <a:off x="2483769" y="5310812"/>
            <a:ext cx="360040" cy="27842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6" name="Group 5"/>
          <p:cNvGrpSpPr/>
          <p:nvPr/>
        </p:nvGrpSpPr>
        <p:grpSpPr>
          <a:xfrm>
            <a:off x="5099055" y="1899319"/>
            <a:ext cx="3518364" cy="3411493"/>
            <a:chOff x="5099055" y="1899319"/>
            <a:chExt cx="3518364" cy="3411493"/>
          </a:xfrm>
        </p:grpSpPr>
        <p:sp>
          <p:nvSpPr>
            <p:cNvPr id="3" name="Right Brace 2"/>
            <p:cNvSpPr/>
            <p:nvPr/>
          </p:nvSpPr>
          <p:spPr>
            <a:xfrm>
              <a:off x="5099055" y="1899319"/>
              <a:ext cx="1296144" cy="341149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23" name="Rectangle 22"/>
            <p:cNvSpPr/>
            <p:nvPr/>
          </p:nvSpPr>
          <p:spPr>
            <a:xfrm>
              <a:off x="6516216" y="3356992"/>
              <a:ext cx="2101203" cy="504056"/>
            </a:xfrm>
            <a:prstGeom prst="rect">
              <a:avLst/>
            </a:prstGeom>
            <a:solidFill>
              <a:schemeClr val="accent1">
                <a:lumMod val="20000"/>
                <a:lumOff val="80000"/>
              </a:schemeClr>
            </a:solidFill>
            <a:ln w="57150">
              <a:solidFill>
                <a:srgbClr val="EF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b="1" dirty="0">
                  <a:solidFill>
                    <a:schemeClr val="tx1"/>
                  </a:solidFill>
                </a:rPr>
                <a:t>DELIBERATION</a:t>
              </a:r>
            </a:p>
          </p:txBody>
        </p:sp>
      </p:grpSp>
      <p:sp>
        <p:nvSpPr>
          <p:cNvPr id="2" name="TextBox 1"/>
          <p:cNvSpPr txBox="1"/>
          <p:nvPr/>
        </p:nvSpPr>
        <p:spPr>
          <a:xfrm>
            <a:off x="6101640" y="2001615"/>
            <a:ext cx="2660537" cy="923330"/>
          </a:xfrm>
          <a:prstGeom prst="rect">
            <a:avLst/>
          </a:prstGeom>
          <a:noFill/>
        </p:spPr>
        <p:txBody>
          <a:bodyPr wrap="none" rtlCol="0">
            <a:spAutoFit/>
          </a:bodyPr>
          <a:lstStyle/>
          <a:p>
            <a:r>
              <a:rPr lang="en-GB" b="1" dirty="0">
                <a:solidFill>
                  <a:srgbClr val="FF0000"/>
                </a:solidFill>
              </a:rPr>
              <a:t>Identify a decision you</a:t>
            </a:r>
          </a:p>
          <a:p>
            <a:r>
              <a:rPr lang="en-GB" b="1" dirty="0">
                <a:solidFill>
                  <a:srgbClr val="FF0000"/>
                </a:solidFill>
              </a:rPr>
              <a:t>made recently or you will </a:t>
            </a:r>
          </a:p>
          <a:p>
            <a:r>
              <a:rPr lang="en-GB" b="1" dirty="0">
                <a:solidFill>
                  <a:srgbClr val="FF0000"/>
                </a:solidFill>
              </a:rPr>
              <a:t>make soon</a:t>
            </a:r>
          </a:p>
        </p:txBody>
      </p:sp>
    </p:spTree>
    <p:extLst>
      <p:ext uri="{BB962C8B-B14F-4D97-AF65-F5344CB8AC3E}">
        <p14:creationId xmlns:p14="http://schemas.microsoft.com/office/powerpoint/2010/main" val="336452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wipe(up)">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wipe(up)">
                                      <p:cBhvr>
                                        <p:cTn id="29" dur="500"/>
                                        <p:tgtEl>
                                          <p:spTgt spid="6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65"/>
                                        </p:tgtEl>
                                        <p:attrNameLst>
                                          <p:attrName>style.visibility</p:attrName>
                                        </p:attrNameLst>
                                      </p:cBhvr>
                                      <p:to>
                                        <p:strVal val="visible"/>
                                      </p:to>
                                    </p:set>
                                    <p:animEffect transition="in" filter="wipe(up)">
                                      <p:cBhvr>
                                        <p:cTn id="38" dur="500"/>
                                        <p:tgtEl>
                                          <p:spTgt spid="6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wipe(up)">
                                      <p:cBhvr>
                                        <p:cTn id="52" dur="500"/>
                                        <p:tgtEl>
                                          <p:spTgt spid="73"/>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80"/>
                                        </p:tgtEl>
                                        <p:attrNameLst>
                                          <p:attrName>style.visibility</p:attrName>
                                        </p:attrNameLst>
                                      </p:cBhvr>
                                      <p:to>
                                        <p:strVal val="visible"/>
                                      </p:to>
                                    </p:set>
                                    <p:animEffect transition="in" filter="wipe(up)">
                                      <p:cBhvr>
                                        <p:cTn id="61" dur="500"/>
                                        <p:tgtEl>
                                          <p:spTgt spid="80"/>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8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wipe(left)">
                                      <p:cBhvr>
                                        <p:cTn id="7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11" grpId="0" animBg="1"/>
      <p:bldP spid="10" grpId="0" animBg="1"/>
      <p:bldP spid="54" grpId="0" animBg="1"/>
      <p:bldP spid="60" grpId="0" animBg="1"/>
      <p:bldP spid="62" grpId="0" animBg="1"/>
      <p:bldP spid="65" grpId="0" animBg="1"/>
      <p:bldP spid="67" grpId="0" animBg="1"/>
      <p:bldP spid="71" grpId="0" animBg="1"/>
      <p:bldP spid="75" grpId="0" animBg="1"/>
      <p:bldP spid="80" grpId="0" animBg="1"/>
      <p:bldP spid="81" grpId="0" animBg="1"/>
      <p:bldP spid="7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Personal moral judgements</a:t>
            </a:r>
          </a:p>
        </p:txBody>
      </p:sp>
      <p:sp>
        <p:nvSpPr>
          <p:cNvPr id="8" name="Content Placeholder 7"/>
          <p:cNvSpPr>
            <a:spLocks noGrp="1"/>
          </p:cNvSpPr>
          <p:nvPr>
            <p:ph idx="1"/>
          </p:nvPr>
        </p:nvSpPr>
        <p:spPr/>
        <p:txBody>
          <a:bodyPr>
            <a:normAutofit/>
          </a:bodyPr>
          <a:lstStyle/>
          <a:p>
            <a:r>
              <a:rPr lang="en-GB" dirty="0"/>
              <a:t>We need to make moral judgements within any decision-making process</a:t>
            </a:r>
          </a:p>
          <a:p>
            <a:endParaRPr lang="en-GB" dirty="0"/>
          </a:p>
          <a:p>
            <a:r>
              <a:rPr lang="en-GB" dirty="0"/>
              <a:t>Judgements of conscience:</a:t>
            </a:r>
          </a:p>
          <a:p>
            <a:pPr lvl="1"/>
            <a:r>
              <a:rPr lang="en-GB" dirty="0"/>
              <a:t>an act of the intellect that judges </a:t>
            </a:r>
          </a:p>
          <a:p>
            <a:pPr lvl="1"/>
            <a:r>
              <a:rPr lang="en-GB" dirty="0"/>
              <a:t>‘this act is bad – do not do it’ or </a:t>
            </a:r>
          </a:p>
          <a:p>
            <a:pPr lvl="1"/>
            <a:r>
              <a:rPr lang="en-GB" dirty="0"/>
              <a:t>‘this act is good – do it’</a:t>
            </a:r>
          </a:p>
          <a:p>
            <a:pPr lvl="1"/>
            <a:endParaRPr lang="en-GB" dirty="0"/>
          </a:p>
          <a:p>
            <a:r>
              <a:rPr lang="en-GB" dirty="0"/>
              <a:t>Need for practical rationality</a:t>
            </a:r>
          </a:p>
        </p:txBody>
      </p:sp>
    </p:spTree>
    <p:extLst>
      <p:ext uri="{BB962C8B-B14F-4D97-AF65-F5344CB8AC3E}">
        <p14:creationId xmlns:p14="http://schemas.microsoft.com/office/powerpoint/2010/main" val="22196252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Practical Rationality</a:t>
            </a:r>
          </a:p>
        </p:txBody>
      </p:sp>
      <p:sp>
        <p:nvSpPr>
          <p:cNvPr id="3" name="Content Placeholder 2"/>
          <p:cNvSpPr>
            <a:spLocks noGrp="1"/>
          </p:cNvSpPr>
          <p:nvPr>
            <p:ph idx="1"/>
          </p:nvPr>
        </p:nvSpPr>
        <p:spPr/>
        <p:txBody>
          <a:bodyPr/>
          <a:lstStyle/>
          <a:p>
            <a:r>
              <a:rPr lang="en-GB" dirty="0"/>
              <a:t>The intellectual discernment between good and evil which permits us to make moral judgements</a:t>
            </a:r>
          </a:p>
          <a:p>
            <a:endParaRPr lang="en-GB" dirty="0"/>
          </a:p>
          <a:p>
            <a:r>
              <a:rPr lang="en-GB" dirty="0"/>
              <a:t>Enables us to formulate moral judgements about particular situations</a:t>
            </a:r>
          </a:p>
          <a:p>
            <a:endParaRPr lang="en-GB" dirty="0"/>
          </a:p>
          <a:p>
            <a:r>
              <a:rPr lang="en-GB" dirty="0"/>
              <a:t>Requires ethical knowledge and practical wisdom</a:t>
            </a:r>
          </a:p>
        </p:txBody>
      </p:sp>
    </p:spTree>
    <p:extLst>
      <p:ext uri="{BB962C8B-B14F-4D97-AF65-F5344CB8AC3E}">
        <p14:creationId xmlns:p14="http://schemas.microsoft.com/office/powerpoint/2010/main" val="1397111704"/>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Practical Wisdom -Prudence</a:t>
            </a:r>
            <a:endParaRPr lang="en-GB" dirty="0"/>
          </a:p>
        </p:txBody>
      </p:sp>
      <p:sp>
        <p:nvSpPr>
          <p:cNvPr id="3" name="Content Placeholder 2"/>
          <p:cNvSpPr>
            <a:spLocks noGrp="1"/>
          </p:cNvSpPr>
          <p:nvPr>
            <p:ph idx="1"/>
          </p:nvPr>
        </p:nvSpPr>
        <p:spPr/>
        <p:txBody>
          <a:bodyPr>
            <a:normAutofit fontScale="92500" lnSpcReduction="20000"/>
          </a:bodyPr>
          <a:lstStyle/>
          <a:p>
            <a:r>
              <a:rPr lang="en-US"/>
              <a:t>Reinforces practical rationality by helping to understand a decision and the consequences before finalising the decision</a:t>
            </a:r>
          </a:p>
          <a:p>
            <a:endParaRPr lang="en-US"/>
          </a:p>
          <a:p>
            <a:r>
              <a:rPr lang="en-US"/>
              <a:t>Helps to balance various criteria for moral judgements and to determine the best alternative</a:t>
            </a:r>
          </a:p>
          <a:p>
            <a:endParaRPr lang="en-US"/>
          </a:p>
          <a:p>
            <a:r>
              <a:rPr lang="en-US"/>
              <a:t>Ensures moral judgements are sound and indicate the best way to act</a:t>
            </a:r>
          </a:p>
          <a:p>
            <a:endParaRPr lang="en-US"/>
          </a:p>
          <a:p>
            <a:endParaRPr lang="es-ES"/>
          </a:p>
          <a:p>
            <a:endParaRPr lang="en-GB" dirty="0"/>
          </a:p>
        </p:txBody>
      </p:sp>
    </p:spTree>
    <p:extLst>
      <p:ext uri="{BB962C8B-B14F-4D97-AF65-F5344CB8AC3E}">
        <p14:creationId xmlns:p14="http://schemas.microsoft.com/office/powerpoint/2010/main" val="2081980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2277ECE-7E42-9D42-8515-58D530D07A6B}"/>
              </a:ext>
            </a:extLst>
          </p:cNvPr>
          <p:cNvSpPr>
            <a:spLocks noGrp="1"/>
          </p:cNvSpPr>
          <p:nvPr>
            <p:ph type="title"/>
          </p:nvPr>
        </p:nvSpPr>
        <p:spPr>
          <a:xfrm>
            <a:off x="971225" y="557790"/>
            <a:ext cx="5429575" cy="990600"/>
          </a:xfrm>
        </p:spPr>
        <p:txBody>
          <a:bodyPr>
            <a:noAutofit/>
          </a:bodyPr>
          <a:lstStyle/>
          <a:p>
            <a:pPr>
              <a:spcBef>
                <a:spcPts val="600"/>
              </a:spcBef>
              <a:spcAft>
                <a:spcPts val="600"/>
              </a:spcAft>
              <a:buClr>
                <a:srgbClr val="20A0AC"/>
              </a:buClr>
            </a:pPr>
            <a:r>
              <a:rPr lang="es-ES" sz="3200" kern="150" dirty="0">
                <a:latin typeface="Arial" panose="020B0604020202020204" pitchFamily="34" charset="0"/>
                <a:ea typeface="SimSun" panose="02010600030101010101" pitchFamily="2" charset="-122"/>
                <a:cs typeface="Arial" panose="020B0604020202020204" pitchFamily="34" charset="0"/>
              </a:rPr>
              <a:t>7 </a:t>
            </a:r>
            <a:r>
              <a:rPr lang="es-ES" sz="3200" kern="150" dirty="0" err="1">
                <a:latin typeface="Arial" panose="020B0604020202020204" pitchFamily="34" charset="0"/>
                <a:ea typeface="SimSun" panose="02010600030101010101" pitchFamily="2" charset="-122"/>
                <a:cs typeface="Arial" panose="020B0604020202020204" pitchFamily="34" charset="0"/>
              </a:rPr>
              <a:t>Step</a:t>
            </a:r>
            <a:r>
              <a:rPr lang="es-ES" sz="3200" kern="150" dirty="0">
                <a:latin typeface="Arial" panose="020B0604020202020204" pitchFamily="34" charset="0"/>
                <a:ea typeface="SimSun" panose="02010600030101010101" pitchFamily="2" charset="-122"/>
                <a:cs typeface="Arial" panose="020B0604020202020204" pitchFamily="34" charset="0"/>
              </a:rPr>
              <a:t> </a:t>
            </a:r>
            <a:r>
              <a:rPr lang="es-ES" sz="3200" kern="150" dirty="0" err="1">
                <a:latin typeface="Arial" panose="020B0604020202020204" pitchFamily="34" charset="0"/>
                <a:ea typeface="SimSun" panose="02010600030101010101" pitchFamily="2" charset="-122"/>
                <a:cs typeface="Arial" panose="020B0604020202020204" pitchFamily="34" charset="0"/>
              </a:rPr>
              <a:t>Process</a:t>
            </a:r>
            <a:r>
              <a:rPr lang="es-ES" sz="3200" kern="150" dirty="0">
                <a:latin typeface="Arial" panose="020B0604020202020204" pitchFamily="34" charset="0"/>
                <a:ea typeface="SimSun" panose="02010600030101010101" pitchFamily="2" charset="-122"/>
                <a:cs typeface="Arial" panose="020B0604020202020204" pitchFamily="34" charset="0"/>
              </a:rPr>
              <a:t> </a:t>
            </a:r>
            <a:r>
              <a:rPr lang="es-ES" sz="3200" kern="150" dirty="0" err="1">
                <a:latin typeface="Arial" panose="020B0604020202020204" pitchFamily="34" charset="0"/>
                <a:ea typeface="SimSun" panose="02010600030101010101" pitchFamily="2" charset="-122"/>
                <a:cs typeface="Arial" panose="020B0604020202020204" pitchFamily="34" charset="0"/>
              </a:rPr>
              <a:t>for</a:t>
            </a:r>
            <a:r>
              <a:rPr lang="es-ES" sz="3200" kern="150" dirty="0">
                <a:latin typeface="Arial" panose="020B0604020202020204" pitchFamily="34" charset="0"/>
                <a:ea typeface="SimSun" panose="02010600030101010101" pitchFamily="2" charset="-122"/>
                <a:cs typeface="Arial" panose="020B0604020202020204" pitchFamily="34" charset="0"/>
              </a:rPr>
              <a:t>  </a:t>
            </a:r>
            <a:r>
              <a:rPr lang="es-ES" sz="3200" kern="150" dirty="0" err="1">
                <a:latin typeface="Arial" panose="020B0604020202020204" pitchFamily="34" charset="0"/>
                <a:ea typeface="SimSun" panose="02010600030101010101" pitchFamily="2" charset="-122"/>
                <a:cs typeface="Arial" panose="020B0604020202020204" pitchFamily="34" charset="0"/>
              </a:rPr>
              <a:t>wise</a:t>
            </a:r>
            <a:r>
              <a:rPr lang="es-ES" sz="3200" kern="150" dirty="0">
                <a:latin typeface="Arial" panose="020B0604020202020204" pitchFamily="34" charset="0"/>
                <a:ea typeface="SimSun" panose="02010600030101010101" pitchFamily="2" charset="-122"/>
                <a:cs typeface="Arial" panose="020B0604020202020204" pitchFamily="34" charset="0"/>
              </a:rPr>
              <a:t> </a:t>
            </a:r>
            <a:br>
              <a:rPr lang="es-ES" sz="3200" kern="150" dirty="0">
                <a:latin typeface="Arial" panose="020B0604020202020204" pitchFamily="34" charset="0"/>
                <a:ea typeface="SimSun" panose="02010600030101010101" pitchFamily="2" charset="-122"/>
                <a:cs typeface="Arial" panose="020B0604020202020204" pitchFamily="34" charset="0"/>
              </a:rPr>
            </a:br>
            <a:r>
              <a:rPr lang="es-ES" sz="3200" kern="150" dirty="0" err="1">
                <a:latin typeface="Arial" panose="020B0604020202020204" pitchFamily="34" charset="0"/>
                <a:ea typeface="SimSun" panose="02010600030101010101" pitchFamily="2" charset="-122"/>
                <a:cs typeface="Arial" panose="020B0604020202020204" pitchFamily="34" charset="0"/>
              </a:rPr>
              <a:t>decision-making</a:t>
            </a:r>
            <a:endParaRPr lang="es-ES" sz="3200" kern="150" dirty="0">
              <a:latin typeface="Arial" panose="020B0604020202020204" pitchFamily="34" charset="0"/>
              <a:ea typeface="SimSun" panose="02010600030101010101" pitchFamily="2" charset="-122"/>
              <a:cs typeface="Arial" panose="020B0604020202020204" pitchFamily="34" charset="0"/>
            </a:endParaRPr>
          </a:p>
        </p:txBody>
      </p:sp>
      <p:graphicFrame>
        <p:nvGraphicFramePr>
          <p:cNvPr id="9" name="Table 8">
            <a:extLst>
              <a:ext uri="{FF2B5EF4-FFF2-40B4-BE49-F238E27FC236}">
                <a16:creationId xmlns:a16="http://schemas.microsoft.com/office/drawing/2014/main" id="{29EF55EA-AE02-E242-9194-7B76B60C2BCA}"/>
              </a:ext>
            </a:extLst>
          </p:cNvPr>
          <p:cNvGraphicFramePr>
            <a:graphicFrameLocks noGrp="1"/>
          </p:cNvGraphicFramePr>
          <p:nvPr>
            <p:extLst>
              <p:ext uri="{D42A27DB-BD31-4B8C-83A1-F6EECF244321}">
                <p14:modId xmlns:p14="http://schemas.microsoft.com/office/powerpoint/2010/main" val="624876472"/>
              </p:ext>
            </p:extLst>
          </p:nvPr>
        </p:nvGraphicFramePr>
        <p:xfrm>
          <a:off x="94012" y="2034943"/>
          <a:ext cx="8928992" cy="868962"/>
        </p:xfrm>
        <a:graphic>
          <a:graphicData uri="http://schemas.openxmlformats.org/drawingml/2006/table">
            <a:tbl>
              <a:tblPr firstRow="1" bandRow="1">
                <a:tableStyleId>{5C22544A-7EE6-4342-B048-85BDC9FD1C3A}</a:tableStyleId>
              </a:tblPr>
              <a:tblGrid>
                <a:gridCol w="2793157">
                  <a:extLst>
                    <a:ext uri="{9D8B030D-6E8A-4147-A177-3AD203B41FA5}">
                      <a16:colId xmlns:a16="http://schemas.microsoft.com/office/drawing/2014/main" val="509028656"/>
                    </a:ext>
                  </a:extLst>
                </a:gridCol>
                <a:gridCol w="6135835">
                  <a:extLst>
                    <a:ext uri="{9D8B030D-6E8A-4147-A177-3AD203B41FA5}">
                      <a16:colId xmlns:a16="http://schemas.microsoft.com/office/drawing/2014/main" val="3758593345"/>
                    </a:ext>
                  </a:extLst>
                </a:gridCol>
              </a:tblGrid>
              <a:tr h="868962">
                <a:tc>
                  <a:txBody>
                    <a:bodyPr/>
                    <a:lstStyle/>
                    <a:p>
                      <a:pPr marL="0" indent="0" algn="ctr">
                        <a:lnSpc>
                          <a:spcPct val="100000"/>
                        </a:lnSpc>
                        <a:buFont typeface="Arial" panose="020B0604020202020204" pitchFamily="34" charset="0"/>
                        <a:buNone/>
                      </a:pPr>
                      <a:r>
                        <a:rPr lang="en-US" sz="2000" b="1" dirty="0">
                          <a:solidFill>
                            <a:schemeClr val="bg1"/>
                          </a:solidFill>
                        </a:rPr>
                        <a:t>1. DELIBERATION</a:t>
                      </a:r>
                      <a:endParaRPr lang="en-US" sz="1200" b="1" dirty="0">
                        <a:solidFill>
                          <a:schemeClr val="bg1"/>
                        </a:solidFill>
                      </a:endParaRPr>
                    </a:p>
                  </a:txBody>
                  <a:tcPr marL="46085" marR="46085" marT="23042" marB="23042" anchor="ctr">
                    <a:lnL w="12700" cmpd="sng">
                      <a:noFill/>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marL="0" indent="0" algn="l">
                        <a:lnSpc>
                          <a:spcPct val="100000"/>
                        </a:lnSpc>
                        <a:spcBef>
                          <a:spcPts val="600"/>
                        </a:spcBef>
                        <a:spcAft>
                          <a:spcPts val="600"/>
                        </a:spcAft>
                        <a:buFont typeface="Arial" panose="020B0604020202020204" pitchFamily="34" charset="0"/>
                        <a:buNone/>
                      </a:pPr>
                      <a:r>
                        <a:rPr lang="es-ES" sz="2000" b="0" kern="1200" dirty="0">
                          <a:solidFill>
                            <a:schemeClr val="tx1"/>
                          </a:solidFill>
                          <a:effectLst/>
                          <a:latin typeface="+mn-lt"/>
                          <a:ea typeface="+mn-ea"/>
                          <a:cs typeface="+mn-cs"/>
                        </a:rPr>
                        <a:t>On the particular </a:t>
                      </a:r>
                      <a:r>
                        <a:rPr lang="en-GB" sz="2000" b="0" kern="1200" noProof="0" dirty="0">
                          <a:solidFill>
                            <a:schemeClr val="tx1"/>
                          </a:solidFill>
                          <a:effectLst/>
                          <a:latin typeface="+mn-lt"/>
                          <a:ea typeface="+mn-ea"/>
                          <a:cs typeface="+mn-cs"/>
                        </a:rPr>
                        <a:t>situation</a:t>
                      </a:r>
                      <a:r>
                        <a:rPr lang="es-ES" sz="2000" b="0" kern="1200" dirty="0">
                          <a:solidFill>
                            <a:schemeClr val="tx1"/>
                          </a:solidFill>
                          <a:effectLst/>
                          <a:latin typeface="+mn-lt"/>
                          <a:ea typeface="+mn-ea"/>
                          <a:cs typeface="+mn-cs"/>
                        </a:rPr>
                        <a:t>, pondering </a:t>
                      </a:r>
                      <a:r>
                        <a:rPr lang="es-ES" sz="2000" b="0" kern="1200" dirty="0" err="1">
                          <a:solidFill>
                            <a:schemeClr val="tx1"/>
                          </a:solidFill>
                          <a:effectLst/>
                          <a:latin typeface="+mn-lt"/>
                          <a:ea typeface="+mn-ea"/>
                          <a:cs typeface="+mn-cs"/>
                        </a:rPr>
                        <a:t>relevant</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circumstances</a:t>
                      </a:r>
                      <a:r>
                        <a:rPr lang="es-ES" sz="2000" b="0" kern="1200" dirty="0">
                          <a:solidFill>
                            <a:schemeClr val="tx1"/>
                          </a:solidFill>
                          <a:effectLst/>
                          <a:latin typeface="+mn-lt"/>
                          <a:ea typeface="+mn-ea"/>
                          <a:cs typeface="+mn-cs"/>
                        </a:rPr>
                        <a:t> and </a:t>
                      </a:r>
                      <a:r>
                        <a:rPr lang="es-ES" sz="2000" b="0" kern="1200" dirty="0" err="1">
                          <a:solidFill>
                            <a:schemeClr val="tx1"/>
                          </a:solidFill>
                          <a:effectLst/>
                          <a:latin typeface="+mn-lt"/>
                          <a:ea typeface="+mn-ea"/>
                          <a:cs typeface="+mn-cs"/>
                        </a:rPr>
                        <a:t>foreseeable</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consequences</a:t>
                      </a:r>
                      <a:endParaRPr lang="en-US" sz="2000" b="0" dirty="0">
                        <a:solidFill>
                          <a:schemeClr val="tx1"/>
                        </a:solidFill>
                      </a:endParaRPr>
                    </a:p>
                  </a:txBody>
                  <a:tcPr marL="181436" marR="46085" marT="23042" marB="23042"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0F1F4">
                        <a:alpha val="70000"/>
                      </a:srgbClr>
                    </a:solidFill>
                  </a:tcPr>
                </a:tc>
                <a:extLst>
                  <a:ext uri="{0D108BD9-81ED-4DB2-BD59-A6C34878D82A}">
                    <a16:rowId xmlns:a16="http://schemas.microsoft.com/office/drawing/2014/main" val="3435312058"/>
                  </a:ext>
                </a:extLst>
              </a:tr>
            </a:tbl>
          </a:graphicData>
        </a:graphic>
      </p:graphicFrame>
      <p:graphicFrame>
        <p:nvGraphicFramePr>
          <p:cNvPr id="10" name="Table 9">
            <a:extLst>
              <a:ext uri="{FF2B5EF4-FFF2-40B4-BE49-F238E27FC236}">
                <a16:creationId xmlns:a16="http://schemas.microsoft.com/office/drawing/2014/main" id="{6E2389D2-8432-ED4E-890C-FBA07DABE8E0}"/>
              </a:ext>
            </a:extLst>
          </p:cNvPr>
          <p:cNvGraphicFramePr>
            <a:graphicFrameLocks noGrp="1"/>
          </p:cNvGraphicFramePr>
          <p:nvPr/>
        </p:nvGraphicFramePr>
        <p:xfrm>
          <a:off x="94012" y="3110631"/>
          <a:ext cx="8927692" cy="935401"/>
        </p:xfrm>
        <a:graphic>
          <a:graphicData uri="http://schemas.openxmlformats.org/drawingml/2006/table">
            <a:tbl>
              <a:tblPr firstRow="1" bandRow="1">
                <a:tableStyleId>{5C22544A-7EE6-4342-B048-85BDC9FD1C3A}</a:tableStyleId>
              </a:tblPr>
              <a:tblGrid>
                <a:gridCol w="2791329">
                  <a:extLst>
                    <a:ext uri="{9D8B030D-6E8A-4147-A177-3AD203B41FA5}">
                      <a16:colId xmlns:a16="http://schemas.microsoft.com/office/drawing/2014/main" val="509028656"/>
                    </a:ext>
                  </a:extLst>
                </a:gridCol>
                <a:gridCol w="6136363">
                  <a:extLst>
                    <a:ext uri="{9D8B030D-6E8A-4147-A177-3AD203B41FA5}">
                      <a16:colId xmlns:a16="http://schemas.microsoft.com/office/drawing/2014/main" val="3758593345"/>
                    </a:ext>
                  </a:extLst>
                </a:gridCol>
              </a:tblGrid>
              <a:tr h="935401">
                <a:tc>
                  <a:txBody>
                    <a:bodyPr/>
                    <a:lstStyle/>
                    <a:p>
                      <a:pPr marL="0" indent="0" algn="ctr">
                        <a:lnSpc>
                          <a:spcPct val="100000"/>
                        </a:lnSpc>
                        <a:buFont typeface="Arial" panose="020B0604020202020204" pitchFamily="34" charset="0"/>
                        <a:buNone/>
                      </a:pPr>
                      <a:r>
                        <a:rPr lang="en-US" sz="2000" b="1" dirty="0">
                          <a:solidFill>
                            <a:schemeClr val="bg1"/>
                          </a:solidFill>
                        </a:rPr>
                        <a:t>2. SINCERE ATTITUDE</a:t>
                      </a:r>
                      <a:endParaRPr lang="en-US" sz="1200" b="1" dirty="0">
                        <a:solidFill>
                          <a:schemeClr val="bg1"/>
                        </a:solidFill>
                      </a:endParaRPr>
                    </a:p>
                  </a:txBody>
                  <a:tcPr marL="46085" marR="46085" marT="23042" marB="23042" anchor="ctr">
                    <a:lnL w="12700" cmpd="sng">
                      <a:noFill/>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marL="0" indent="0" algn="l">
                        <a:lnSpc>
                          <a:spcPct val="100000"/>
                        </a:lnSpc>
                        <a:spcBef>
                          <a:spcPts val="600"/>
                        </a:spcBef>
                        <a:spcAft>
                          <a:spcPts val="600"/>
                        </a:spcAft>
                        <a:buFont typeface="Arial" panose="020B0604020202020204" pitchFamily="34" charset="0"/>
                        <a:buNone/>
                      </a:pPr>
                      <a:r>
                        <a:rPr lang="en-US" sz="2000" b="0" kern="1200" dirty="0">
                          <a:solidFill>
                            <a:schemeClr val="tx1"/>
                          </a:solidFill>
                          <a:effectLst/>
                          <a:latin typeface="+mn-lt"/>
                          <a:ea typeface="+mn-ea"/>
                          <a:cs typeface="+mn-cs"/>
                        </a:rPr>
                        <a:t>Seeking what is good, avoiding false rationalizations to justify one’s interests</a:t>
                      </a:r>
                      <a:endParaRPr lang="en-US" sz="2000" b="0" dirty="0">
                        <a:solidFill>
                          <a:schemeClr val="tx1"/>
                        </a:solidFill>
                      </a:endParaRPr>
                    </a:p>
                  </a:txBody>
                  <a:tcPr marL="181436" marR="46085" marT="23042" marB="23042"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0F1F4">
                        <a:alpha val="70000"/>
                      </a:srgbClr>
                    </a:solidFill>
                  </a:tcPr>
                </a:tc>
                <a:extLst>
                  <a:ext uri="{0D108BD9-81ED-4DB2-BD59-A6C34878D82A}">
                    <a16:rowId xmlns:a16="http://schemas.microsoft.com/office/drawing/2014/main" val="3435312058"/>
                  </a:ext>
                </a:extLst>
              </a:tr>
            </a:tbl>
          </a:graphicData>
        </a:graphic>
      </p:graphicFrame>
      <p:graphicFrame>
        <p:nvGraphicFramePr>
          <p:cNvPr id="11" name="Table 10">
            <a:extLst>
              <a:ext uri="{FF2B5EF4-FFF2-40B4-BE49-F238E27FC236}">
                <a16:creationId xmlns:a16="http://schemas.microsoft.com/office/drawing/2014/main" id="{10CF0382-8369-B84A-8758-142B898DA01A}"/>
              </a:ext>
            </a:extLst>
          </p:cNvPr>
          <p:cNvGraphicFramePr>
            <a:graphicFrameLocks noGrp="1"/>
          </p:cNvGraphicFramePr>
          <p:nvPr/>
        </p:nvGraphicFramePr>
        <p:xfrm>
          <a:off x="94012" y="4339987"/>
          <a:ext cx="8927692" cy="1187356"/>
        </p:xfrm>
        <a:graphic>
          <a:graphicData uri="http://schemas.openxmlformats.org/drawingml/2006/table">
            <a:tbl>
              <a:tblPr firstRow="1" bandRow="1">
                <a:tableStyleId>{5C22544A-7EE6-4342-B048-85BDC9FD1C3A}</a:tableStyleId>
              </a:tblPr>
              <a:tblGrid>
                <a:gridCol w="2791329">
                  <a:extLst>
                    <a:ext uri="{9D8B030D-6E8A-4147-A177-3AD203B41FA5}">
                      <a16:colId xmlns:a16="http://schemas.microsoft.com/office/drawing/2014/main" val="509028656"/>
                    </a:ext>
                  </a:extLst>
                </a:gridCol>
                <a:gridCol w="6136363">
                  <a:extLst>
                    <a:ext uri="{9D8B030D-6E8A-4147-A177-3AD203B41FA5}">
                      <a16:colId xmlns:a16="http://schemas.microsoft.com/office/drawing/2014/main" val="3758593345"/>
                    </a:ext>
                  </a:extLst>
                </a:gridCol>
              </a:tblGrid>
              <a:tr h="1187356">
                <a:tc>
                  <a:txBody>
                    <a:bodyPr/>
                    <a:lstStyle/>
                    <a:p>
                      <a:pPr marL="0" indent="0" algn="ctr">
                        <a:lnSpc>
                          <a:spcPct val="100000"/>
                        </a:lnSpc>
                        <a:buFont typeface="Arial" panose="020B0604020202020204" pitchFamily="34" charset="0"/>
                        <a:buNone/>
                      </a:pPr>
                      <a:r>
                        <a:rPr lang="en-US" sz="2000" b="1" dirty="0">
                          <a:solidFill>
                            <a:schemeClr val="bg1"/>
                          </a:solidFill>
                        </a:rPr>
                        <a:t>3. ETHICAL PRINCIPLES</a:t>
                      </a:r>
                      <a:endParaRPr lang="en-US" sz="1200" b="1" dirty="0">
                        <a:solidFill>
                          <a:schemeClr val="bg1"/>
                        </a:solidFill>
                      </a:endParaRPr>
                    </a:p>
                  </a:txBody>
                  <a:tcPr marL="46085" marR="46085" marT="23042" marB="23042" anchor="ctr">
                    <a:lnL w="12700" cmpd="sng">
                      <a:noFill/>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marL="0" indent="0" algn="l">
                        <a:lnSpc>
                          <a:spcPct val="100000"/>
                        </a:lnSpc>
                        <a:spcBef>
                          <a:spcPts val="600"/>
                        </a:spcBef>
                        <a:spcAft>
                          <a:spcPts val="600"/>
                        </a:spcAft>
                        <a:buFont typeface="Arial" panose="020B0604020202020204" pitchFamily="34" charset="0"/>
                        <a:buNone/>
                      </a:pPr>
                      <a:r>
                        <a:rPr lang="es-ES" sz="2000" b="0" kern="1200" dirty="0" err="1">
                          <a:solidFill>
                            <a:schemeClr val="tx1"/>
                          </a:solidFill>
                          <a:effectLst/>
                          <a:latin typeface="+mn-lt"/>
                          <a:ea typeface="+mn-ea"/>
                          <a:cs typeface="+mn-cs"/>
                        </a:rPr>
                        <a:t>Such</a:t>
                      </a:r>
                      <a:r>
                        <a:rPr lang="es-ES" sz="2000" b="0" kern="1200" dirty="0">
                          <a:solidFill>
                            <a:schemeClr val="tx1"/>
                          </a:solidFill>
                          <a:effectLst/>
                          <a:latin typeface="+mn-lt"/>
                          <a:ea typeface="+mn-ea"/>
                          <a:cs typeface="+mn-cs"/>
                        </a:rPr>
                        <a:t> as the Golden Rule and </a:t>
                      </a:r>
                      <a:r>
                        <a:rPr lang="es-ES" sz="2000" b="0" kern="1200" dirty="0" err="1">
                          <a:solidFill>
                            <a:schemeClr val="tx1"/>
                          </a:solidFill>
                          <a:effectLst/>
                          <a:latin typeface="+mn-lt"/>
                          <a:ea typeface="+mn-ea"/>
                          <a:cs typeface="+mn-cs"/>
                        </a:rPr>
                        <a:t>other</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ethical</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principles</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Personalist</a:t>
                      </a:r>
                      <a:r>
                        <a:rPr lang="es-ES" sz="2000" b="0" kern="1200" dirty="0">
                          <a:solidFill>
                            <a:schemeClr val="tx1"/>
                          </a:solidFill>
                          <a:effectLst/>
                          <a:latin typeface="+mn-lt"/>
                          <a:ea typeface="+mn-ea"/>
                          <a:cs typeface="+mn-cs"/>
                        </a:rPr>
                        <a:t>, the </a:t>
                      </a:r>
                      <a:r>
                        <a:rPr lang="es-ES" sz="2000" b="0" kern="1200" dirty="0" err="1">
                          <a:solidFill>
                            <a:schemeClr val="tx1"/>
                          </a:solidFill>
                          <a:effectLst/>
                          <a:latin typeface="+mn-lt"/>
                          <a:ea typeface="+mn-ea"/>
                          <a:cs typeface="+mn-cs"/>
                        </a:rPr>
                        <a:t>Common</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Good</a:t>
                      </a:r>
                      <a:r>
                        <a:rPr lang="es-ES" sz="2000" b="0" kern="1200" dirty="0">
                          <a:solidFill>
                            <a:schemeClr val="tx1"/>
                          </a:solidFill>
                          <a:effectLst/>
                          <a:latin typeface="+mn-lt"/>
                          <a:ea typeface="+mn-ea"/>
                          <a:cs typeface="+mn-cs"/>
                        </a:rPr>
                        <a:t>, etc.)</a:t>
                      </a:r>
                      <a:endParaRPr lang="en-US" sz="2000" b="0" dirty="0">
                        <a:solidFill>
                          <a:schemeClr val="tx1"/>
                        </a:solidFill>
                      </a:endParaRPr>
                    </a:p>
                  </a:txBody>
                  <a:tcPr marL="181436" marR="46085" marT="23042" marB="23042"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0F1F4">
                        <a:alpha val="70000"/>
                      </a:srgbClr>
                    </a:solidFill>
                  </a:tcPr>
                </a:tc>
                <a:extLst>
                  <a:ext uri="{0D108BD9-81ED-4DB2-BD59-A6C34878D82A}">
                    <a16:rowId xmlns:a16="http://schemas.microsoft.com/office/drawing/2014/main" val="3435312058"/>
                  </a:ext>
                </a:extLst>
              </a:tr>
            </a:tbl>
          </a:graphicData>
        </a:graphic>
      </p:graphicFrame>
      <p:graphicFrame>
        <p:nvGraphicFramePr>
          <p:cNvPr id="12" name="Table 11">
            <a:extLst>
              <a:ext uri="{FF2B5EF4-FFF2-40B4-BE49-F238E27FC236}">
                <a16:creationId xmlns:a16="http://schemas.microsoft.com/office/drawing/2014/main" id="{17EFCCD9-EBCA-7747-94B5-7A3752000270}"/>
              </a:ext>
            </a:extLst>
          </p:cNvPr>
          <p:cNvGraphicFramePr>
            <a:graphicFrameLocks noGrp="1"/>
          </p:cNvGraphicFramePr>
          <p:nvPr/>
        </p:nvGraphicFramePr>
        <p:xfrm>
          <a:off x="95312" y="5759355"/>
          <a:ext cx="8927692" cy="818866"/>
        </p:xfrm>
        <a:graphic>
          <a:graphicData uri="http://schemas.openxmlformats.org/drawingml/2006/table">
            <a:tbl>
              <a:tblPr firstRow="1" bandRow="1">
                <a:tableStyleId>{5C22544A-7EE6-4342-B048-85BDC9FD1C3A}</a:tableStyleId>
              </a:tblPr>
              <a:tblGrid>
                <a:gridCol w="2791330">
                  <a:extLst>
                    <a:ext uri="{9D8B030D-6E8A-4147-A177-3AD203B41FA5}">
                      <a16:colId xmlns:a16="http://schemas.microsoft.com/office/drawing/2014/main" val="509028656"/>
                    </a:ext>
                  </a:extLst>
                </a:gridCol>
                <a:gridCol w="6136362">
                  <a:extLst>
                    <a:ext uri="{9D8B030D-6E8A-4147-A177-3AD203B41FA5}">
                      <a16:colId xmlns:a16="http://schemas.microsoft.com/office/drawing/2014/main" val="3758593345"/>
                    </a:ext>
                  </a:extLst>
                </a:gridCol>
              </a:tblGrid>
              <a:tr h="818866">
                <a:tc>
                  <a:txBody>
                    <a:bodyPr/>
                    <a:lstStyle/>
                    <a:p>
                      <a:pPr marL="0" indent="0" algn="ctr">
                        <a:lnSpc>
                          <a:spcPct val="100000"/>
                        </a:lnSpc>
                        <a:spcBef>
                          <a:spcPts val="0"/>
                        </a:spcBef>
                        <a:spcAft>
                          <a:spcPts val="0"/>
                        </a:spcAft>
                        <a:buFont typeface="Arial" panose="020B0604020202020204" pitchFamily="34" charset="0"/>
                        <a:buNone/>
                      </a:pPr>
                      <a:r>
                        <a:rPr lang="en-US" sz="2000" b="1" dirty="0">
                          <a:solidFill>
                            <a:schemeClr val="bg1"/>
                          </a:solidFill>
                        </a:rPr>
                        <a:t>4. ETHICAL TRAINING</a:t>
                      </a:r>
                      <a:endParaRPr lang="en-US" sz="1200" b="1" dirty="0">
                        <a:solidFill>
                          <a:schemeClr val="bg1"/>
                        </a:solidFill>
                      </a:endParaRPr>
                    </a:p>
                  </a:txBody>
                  <a:tcPr marL="46085" marR="46085" marT="23042" marB="23042" anchor="ctr">
                    <a:lnL w="12700" cmpd="sng">
                      <a:noFill/>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marL="0" indent="0" algn="l">
                        <a:lnSpc>
                          <a:spcPct val="100000"/>
                        </a:lnSpc>
                        <a:spcBef>
                          <a:spcPts val="0"/>
                        </a:spcBef>
                        <a:spcAft>
                          <a:spcPts val="0"/>
                        </a:spcAft>
                        <a:buFont typeface="Arial" panose="020B0604020202020204" pitchFamily="34" charset="0"/>
                        <a:buNone/>
                      </a:pPr>
                      <a:r>
                        <a:rPr lang="en-US" sz="2000" b="0" kern="1200" dirty="0">
                          <a:solidFill>
                            <a:schemeClr val="tx1"/>
                          </a:solidFill>
                          <a:effectLst/>
                          <a:latin typeface="+mn-lt"/>
                          <a:ea typeface="+mn-ea"/>
                          <a:cs typeface="+mn-cs"/>
                        </a:rPr>
                        <a:t>In topics related to one’s own field</a:t>
                      </a:r>
                      <a:endParaRPr lang="en-US" sz="2000" b="0" dirty="0">
                        <a:solidFill>
                          <a:schemeClr val="tx1"/>
                        </a:solidFill>
                      </a:endParaRPr>
                    </a:p>
                  </a:txBody>
                  <a:tcPr marL="181436" marR="46085" marT="23042" marB="23042"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0F1F4">
                        <a:alpha val="70000"/>
                      </a:srgbClr>
                    </a:solidFill>
                  </a:tcPr>
                </a:tc>
                <a:extLst>
                  <a:ext uri="{0D108BD9-81ED-4DB2-BD59-A6C34878D82A}">
                    <a16:rowId xmlns:a16="http://schemas.microsoft.com/office/drawing/2014/main" val="3435312058"/>
                  </a:ext>
                </a:extLst>
              </a:tr>
            </a:tbl>
          </a:graphicData>
        </a:graphic>
      </p:graphicFrame>
      <p:sp>
        <p:nvSpPr>
          <p:cNvPr id="2" name="TextBox 1"/>
          <p:cNvSpPr txBox="1"/>
          <p:nvPr/>
        </p:nvSpPr>
        <p:spPr>
          <a:xfrm>
            <a:off x="4326340" y="1311768"/>
            <a:ext cx="4575676" cy="646331"/>
          </a:xfrm>
          <a:prstGeom prst="rect">
            <a:avLst/>
          </a:prstGeom>
          <a:noFill/>
        </p:spPr>
        <p:txBody>
          <a:bodyPr wrap="none" rtlCol="0">
            <a:spAutoFit/>
          </a:bodyPr>
          <a:lstStyle/>
          <a:p>
            <a:r>
              <a:rPr lang="en-GB" b="1" dirty="0">
                <a:solidFill>
                  <a:srgbClr val="FF0000"/>
                </a:solidFill>
              </a:rPr>
              <a:t>2 minutes personal reflection to apply these </a:t>
            </a:r>
          </a:p>
          <a:p>
            <a:r>
              <a:rPr lang="en-GB" b="1" dirty="0">
                <a:solidFill>
                  <a:srgbClr val="FF0000"/>
                </a:solidFill>
              </a:rPr>
              <a:t>steps to a decision you made or need to make</a:t>
            </a:r>
          </a:p>
        </p:txBody>
      </p:sp>
    </p:spTree>
    <p:extLst>
      <p:ext uri="{BB962C8B-B14F-4D97-AF65-F5344CB8AC3E}">
        <p14:creationId xmlns:p14="http://schemas.microsoft.com/office/powerpoint/2010/main" val="562385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1+#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1+#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1+#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2277ECE-7E42-9D42-8515-58D530D07A6B}"/>
              </a:ext>
            </a:extLst>
          </p:cNvPr>
          <p:cNvSpPr>
            <a:spLocks noGrp="1"/>
          </p:cNvSpPr>
          <p:nvPr>
            <p:ph type="title"/>
          </p:nvPr>
        </p:nvSpPr>
        <p:spPr>
          <a:xfrm>
            <a:off x="862043" y="557790"/>
            <a:ext cx="5907247" cy="990600"/>
          </a:xfrm>
        </p:spPr>
        <p:txBody>
          <a:bodyPr>
            <a:noAutofit/>
          </a:bodyPr>
          <a:lstStyle/>
          <a:p>
            <a:pPr>
              <a:spcBef>
                <a:spcPts val="600"/>
              </a:spcBef>
              <a:spcAft>
                <a:spcPts val="600"/>
              </a:spcAft>
              <a:buClr>
                <a:srgbClr val="20A0AC"/>
              </a:buClr>
            </a:pPr>
            <a:r>
              <a:rPr lang="es-ES" kern="150" dirty="0">
                <a:latin typeface="Arial" panose="020B0604020202020204" pitchFamily="34" charset="0"/>
                <a:ea typeface="SimSun" panose="02010600030101010101" pitchFamily="2" charset="-122"/>
                <a:cs typeface="Arial" panose="020B0604020202020204" pitchFamily="34" charset="0"/>
              </a:rPr>
              <a:t>Practical wisdom in making</a:t>
            </a:r>
            <a:br>
              <a:rPr lang="es-ES" kern="150" dirty="0">
                <a:latin typeface="Arial" panose="020B0604020202020204" pitchFamily="34" charset="0"/>
                <a:ea typeface="SimSun" panose="02010600030101010101" pitchFamily="2" charset="-122"/>
                <a:cs typeface="Arial" panose="020B0604020202020204" pitchFamily="34" charset="0"/>
              </a:rPr>
            </a:br>
            <a:r>
              <a:rPr lang="es-ES" kern="150" dirty="0">
                <a:latin typeface="Arial" panose="020B0604020202020204" pitchFamily="34" charset="0"/>
                <a:ea typeface="SimSun" panose="02010600030101010101" pitchFamily="2" charset="-122"/>
                <a:cs typeface="Arial" panose="020B0604020202020204" pitchFamily="34" charset="0"/>
              </a:rPr>
              <a:t> sound moral judgements</a:t>
            </a:r>
          </a:p>
        </p:txBody>
      </p:sp>
      <p:graphicFrame>
        <p:nvGraphicFramePr>
          <p:cNvPr id="13" name="Table 12">
            <a:extLst>
              <a:ext uri="{FF2B5EF4-FFF2-40B4-BE49-F238E27FC236}">
                <a16:creationId xmlns:a16="http://schemas.microsoft.com/office/drawing/2014/main" id="{4D91FB1D-DF86-CB46-AEA5-9BD8F9879177}"/>
              </a:ext>
            </a:extLst>
          </p:cNvPr>
          <p:cNvGraphicFramePr>
            <a:graphicFrameLocks noGrp="1"/>
          </p:cNvGraphicFramePr>
          <p:nvPr/>
        </p:nvGraphicFramePr>
        <p:xfrm>
          <a:off x="84420" y="2465616"/>
          <a:ext cx="8927692" cy="931859"/>
        </p:xfrm>
        <a:graphic>
          <a:graphicData uri="http://schemas.openxmlformats.org/drawingml/2006/table">
            <a:tbl>
              <a:tblPr firstRow="1" bandRow="1">
                <a:tableStyleId>{5C22544A-7EE6-4342-B048-85BDC9FD1C3A}</a:tableStyleId>
              </a:tblPr>
              <a:tblGrid>
                <a:gridCol w="2816737">
                  <a:extLst>
                    <a:ext uri="{9D8B030D-6E8A-4147-A177-3AD203B41FA5}">
                      <a16:colId xmlns:a16="http://schemas.microsoft.com/office/drawing/2014/main" val="509028656"/>
                    </a:ext>
                  </a:extLst>
                </a:gridCol>
                <a:gridCol w="6110955">
                  <a:extLst>
                    <a:ext uri="{9D8B030D-6E8A-4147-A177-3AD203B41FA5}">
                      <a16:colId xmlns:a16="http://schemas.microsoft.com/office/drawing/2014/main" val="3758593345"/>
                    </a:ext>
                  </a:extLst>
                </a:gridCol>
              </a:tblGrid>
              <a:tr h="931859">
                <a:tc>
                  <a:txBody>
                    <a:bodyPr/>
                    <a:lstStyle/>
                    <a:p>
                      <a:pPr marL="0" indent="0" algn="ctr">
                        <a:lnSpc>
                          <a:spcPct val="100000"/>
                        </a:lnSpc>
                        <a:buFont typeface="Arial" panose="020B0604020202020204" pitchFamily="34" charset="0"/>
                        <a:buNone/>
                      </a:pPr>
                      <a:r>
                        <a:rPr lang="en-US" sz="2000" b="1" dirty="0">
                          <a:solidFill>
                            <a:schemeClr val="bg1"/>
                          </a:solidFill>
                        </a:rPr>
                        <a:t>5. RECALLING</a:t>
                      </a:r>
                      <a:endParaRPr lang="en-US" sz="1200" b="1" dirty="0">
                        <a:solidFill>
                          <a:schemeClr val="bg1"/>
                        </a:solidFill>
                      </a:endParaRPr>
                    </a:p>
                  </a:txBody>
                  <a:tcPr marL="46085" marR="46085" marT="23042" marB="23042" anchor="ctr">
                    <a:lnL w="12700" cmpd="sng">
                      <a:noFill/>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marL="0" indent="0" algn="l">
                        <a:lnSpc>
                          <a:spcPct val="100000"/>
                        </a:lnSpc>
                        <a:spcBef>
                          <a:spcPts val="600"/>
                        </a:spcBef>
                        <a:spcAft>
                          <a:spcPts val="600"/>
                        </a:spcAft>
                        <a:buFont typeface="Arial" panose="020B0604020202020204" pitchFamily="34" charset="0"/>
                        <a:buNone/>
                      </a:pPr>
                      <a:r>
                        <a:rPr lang="es-ES" sz="2000" b="0" kern="1200" dirty="0" err="1">
                          <a:solidFill>
                            <a:schemeClr val="tx1"/>
                          </a:solidFill>
                          <a:effectLst/>
                          <a:latin typeface="+mn-lt"/>
                          <a:ea typeface="+mn-ea"/>
                          <a:cs typeface="+mn-cs"/>
                        </a:rPr>
                        <a:t>Previous</a:t>
                      </a:r>
                      <a:r>
                        <a:rPr lang="es-ES" sz="2000" b="0" kern="1200" dirty="0">
                          <a:solidFill>
                            <a:schemeClr val="tx1"/>
                          </a:solidFill>
                          <a:effectLst/>
                          <a:latin typeface="+mn-lt"/>
                          <a:ea typeface="+mn-ea"/>
                          <a:cs typeface="+mn-cs"/>
                        </a:rPr>
                        <a:t> similar </a:t>
                      </a:r>
                      <a:r>
                        <a:rPr lang="es-ES" sz="2000" b="0" kern="1200" dirty="0" err="1">
                          <a:solidFill>
                            <a:schemeClr val="tx1"/>
                          </a:solidFill>
                          <a:effectLst/>
                          <a:latin typeface="+mn-lt"/>
                          <a:ea typeface="+mn-ea"/>
                          <a:cs typeface="+mn-cs"/>
                        </a:rPr>
                        <a:t>situations</a:t>
                      </a:r>
                      <a:r>
                        <a:rPr lang="es-ES" sz="2000" b="0" kern="1200" dirty="0">
                          <a:solidFill>
                            <a:schemeClr val="tx1"/>
                          </a:solidFill>
                          <a:effectLst/>
                          <a:latin typeface="+mn-lt"/>
                          <a:ea typeface="+mn-ea"/>
                          <a:cs typeface="+mn-cs"/>
                        </a:rPr>
                        <a:t> and </a:t>
                      </a:r>
                      <a:r>
                        <a:rPr lang="es-ES" sz="2000" b="0" kern="1200" dirty="0" err="1">
                          <a:solidFill>
                            <a:schemeClr val="tx1"/>
                          </a:solidFill>
                          <a:effectLst/>
                          <a:latin typeface="+mn-lt"/>
                          <a:ea typeface="+mn-ea"/>
                          <a:cs typeface="+mn-cs"/>
                        </a:rPr>
                        <a:t>criteria</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acquired</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from</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them</a:t>
                      </a:r>
                      <a:endParaRPr lang="en-US" sz="2000" b="0" dirty="0">
                        <a:solidFill>
                          <a:schemeClr val="tx1"/>
                        </a:solidFill>
                      </a:endParaRPr>
                    </a:p>
                  </a:txBody>
                  <a:tcPr marL="181436" marR="46085" marT="23042" marB="23042"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0F1F4">
                        <a:alpha val="70000"/>
                      </a:srgbClr>
                    </a:solidFill>
                  </a:tcPr>
                </a:tc>
                <a:extLst>
                  <a:ext uri="{0D108BD9-81ED-4DB2-BD59-A6C34878D82A}">
                    <a16:rowId xmlns:a16="http://schemas.microsoft.com/office/drawing/2014/main" val="3435312058"/>
                  </a:ext>
                </a:extLst>
              </a:tr>
            </a:tbl>
          </a:graphicData>
        </a:graphic>
      </p:graphicFrame>
      <p:graphicFrame>
        <p:nvGraphicFramePr>
          <p:cNvPr id="14" name="Table 13">
            <a:extLst>
              <a:ext uri="{FF2B5EF4-FFF2-40B4-BE49-F238E27FC236}">
                <a16:creationId xmlns:a16="http://schemas.microsoft.com/office/drawing/2014/main" id="{05A4AC15-C21E-6A47-AC13-6C2F54DB7415}"/>
              </a:ext>
            </a:extLst>
          </p:cNvPr>
          <p:cNvGraphicFramePr>
            <a:graphicFrameLocks noGrp="1"/>
          </p:cNvGraphicFramePr>
          <p:nvPr/>
        </p:nvGraphicFramePr>
        <p:xfrm>
          <a:off x="95312" y="3970683"/>
          <a:ext cx="8927692" cy="1010749"/>
        </p:xfrm>
        <a:graphic>
          <a:graphicData uri="http://schemas.openxmlformats.org/drawingml/2006/table">
            <a:tbl>
              <a:tblPr firstRow="1" bandRow="1">
                <a:tableStyleId>{5C22544A-7EE6-4342-B048-85BDC9FD1C3A}</a:tableStyleId>
              </a:tblPr>
              <a:tblGrid>
                <a:gridCol w="2819410">
                  <a:extLst>
                    <a:ext uri="{9D8B030D-6E8A-4147-A177-3AD203B41FA5}">
                      <a16:colId xmlns:a16="http://schemas.microsoft.com/office/drawing/2014/main" val="509028656"/>
                    </a:ext>
                  </a:extLst>
                </a:gridCol>
                <a:gridCol w="6108282">
                  <a:extLst>
                    <a:ext uri="{9D8B030D-6E8A-4147-A177-3AD203B41FA5}">
                      <a16:colId xmlns:a16="http://schemas.microsoft.com/office/drawing/2014/main" val="3758593345"/>
                    </a:ext>
                  </a:extLst>
                </a:gridCol>
              </a:tblGrid>
              <a:tr h="1010749">
                <a:tc>
                  <a:txBody>
                    <a:bodyPr/>
                    <a:lstStyle/>
                    <a:p>
                      <a:pPr marL="0" indent="0" algn="ctr">
                        <a:lnSpc>
                          <a:spcPct val="100000"/>
                        </a:lnSpc>
                        <a:buFont typeface="Arial" panose="020B0604020202020204" pitchFamily="34" charset="0"/>
                        <a:buNone/>
                      </a:pPr>
                      <a:r>
                        <a:rPr lang="en-US" sz="2000" b="1" dirty="0">
                          <a:solidFill>
                            <a:schemeClr val="bg1"/>
                          </a:solidFill>
                        </a:rPr>
                        <a:t>6. SEEKING ADVICE</a:t>
                      </a:r>
                      <a:endParaRPr lang="en-US" sz="1200" b="1" dirty="0">
                        <a:solidFill>
                          <a:schemeClr val="bg1"/>
                        </a:solidFill>
                      </a:endParaRPr>
                    </a:p>
                  </a:txBody>
                  <a:tcPr marL="46085" marR="46085" marT="23042" marB="23042" anchor="ctr">
                    <a:lnL w="12700" cmpd="sng">
                      <a:noFill/>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marL="0" indent="0" algn="l">
                        <a:lnSpc>
                          <a:spcPct val="100000"/>
                        </a:lnSpc>
                        <a:spcBef>
                          <a:spcPts val="600"/>
                        </a:spcBef>
                        <a:spcAft>
                          <a:spcPts val="600"/>
                        </a:spcAft>
                        <a:buFont typeface="Arial" panose="020B0604020202020204" pitchFamily="34" charset="0"/>
                        <a:buNone/>
                      </a:pPr>
                      <a:r>
                        <a:rPr lang="en-US" sz="2000" b="0" kern="1200" dirty="0">
                          <a:solidFill>
                            <a:schemeClr val="tx1"/>
                          </a:solidFill>
                          <a:effectLst/>
                          <a:latin typeface="+mn-lt"/>
                          <a:ea typeface="+mn-ea"/>
                          <a:cs typeface="+mn-cs"/>
                        </a:rPr>
                        <a:t>From competent people of proven moral worth</a:t>
                      </a:r>
                      <a:r>
                        <a:rPr lang="en-US" sz="2000" b="0" kern="1200" baseline="0" dirty="0">
                          <a:solidFill>
                            <a:schemeClr val="tx1"/>
                          </a:solidFill>
                          <a:effectLst/>
                          <a:latin typeface="+mn-lt"/>
                          <a:ea typeface="+mn-ea"/>
                          <a:cs typeface="+mn-cs"/>
                        </a:rPr>
                        <a:t> - integrity</a:t>
                      </a:r>
                      <a:r>
                        <a:rPr lang="es-ES" sz="2000" b="0" dirty="0">
                          <a:solidFill>
                            <a:schemeClr val="tx1"/>
                          </a:solidFill>
                          <a:effectLst/>
                        </a:rPr>
                        <a:t> </a:t>
                      </a:r>
                      <a:endParaRPr lang="en-US" sz="2000" b="0" dirty="0">
                        <a:solidFill>
                          <a:schemeClr val="tx1"/>
                        </a:solidFill>
                      </a:endParaRPr>
                    </a:p>
                  </a:txBody>
                  <a:tcPr marL="181436" marR="46085" marT="23042" marB="23042"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0F1F4">
                        <a:alpha val="70000"/>
                      </a:srgbClr>
                    </a:solidFill>
                  </a:tcPr>
                </a:tc>
                <a:extLst>
                  <a:ext uri="{0D108BD9-81ED-4DB2-BD59-A6C34878D82A}">
                    <a16:rowId xmlns:a16="http://schemas.microsoft.com/office/drawing/2014/main" val="3435312058"/>
                  </a:ext>
                </a:extLst>
              </a:tr>
            </a:tbl>
          </a:graphicData>
        </a:graphic>
      </p:graphicFrame>
      <p:graphicFrame>
        <p:nvGraphicFramePr>
          <p:cNvPr id="15" name="Table 14">
            <a:extLst>
              <a:ext uri="{FF2B5EF4-FFF2-40B4-BE49-F238E27FC236}">
                <a16:creationId xmlns:a16="http://schemas.microsoft.com/office/drawing/2014/main" id="{63283E9A-B60D-FD47-9E01-42C98C8C7E27}"/>
              </a:ext>
            </a:extLst>
          </p:cNvPr>
          <p:cNvGraphicFramePr>
            <a:graphicFrameLocks noGrp="1"/>
          </p:cNvGraphicFramePr>
          <p:nvPr/>
        </p:nvGraphicFramePr>
        <p:xfrm>
          <a:off x="84420" y="5554639"/>
          <a:ext cx="8927692" cy="818453"/>
        </p:xfrm>
        <a:graphic>
          <a:graphicData uri="http://schemas.openxmlformats.org/drawingml/2006/table">
            <a:tbl>
              <a:tblPr firstRow="1" bandRow="1">
                <a:tableStyleId>{5C22544A-7EE6-4342-B048-85BDC9FD1C3A}</a:tableStyleId>
              </a:tblPr>
              <a:tblGrid>
                <a:gridCol w="2819410">
                  <a:extLst>
                    <a:ext uri="{9D8B030D-6E8A-4147-A177-3AD203B41FA5}">
                      <a16:colId xmlns:a16="http://schemas.microsoft.com/office/drawing/2014/main" val="509028656"/>
                    </a:ext>
                  </a:extLst>
                </a:gridCol>
                <a:gridCol w="6108282">
                  <a:extLst>
                    <a:ext uri="{9D8B030D-6E8A-4147-A177-3AD203B41FA5}">
                      <a16:colId xmlns:a16="http://schemas.microsoft.com/office/drawing/2014/main" val="3758593345"/>
                    </a:ext>
                  </a:extLst>
                </a:gridCol>
              </a:tblGrid>
              <a:tr h="818453">
                <a:tc>
                  <a:txBody>
                    <a:bodyPr/>
                    <a:lstStyle/>
                    <a:p>
                      <a:pPr marL="0" indent="0" algn="ctr">
                        <a:lnSpc>
                          <a:spcPct val="100000"/>
                        </a:lnSpc>
                        <a:buFont typeface="Arial" panose="020B0604020202020204" pitchFamily="34" charset="0"/>
                        <a:buNone/>
                      </a:pPr>
                      <a:r>
                        <a:rPr lang="en-US" sz="2000" b="1" dirty="0">
                          <a:solidFill>
                            <a:schemeClr val="bg1"/>
                          </a:solidFill>
                        </a:rPr>
                        <a:t>7. SAFER</a:t>
                      </a:r>
                      <a:r>
                        <a:rPr lang="en-US" sz="2000" b="1" baseline="0" dirty="0">
                          <a:solidFill>
                            <a:schemeClr val="bg1"/>
                          </a:solidFill>
                        </a:rPr>
                        <a:t> JUDGMENT</a:t>
                      </a:r>
                      <a:endParaRPr lang="en-US" sz="1200" b="1" dirty="0">
                        <a:solidFill>
                          <a:schemeClr val="bg1"/>
                        </a:solidFill>
                      </a:endParaRPr>
                    </a:p>
                  </a:txBody>
                  <a:tcPr marL="46085" marR="46085" marT="23042" marB="23042" anchor="ctr">
                    <a:lnL w="12700" cmpd="sng">
                      <a:noFill/>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marL="0" indent="0" algn="l">
                        <a:lnSpc>
                          <a:spcPct val="100000"/>
                        </a:lnSpc>
                        <a:spcBef>
                          <a:spcPts val="600"/>
                        </a:spcBef>
                        <a:spcAft>
                          <a:spcPts val="600"/>
                        </a:spcAft>
                        <a:buFont typeface="Arial" panose="020B0604020202020204" pitchFamily="34" charset="0"/>
                        <a:buNone/>
                      </a:pPr>
                      <a:r>
                        <a:rPr lang="es-ES" sz="2000" b="0" kern="1200" dirty="0" err="1">
                          <a:solidFill>
                            <a:schemeClr val="tx1"/>
                          </a:solidFill>
                          <a:effectLst/>
                          <a:latin typeface="+mn-lt"/>
                          <a:ea typeface="+mn-ea"/>
                          <a:cs typeface="+mn-cs"/>
                        </a:rPr>
                        <a:t>If</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doubt</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persists</a:t>
                      </a:r>
                      <a:r>
                        <a:rPr lang="es-ES" sz="2000" b="0" kern="1200" dirty="0">
                          <a:solidFill>
                            <a:schemeClr val="tx1"/>
                          </a:solidFill>
                          <a:effectLst/>
                          <a:latin typeface="+mn-lt"/>
                          <a:ea typeface="+mn-ea"/>
                          <a:cs typeface="+mn-cs"/>
                        </a:rPr>
                        <a:t>, lean </a:t>
                      </a:r>
                      <a:r>
                        <a:rPr lang="es-ES" sz="2000" b="0" kern="1200" dirty="0" err="1">
                          <a:solidFill>
                            <a:schemeClr val="tx1"/>
                          </a:solidFill>
                          <a:effectLst/>
                          <a:latin typeface="+mn-lt"/>
                          <a:ea typeface="+mn-ea"/>
                          <a:cs typeface="+mn-cs"/>
                        </a:rPr>
                        <a:t>toward</a:t>
                      </a:r>
                      <a:r>
                        <a:rPr lang="es-ES" sz="2000" b="0" kern="1200" dirty="0">
                          <a:solidFill>
                            <a:schemeClr val="tx1"/>
                          </a:solidFill>
                          <a:effectLst/>
                          <a:latin typeface="+mn-lt"/>
                          <a:ea typeface="+mn-ea"/>
                          <a:cs typeface="+mn-cs"/>
                        </a:rPr>
                        <a:t> a </a:t>
                      </a:r>
                      <a:r>
                        <a:rPr lang="es-ES" sz="2000" b="0" kern="1200" dirty="0" err="1">
                          <a:solidFill>
                            <a:schemeClr val="tx1"/>
                          </a:solidFill>
                          <a:effectLst/>
                          <a:latin typeface="+mn-lt"/>
                          <a:ea typeface="+mn-ea"/>
                          <a:cs typeface="+mn-cs"/>
                        </a:rPr>
                        <a:t>safer</a:t>
                      </a:r>
                      <a:r>
                        <a:rPr lang="es-ES" sz="2000" b="0" kern="1200" dirty="0">
                          <a:solidFill>
                            <a:schemeClr val="tx1"/>
                          </a:solidFill>
                          <a:effectLst/>
                          <a:latin typeface="+mn-lt"/>
                          <a:ea typeface="+mn-ea"/>
                          <a:cs typeface="+mn-cs"/>
                        </a:rPr>
                        <a:t> </a:t>
                      </a:r>
                      <a:r>
                        <a:rPr lang="es-ES" sz="2000" b="0" kern="1200" dirty="0" err="1">
                          <a:solidFill>
                            <a:schemeClr val="tx1"/>
                          </a:solidFill>
                          <a:effectLst/>
                          <a:latin typeface="+mn-lt"/>
                          <a:ea typeface="+mn-ea"/>
                          <a:cs typeface="+mn-cs"/>
                        </a:rPr>
                        <a:t>judgement</a:t>
                      </a:r>
                      <a:endParaRPr lang="en-US" sz="2000" b="0" dirty="0">
                        <a:solidFill>
                          <a:schemeClr val="tx1"/>
                        </a:solidFill>
                      </a:endParaRPr>
                    </a:p>
                  </a:txBody>
                  <a:tcPr marL="181436" marR="46085" marT="23042" marB="23042"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0F1F4">
                        <a:alpha val="70000"/>
                      </a:srgbClr>
                    </a:solidFill>
                  </a:tcPr>
                </a:tc>
                <a:extLst>
                  <a:ext uri="{0D108BD9-81ED-4DB2-BD59-A6C34878D82A}">
                    <a16:rowId xmlns:a16="http://schemas.microsoft.com/office/drawing/2014/main" val="3435312058"/>
                  </a:ext>
                </a:extLst>
              </a:tr>
            </a:tbl>
          </a:graphicData>
        </a:graphic>
      </p:graphicFrame>
      <p:sp>
        <p:nvSpPr>
          <p:cNvPr id="6" name="TextBox 5"/>
          <p:cNvSpPr txBox="1"/>
          <p:nvPr/>
        </p:nvSpPr>
        <p:spPr>
          <a:xfrm>
            <a:off x="4176215" y="1699068"/>
            <a:ext cx="4575676" cy="646331"/>
          </a:xfrm>
          <a:prstGeom prst="rect">
            <a:avLst/>
          </a:prstGeom>
          <a:noFill/>
        </p:spPr>
        <p:txBody>
          <a:bodyPr wrap="none" rtlCol="0">
            <a:spAutoFit/>
          </a:bodyPr>
          <a:lstStyle/>
          <a:p>
            <a:r>
              <a:rPr lang="en-GB" b="1" dirty="0">
                <a:solidFill>
                  <a:srgbClr val="FF0000"/>
                </a:solidFill>
              </a:rPr>
              <a:t>2 minutes personal reflection to apply these </a:t>
            </a:r>
          </a:p>
          <a:p>
            <a:r>
              <a:rPr lang="en-GB" b="1" dirty="0">
                <a:solidFill>
                  <a:srgbClr val="FF0000"/>
                </a:solidFill>
              </a:rPr>
              <a:t>steps to a decision you made or need to make</a:t>
            </a:r>
          </a:p>
        </p:txBody>
      </p:sp>
    </p:spTree>
    <p:extLst>
      <p:ext uri="{BB962C8B-B14F-4D97-AF65-F5344CB8AC3E}">
        <p14:creationId xmlns:p14="http://schemas.microsoft.com/office/powerpoint/2010/main" val="273130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1+#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1+#ppt_w/2"/>
                                          </p:val>
                                        </p:tav>
                                        <p:tav tm="100000">
                                          <p:val>
                                            <p:strVal val="#ppt_x"/>
                                          </p:val>
                                        </p:tav>
                                      </p:tavLst>
                                    </p:anim>
                                    <p:anim calcmode="lin" valueType="num">
                                      <p:cBhvr additive="base">
                                        <p:cTn id="20"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Individual Reflection</a:t>
            </a:r>
          </a:p>
        </p:txBody>
      </p:sp>
      <p:sp>
        <p:nvSpPr>
          <p:cNvPr id="3" name="Content Placeholder 2"/>
          <p:cNvSpPr>
            <a:spLocks noGrp="1"/>
          </p:cNvSpPr>
          <p:nvPr>
            <p:ph idx="1"/>
          </p:nvPr>
        </p:nvSpPr>
        <p:spPr/>
        <p:txBody>
          <a:bodyPr/>
          <a:lstStyle/>
          <a:p>
            <a:r>
              <a:rPr lang="en-GB" dirty="0"/>
              <a:t>Go back to the decision you identified earlier</a:t>
            </a:r>
          </a:p>
          <a:p>
            <a:endParaRPr lang="en-GB" dirty="0"/>
          </a:p>
          <a:p>
            <a:r>
              <a:rPr lang="en-GB" dirty="0"/>
              <a:t>Apply the 7-step process to discover the best decision</a:t>
            </a:r>
          </a:p>
        </p:txBody>
      </p:sp>
    </p:spTree>
    <p:extLst>
      <p:ext uri="{BB962C8B-B14F-4D97-AF65-F5344CB8AC3E}">
        <p14:creationId xmlns:p14="http://schemas.microsoft.com/office/powerpoint/2010/main" val="55725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874</TotalTime>
  <Words>1900</Words>
  <Application>Microsoft Office PowerPoint</Application>
  <PresentationFormat>On-screen Show (4:3)</PresentationFormat>
  <Paragraphs>338</Paragraphs>
  <Slides>41</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SimSun</vt:lpstr>
      <vt:lpstr>-apple-system</vt:lpstr>
      <vt:lpstr>Arial</vt:lpstr>
      <vt:lpstr>Calibri</vt:lpstr>
      <vt:lpstr>Frutiger LT Std 45 Light</vt:lpstr>
      <vt:lpstr>Frutiger LT Std 55 Roman</vt:lpstr>
      <vt:lpstr>Office Theme</vt:lpstr>
      <vt:lpstr>PowerPoint Presentation</vt:lpstr>
      <vt:lpstr>Overview</vt:lpstr>
      <vt:lpstr>Learning Outcomes</vt:lpstr>
      <vt:lpstr>Case: Giving in or giving up </vt:lpstr>
      <vt:lpstr>Case – Manipulative Manager</vt:lpstr>
      <vt:lpstr>The Triple Font of Morality [TFM]</vt:lpstr>
      <vt:lpstr>Triple Font Theory of Morality</vt:lpstr>
      <vt:lpstr>1. Action – Object chosen</vt:lpstr>
      <vt:lpstr>2. Intention - End</vt:lpstr>
      <vt:lpstr>Towards overall morality (1)</vt:lpstr>
      <vt:lpstr>Towards overall morality (2)</vt:lpstr>
      <vt:lpstr>Morally correct decision</vt:lpstr>
      <vt:lpstr>Circumstances</vt:lpstr>
      <vt:lpstr>Situational circumstances</vt:lpstr>
      <vt:lpstr>Circumstances...</vt:lpstr>
      <vt:lpstr>Overall morality of Case </vt:lpstr>
      <vt:lpstr>Chart for ethical analysis</vt:lpstr>
      <vt:lpstr>Case – Manipulative Manager</vt:lpstr>
      <vt:lpstr>Morality of Case</vt:lpstr>
      <vt:lpstr>Breakout Rooms 7 to 12</vt:lpstr>
      <vt:lpstr> The Principle of Double Effect (PDE) </vt:lpstr>
      <vt:lpstr>The Principle of Double Effect</vt:lpstr>
      <vt:lpstr>Principle of Double Effect [complex actions]</vt:lpstr>
      <vt:lpstr>Covid-19 Scenario</vt:lpstr>
      <vt:lpstr>CHART TO ANALYSE ACTS WITH  DOUBLE EFFECTS </vt:lpstr>
      <vt:lpstr>CHART TO ANALYSE ACTS WITH  DOUBLE EFFECTS </vt:lpstr>
      <vt:lpstr>CHART TO ANALYSE ACTS WITH  DOUBLE EFFECTS </vt:lpstr>
      <vt:lpstr>Can we carry out this good action?</vt:lpstr>
      <vt:lpstr>Conditions for an action with double effect to be morally acceptable</vt:lpstr>
      <vt:lpstr>Proportionately serious reason</vt:lpstr>
      <vt:lpstr>Breakout Rooms 7 to 12</vt:lpstr>
      <vt:lpstr>Breakout Rooms 1 to 6 Case – CEO Remuneration</vt:lpstr>
      <vt:lpstr>Conclusion</vt:lpstr>
      <vt:lpstr>Conclusion</vt:lpstr>
      <vt:lpstr>THE DECISION-MAKING PROCESS</vt:lpstr>
      <vt:lpstr>Personal moral judgements</vt:lpstr>
      <vt:lpstr>Practical Rationality</vt:lpstr>
      <vt:lpstr>Practical Wisdom -Prudence</vt:lpstr>
      <vt:lpstr>7 Step Process for  wise  decision-making</vt:lpstr>
      <vt:lpstr>Practical wisdom in making  sound moral judgements</vt:lpstr>
      <vt:lpstr>Individual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Janet Karani</dc:creator>
  <cp:lastModifiedBy>user</cp:lastModifiedBy>
  <cp:revision>31</cp:revision>
  <dcterms:created xsi:type="dcterms:W3CDTF">2015-09-18T12:15:03Z</dcterms:created>
  <dcterms:modified xsi:type="dcterms:W3CDTF">2024-06-12T16:31:45Z</dcterms:modified>
</cp:coreProperties>
</file>