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22" r:id="rId2"/>
    <p:sldId id="372" r:id="rId3"/>
    <p:sldId id="373" r:id="rId4"/>
    <p:sldId id="374" r:id="rId5"/>
    <p:sldId id="375" r:id="rId6"/>
    <p:sldId id="376" r:id="rId7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502D6-FBD4-4E57-873C-32DAF99515F2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D7890-6E31-432C-893B-63EE3A8FF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83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9F95AD-E440-4D1A-BB02-91CBE2F913F6}" type="slidenum">
              <a:rPr lang="zh-TW" altLang="en-US"/>
              <a:pPr eaLnBrk="1" hangingPunct="1"/>
              <a:t>2</a:t>
            </a:fld>
            <a:endParaRPr lang="en-US" altLang="zh-TW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802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CD48A6-CBC1-4A32-A9B3-56251DA398E0}" type="slidenum">
              <a:rPr lang="zh-TW" altLang="en-US"/>
              <a:pPr eaLnBrk="1" hangingPunct="1"/>
              <a:t>3</a:t>
            </a:fld>
            <a:endParaRPr lang="en-US" altLang="zh-TW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004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6D9A91-659D-4AD6-B6D0-EC9B5B2820FA}" type="slidenum">
              <a:rPr lang="zh-TW" altLang="en-US"/>
              <a:pPr eaLnBrk="1" hangingPunct="1"/>
              <a:t>4</a:t>
            </a:fld>
            <a:endParaRPr lang="en-US" altLang="zh-TW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054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2"/>
            <a:ext cx="9440035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5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8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8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761069"/>
            <a:ext cx="9590551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2" y="3589879"/>
            <a:ext cx="9590551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7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3" y="1732451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2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1770324"/>
            <a:ext cx="5049897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661" y="1770324"/>
            <a:ext cx="5049897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9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6"/>
            <a:ext cx="4895331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9"/>
            <a:ext cx="4895331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6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6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7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4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7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983" y="609923"/>
            <a:ext cx="4570861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609923"/>
            <a:ext cx="5232901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35638" y="743989"/>
            <a:ext cx="4220500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6" y="2439261"/>
            <a:ext cx="5232901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2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94" y="540085"/>
            <a:ext cx="10208013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7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4956" y="695011"/>
            <a:ext cx="9714133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3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0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3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4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87391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7812" y="293324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8636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2126944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6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7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9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86" y="1826045"/>
            <a:ext cx="3372061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51" y="1826045"/>
            <a:ext cx="3372061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620" y="1826045"/>
            <a:ext cx="3372061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3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70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4" y="4480369"/>
            <a:ext cx="3302337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9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7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0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0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70" y="609601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601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7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3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51"/>
            <a:ext cx="10353763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80DCA5-40FD-4898-9861-9C60FFF66E16}" type="datetimeFigureOut">
              <a:rPr lang="en-US" smtClean="0"/>
              <a:pPr/>
              <a:t>6/12/2024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7" y="5883277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ABC2D57-CDE0-4E76-9734-C0A2E29607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90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17" y="251791"/>
            <a:ext cx="11555896" cy="6374296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3000" b="1" dirty="0" smtClean="0">
                <a:solidFill>
                  <a:srgbClr val="00B0F0"/>
                </a:solidFill>
              </a:rPr>
              <a:t>The Nature of Ethics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800" dirty="0" smtClean="0"/>
              <a:t>Is frequently referred to as </a:t>
            </a:r>
            <a:r>
              <a:rPr lang="en-US" sz="2800" b="1" i="1" dirty="0" smtClean="0"/>
              <a:t>moral philosophy.</a:t>
            </a:r>
            <a:r>
              <a:rPr lang="en-US" sz="2800" dirty="0" smtClean="0"/>
              <a:t>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/>
              <a:t>Moral, derived from the Latin word </a:t>
            </a:r>
            <a:r>
              <a:rPr lang="en-US" sz="2400" b="1" i="1" dirty="0" smtClean="0">
                <a:solidFill>
                  <a:srgbClr val="FFFF00"/>
                </a:solidFill>
              </a:rPr>
              <a:t>moralis</a:t>
            </a:r>
            <a:r>
              <a:rPr lang="en-US" sz="2400" dirty="0" smtClean="0"/>
              <a:t>, and ethics </a:t>
            </a:r>
            <a:r>
              <a:rPr lang="en-US" sz="2400" dirty="0" smtClean="0">
                <a:solidFill>
                  <a:schemeClr val="bg2">
                    <a:lumMod val="10000"/>
                    <a:lumOff val="90000"/>
                  </a:schemeClr>
                </a:solidFill>
              </a:rPr>
              <a:t>derived from </a:t>
            </a:r>
            <a:r>
              <a:rPr lang="en-US" sz="2400" dirty="0"/>
              <a:t>the </a:t>
            </a:r>
            <a:r>
              <a:rPr lang="en-US" sz="2400" dirty="0" smtClean="0"/>
              <a:t>Greek word </a:t>
            </a:r>
            <a:r>
              <a:rPr lang="en-US" sz="2400" b="1" i="1" dirty="0" smtClean="0">
                <a:solidFill>
                  <a:srgbClr val="FFC000"/>
                </a:solidFill>
              </a:rPr>
              <a:t>ethikos, </a:t>
            </a:r>
            <a:r>
              <a:rPr lang="en-US" sz="2400" dirty="0" smtClean="0">
                <a:solidFill>
                  <a:schemeClr val="bg2">
                    <a:lumMod val="10000"/>
                    <a:lumOff val="90000"/>
                  </a:schemeClr>
                </a:solidFill>
              </a:rPr>
              <a:t>both mean conduct or custom; 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>
                <a:solidFill>
                  <a:schemeClr val="bg2">
                    <a:lumMod val="10000"/>
                    <a:lumOff val="90000"/>
                  </a:schemeClr>
                </a:solidFill>
              </a:rPr>
              <a:t>Even though the terms are frequently used interchangeably, they do have slightly different meanings.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US" sz="2400" dirty="0" smtClean="0">
                <a:solidFill>
                  <a:schemeClr val="bg2">
                    <a:lumMod val="10000"/>
                    <a:lumOff val="90000"/>
                  </a:schemeClr>
                </a:solidFill>
              </a:rPr>
              <a:t>Moral will be used to refer to principles or rules of conduct that govern an individual’s (or society's) life. </a:t>
            </a:r>
            <a:endParaRPr lang="en-US" sz="240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800" dirty="0" smtClean="0"/>
              <a:t>Ethics is the branch of Philosophy that seeks to analyze moral concepts (such as good, bad, right, wrong, etc.) and to justify moral principles and theories.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800" dirty="0" smtClean="0"/>
              <a:t>It endeavors to establish principles of right conduct that can serve as a decision making-guide for individuals and groups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6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852" y="179883"/>
            <a:ext cx="11490070" cy="61679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TW" sz="3200" b="1" dirty="0" smtClean="0">
                <a:solidFill>
                  <a:srgbClr val="5FCBEF"/>
                </a:solidFill>
                <a:latin typeface="+mj-lt"/>
                <a:ea typeface="新細明體" charset="-120"/>
              </a:rPr>
              <a:t>What, then, is </a:t>
            </a:r>
            <a:r>
              <a:rPr lang="en-US" altLang="zh-TW" sz="3200" b="1" dirty="0">
                <a:solidFill>
                  <a:srgbClr val="5FCBEF"/>
                </a:solidFill>
                <a:latin typeface="+mj-lt"/>
                <a:ea typeface="新細明體" charset="-120"/>
              </a:rPr>
              <a:t>ethics? </a:t>
            </a:r>
            <a:endParaRPr lang="en-US" altLang="zh-TW" sz="3200" b="1" dirty="0" smtClean="0">
              <a:solidFill>
                <a:srgbClr val="5FCBEF"/>
              </a:solidFill>
              <a:latin typeface="+mj-lt"/>
              <a:ea typeface="新細明體" charset="-120"/>
            </a:endParaRPr>
          </a:p>
          <a:p>
            <a:pPr marL="457200" indent="-4572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700" b="1" kern="0" dirty="0" smtClean="0">
                <a:solidFill>
                  <a:schemeClr val="tx1">
                    <a:lumMod val="95000"/>
                  </a:schemeClr>
                </a:solidFill>
                <a:latin typeface="+mj-lt"/>
              </a:rPr>
              <a:t>A </a:t>
            </a:r>
            <a:r>
              <a:rPr lang="en-US" sz="2700" b="1" kern="0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rational study of the rules of conduct known as </a:t>
            </a:r>
            <a:r>
              <a:rPr lang="en-US" sz="2700" b="1" i="1" kern="0" dirty="0" smtClean="0">
                <a:solidFill>
                  <a:schemeClr val="tx1">
                    <a:lumMod val="95000"/>
                  </a:schemeClr>
                </a:solidFill>
                <a:latin typeface="+mj-lt"/>
              </a:rPr>
              <a:t>morals</a:t>
            </a:r>
            <a:r>
              <a:rPr lang="en-US" sz="2700" b="1" kern="0" dirty="0" smtClean="0">
                <a:solidFill>
                  <a:schemeClr val="tx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700" b="1" kern="0" dirty="0">
                <a:solidFill>
                  <a:schemeClr val="tx1">
                    <a:lumMod val="95000"/>
                  </a:schemeClr>
                </a:solidFill>
                <a:latin typeface="+mj-lt"/>
              </a:rPr>
              <a:t>that describe how people should behave </a:t>
            </a:r>
            <a:r>
              <a:rPr lang="en-US" sz="2700" kern="0" dirty="0">
                <a:solidFill>
                  <a:schemeClr val="tx1">
                    <a:lumMod val="95000"/>
                  </a:schemeClr>
                </a:solidFill>
                <a:latin typeface="+mj-lt"/>
              </a:rPr>
              <a:t/>
            </a:r>
            <a:br>
              <a:rPr lang="en-US" sz="2700" kern="0" dirty="0">
                <a:solidFill>
                  <a:schemeClr val="tx1">
                    <a:lumMod val="95000"/>
                  </a:schemeClr>
                </a:solidFill>
                <a:latin typeface="+mj-lt"/>
              </a:rPr>
            </a:br>
            <a:endParaRPr lang="en-US" altLang="zh-TW" sz="2700" dirty="0" smtClean="0">
              <a:solidFill>
                <a:schemeClr val="tx1">
                  <a:lumMod val="95000"/>
                </a:schemeClr>
              </a:solidFill>
              <a:latin typeface="+mj-lt"/>
              <a:ea typeface="新細明體" charset="-120"/>
            </a:endParaRPr>
          </a:p>
          <a:p>
            <a:pPr marL="5512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zh-TW" sz="2700" dirty="0" smtClean="0">
                <a:latin typeface="+mj-lt"/>
                <a:ea typeface="新細明體" charset="-120"/>
              </a:rPr>
              <a:t>What makes an act morally right or wrong (a question of conduct)?</a:t>
            </a:r>
          </a:p>
          <a:p>
            <a:pPr marL="551250" indent="-514350" eaLnBrk="1" hangingPunct="1">
              <a:lnSpc>
                <a:spcPct val="90000"/>
              </a:lnSpc>
              <a:buFont typeface="+mj-lt"/>
              <a:buAutoNum type="arabicPeriod"/>
            </a:pPr>
            <a:endParaRPr lang="en-US" altLang="zh-TW" sz="2700" dirty="0" smtClean="0">
              <a:latin typeface="+mj-lt"/>
              <a:ea typeface="新細明體" charset="-120"/>
            </a:endParaRPr>
          </a:p>
          <a:p>
            <a:pPr marL="5512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zh-TW" sz="2700" dirty="0" smtClean="0">
                <a:latin typeface="+mj-lt"/>
                <a:ea typeface="新細明體" charset="-120"/>
              </a:rPr>
              <a:t>What makes a person or something good or bad (a question of value)?</a:t>
            </a:r>
          </a:p>
          <a:p>
            <a:pPr marL="551250" indent="-514350" eaLnBrk="1" hangingPunct="1">
              <a:lnSpc>
                <a:spcPct val="90000"/>
              </a:lnSpc>
              <a:buFont typeface="+mj-lt"/>
              <a:buAutoNum type="arabicPeriod"/>
            </a:pPr>
            <a:endParaRPr lang="en-US" altLang="zh-TW" sz="2700" dirty="0" smtClean="0">
              <a:latin typeface="+mj-lt"/>
              <a:ea typeface="新細明體" charset="-120"/>
            </a:endParaRPr>
          </a:p>
          <a:p>
            <a:pPr marL="5512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zh-TW" sz="2700" dirty="0" smtClean="0">
                <a:latin typeface="+mj-lt"/>
                <a:ea typeface="新細明體" charset="-120"/>
              </a:rPr>
              <a:t>How to draw the correct conclusion about what we ought to do or what kind of person we ought to be?</a:t>
            </a:r>
          </a:p>
          <a:p>
            <a:pPr eaLnBrk="1" hangingPunct="1">
              <a:lnSpc>
                <a:spcPct val="90000"/>
              </a:lnSpc>
            </a:pPr>
            <a:endParaRPr lang="en-US" altLang="zh-TW" sz="2700" dirty="0" smtClean="0">
              <a:latin typeface="+mj-lt"/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700" dirty="0" smtClean="0">
                <a:latin typeface="+mj-lt"/>
                <a:ea typeface="新細明體" charset="-120"/>
              </a:rPr>
              <a:t>(1) and (2) are theoretical/conceptual questions and (3) is a practical question about moral reasoning.</a:t>
            </a:r>
          </a:p>
        </p:txBody>
      </p:sp>
    </p:spTree>
    <p:extLst>
      <p:ext uri="{BB962C8B-B14F-4D97-AF65-F5344CB8AC3E}">
        <p14:creationId xmlns:p14="http://schemas.microsoft.com/office/powerpoint/2010/main" val="124053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1" y="424070"/>
            <a:ext cx="11052312" cy="59899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TW" sz="3400" b="1" dirty="0">
                <a:solidFill>
                  <a:srgbClr val="00B0F0"/>
                </a:solidFill>
                <a:latin typeface="+mj-lt"/>
                <a:ea typeface="新細明體" charset="-120"/>
              </a:rPr>
              <a:t>Characteristics of Ethical </a:t>
            </a:r>
            <a:r>
              <a:rPr lang="en-US" altLang="zh-TW" sz="3400" b="1" dirty="0" smtClean="0">
                <a:solidFill>
                  <a:srgbClr val="00B0F0"/>
                </a:solidFill>
                <a:latin typeface="+mj-lt"/>
                <a:ea typeface="新細明體" charset="-120"/>
              </a:rPr>
              <a:t>Issues</a:t>
            </a:r>
            <a:endParaRPr lang="en-US" altLang="zh-TW" sz="3400" dirty="0" smtClean="0">
              <a:solidFill>
                <a:srgbClr val="00B0F0"/>
              </a:solidFill>
              <a:latin typeface="+mj-lt"/>
              <a:ea typeface="新細明體" charset="-120"/>
            </a:endParaRPr>
          </a:p>
          <a:p>
            <a:pPr eaLnBrk="1" hangingPunct="1"/>
            <a:r>
              <a:rPr lang="en-US" altLang="zh-TW" sz="3000" dirty="0" smtClean="0">
                <a:latin typeface="+mj-lt"/>
                <a:ea typeface="新細明體" charset="-120"/>
              </a:rPr>
              <a:t>Moral disagreements are common. Moral issues are often controversial and open-ended. It is often difficult to arrive at some consensus.</a:t>
            </a:r>
          </a:p>
          <a:p>
            <a:pPr eaLnBrk="1" hangingPunct="1"/>
            <a:endParaRPr lang="en-US" altLang="zh-TW" sz="3000" dirty="0" smtClean="0">
              <a:latin typeface="+mj-lt"/>
              <a:ea typeface="新細明體" charset="-120"/>
            </a:endParaRPr>
          </a:p>
          <a:p>
            <a:pPr eaLnBrk="1" hangingPunct="1"/>
            <a:r>
              <a:rPr lang="en-US" altLang="zh-TW" sz="3000" dirty="0" smtClean="0">
                <a:latin typeface="+mj-lt"/>
                <a:ea typeface="新細明體" charset="-120"/>
              </a:rPr>
              <a:t>How serious could people disagree with one another? Could the disagreement be radical and fundamental?</a:t>
            </a:r>
          </a:p>
          <a:p>
            <a:pPr eaLnBrk="1" hangingPunct="1"/>
            <a:endParaRPr lang="en-US" altLang="zh-TW" sz="3000" dirty="0" smtClean="0">
              <a:latin typeface="+mj-lt"/>
              <a:ea typeface="新細明體" charset="-120"/>
            </a:endParaRPr>
          </a:p>
          <a:p>
            <a:pPr eaLnBrk="1" hangingPunct="1"/>
            <a:r>
              <a:rPr lang="en-US" altLang="zh-TW" sz="3000" dirty="0" smtClean="0">
                <a:latin typeface="+mj-lt"/>
                <a:ea typeface="新細明體" charset="-120"/>
              </a:rPr>
              <a:t>People even disagree about what and how much they disagree.</a:t>
            </a:r>
          </a:p>
          <a:p>
            <a:pPr eaLnBrk="1" hangingPunct="1"/>
            <a:endParaRPr lang="en-US" altLang="zh-TW" sz="3000" dirty="0" smtClean="0">
              <a:latin typeface="+mj-lt"/>
              <a:ea typeface="新細明體" charset="-120"/>
            </a:endParaRPr>
          </a:p>
          <a:p>
            <a:pPr eaLnBrk="1" hangingPunct="1"/>
            <a:endParaRPr lang="en-US" altLang="zh-TW" sz="3000" dirty="0" smtClean="0">
              <a:latin typeface="+mj-lt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5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851" y="450574"/>
            <a:ext cx="10734261" cy="61151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TW" sz="3000" b="1" dirty="0">
                <a:solidFill>
                  <a:srgbClr val="00B0F0"/>
                </a:solidFill>
                <a:latin typeface="+mj-lt"/>
                <a:ea typeface="新細明體" charset="-120"/>
              </a:rPr>
              <a:t>Moral Theories</a:t>
            </a:r>
            <a:endParaRPr lang="en-US" altLang="zh-TW" sz="3000" dirty="0" smtClean="0">
              <a:solidFill>
                <a:srgbClr val="00B0F0"/>
              </a:solidFill>
              <a:latin typeface="+mj-lt"/>
              <a:ea typeface="新細明體" charset="-120"/>
            </a:endParaRPr>
          </a:p>
          <a:p>
            <a:pPr eaLnBrk="1" hangingPunct="1"/>
            <a:r>
              <a:rPr lang="en-US" altLang="zh-TW" sz="2700" dirty="0" smtClean="0">
                <a:latin typeface="+mj-lt"/>
                <a:ea typeface="新細明體" charset="-120"/>
              </a:rPr>
              <a:t>A moral theory consists of a set of moral principles.</a:t>
            </a:r>
          </a:p>
          <a:p>
            <a:pPr eaLnBrk="1" hangingPunct="1"/>
            <a:r>
              <a:rPr lang="en-US" altLang="zh-TW" sz="2700" dirty="0" smtClean="0">
                <a:latin typeface="+mj-lt"/>
                <a:ea typeface="新細明體" charset="-120"/>
              </a:rPr>
              <a:t>These principles specify the conditions under which an action is morally right or wrong, or what makes a person or  something good or bad. (Theoretical questions (1) and (2))</a:t>
            </a:r>
          </a:p>
          <a:p>
            <a:pPr eaLnBrk="1" hangingPunct="1"/>
            <a:r>
              <a:rPr lang="en-US" altLang="zh-TW" sz="2700" dirty="0" smtClean="0">
                <a:latin typeface="+mj-lt"/>
                <a:ea typeface="新細明體" charset="-120"/>
              </a:rPr>
              <a:t>They purport to guide our moral reasoning (Practical question (3)).</a:t>
            </a:r>
          </a:p>
          <a:p>
            <a:r>
              <a:rPr lang="en-US" altLang="zh-TW" sz="2700" dirty="0" smtClean="0">
                <a:latin typeface="+mj-lt"/>
                <a:ea typeface="新細明體" charset="-120"/>
              </a:rPr>
              <a:t>Together with facts about different moral situations, moral rules that guide the morality of specific kinds of actions could be derived.</a:t>
            </a:r>
          </a:p>
          <a:p>
            <a:r>
              <a:rPr lang="en-US" altLang="zh-TW" sz="2700" dirty="0" smtClean="0">
                <a:latin typeface="+mj-lt"/>
                <a:ea typeface="新細明體" charset="-120"/>
              </a:rPr>
              <a:t>Together with facts about an individual case, we can further judge whether an individual act is morally right or wrong, or whether a person or something is good or bad.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500" dirty="0" smtClean="0">
              <a:latin typeface="+mj-lt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734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7077" y="410817"/>
            <a:ext cx="11184835" cy="609491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B0F0"/>
                </a:solidFill>
                <a:latin typeface="+mj-lt"/>
              </a:rPr>
              <a:t>FUNCTIONS OF </a:t>
            </a:r>
            <a:r>
              <a:rPr lang="en-US" sz="3200" b="1" dirty="0" smtClean="0">
                <a:solidFill>
                  <a:srgbClr val="00B0F0"/>
                </a:solidFill>
                <a:latin typeface="+mj-lt"/>
              </a:rPr>
              <a:t>THEORIES</a:t>
            </a:r>
            <a:endParaRPr lang="en-US" sz="3200" b="1" dirty="0">
              <a:solidFill>
                <a:srgbClr val="00B0F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 smtClean="0">
                <a:latin typeface="+mj-lt"/>
              </a:rPr>
              <a:t>Ethical </a:t>
            </a:r>
            <a:r>
              <a:rPr lang="en-US" sz="2700" dirty="0">
                <a:latin typeface="+mj-lt"/>
              </a:rPr>
              <a:t>theories assist individuals and society at large in making decisions concerning right/wrong, good/bad.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700" dirty="0" smtClean="0">
                <a:latin typeface="+mj-lt"/>
              </a:rPr>
              <a:t>This </a:t>
            </a:r>
            <a:r>
              <a:rPr lang="en-US" sz="2700" dirty="0">
                <a:latin typeface="+mj-lt"/>
              </a:rPr>
              <a:t>because as moral agents we are</a:t>
            </a:r>
          </a:p>
          <a:p>
            <a:pPr marL="1025525" lvl="1" indent="-173038"/>
            <a:r>
              <a:rPr lang="en-US" sz="2700" dirty="0" smtClean="0">
                <a:latin typeface="+mj-lt"/>
              </a:rPr>
              <a:t> Advisors</a:t>
            </a:r>
            <a:endParaRPr lang="en-US" sz="2700" dirty="0">
              <a:latin typeface="+mj-lt"/>
            </a:endParaRPr>
          </a:p>
          <a:p>
            <a:pPr marL="1025525" lvl="1" indent="-173038"/>
            <a:r>
              <a:rPr lang="en-US" sz="2700" dirty="0" smtClean="0">
                <a:latin typeface="+mj-lt"/>
              </a:rPr>
              <a:t> Instructors</a:t>
            </a:r>
            <a:endParaRPr lang="en-US" sz="2700" dirty="0">
              <a:latin typeface="+mj-lt"/>
            </a:endParaRPr>
          </a:p>
          <a:p>
            <a:pPr marL="1025525" lvl="1" indent="-173038"/>
            <a:r>
              <a:rPr lang="en-US" sz="2700" dirty="0" smtClean="0">
                <a:latin typeface="+mj-lt"/>
              </a:rPr>
              <a:t> Judges</a:t>
            </a:r>
            <a:endParaRPr lang="en-US" sz="2700" dirty="0">
              <a:latin typeface="+mj-lt"/>
            </a:endParaRPr>
          </a:p>
          <a:p>
            <a:pPr marL="1025525" lvl="1" indent="-173038"/>
            <a:r>
              <a:rPr lang="en-US" sz="2700" dirty="0" smtClean="0">
                <a:latin typeface="+mj-lt"/>
              </a:rPr>
              <a:t> Critics </a:t>
            </a:r>
            <a:endParaRPr lang="en-US" sz="2700" dirty="0">
              <a:latin typeface="+mj-lt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700" dirty="0" smtClean="0">
                <a:latin typeface="+mj-lt"/>
              </a:rPr>
              <a:t>They help us to identify and justify standards or criteria of what is morally right/wrong, obligatory etc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 smtClean="0">
                <a:latin typeface="+mj-lt"/>
              </a:rPr>
              <a:t>They provide reasons for approval and non approval of moral decisions.</a:t>
            </a: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9475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861" y="389744"/>
            <a:ext cx="10668000" cy="5924559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endParaRPr lang="en-US" sz="2700" dirty="0" smtClean="0">
              <a:latin typeface="+mj-lt"/>
              <a:cs typeface="Times New Roman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3000" dirty="0" smtClean="0">
                <a:latin typeface="+mj-lt"/>
                <a:cs typeface="Times New Roman" pitchFamily="18" charset="0"/>
              </a:rPr>
              <a:t>A moral theory helps us to explain:-</a:t>
            </a:r>
          </a:p>
          <a:p>
            <a:pPr>
              <a:buNone/>
            </a:pPr>
            <a:r>
              <a:rPr lang="en-US" sz="2700" dirty="0" smtClean="0">
                <a:latin typeface="+mj-lt"/>
                <a:cs typeface="Times New Roman" pitchFamily="18" charset="0"/>
              </a:rPr>
              <a:t>                  - Why certain actions are right/wrong</a:t>
            </a:r>
          </a:p>
          <a:p>
            <a:pPr>
              <a:buNone/>
            </a:pPr>
            <a:r>
              <a:rPr lang="en-US" sz="2700" dirty="0" smtClean="0">
                <a:latin typeface="+mj-lt"/>
                <a:cs typeface="Times New Roman" pitchFamily="18" charset="0"/>
              </a:rPr>
              <a:t>                  - Why we ought to act in a certain way</a:t>
            </a:r>
          </a:p>
          <a:p>
            <a:pPr>
              <a:buNone/>
            </a:pPr>
            <a:r>
              <a:rPr lang="en-US" sz="2700" dirty="0" smtClean="0">
                <a:latin typeface="+mj-lt"/>
                <a:cs typeface="Times New Roman" pitchFamily="18" charset="0"/>
              </a:rPr>
              <a:t>                  - Why we ought to be certain type of persons</a:t>
            </a:r>
          </a:p>
          <a:p>
            <a:pPr lvl="1" algn="just"/>
            <a:r>
              <a:rPr lang="en-US" sz="3000" dirty="0" smtClean="0">
                <a:latin typeface="+mj-lt"/>
                <a:cs typeface="Times New Roman" pitchFamily="18" charset="0"/>
              </a:rPr>
              <a:t>They </a:t>
            </a:r>
            <a:r>
              <a:rPr lang="en-US" sz="3000" dirty="0">
                <a:latin typeface="+mj-lt"/>
                <a:cs typeface="Times New Roman" pitchFamily="18" charset="0"/>
              </a:rPr>
              <a:t>also help us to clarify and critically analyze and rank moral concerns raised in a particular moral issue(moral dilemma)</a:t>
            </a:r>
          </a:p>
          <a:p>
            <a:pPr algn="just">
              <a:buNone/>
            </a:pPr>
            <a:endParaRPr lang="en-US" sz="3000" dirty="0">
              <a:latin typeface="+mj-lt"/>
              <a:cs typeface="Times New Roman" pitchFamily="18" charset="0"/>
            </a:endParaRPr>
          </a:p>
          <a:p>
            <a:pPr lvl="1" algn="just"/>
            <a:r>
              <a:rPr lang="en-US" sz="3000" dirty="0">
                <a:latin typeface="+mj-lt"/>
                <a:cs typeface="Times New Roman" pitchFamily="18" charset="0"/>
              </a:rPr>
              <a:t>Provide a framework to discuss real life moral issues.</a:t>
            </a:r>
          </a:p>
          <a:p>
            <a:endParaRPr lang="en-US" sz="3000" dirty="0">
              <a:latin typeface="+mj-lt"/>
              <a:cs typeface="Times New Roman" pitchFamily="18" charset="0"/>
            </a:endParaRPr>
          </a:p>
          <a:p>
            <a:endParaRPr lang="en-US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1424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458</Words>
  <Application>Microsoft Office PowerPoint</Application>
  <PresentationFormat>Widescreen</PresentationFormat>
  <Paragraphs>48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Calisto MT</vt:lpstr>
      <vt:lpstr>新細明體</vt:lpstr>
      <vt:lpstr>Times New Roman</vt:lpstr>
      <vt:lpstr>Trebuchet MS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user</cp:lastModifiedBy>
  <cp:revision>81</cp:revision>
  <dcterms:created xsi:type="dcterms:W3CDTF">2020-07-20T03:42:52Z</dcterms:created>
  <dcterms:modified xsi:type="dcterms:W3CDTF">2024-06-12T15:01:38Z</dcterms:modified>
</cp:coreProperties>
</file>