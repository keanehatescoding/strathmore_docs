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57" r:id="rId3"/>
    <p:sldId id="297" r:id="rId4"/>
    <p:sldId id="258" r:id="rId5"/>
    <p:sldId id="260" r:id="rId6"/>
    <p:sldId id="291" r:id="rId7"/>
    <p:sldId id="292" r:id="rId8"/>
    <p:sldId id="261" r:id="rId9"/>
    <p:sldId id="262" r:id="rId10"/>
    <p:sldId id="263" r:id="rId11"/>
    <p:sldId id="264" r:id="rId12"/>
    <p:sldId id="294" r:id="rId13"/>
    <p:sldId id="298" r:id="rId14"/>
    <p:sldId id="271" r:id="rId15"/>
    <p:sldId id="272" r:id="rId16"/>
    <p:sldId id="266" r:id="rId17"/>
    <p:sldId id="267" r:id="rId18"/>
    <p:sldId id="268" r:id="rId19"/>
    <p:sldId id="269" r:id="rId20"/>
    <p:sldId id="265" r:id="rId21"/>
    <p:sldId id="270" r:id="rId22"/>
    <p:sldId id="259" r:id="rId23"/>
    <p:sldId id="273" r:id="rId24"/>
    <p:sldId id="274" r:id="rId25"/>
    <p:sldId id="275" r:id="rId26"/>
    <p:sldId id="276" r:id="rId27"/>
    <p:sldId id="293" r:id="rId28"/>
    <p:sldId id="296" r:id="rId29"/>
    <p:sldId id="278" r:id="rId30"/>
    <p:sldId id="277" r:id="rId31"/>
    <p:sldId id="279" r:id="rId32"/>
    <p:sldId id="280" r:id="rId33"/>
    <p:sldId id="281" r:id="rId34"/>
    <p:sldId id="282" r:id="rId35"/>
    <p:sldId id="283" r:id="rId36"/>
    <p:sldId id="284" r:id="rId37"/>
    <p:sldId id="285" r:id="rId38"/>
    <p:sldId id="287" r:id="rId39"/>
    <p:sldId id="288" r:id="rId40"/>
    <p:sldId id="295" r:id="rId41"/>
    <p:sldId id="289" r:id="rId42"/>
    <p:sldId id="290" r:id="rId43"/>
    <p:sldId id="286" r:id="rId4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Title Slide">
    <p:spTree>
      <p:nvGrpSpPr>
        <p:cNvPr id="1" name=""/>
        <p:cNvGrpSpPr/>
        <p:nvPr/>
      </p:nvGrpSpPr>
      <p:grpSpPr>
        <a:xfrm>
          <a:off x="0" y="0"/>
          <a:ext cx="0" cy="0"/>
          <a:chOff x="0" y="0"/>
          <a:chExt cx="0" cy="0"/>
        </a:xfrm>
      </p:grpSpPr>
      <p:grpSp>
        <p:nvGrpSpPr>
          <p:cNvPr id="6146" name="Group 2"/>
          <p:cNvGrpSpPr>
            <a:grpSpLocks/>
          </p:cNvGrpSpPr>
          <p:nvPr/>
        </p:nvGrpSpPr>
        <p:grpSpPr bwMode="auto">
          <a:xfrm>
            <a:off x="381000" y="457200"/>
            <a:ext cx="8397875" cy="5562600"/>
            <a:chOff x="240" y="288"/>
            <a:chExt cx="5290" cy="3504"/>
          </a:xfrm>
        </p:grpSpPr>
        <p:sp>
          <p:nvSpPr>
            <p:cNvPr id="6147" name="Rectangle 3"/>
            <p:cNvSpPr>
              <a:spLocks noChangeArrowheads="1"/>
            </p:cNvSpPr>
            <p:nvPr/>
          </p:nvSpPr>
          <p:spPr bwMode="blackWhite">
            <a:xfrm>
              <a:off x="240" y="288"/>
              <a:ext cx="5290" cy="3504"/>
            </a:xfrm>
            <a:prstGeom prst="rect">
              <a:avLst/>
            </a:prstGeom>
            <a:solidFill>
              <a:schemeClr val="bg1"/>
            </a:solidFill>
            <a:ln w="5080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6148" name="Rectangle 4"/>
            <p:cNvSpPr>
              <a:spLocks noChangeArrowheads="1"/>
            </p:cNvSpPr>
            <p:nvPr/>
          </p:nvSpPr>
          <p:spPr bwMode="auto">
            <a:xfrm>
              <a:off x="285" y="336"/>
              <a:ext cx="5184" cy="3408"/>
            </a:xfrm>
            <a:prstGeom prst="rect">
              <a:avLst/>
            </a:prstGeom>
            <a:no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6149" name="Line 5"/>
            <p:cNvSpPr>
              <a:spLocks noChangeShapeType="1"/>
            </p:cNvSpPr>
            <p:nvPr/>
          </p:nvSpPr>
          <p:spPr bwMode="auto">
            <a:xfrm>
              <a:off x="576" y="2256"/>
              <a:ext cx="4608" cy="0"/>
            </a:xfrm>
            <a:prstGeom prst="line">
              <a:avLst/>
            </a:prstGeom>
            <a:noFill/>
            <a:ln w="19050">
              <a:solidFill>
                <a:schemeClr val="accent2"/>
              </a:solidFill>
              <a:round/>
              <a:headEnd/>
              <a:tailEnd/>
            </a:ln>
            <a:effectLst/>
          </p:spPr>
          <p:txBody>
            <a:bodyPr wrap="none" anchor="ctr"/>
            <a:lstStyle/>
            <a:p>
              <a:endParaRPr lang="en-US"/>
            </a:p>
          </p:txBody>
        </p:sp>
      </p:grpSp>
      <p:sp>
        <p:nvSpPr>
          <p:cNvPr id="6150" name="Rectangle 6"/>
          <p:cNvSpPr>
            <a:spLocks noGrp="1" noChangeArrowheads="1"/>
          </p:cNvSpPr>
          <p:nvPr>
            <p:ph type="ctrTitle"/>
          </p:nvPr>
        </p:nvSpPr>
        <p:spPr>
          <a:xfrm>
            <a:off x="1219200" y="838200"/>
            <a:ext cx="6781800" cy="2559050"/>
          </a:xfrm>
        </p:spPr>
        <p:txBody>
          <a:bodyPr anchorCtr="1"/>
          <a:lstStyle>
            <a:lvl1pPr algn="ctr">
              <a:defRPr sz="6200"/>
            </a:lvl1pPr>
          </a:lstStyle>
          <a:p>
            <a:r>
              <a:rPr lang="en-US"/>
              <a:t>Click to edit Master title style</a:t>
            </a:r>
          </a:p>
        </p:txBody>
      </p:sp>
      <p:sp>
        <p:nvSpPr>
          <p:cNvPr id="6151" name="Rectangle 7"/>
          <p:cNvSpPr>
            <a:spLocks noGrp="1" noChangeArrowheads="1"/>
          </p:cNvSpPr>
          <p:nvPr>
            <p:ph type="subTitle" idx="1"/>
          </p:nvPr>
        </p:nvSpPr>
        <p:spPr>
          <a:xfrm>
            <a:off x="1371600" y="3733800"/>
            <a:ext cx="6400800" cy="1873250"/>
          </a:xfrm>
        </p:spPr>
        <p:txBody>
          <a:bodyPr/>
          <a:lstStyle>
            <a:lvl1pPr marL="0" indent="0" algn="ctr">
              <a:buFont typeface="Wingdings" pitchFamily="2" charset="2"/>
              <a:buNone/>
              <a:defRPr sz="3500"/>
            </a:lvl1pPr>
          </a:lstStyle>
          <a:p>
            <a:r>
              <a:rPr lang="en-US"/>
              <a:t>Click to edit Master subtitle style</a:t>
            </a:r>
          </a:p>
        </p:txBody>
      </p:sp>
      <p:sp>
        <p:nvSpPr>
          <p:cNvPr id="6152" name="Rectangle 8"/>
          <p:cNvSpPr>
            <a:spLocks noGrp="1" noChangeArrowheads="1"/>
          </p:cNvSpPr>
          <p:nvPr>
            <p:ph type="dt" sz="half" idx="2"/>
          </p:nvPr>
        </p:nvSpPr>
        <p:spPr>
          <a:xfrm>
            <a:off x="536575" y="6248400"/>
            <a:ext cx="2054225" cy="457200"/>
          </a:xfrm>
        </p:spPr>
        <p:txBody>
          <a:bodyPr/>
          <a:lstStyle>
            <a:lvl1pPr>
              <a:defRPr/>
            </a:lvl1pPr>
          </a:lstStyle>
          <a:p>
            <a:endParaRPr lang="en-US"/>
          </a:p>
        </p:txBody>
      </p:sp>
      <p:sp>
        <p:nvSpPr>
          <p:cNvPr id="6153" name="Rectangle 9"/>
          <p:cNvSpPr>
            <a:spLocks noGrp="1" noChangeArrowheads="1"/>
          </p:cNvSpPr>
          <p:nvPr>
            <p:ph type="ftr" sz="quarter" idx="3"/>
          </p:nvPr>
        </p:nvSpPr>
        <p:spPr>
          <a:xfrm>
            <a:off x="3251200" y="6248400"/>
            <a:ext cx="2887663" cy="457200"/>
          </a:xfrm>
        </p:spPr>
        <p:txBody>
          <a:bodyPr/>
          <a:lstStyle>
            <a:lvl1pPr>
              <a:defRPr/>
            </a:lvl1pPr>
          </a:lstStyle>
          <a:p>
            <a:endParaRPr lang="en-US"/>
          </a:p>
        </p:txBody>
      </p:sp>
      <p:sp>
        <p:nvSpPr>
          <p:cNvPr id="6154" name="Rectangle 10"/>
          <p:cNvSpPr>
            <a:spLocks noGrp="1" noChangeArrowheads="1"/>
          </p:cNvSpPr>
          <p:nvPr>
            <p:ph type="sldNum" sz="quarter" idx="4"/>
          </p:nvPr>
        </p:nvSpPr>
        <p:spPr>
          <a:xfrm>
            <a:off x="6788150" y="6257925"/>
            <a:ext cx="1905000" cy="457200"/>
          </a:xfrm>
        </p:spPr>
        <p:txBody>
          <a:bodyPr/>
          <a:lstStyle>
            <a:lvl1pPr>
              <a:defRPr/>
            </a:lvl1pPr>
          </a:lstStyle>
          <a:p>
            <a:fld id="{C753A68F-4FCC-402C-B053-AA1A3F156F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12BDA70-4DDE-44A6-8A5B-311999BA0565}"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CCFC6A9-183E-4D0A-9C28-4C4E94E2DEE7}"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74B2427-7BC4-412A-BDED-228BAE0F9CA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7ACC3C8E-0FCC-419E-BFA5-28A90ABDB92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59BA1F66-AE90-4CE9-959E-C4E3BC8BD080}"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22E68B34-01C2-4E83-B54F-0629B3DB7918}"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1830B48-611D-41A1-903C-2011CA801BB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7832734-2526-45DB-B5C9-953B36C1F9E6}"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B7F62E5-C72F-48AC-A3D6-E7F3F818375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473075"/>
            <a:ext cx="2038350" cy="53943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473075"/>
            <a:ext cx="5962650" cy="53943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2DE42F4-750F-4785-BA7D-DC0B05A711F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122" name="Group 2"/>
          <p:cNvGrpSpPr>
            <a:grpSpLocks/>
          </p:cNvGrpSpPr>
          <p:nvPr/>
        </p:nvGrpSpPr>
        <p:grpSpPr bwMode="auto">
          <a:xfrm>
            <a:off x="228600" y="228600"/>
            <a:ext cx="8686800" cy="5943600"/>
            <a:chOff x="144" y="144"/>
            <a:chExt cx="5472" cy="3744"/>
          </a:xfrm>
        </p:grpSpPr>
        <p:sp>
          <p:nvSpPr>
            <p:cNvPr id="5123" name="Rectangle 3"/>
            <p:cNvSpPr>
              <a:spLocks noChangeArrowheads="1"/>
            </p:cNvSpPr>
            <p:nvPr/>
          </p:nvSpPr>
          <p:spPr bwMode="auto">
            <a:xfrm>
              <a:off x="144" y="144"/>
              <a:ext cx="5472" cy="3744"/>
            </a:xfrm>
            <a:prstGeom prst="rect">
              <a:avLst/>
            </a:prstGeom>
            <a:solidFill>
              <a:schemeClr val="bg1"/>
            </a:solidFill>
            <a:ln w="4445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5124" name="Rectangle 4"/>
            <p:cNvSpPr>
              <a:spLocks noChangeArrowheads="1"/>
            </p:cNvSpPr>
            <p:nvPr/>
          </p:nvSpPr>
          <p:spPr bwMode="blackWhite">
            <a:xfrm>
              <a:off x="193" y="193"/>
              <a:ext cx="5373" cy="3635"/>
            </a:xfrm>
            <a:prstGeom prst="rect">
              <a:avLst/>
            </a:prstGeom>
            <a:solidFill>
              <a:schemeClr val="bg1"/>
            </a:solid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5125" name="Line 5"/>
            <p:cNvSpPr>
              <a:spLocks noChangeShapeType="1"/>
            </p:cNvSpPr>
            <p:nvPr/>
          </p:nvSpPr>
          <p:spPr bwMode="auto">
            <a:xfrm>
              <a:off x="336" y="1092"/>
              <a:ext cx="5136" cy="0"/>
            </a:xfrm>
            <a:prstGeom prst="line">
              <a:avLst/>
            </a:prstGeom>
            <a:noFill/>
            <a:ln w="28575">
              <a:solidFill>
                <a:srgbClr val="FF3300"/>
              </a:solidFill>
              <a:round/>
              <a:headEnd/>
              <a:tailEnd/>
            </a:ln>
            <a:effectLst/>
          </p:spPr>
          <p:txBody>
            <a:bodyPr/>
            <a:lstStyle/>
            <a:p>
              <a:endParaRPr lang="en-US"/>
            </a:p>
          </p:txBody>
        </p:sp>
      </p:grpSp>
      <p:sp>
        <p:nvSpPr>
          <p:cNvPr id="5126" name="Rectangle 6"/>
          <p:cNvSpPr>
            <a:spLocks noGrp="1" noChangeArrowheads="1"/>
          </p:cNvSpPr>
          <p:nvPr>
            <p:ph type="title"/>
          </p:nvPr>
        </p:nvSpPr>
        <p:spPr bwMode="auto">
          <a:xfrm>
            <a:off x="533400" y="473075"/>
            <a:ext cx="8153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5127" name="Rectangle 7"/>
          <p:cNvSpPr>
            <a:spLocks noGrp="1" noChangeArrowheads="1"/>
          </p:cNvSpPr>
          <p:nvPr>
            <p:ph type="body" idx="1"/>
          </p:nvPr>
        </p:nvSpPr>
        <p:spPr bwMode="auto">
          <a:xfrm>
            <a:off x="533400" y="1828800"/>
            <a:ext cx="8153400" cy="403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8" name="Rectangle 8"/>
          <p:cNvSpPr>
            <a:spLocks noGrp="1" noChangeArrowheads="1"/>
          </p:cNvSpPr>
          <p:nvPr>
            <p:ph type="dt" sz="half" idx="2"/>
          </p:nvPr>
        </p:nvSpPr>
        <p:spPr bwMode="auto">
          <a:xfrm>
            <a:off x="5334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lvl1pPr>
          </a:lstStyle>
          <a:p>
            <a:endParaRPr lang="en-US"/>
          </a:p>
        </p:txBody>
      </p:sp>
      <p:sp>
        <p:nvSpPr>
          <p:cNvPr id="5129" name="Rectangle 9"/>
          <p:cNvSpPr>
            <a:spLocks noGrp="1" noChangeArrowheads="1"/>
          </p:cNvSpPr>
          <p:nvPr>
            <p:ph type="ftr" sz="quarter" idx="3"/>
          </p:nvPr>
        </p:nvSpPr>
        <p:spPr bwMode="auto">
          <a:xfrm>
            <a:off x="32385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000"/>
            </a:lvl1pPr>
          </a:lstStyle>
          <a:p>
            <a:endParaRPr lang="en-US"/>
          </a:p>
        </p:txBody>
      </p:sp>
      <p:sp>
        <p:nvSpPr>
          <p:cNvPr id="5130" name="Rectangle 10"/>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vl1pPr>
          </a:lstStyle>
          <a:p>
            <a:fld id="{F65948AC-7988-48F3-820D-AC06080E21AC}"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7">
                                            <p:txEl>
                                              <p:pRg st="0" end="0"/>
                                            </p:txEl>
                                          </p:spTgt>
                                        </p:tgtEl>
                                        <p:attrNameLst>
                                          <p:attrName>style.visibility</p:attrName>
                                        </p:attrNameLst>
                                      </p:cBhvr>
                                      <p:to>
                                        <p:strVal val="visible"/>
                                      </p:to>
                                    </p:set>
                                    <p:animEffect transition="in" filter="blinds(horizontal)">
                                      <p:cBhvr>
                                        <p:cTn id="7" dur="500"/>
                                        <p:tgtEl>
                                          <p:spTgt spid="51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7">
                                            <p:txEl>
                                              <p:pRg st="1" end="1"/>
                                            </p:txEl>
                                          </p:spTgt>
                                        </p:tgtEl>
                                        <p:attrNameLst>
                                          <p:attrName>style.visibility</p:attrName>
                                        </p:attrNameLst>
                                      </p:cBhvr>
                                      <p:to>
                                        <p:strVal val="visible"/>
                                      </p:to>
                                    </p:set>
                                    <p:animEffect transition="in" filter="blinds(horizontal)">
                                      <p:cBhvr>
                                        <p:cTn id="12" dur="500"/>
                                        <p:tgtEl>
                                          <p:spTgt spid="51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7">
                                            <p:txEl>
                                              <p:pRg st="2" end="2"/>
                                            </p:txEl>
                                          </p:spTgt>
                                        </p:tgtEl>
                                        <p:attrNameLst>
                                          <p:attrName>style.visibility</p:attrName>
                                        </p:attrNameLst>
                                      </p:cBhvr>
                                      <p:to>
                                        <p:strVal val="visible"/>
                                      </p:to>
                                    </p:set>
                                    <p:animEffect transition="in" filter="blinds(horizontal)">
                                      <p:cBhvr>
                                        <p:cTn id="17" dur="500"/>
                                        <p:tgtEl>
                                          <p:spTgt spid="51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7">
                                            <p:txEl>
                                              <p:pRg st="3" end="3"/>
                                            </p:txEl>
                                          </p:spTgt>
                                        </p:tgtEl>
                                        <p:attrNameLst>
                                          <p:attrName>style.visibility</p:attrName>
                                        </p:attrNameLst>
                                      </p:cBhvr>
                                      <p:to>
                                        <p:strVal val="visible"/>
                                      </p:to>
                                    </p:set>
                                    <p:animEffect transition="in" filter="blinds(horizontal)">
                                      <p:cBhvr>
                                        <p:cTn id="22" dur="500"/>
                                        <p:tgtEl>
                                          <p:spTgt spid="51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7">
                                            <p:txEl>
                                              <p:pRg st="4" end="4"/>
                                            </p:txEl>
                                          </p:spTgt>
                                        </p:tgtEl>
                                        <p:attrNameLst>
                                          <p:attrName>style.visibility</p:attrName>
                                        </p:attrNameLst>
                                      </p:cBhvr>
                                      <p:to>
                                        <p:strVal val="visible"/>
                                      </p:to>
                                    </p:set>
                                    <p:animEffect transition="in" filter="blinds(horizontal)">
                                      <p:cBhvr>
                                        <p:cTn id="27" dur="500"/>
                                        <p:tgtEl>
                                          <p:spTgt spid="51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7" grpId="0" build="p">
        <p:tmplLst>
          <p:tmpl lvl="1">
            <p:tnLst>
              <p:par>
                <p:cTn presetID="3" presetClass="entr" presetSubtype="10" fill="hold" nodeType="clickEffect">
                  <p:stCondLst>
                    <p:cond delay="0"/>
                  </p:stCondLst>
                  <p:childTnLst>
                    <p:set>
                      <p:cBhvr>
                        <p:cTn dur="1" fill="hold">
                          <p:stCondLst>
                            <p:cond delay="0"/>
                          </p:stCondLst>
                        </p:cTn>
                        <p:tgtEl>
                          <p:spTgt spid="5127"/>
                        </p:tgtEl>
                        <p:attrNameLst>
                          <p:attrName>style.visibility</p:attrName>
                        </p:attrNameLst>
                      </p:cBhvr>
                      <p:to>
                        <p:strVal val="visible"/>
                      </p:to>
                    </p:set>
                    <p:animEffect transition="in" filter="blinds(horizontal)">
                      <p:cBhvr>
                        <p:cTn dur="500"/>
                        <p:tgtEl>
                          <p:spTgt spid="5127"/>
                        </p:tgtEl>
                      </p:cBhvr>
                    </p:animEffect>
                  </p:childTnLst>
                </p:cTn>
              </p:par>
            </p:tnLst>
          </p:tmpl>
          <p:tmpl lvl="2">
            <p:tnLst>
              <p:par>
                <p:cTn presetID="3" presetClass="entr" presetSubtype="10" fill="hold" nodeType="clickEffect">
                  <p:stCondLst>
                    <p:cond delay="0"/>
                  </p:stCondLst>
                  <p:childTnLst>
                    <p:set>
                      <p:cBhvr>
                        <p:cTn dur="1" fill="hold">
                          <p:stCondLst>
                            <p:cond delay="0"/>
                          </p:stCondLst>
                        </p:cTn>
                        <p:tgtEl>
                          <p:spTgt spid="5127"/>
                        </p:tgtEl>
                        <p:attrNameLst>
                          <p:attrName>style.visibility</p:attrName>
                        </p:attrNameLst>
                      </p:cBhvr>
                      <p:to>
                        <p:strVal val="visible"/>
                      </p:to>
                    </p:set>
                    <p:animEffect transition="in" filter="blinds(horizontal)">
                      <p:cBhvr>
                        <p:cTn dur="500"/>
                        <p:tgtEl>
                          <p:spTgt spid="5127"/>
                        </p:tgtEl>
                      </p:cBhvr>
                    </p:animEffect>
                  </p:childTnLst>
                </p:cTn>
              </p:par>
            </p:tnLst>
          </p:tmpl>
          <p:tmpl lvl="3">
            <p:tnLst>
              <p:par>
                <p:cTn presetID="3" presetClass="entr" presetSubtype="10" fill="hold" nodeType="clickEffect">
                  <p:stCondLst>
                    <p:cond delay="0"/>
                  </p:stCondLst>
                  <p:childTnLst>
                    <p:set>
                      <p:cBhvr>
                        <p:cTn dur="1" fill="hold">
                          <p:stCondLst>
                            <p:cond delay="0"/>
                          </p:stCondLst>
                        </p:cTn>
                        <p:tgtEl>
                          <p:spTgt spid="5127"/>
                        </p:tgtEl>
                        <p:attrNameLst>
                          <p:attrName>style.visibility</p:attrName>
                        </p:attrNameLst>
                      </p:cBhvr>
                      <p:to>
                        <p:strVal val="visible"/>
                      </p:to>
                    </p:set>
                    <p:animEffect transition="in" filter="blinds(horizontal)">
                      <p:cBhvr>
                        <p:cTn dur="500"/>
                        <p:tgtEl>
                          <p:spTgt spid="5127"/>
                        </p:tgtEl>
                      </p:cBhvr>
                    </p:animEffect>
                  </p:childTnLst>
                </p:cTn>
              </p:par>
            </p:tnLst>
          </p:tmpl>
          <p:tmpl lvl="4">
            <p:tnLst>
              <p:par>
                <p:cTn presetID="3" presetClass="entr" presetSubtype="10" fill="hold" nodeType="clickEffect">
                  <p:stCondLst>
                    <p:cond delay="0"/>
                  </p:stCondLst>
                  <p:childTnLst>
                    <p:set>
                      <p:cBhvr>
                        <p:cTn dur="1" fill="hold">
                          <p:stCondLst>
                            <p:cond delay="0"/>
                          </p:stCondLst>
                        </p:cTn>
                        <p:tgtEl>
                          <p:spTgt spid="5127"/>
                        </p:tgtEl>
                        <p:attrNameLst>
                          <p:attrName>style.visibility</p:attrName>
                        </p:attrNameLst>
                      </p:cBhvr>
                      <p:to>
                        <p:strVal val="visible"/>
                      </p:to>
                    </p:set>
                    <p:animEffect transition="in" filter="blinds(horizontal)">
                      <p:cBhvr>
                        <p:cTn dur="500"/>
                        <p:tgtEl>
                          <p:spTgt spid="5127"/>
                        </p:tgtEl>
                      </p:cBhvr>
                    </p:animEffect>
                  </p:childTnLst>
                </p:cTn>
              </p:par>
            </p:tnLst>
          </p:tmpl>
          <p:tmpl lvl="5">
            <p:tnLst>
              <p:par>
                <p:cTn presetID="3" presetClass="entr" presetSubtype="10" fill="hold" nodeType="clickEffect">
                  <p:stCondLst>
                    <p:cond delay="0"/>
                  </p:stCondLst>
                  <p:childTnLst>
                    <p:set>
                      <p:cBhvr>
                        <p:cTn dur="1" fill="hold">
                          <p:stCondLst>
                            <p:cond delay="0"/>
                          </p:stCondLst>
                        </p:cTn>
                        <p:tgtEl>
                          <p:spTgt spid="5127"/>
                        </p:tgtEl>
                        <p:attrNameLst>
                          <p:attrName>style.visibility</p:attrName>
                        </p:attrNameLst>
                      </p:cBhvr>
                      <p:to>
                        <p:strVal val="visible"/>
                      </p:to>
                    </p:set>
                    <p:animEffect transition="in" filter="blinds(horizontal)">
                      <p:cBhvr>
                        <p:cTn dur="500"/>
                        <p:tgtEl>
                          <p:spTgt spid="5127"/>
                        </p:tgtEl>
                      </p:cBhvr>
                    </p:animEffect>
                  </p:childTnLst>
                </p:cTn>
              </p:par>
            </p:tnLst>
          </p:tmpl>
        </p:tmplLst>
      </p:bldP>
    </p:bldLst>
  </p:timing>
  <p:txStyles>
    <p:titleStyle>
      <a:lvl1pPr algn="l" rtl="0" fontAlgn="base">
        <a:lnSpc>
          <a:spcPct val="80000"/>
        </a:lnSpc>
        <a:spcBef>
          <a:spcPct val="0"/>
        </a:spcBef>
        <a:spcAft>
          <a:spcPct val="0"/>
        </a:spcAft>
        <a:defRPr sz="4400" b="1" i="1">
          <a:solidFill>
            <a:schemeClr val="tx2"/>
          </a:solidFill>
          <a:latin typeface="+mj-lt"/>
          <a:ea typeface="+mj-ea"/>
          <a:cs typeface="+mj-cs"/>
        </a:defRPr>
      </a:lvl1pPr>
      <a:lvl2pPr algn="l" rtl="0" fontAlgn="base">
        <a:lnSpc>
          <a:spcPct val="80000"/>
        </a:lnSpc>
        <a:spcBef>
          <a:spcPct val="0"/>
        </a:spcBef>
        <a:spcAft>
          <a:spcPct val="0"/>
        </a:spcAft>
        <a:defRPr sz="4400" b="1" i="1">
          <a:solidFill>
            <a:schemeClr val="tx2"/>
          </a:solidFill>
          <a:latin typeface="Georgia" pitchFamily="18" charset="0"/>
        </a:defRPr>
      </a:lvl2pPr>
      <a:lvl3pPr algn="l" rtl="0" fontAlgn="base">
        <a:lnSpc>
          <a:spcPct val="80000"/>
        </a:lnSpc>
        <a:spcBef>
          <a:spcPct val="0"/>
        </a:spcBef>
        <a:spcAft>
          <a:spcPct val="0"/>
        </a:spcAft>
        <a:defRPr sz="4400" b="1" i="1">
          <a:solidFill>
            <a:schemeClr val="tx2"/>
          </a:solidFill>
          <a:latin typeface="Georgia" pitchFamily="18" charset="0"/>
        </a:defRPr>
      </a:lvl3pPr>
      <a:lvl4pPr algn="l" rtl="0" fontAlgn="base">
        <a:lnSpc>
          <a:spcPct val="80000"/>
        </a:lnSpc>
        <a:spcBef>
          <a:spcPct val="0"/>
        </a:spcBef>
        <a:spcAft>
          <a:spcPct val="0"/>
        </a:spcAft>
        <a:defRPr sz="4400" b="1" i="1">
          <a:solidFill>
            <a:schemeClr val="tx2"/>
          </a:solidFill>
          <a:latin typeface="Georgia" pitchFamily="18" charset="0"/>
        </a:defRPr>
      </a:lvl4pPr>
      <a:lvl5pPr algn="l" rtl="0" fontAlgn="base">
        <a:lnSpc>
          <a:spcPct val="80000"/>
        </a:lnSpc>
        <a:spcBef>
          <a:spcPct val="0"/>
        </a:spcBef>
        <a:spcAft>
          <a:spcPct val="0"/>
        </a:spcAft>
        <a:defRPr sz="4400" b="1" i="1">
          <a:solidFill>
            <a:schemeClr val="tx2"/>
          </a:solidFill>
          <a:latin typeface="Georgia" pitchFamily="18" charset="0"/>
        </a:defRPr>
      </a:lvl5pPr>
      <a:lvl6pPr marL="457200" algn="l" rtl="0" fontAlgn="base">
        <a:lnSpc>
          <a:spcPct val="80000"/>
        </a:lnSpc>
        <a:spcBef>
          <a:spcPct val="0"/>
        </a:spcBef>
        <a:spcAft>
          <a:spcPct val="0"/>
        </a:spcAft>
        <a:defRPr sz="4400" b="1" i="1">
          <a:solidFill>
            <a:schemeClr val="tx2"/>
          </a:solidFill>
          <a:latin typeface="Georgia" pitchFamily="18" charset="0"/>
        </a:defRPr>
      </a:lvl6pPr>
      <a:lvl7pPr marL="914400" algn="l" rtl="0" fontAlgn="base">
        <a:lnSpc>
          <a:spcPct val="80000"/>
        </a:lnSpc>
        <a:spcBef>
          <a:spcPct val="0"/>
        </a:spcBef>
        <a:spcAft>
          <a:spcPct val="0"/>
        </a:spcAft>
        <a:defRPr sz="4400" b="1" i="1">
          <a:solidFill>
            <a:schemeClr val="tx2"/>
          </a:solidFill>
          <a:latin typeface="Georgia" pitchFamily="18" charset="0"/>
        </a:defRPr>
      </a:lvl7pPr>
      <a:lvl8pPr marL="1371600" algn="l" rtl="0" fontAlgn="base">
        <a:lnSpc>
          <a:spcPct val="80000"/>
        </a:lnSpc>
        <a:spcBef>
          <a:spcPct val="0"/>
        </a:spcBef>
        <a:spcAft>
          <a:spcPct val="0"/>
        </a:spcAft>
        <a:defRPr sz="4400" b="1" i="1">
          <a:solidFill>
            <a:schemeClr val="tx2"/>
          </a:solidFill>
          <a:latin typeface="Georgia" pitchFamily="18" charset="0"/>
        </a:defRPr>
      </a:lvl8pPr>
      <a:lvl9pPr marL="1828800" algn="l" rtl="0" fontAlgn="base">
        <a:lnSpc>
          <a:spcPct val="80000"/>
        </a:lnSpc>
        <a:spcBef>
          <a:spcPct val="0"/>
        </a:spcBef>
        <a:spcAft>
          <a:spcPct val="0"/>
        </a:spcAft>
        <a:defRPr sz="4400" b="1" i="1">
          <a:solidFill>
            <a:schemeClr val="tx2"/>
          </a:solidFill>
          <a:latin typeface="Georgia" pitchFamily="18" charset="0"/>
        </a:defRPr>
      </a:lvl9pPr>
    </p:titleStyle>
    <p:bodyStyle>
      <a:lvl1pPr marL="342900" indent="-342900" algn="l" rtl="0" fontAlgn="base">
        <a:lnSpc>
          <a:spcPct val="125000"/>
        </a:lnSpc>
        <a:spcBef>
          <a:spcPct val="20000"/>
        </a:spcBef>
        <a:spcAft>
          <a:spcPct val="0"/>
        </a:spcAft>
        <a:buClr>
          <a:srgbClr val="FF3300"/>
        </a:buClr>
        <a:buFont typeface="Wingdings" pitchFamily="2" charset="2"/>
        <a:buChar char="Ø"/>
        <a:defRPr sz="3600" b="1">
          <a:solidFill>
            <a:schemeClr val="tx1"/>
          </a:solidFill>
          <a:latin typeface="+mn-lt"/>
          <a:ea typeface="+mn-ea"/>
          <a:cs typeface="+mn-cs"/>
        </a:defRPr>
      </a:lvl1pPr>
      <a:lvl2pPr marL="742950" indent="-285750" algn="l" rtl="0" fontAlgn="base">
        <a:lnSpc>
          <a:spcPct val="125000"/>
        </a:lnSpc>
        <a:spcBef>
          <a:spcPct val="20000"/>
        </a:spcBef>
        <a:spcAft>
          <a:spcPct val="0"/>
        </a:spcAft>
        <a:buClr>
          <a:srgbClr val="FF3300"/>
        </a:buClr>
        <a:buFont typeface="Wingdings" pitchFamily="2" charset="2"/>
        <a:buChar char="ü"/>
        <a:defRPr sz="3600" b="1">
          <a:solidFill>
            <a:schemeClr val="tx1"/>
          </a:solidFill>
          <a:latin typeface="+mn-lt"/>
        </a:defRPr>
      </a:lvl2pPr>
      <a:lvl3pPr marL="1143000" indent="-228600" algn="l" rtl="0" fontAlgn="base">
        <a:lnSpc>
          <a:spcPct val="125000"/>
        </a:lnSpc>
        <a:spcBef>
          <a:spcPct val="20000"/>
        </a:spcBef>
        <a:spcAft>
          <a:spcPct val="0"/>
        </a:spcAft>
        <a:buClr>
          <a:srgbClr val="FF3300"/>
        </a:buClr>
        <a:buFont typeface="Wingdings" pitchFamily="2" charset="2"/>
        <a:buChar char="n"/>
        <a:defRPr sz="3600" b="1">
          <a:solidFill>
            <a:schemeClr val="tx1"/>
          </a:solidFill>
          <a:latin typeface="+mn-lt"/>
        </a:defRPr>
      </a:lvl3pPr>
      <a:lvl4pPr marL="16002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4pPr>
      <a:lvl5pPr marL="20574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5pPr>
      <a:lvl6pPr marL="25146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6pPr>
      <a:lvl7pPr marL="29718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7pPr>
      <a:lvl8pPr marL="34290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8pPr>
      <a:lvl9pPr marL="3886200" indent="-228600" algn="l" rtl="0" fontAlgn="base">
        <a:spcBef>
          <a:spcPct val="20000"/>
        </a:spcBef>
        <a:spcAft>
          <a:spcPct val="0"/>
        </a:spcAft>
        <a:buClr>
          <a:srgbClr val="FF3300"/>
        </a:buClr>
        <a:buFont typeface="Wingdings" pitchFamily="2" charset="2"/>
        <a:buChar char="§"/>
        <a:defRPr sz="36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838200"/>
            <a:ext cx="6858000" cy="2559050"/>
          </a:xfrm>
        </p:spPr>
        <p:txBody>
          <a:bodyPr/>
          <a:lstStyle/>
          <a:p>
            <a:r>
              <a:rPr lang="en-US"/>
              <a:t>Communication and Gender</a:t>
            </a:r>
          </a:p>
        </p:txBody>
      </p:sp>
      <p:sp>
        <p:nvSpPr>
          <p:cNvPr id="2051" name="Rectangle 3"/>
          <p:cNvSpPr>
            <a:spLocks noGrp="1" noChangeArrowheads="1"/>
          </p:cNvSpPr>
          <p:nvPr>
            <p:ph type="subTitle" idx="1"/>
          </p:nvPr>
        </p:nvSpPr>
        <p:spPr/>
        <p:txBody>
          <a:bodyPr/>
          <a:lstStyle/>
          <a:p>
            <a:r>
              <a:rPr lang="en-US"/>
              <a:t>Does it make a difference?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t>Introduction</a:t>
            </a:r>
          </a:p>
        </p:txBody>
      </p:sp>
      <p:sp>
        <p:nvSpPr>
          <p:cNvPr id="3075" name="Rectangle 3"/>
          <p:cNvSpPr>
            <a:spLocks noGrp="1" noChangeArrowheads="1"/>
          </p:cNvSpPr>
          <p:nvPr>
            <p:ph type="body" idx="1"/>
          </p:nvPr>
        </p:nvSpPr>
        <p:spPr/>
        <p:txBody>
          <a:bodyPr/>
          <a:lstStyle/>
          <a:p>
            <a:pPr>
              <a:lnSpc>
                <a:spcPct val="115000"/>
              </a:lnSpc>
            </a:pPr>
            <a:r>
              <a:rPr lang="en-US"/>
              <a:t>The objective of these studies is to help develop better understanding and adaptation.</a:t>
            </a:r>
          </a:p>
          <a:p>
            <a:pPr>
              <a:lnSpc>
                <a:spcPct val="115000"/>
              </a:lnSpc>
            </a:pPr>
            <a:r>
              <a:rPr lang="en-US"/>
              <a:t>Men and women have unique ways of expressing their thoughts and feelings.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endParaRPr lang="en-US"/>
          </a:p>
        </p:txBody>
      </p:sp>
      <p:sp>
        <p:nvSpPr>
          <p:cNvPr id="59395" name="Rectangle 3"/>
          <p:cNvSpPr>
            <a:spLocks noGrp="1" noChangeArrowheads="1"/>
          </p:cNvSpPr>
          <p:nvPr>
            <p:ph type="body" idx="1"/>
          </p:nvPr>
        </p:nvSpPr>
        <p:spPr/>
        <p:txBody>
          <a:bodyPr/>
          <a:lstStyle/>
          <a:p>
            <a:r>
              <a:rPr lang="en-US"/>
              <a:t> These differences have been further aggravated by culture and upbringing.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endParaRPr lang="en-US"/>
          </a:p>
        </p:txBody>
      </p:sp>
      <p:sp>
        <p:nvSpPr>
          <p:cNvPr id="17411" name="Rectangle 3"/>
          <p:cNvSpPr>
            <a:spLocks noGrp="1" noChangeArrowheads="1"/>
          </p:cNvSpPr>
          <p:nvPr>
            <p:ph type="body" idx="1"/>
          </p:nvPr>
        </p:nvSpPr>
        <p:spPr/>
        <p:txBody>
          <a:bodyPr/>
          <a:lstStyle/>
          <a:p>
            <a:pPr>
              <a:buFont typeface="Wingdings" pitchFamily="2" charset="2"/>
              <a:buNone/>
            </a:pPr>
            <a:r>
              <a:rPr lang="en-US"/>
              <a:t>	In essence, there is what men say and what women hear, and vice versa.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Scholarly thoughts</a:t>
            </a:r>
          </a:p>
        </p:txBody>
      </p:sp>
      <p:sp>
        <p:nvSpPr>
          <p:cNvPr id="20483" name="Rectangle 3"/>
          <p:cNvSpPr>
            <a:spLocks noGrp="1" noChangeArrowheads="1"/>
          </p:cNvSpPr>
          <p:nvPr>
            <p:ph type="body" idx="1"/>
          </p:nvPr>
        </p:nvSpPr>
        <p:spPr/>
        <p:txBody>
          <a:bodyPr/>
          <a:lstStyle/>
          <a:p>
            <a:pPr marL="685800" indent="-685800">
              <a:buFont typeface="Wingdings" pitchFamily="2" charset="2"/>
              <a:buAutoNum type="arabicPeriod"/>
            </a:pPr>
            <a:r>
              <a:rPr lang="en-US"/>
              <a:t>The differences are in perception and interpretation i.e. the same message can hold different meanings.</a:t>
            </a:r>
          </a:p>
          <a:p>
            <a:pPr marL="685800" indent="-685800">
              <a:buFont typeface="Wingdings" pitchFamily="2" charset="2"/>
              <a:buAutoNum type="arabicPeriod"/>
            </a:pPr>
            <a:r>
              <a:rPr lang="en-US"/>
              <a:t>The differences are cultural.</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endParaRPr lang="en-US"/>
          </a:p>
        </p:txBody>
      </p:sp>
      <p:sp>
        <p:nvSpPr>
          <p:cNvPr id="52227" name="Rectangle 3"/>
          <p:cNvSpPr>
            <a:spLocks noGrp="1" noChangeArrowheads="1"/>
          </p:cNvSpPr>
          <p:nvPr>
            <p:ph type="body" idx="1"/>
          </p:nvPr>
        </p:nvSpPr>
        <p:spPr/>
        <p:txBody>
          <a:bodyPr/>
          <a:lstStyle/>
          <a:p>
            <a:r>
              <a:rPr lang="en-US"/>
              <a:t>Men and women request action and advice differently. Their verbal responses and timing are different.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endParaRPr lang="en-US"/>
          </a:p>
        </p:txBody>
      </p:sp>
      <p:sp>
        <p:nvSpPr>
          <p:cNvPr id="53251" name="Rectangle 3"/>
          <p:cNvSpPr>
            <a:spLocks noGrp="1" noChangeArrowheads="1"/>
          </p:cNvSpPr>
          <p:nvPr>
            <p:ph type="body" idx="1"/>
          </p:nvPr>
        </p:nvSpPr>
        <p:spPr/>
        <p:txBody>
          <a:bodyPr/>
          <a:lstStyle/>
          <a:p>
            <a:r>
              <a:rPr lang="en-US"/>
              <a:t>The result can be miscues and misunderstandings. In other words, lots of cross talk.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z="4000"/>
              <a:t>Deborah Tanen in ‘You Just Don’t Understand’.</a:t>
            </a:r>
          </a:p>
        </p:txBody>
      </p:sp>
      <p:sp>
        <p:nvSpPr>
          <p:cNvPr id="21507" name="Rectangle 3"/>
          <p:cNvSpPr>
            <a:spLocks noGrp="1" noChangeArrowheads="1"/>
          </p:cNvSpPr>
          <p:nvPr>
            <p:ph type="body" idx="1"/>
          </p:nvPr>
        </p:nvSpPr>
        <p:spPr/>
        <p:txBody>
          <a:bodyPr/>
          <a:lstStyle/>
          <a:p>
            <a:r>
              <a:rPr lang="en-US" sz="3200"/>
              <a:t>Differences in communication begin early. E.g. </a:t>
            </a:r>
          </a:p>
          <a:p>
            <a:pPr lvl="1"/>
            <a:r>
              <a:rPr lang="en-US" sz="3200"/>
              <a:t>Little girls talk to be liked; little boys often talk to boast. </a:t>
            </a:r>
          </a:p>
          <a:p>
            <a:pPr lvl="1"/>
            <a:r>
              <a:rPr lang="en-US" sz="3200"/>
              <a:t>Little girls make requests; little boys make demands. </a:t>
            </a:r>
          </a:p>
          <a:p>
            <a:endParaRPr lang="en-US" sz="32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533400" y="457200"/>
            <a:ext cx="8153400" cy="5410200"/>
          </a:xfrm>
        </p:spPr>
        <p:txBody>
          <a:bodyPr/>
          <a:lstStyle/>
          <a:p>
            <a:pPr lvl="1"/>
            <a:r>
              <a:rPr lang="en-US" sz="3200"/>
              <a:t>Little girls speak to create harmony; little boys prolong conflict.</a:t>
            </a:r>
          </a:p>
          <a:p>
            <a:pPr lvl="1"/>
            <a:r>
              <a:rPr lang="en-US" sz="3200"/>
              <a:t> Little girls talk more indirectly; little boys talk directly. </a:t>
            </a:r>
          </a:p>
          <a:p>
            <a:pPr lvl="1"/>
            <a:r>
              <a:rPr lang="en-US" sz="3200"/>
              <a:t>Little girls talk more with words; little boys use more actions.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endParaRPr lang="en-US"/>
          </a:p>
        </p:txBody>
      </p:sp>
      <p:sp>
        <p:nvSpPr>
          <p:cNvPr id="23555" name="Rectangle 3"/>
          <p:cNvSpPr>
            <a:spLocks noGrp="1" noChangeArrowheads="1"/>
          </p:cNvSpPr>
          <p:nvPr>
            <p:ph type="body" idx="1"/>
          </p:nvPr>
        </p:nvSpPr>
        <p:spPr/>
        <p:txBody>
          <a:bodyPr/>
          <a:lstStyle/>
          <a:p>
            <a:pPr algn="ctr">
              <a:buFont typeface="Wingdings" pitchFamily="2" charset="2"/>
              <a:buNone/>
            </a:pPr>
            <a:r>
              <a:rPr lang="en-US" sz="4000"/>
              <a:t>Both Boys and Girls use language differently to get their way.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endParaRPr lang="en-US"/>
          </a:p>
        </p:txBody>
      </p:sp>
      <p:sp>
        <p:nvSpPr>
          <p:cNvPr id="24579" name="Rectangle 3"/>
          <p:cNvSpPr>
            <a:spLocks noGrp="1" noChangeArrowheads="1"/>
          </p:cNvSpPr>
          <p:nvPr>
            <p:ph type="body" idx="1"/>
          </p:nvPr>
        </p:nvSpPr>
        <p:spPr/>
        <p:txBody>
          <a:bodyPr/>
          <a:lstStyle/>
          <a:p>
            <a:r>
              <a:rPr lang="en-US"/>
              <a:t>These differences grow and are noted in college and further in the working environment. </a:t>
            </a:r>
          </a:p>
          <a:p>
            <a:pPr>
              <a:buFont typeface="Wingdings" pitchFamily="2" charset="2"/>
              <a:buNone/>
            </a:pPr>
            <a:r>
              <a:rPr lang="en-US"/>
              <a:t>e.g.</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type="body" idx="1"/>
          </p:nvPr>
        </p:nvSpPr>
        <p:spPr>
          <a:xfrm>
            <a:off x="533400" y="838200"/>
            <a:ext cx="8153400" cy="5029200"/>
          </a:xfrm>
        </p:spPr>
        <p:txBody>
          <a:bodyPr/>
          <a:lstStyle/>
          <a:p>
            <a:r>
              <a:rPr lang="en-US"/>
              <a:t>Power plays- Her way: Women tend to ask lots of questions before beginning work. His way: Men simply roll up their sleeves. The result: Men assume women aren't up to the job.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533400" y="990600"/>
            <a:ext cx="8153400" cy="4876800"/>
          </a:xfrm>
        </p:spPr>
        <p:txBody>
          <a:bodyPr/>
          <a:lstStyle/>
          <a:p>
            <a:pPr>
              <a:buFont typeface="Wingdings" pitchFamily="2" charset="2"/>
              <a:buNone/>
            </a:pPr>
            <a:r>
              <a:rPr lang="en-US" sz="3200"/>
              <a:t>Lady: What shall we present?</a:t>
            </a:r>
          </a:p>
          <a:p>
            <a:pPr>
              <a:buFont typeface="Wingdings" pitchFamily="2" charset="2"/>
              <a:buNone/>
            </a:pPr>
            <a:r>
              <a:rPr lang="en-US" sz="3200"/>
              <a:t>Man: Anything. The fastest car on 	earth.</a:t>
            </a:r>
          </a:p>
          <a:p>
            <a:pPr>
              <a:buFont typeface="Wingdings" pitchFamily="2" charset="2"/>
              <a:buNone/>
            </a:pPr>
            <a:r>
              <a:rPr lang="en-US" sz="3200"/>
              <a:t>Lady: I think we should come up with 	different topics then we 	eliminate…</a:t>
            </a:r>
          </a:p>
          <a:p>
            <a:pPr>
              <a:buFont typeface="Wingdings" pitchFamily="2" charset="2"/>
              <a:buNone/>
            </a:pPr>
            <a:r>
              <a:rPr lang="en-US" sz="3200"/>
              <a:t>Man: What’s wrong with my topic?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p:txBody>
          <a:bodyPr/>
          <a:lstStyle/>
          <a:p>
            <a:r>
              <a:rPr lang="en-US"/>
              <a:t>These differences are in </a:t>
            </a:r>
          </a:p>
          <a:p>
            <a:pPr lvl="1"/>
            <a:r>
              <a:rPr lang="en-US"/>
              <a:t>Style </a:t>
            </a:r>
          </a:p>
          <a:p>
            <a:pPr lvl="1"/>
            <a:r>
              <a:rPr lang="en-US"/>
              <a:t>Content  </a:t>
            </a:r>
          </a:p>
          <a:p>
            <a:pPr lvl="1"/>
            <a:r>
              <a:rPr lang="en-US"/>
              <a:t>Structure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endParaRPr lang="en-US"/>
          </a:p>
        </p:txBody>
      </p:sp>
      <p:sp>
        <p:nvSpPr>
          <p:cNvPr id="32771" name="Rectangle 3"/>
          <p:cNvSpPr>
            <a:spLocks noGrp="1" noChangeArrowheads="1"/>
          </p:cNvSpPr>
          <p:nvPr>
            <p:ph type="body" idx="1"/>
          </p:nvPr>
        </p:nvSpPr>
        <p:spPr/>
        <p:txBody>
          <a:bodyPr/>
          <a:lstStyle/>
          <a:p>
            <a:pPr algn="r">
              <a:buFont typeface="Wingdings" pitchFamily="2" charset="2"/>
              <a:buNone/>
            </a:pPr>
            <a:r>
              <a:rPr lang="en-US" sz="7200" i="1"/>
              <a:t>style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533400" y="914400"/>
            <a:ext cx="8153400" cy="4953000"/>
          </a:xfrm>
        </p:spPr>
        <p:txBody>
          <a:bodyPr/>
          <a:lstStyle/>
          <a:p>
            <a:pPr>
              <a:lnSpc>
                <a:spcPct val="115000"/>
              </a:lnSpc>
            </a:pPr>
            <a:r>
              <a:rPr lang="en-US"/>
              <a:t>Women tend to ‘read between the lines’, while men communicate to establish status.</a:t>
            </a:r>
          </a:p>
          <a:p>
            <a:pPr>
              <a:lnSpc>
                <a:spcPct val="115000"/>
              </a:lnSpc>
            </a:pPr>
            <a:r>
              <a:rPr lang="en-US"/>
              <a:t>Whether conscious or unconscious, men often talk to establish status from others.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533400" y="838200"/>
            <a:ext cx="8153400" cy="5029200"/>
          </a:xfrm>
        </p:spPr>
        <p:txBody>
          <a:bodyPr/>
          <a:lstStyle/>
          <a:p>
            <a:r>
              <a:rPr lang="en-US"/>
              <a:t>A presupposed challenge (joke) on status therefore can cause </a:t>
            </a:r>
            <a:r>
              <a:rPr lang="en-US" u="sng"/>
              <a:t>friction</a:t>
            </a:r>
            <a:r>
              <a:rPr lang="en-US"/>
              <a:t> amongst team members.</a:t>
            </a:r>
          </a:p>
          <a:p>
            <a:pPr>
              <a:buFont typeface="Wingdings" pitchFamily="2" charset="2"/>
              <a:buNone/>
            </a:pPr>
            <a:endParaRPr lang="en-US"/>
          </a:p>
          <a:p>
            <a:endParaRPr lang="en-US"/>
          </a:p>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p:txBody>
          <a:bodyPr/>
          <a:lstStyle/>
          <a:p>
            <a:r>
              <a:rPr lang="en-US"/>
              <a:t>Women use words to connect themselves emotionally, to express feelings, or build rapport. Men often share facts and figures as in a report.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533400" y="990600"/>
            <a:ext cx="8153400" cy="4876800"/>
          </a:xfrm>
        </p:spPr>
        <p:txBody>
          <a:bodyPr/>
          <a:lstStyle/>
          <a:p>
            <a:pPr>
              <a:lnSpc>
                <a:spcPct val="130000"/>
              </a:lnSpc>
            </a:pPr>
            <a:r>
              <a:rPr lang="en-US"/>
              <a:t>Females are more inclined to face each other and make eye contact when talking, while males are more likely to look away from each other.</a:t>
            </a:r>
            <a:r>
              <a:rPr lang="en-US" sz="3200"/>
              <a:t> </a:t>
            </a:r>
          </a:p>
          <a:p>
            <a:pPr>
              <a:lnSpc>
                <a:spcPct val="130000"/>
              </a:lnSpc>
              <a:buFont typeface="Wingdings" pitchFamily="2" charset="2"/>
              <a:buNone/>
            </a:pPr>
            <a:endParaRPr lang="en-US" sz="3200"/>
          </a:p>
          <a:p>
            <a:pPr>
              <a:lnSpc>
                <a:spcPct val="105000"/>
              </a:lnSpc>
            </a:pPr>
            <a:endParaRPr lang="en-US" sz="32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endParaRPr lang="en-US"/>
          </a:p>
        </p:txBody>
      </p:sp>
      <p:sp>
        <p:nvSpPr>
          <p:cNvPr id="25603" name="Rectangle 3"/>
          <p:cNvSpPr>
            <a:spLocks noGrp="1" noChangeArrowheads="1"/>
          </p:cNvSpPr>
          <p:nvPr>
            <p:ph type="body" idx="1"/>
          </p:nvPr>
        </p:nvSpPr>
        <p:spPr/>
        <p:txBody>
          <a:bodyPr/>
          <a:lstStyle/>
          <a:p>
            <a:pPr>
              <a:lnSpc>
                <a:spcPct val="130000"/>
              </a:lnSpc>
            </a:pPr>
            <a:r>
              <a:rPr lang="en-US" sz="4000" dirty="0"/>
              <a:t>Girls and women tend to talk at length about one topic, but boys and men tend to jump from topic to topic. </a:t>
            </a:r>
          </a:p>
          <a:p>
            <a:endParaRPr lang="en-US" sz="3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533400" y="838200"/>
            <a:ext cx="8153400" cy="5029200"/>
          </a:xfrm>
        </p:spPr>
        <p:txBody>
          <a:bodyPr/>
          <a:lstStyle/>
          <a:p>
            <a:r>
              <a:rPr lang="en-US"/>
              <a:t>Body language is also used differently.</a:t>
            </a:r>
          </a:p>
          <a:p>
            <a:pPr lvl="1"/>
            <a:r>
              <a:rPr lang="en-US"/>
              <a:t>Women stand in close proximity to each other, maintain eye contact, and gesture more frequently.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z="4000"/>
              <a:t/>
            </a:r>
            <a:br>
              <a:rPr lang="en-US" sz="4000"/>
            </a:br>
            <a:r>
              <a:rPr lang="en-US" sz="4000"/>
              <a:t> </a:t>
            </a:r>
          </a:p>
        </p:txBody>
      </p:sp>
      <p:sp>
        <p:nvSpPr>
          <p:cNvPr id="18435" name="Rectangle 3"/>
          <p:cNvSpPr>
            <a:spLocks noGrp="1" noChangeArrowheads="1"/>
          </p:cNvSpPr>
          <p:nvPr>
            <p:ph type="body" idx="1"/>
          </p:nvPr>
        </p:nvSpPr>
        <p:spPr/>
        <p:txBody>
          <a:bodyPr/>
          <a:lstStyle/>
          <a:p>
            <a:pPr algn="r">
              <a:buFont typeface="Wingdings" pitchFamily="2" charset="2"/>
              <a:buNone/>
            </a:pPr>
            <a:r>
              <a:rPr lang="en-US" sz="7200" i="1"/>
              <a:t>Content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533400" y="838200"/>
            <a:ext cx="8153400" cy="5105400"/>
          </a:xfrm>
        </p:spPr>
        <p:txBody>
          <a:bodyPr/>
          <a:lstStyle/>
          <a:p>
            <a:pPr>
              <a:lnSpc>
                <a:spcPct val="115000"/>
              </a:lnSpc>
            </a:pPr>
            <a:r>
              <a:rPr lang="en-US"/>
              <a:t>What do men and women talk about? </a:t>
            </a:r>
          </a:p>
          <a:p>
            <a:pPr lvl="1">
              <a:lnSpc>
                <a:spcPct val="115000"/>
              </a:lnSpc>
            </a:pPr>
            <a:r>
              <a:rPr lang="en-US"/>
              <a:t>Men often talk about sports, money, and business; </a:t>
            </a:r>
          </a:p>
          <a:p>
            <a:pPr lvl="1">
              <a:lnSpc>
                <a:spcPct val="115000"/>
              </a:lnSpc>
            </a:pPr>
            <a:r>
              <a:rPr lang="en-US"/>
              <a:t>women most often discuss people, feelings, and relationships.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Why?</a:t>
            </a:r>
          </a:p>
        </p:txBody>
      </p:sp>
      <p:sp>
        <p:nvSpPr>
          <p:cNvPr id="34819" name="Rectangle 3"/>
          <p:cNvSpPr>
            <a:spLocks noGrp="1" noChangeArrowheads="1"/>
          </p:cNvSpPr>
          <p:nvPr>
            <p:ph type="body" idx="1"/>
          </p:nvPr>
        </p:nvSpPr>
        <p:spPr/>
        <p:txBody>
          <a:bodyPr/>
          <a:lstStyle/>
          <a:p>
            <a:r>
              <a:rPr lang="en-US" sz="3200"/>
              <a:t>Men express themselves to fix a problem, converse for competition, and talk to resolve problems. </a:t>
            </a:r>
          </a:p>
          <a:p>
            <a:r>
              <a:rPr lang="en-US" sz="3200"/>
              <a:t>Women most often express themselves to understand, converse to support, and talk to connect.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endParaRPr lang="en-US"/>
          </a:p>
        </p:txBody>
      </p:sp>
      <p:sp>
        <p:nvSpPr>
          <p:cNvPr id="35843" name="Rectangle 3"/>
          <p:cNvSpPr>
            <a:spLocks noGrp="1" noChangeArrowheads="1"/>
          </p:cNvSpPr>
          <p:nvPr>
            <p:ph type="body" idx="1"/>
          </p:nvPr>
        </p:nvSpPr>
        <p:spPr/>
        <p:txBody>
          <a:bodyPr/>
          <a:lstStyle/>
          <a:p>
            <a:pPr algn="r">
              <a:buFont typeface="Wingdings" pitchFamily="2" charset="2"/>
              <a:buNone/>
            </a:pPr>
            <a:r>
              <a:rPr lang="en-US" sz="6600" i="1"/>
              <a:t>Structure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533400" y="914400"/>
            <a:ext cx="8153400" cy="4953000"/>
          </a:xfrm>
        </p:spPr>
        <p:txBody>
          <a:bodyPr/>
          <a:lstStyle/>
          <a:p>
            <a:r>
              <a:rPr lang="en-US"/>
              <a:t>Men typically use precise words, to the point, without descriptive details.</a:t>
            </a:r>
          </a:p>
          <a:p>
            <a:r>
              <a:rPr lang="en-US"/>
              <a:t> Women are more detailed, apologetic, and vague.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endParaRPr lang="en-US"/>
          </a:p>
        </p:txBody>
      </p:sp>
      <p:sp>
        <p:nvSpPr>
          <p:cNvPr id="55299" name="Rectangle 3"/>
          <p:cNvSpPr>
            <a:spLocks noGrp="1" noChangeArrowheads="1"/>
          </p:cNvSpPr>
          <p:nvPr>
            <p:ph type="body" idx="1"/>
          </p:nvPr>
        </p:nvSpPr>
        <p:spPr/>
        <p:txBody>
          <a:bodyPr/>
          <a:lstStyle/>
          <a:p>
            <a:r>
              <a:rPr lang="en-US"/>
              <a:t>Men and women impose authority differently. E.g. men routinely challenge and expect to be challenged.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endParaRPr lang="en-US"/>
          </a:p>
        </p:txBody>
      </p:sp>
      <p:sp>
        <p:nvSpPr>
          <p:cNvPr id="58371" name="Rectangle 3"/>
          <p:cNvSpPr>
            <a:spLocks noGrp="1" noChangeArrowheads="1"/>
          </p:cNvSpPr>
          <p:nvPr>
            <p:ph type="body" idx="1"/>
          </p:nvPr>
        </p:nvSpPr>
        <p:spPr/>
        <p:txBody>
          <a:bodyPr/>
          <a:lstStyle/>
          <a:p>
            <a:r>
              <a:rPr lang="en-US"/>
              <a:t>To women, they appear too forceful and sometimes insecure.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endParaRPr lang="en-US"/>
          </a:p>
        </p:txBody>
      </p:sp>
      <p:sp>
        <p:nvSpPr>
          <p:cNvPr id="38915" name="Rectangle 3"/>
          <p:cNvSpPr>
            <a:spLocks noGrp="1" noChangeArrowheads="1"/>
          </p:cNvSpPr>
          <p:nvPr>
            <p:ph type="body" idx="1"/>
          </p:nvPr>
        </p:nvSpPr>
        <p:spPr/>
        <p:txBody>
          <a:bodyPr/>
          <a:lstStyle/>
          <a:p>
            <a:pPr algn="r">
              <a:buFont typeface="Wingdings" pitchFamily="2" charset="2"/>
              <a:buNone/>
            </a:pPr>
            <a:r>
              <a:rPr lang="en-US" sz="6000" i="1"/>
              <a:t>How Can we improve?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685800" y="990600"/>
            <a:ext cx="8153400" cy="4419600"/>
          </a:xfrm>
        </p:spPr>
        <p:txBody>
          <a:bodyPr/>
          <a:lstStyle/>
          <a:p>
            <a:pPr marL="685800" indent="-685800">
              <a:lnSpc>
                <a:spcPct val="115000"/>
              </a:lnSpc>
              <a:buFont typeface="Wingdings" pitchFamily="2" charset="2"/>
              <a:buAutoNum type="arabicPeriod"/>
            </a:pPr>
            <a:r>
              <a:rPr lang="en-US"/>
              <a:t>Understand your own communication style.</a:t>
            </a:r>
          </a:p>
          <a:p>
            <a:pPr marL="1143000" lvl="1" indent="-685800">
              <a:lnSpc>
                <a:spcPct val="115000"/>
              </a:lnSpc>
            </a:pPr>
            <a:r>
              <a:rPr lang="en-US"/>
              <a:t>Listen to your own speech. </a:t>
            </a:r>
          </a:p>
          <a:p>
            <a:pPr marL="1143000" lvl="1" indent="-685800">
              <a:lnSpc>
                <a:spcPct val="115000"/>
              </a:lnSpc>
            </a:pPr>
            <a:r>
              <a:rPr lang="en-US"/>
              <a:t>Evaluate your words, your tone of voice, and your body language.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endParaRPr lang="en-US"/>
          </a:p>
        </p:txBody>
      </p:sp>
      <p:sp>
        <p:nvSpPr>
          <p:cNvPr id="39939" name="Rectangle 3"/>
          <p:cNvSpPr>
            <a:spLocks noGrp="1" noChangeArrowheads="1"/>
          </p:cNvSpPr>
          <p:nvPr>
            <p:ph type="body" idx="1"/>
          </p:nvPr>
        </p:nvSpPr>
        <p:spPr/>
        <p:txBody>
          <a:bodyPr/>
          <a:lstStyle/>
          <a:p>
            <a:pPr lvl="1"/>
            <a:r>
              <a:rPr lang="en-US" sz="4000"/>
              <a:t>Compare your own communication style with that of individuals whom you judge to be effective communicators.</a:t>
            </a:r>
            <a:r>
              <a:rPr lang="en-US" sz="3200"/>
              <a:t> </a:t>
            </a:r>
          </a:p>
          <a:p>
            <a:endParaRPr lang="en-US" sz="32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E.g. for men</a:t>
            </a:r>
          </a:p>
        </p:txBody>
      </p:sp>
      <p:sp>
        <p:nvSpPr>
          <p:cNvPr id="40963" name="Rectangle 3"/>
          <p:cNvSpPr>
            <a:spLocks noGrp="1" noChangeArrowheads="1"/>
          </p:cNvSpPr>
          <p:nvPr>
            <p:ph type="body" idx="1"/>
          </p:nvPr>
        </p:nvSpPr>
        <p:spPr/>
        <p:txBody>
          <a:bodyPr/>
          <a:lstStyle/>
          <a:p>
            <a:r>
              <a:rPr lang="en-US" sz="4000"/>
              <a:t>Remember names, show an interest in detail, learn to </a:t>
            </a:r>
            <a:r>
              <a:rPr lang="en-US" sz="4000" u="sng"/>
              <a:t>listen keenly</a:t>
            </a:r>
            <a:r>
              <a:rPr lang="en-US" sz="4000"/>
              <a:t>! </a:t>
            </a:r>
          </a:p>
          <a:p>
            <a:pPr>
              <a:buFont typeface="Wingdings" pitchFamily="2" charset="2"/>
              <a:buNone/>
            </a:pPr>
            <a:endParaRPr lang="en-US" sz="40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09600" y="1676400"/>
            <a:ext cx="7848600" cy="2514600"/>
          </a:xfrm>
        </p:spPr>
        <p:txBody>
          <a:bodyPr/>
          <a:lstStyle/>
          <a:p>
            <a:pPr marL="838200" indent="-838200">
              <a:lnSpc>
                <a:spcPct val="125000"/>
              </a:lnSpc>
              <a:buFontTx/>
              <a:buAutoNum type="arabicPeriod" startAt="2"/>
            </a:pPr>
            <a:r>
              <a:rPr lang="en-US" sz="4000"/>
              <a:t>Understand the Communication style of the opposite gender.</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533400" y="914400"/>
            <a:ext cx="8153400" cy="4953000"/>
          </a:xfrm>
        </p:spPr>
        <p:txBody>
          <a:bodyPr/>
          <a:lstStyle/>
          <a:p>
            <a:r>
              <a:rPr lang="en-US"/>
              <a:t>Observe how they talk, express ideas, content of these ideas etc.</a:t>
            </a:r>
          </a:p>
          <a:p>
            <a:r>
              <a:rPr lang="en-US"/>
              <a:t> Engage in discussion and try to understand what is important to the other gender. See if your perceptions are accurate.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e.g.</a:t>
            </a:r>
          </a:p>
        </p:txBody>
      </p:sp>
      <p:sp>
        <p:nvSpPr>
          <p:cNvPr id="44035" name="Rectangle 3"/>
          <p:cNvSpPr>
            <a:spLocks noGrp="1" noChangeArrowheads="1"/>
          </p:cNvSpPr>
          <p:nvPr>
            <p:ph type="body" idx="1"/>
          </p:nvPr>
        </p:nvSpPr>
        <p:spPr/>
        <p:txBody>
          <a:bodyPr/>
          <a:lstStyle/>
          <a:p>
            <a:r>
              <a:rPr lang="en-US"/>
              <a:t>Some people NEVER talk during group work. Find out why then see how this can be improved.</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marL="762000" indent="-762000">
              <a:buFontTx/>
              <a:buAutoNum type="arabicPeriod" startAt="3"/>
            </a:pPr>
            <a:r>
              <a:rPr lang="en-US" sz="4000"/>
              <a:t> Adjust to the conversational styles</a:t>
            </a:r>
          </a:p>
        </p:txBody>
      </p:sp>
      <p:sp>
        <p:nvSpPr>
          <p:cNvPr id="45059" name="Rectangle 3"/>
          <p:cNvSpPr>
            <a:spLocks noGrp="1" noChangeArrowheads="1"/>
          </p:cNvSpPr>
          <p:nvPr>
            <p:ph type="body" idx="1"/>
          </p:nvPr>
        </p:nvSpPr>
        <p:spPr/>
        <p:txBody>
          <a:bodyPr/>
          <a:lstStyle/>
          <a:p>
            <a:r>
              <a:rPr lang="en-US"/>
              <a:t> Communication is a learned behavior- and behavior can be unlearned!</a:t>
            </a:r>
          </a:p>
          <a:p>
            <a:pPr>
              <a:buFont typeface="Wingdings" pitchFamily="2" charset="2"/>
              <a:buNone/>
            </a:pPr>
            <a:r>
              <a:rPr lang="en-US"/>
              <a:t>What are you not good at?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a:xfrm>
            <a:off x="533400" y="838200"/>
            <a:ext cx="8153400" cy="5029200"/>
          </a:xfrm>
        </p:spPr>
        <p:txBody>
          <a:bodyPr/>
          <a:lstStyle/>
          <a:p>
            <a:r>
              <a:rPr lang="en-US"/>
              <a:t>Women- jumping into conclusions too fast? Seek clarification.</a:t>
            </a:r>
          </a:p>
          <a:p>
            <a:r>
              <a:rPr lang="en-US"/>
              <a:t>Men- report talking too much? Try and listen a little and empathise.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endParaRPr lang="en-US"/>
          </a:p>
        </p:txBody>
      </p:sp>
      <p:sp>
        <p:nvSpPr>
          <p:cNvPr id="48131" name="Rectangle 3"/>
          <p:cNvSpPr>
            <a:spLocks noGrp="1" noChangeArrowheads="1"/>
          </p:cNvSpPr>
          <p:nvPr>
            <p:ph type="body" idx="1"/>
          </p:nvPr>
        </p:nvSpPr>
        <p:spPr/>
        <p:txBody>
          <a:bodyPr/>
          <a:lstStyle/>
          <a:p>
            <a:r>
              <a:rPr lang="en-US"/>
              <a:t>Women- confusing body language? Consciously work on body language that clarifies your spoken word.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4. Don’t make assumptions</a:t>
            </a:r>
          </a:p>
        </p:txBody>
      </p:sp>
      <p:sp>
        <p:nvSpPr>
          <p:cNvPr id="49155" name="Rectangle 3"/>
          <p:cNvSpPr>
            <a:spLocks noGrp="1" noChangeArrowheads="1"/>
          </p:cNvSpPr>
          <p:nvPr>
            <p:ph type="body" idx="1"/>
          </p:nvPr>
        </p:nvSpPr>
        <p:spPr/>
        <p:txBody>
          <a:bodyPr/>
          <a:lstStyle/>
          <a:p>
            <a:r>
              <a:rPr lang="en-US"/>
              <a:t>E.g. during group work- the men assume the ladies will definitely want a presentation on Cars or Football. Consult!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endParaRPr lang="en-US"/>
          </a:p>
        </p:txBody>
      </p:sp>
      <p:sp>
        <p:nvSpPr>
          <p:cNvPr id="57347" name="Rectangle 3"/>
          <p:cNvSpPr>
            <a:spLocks noGrp="1" noChangeArrowheads="1"/>
          </p:cNvSpPr>
          <p:nvPr>
            <p:ph type="body" idx="1"/>
          </p:nvPr>
        </p:nvSpPr>
        <p:spPr/>
        <p:txBody>
          <a:bodyPr/>
          <a:lstStyle/>
          <a:p>
            <a:r>
              <a:rPr lang="en-US"/>
              <a:t>Use gender neutral images. Something that both men and women can identify with.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1600200"/>
            <a:ext cx="8153400" cy="2438400"/>
          </a:xfrm>
        </p:spPr>
        <p:txBody>
          <a:bodyPr/>
          <a:lstStyle/>
          <a:p>
            <a:pPr marL="762000" indent="-762000">
              <a:lnSpc>
                <a:spcPct val="125000"/>
              </a:lnSpc>
              <a:buFontTx/>
              <a:buAutoNum type="arabicPeriod" startAt="5"/>
            </a:pPr>
            <a:r>
              <a:rPr lang="en-US" sz="4000"/>
              <a:t>Avoid the temptation to criticise those who communicate differently from you.</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endParaRPr lang="en-US"/>
          </a:p>
        </p:txBody>
      </p:sp>
      <p:sp>
        <p:nvSpPr>
          <p:cNvPr id="51203" name="Rectangle 3"/>
          <p:cNvSpPr>
            <a:spLocks noGrp="1" noChangeArrowheads="1"/>
          </p:cNvSpPr>
          <p:nvPr>
            <p:ph type="body" idx="1"/>
          </p:nvPr>
        </p:nvSpPr>
        <p:spPr/>
        <p:txBody>
          <a:bodyPr/>
          <a:lstStyle/>
          <a:p>
            <a:r>
              <a:rPr lang="en-US"/>
              <a:t>Steps must be taken to improve communication without assigning blame.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533400" y="533400"/>
            <a:ext cx="8153400" cy="5334000"/>
          </a:xfrm>
        </p:spPr>
        <p:txBody>
          <a:bodyPr/>
          <a:lstStyle/>
          <a:p>
            <a:pPr>
              <a:buFont typeface="Wingdings" pitchFamily="2" charset="2"/>
              <a:buNone/>
            </a:pPr>
            <a:r>
              <a:rPr lang="en-US" sz="3200"/>
              <a:t>‘</a:t>
            </a:r>
            <a:r>
              <a:rPr lang="en-US" sz="3200" i="1"/>
              <a:t>The definition of a diverse work force, of course, is an environment where people accept differences rather than deny them. If we pay attention to gender differences, we just might untangle the gender communications knots</a:t>
            </a:r>
            <a:r>
              <a:rPr lang="en-US" sz="3200"/>
              <a:t>.’ Joanna Crotz</a:t>
            </a:r>
          </a:p>
        </p:txBody>
      </p:sp>
    </p:spTree>
  </p:cSld>
  <p:clrMapOvr>
    <a:masterClrMapping/>
  </p:clrMapOvr>
</p:sld>
</file>

<file path=ppt/theme/theme1.xml><?xml version="1.0" encoding="utf-8"?>
<a:theme xmlns:a="http://schemas.openxmlformats.org/drawingml/2006/main" name="Refined">
  <a:themeElements>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fontScheme name="Refined">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clrMap bg1="dk2" tx1="lt1" bg2="dk1" tx2="lt2" accent1="accent1" accent2="accent2" accent3="accent3" accent4="accent4" accent5="accent5" accent6="accent6" hlink="hlink" folHlink="folHlink"/>
    </a:extraClrScheme>
    <a:extraClrScheme>
      <a:clrScheme name="Refined 2">
        <a:dk1>
          <a:srgbClr val="4D4D4D"/>
        </a:dk1>
        <a:lt1>
          <a:srgbClr val="FFFFFF"/>
        </a:lt1>
        <a:dk2>
          <a:srgbClr val="4A1102"/>
        </a:dk2>
        <a:lt2>
          <a:srgbClr val="FFFFFF"/>
        </a:lt2>
        <a:accent1>
          <a:srgbClr val="CC3300"/>
        </a:accent1>
        <a:accent2>
          <a:srgbClr val="666699"/>
        </a:accent2>
        <a:accent3>
          <a:srgbClr val="B1AAAA"/>
        </a:accent3>
        <a:accent4>
          <a:srgbClr val="DADADA"/>
        </a:accent4>
        <a:accent5>
          <a:srgbClr val="E2ADAA"/>
        </a:accent5>
        <a:accent6>
          <a:srgbClr val="5C5C8A"/>
        </a:accent6>
        <a:hlink>
          <a:srgbClr val="FF9900"/>
        </a:hlink>
        <a:folHlink>
          <a:srgbClr val="FFFFFF"/>
        </a:folHlink>
      </a:clrScheme>
      <a:clrMap bg1="dk2" tx1="lt1" bg2="dk1" tx2="lt2" accent1="accent1" accent2="accent2" accent3="accent3" accent4="accent4" accent5="accent5" accent6="accent6" hlink="hlink" folHlink="folHlink"/>
    </a:extraClrScheme>
    <a:extraClrScheme>
      <a:clrScheme name="Refined 3">
        <a:dk1>
          <a:srgbClr val="666699"/>
        </a:dk1>
        <a:lt1>
          <a:srgbClr val="FFFFFF"/>
        </a:lt1>
        <a:dk2>
          <a:srgbClr val="400040"/>
        </a:dk2>
        <a:lt2>
          <a:srgbClr val="FFFFFF"/>
        </a:lt2>
        <a:accent1>
          <a:srgbClr val="FFCC00"/>
        </a:accent1>
        <a:accent2>
          <a:srgbClr val="FF3300"/>
        </a:accent2>
        <a:accent3>
          <a:srgbClr val="AFAAAF"/>
        </a:accent3>
        <a:accent4>
          <a:srgbClr val="DADADA"/>
        </a:accent4>
        <a:accent5>
          <a:srgbClr val="FFE2AA"/>
        </a:accent5>
        <a:accent6>
          <a:srgbClr val="E72D00"/>
        </a:accent6>
        <a:hlink>
          <a:srgbClr val="CC9900"/>
        </a:hlink>
        <a:folHlink>
          <a:srgbClr val="CC3300"/>
        </a:folHlink>
      </a:clrScheme>
      <a:clrMap bg1="dk2" tx1="lt1" bg2="dk1" tx2="lt2" accent1="accent1" accent2="accent2" accent3="accent3" accent4="accent4" accent5="accent5" accent6="accent6" hlink="hlink" folHlink="folHlink"/>
    </a:extraClrScheme>
    <a:extraClrScheme>
      <a:clrScheme name="Refined 4">
        <a:dk1>
          <a:srgbClr val="4D4D4D"/>
        </a:dk1>
        <a:lt1>
          <a:srgbClr val="FFFFFF"/>
        </a:lt1>
        <a:dk2>
          <a:srgbClr val="006699"/>
        </a:dk2>
        <a:lt2>
          <a:srgbClr val="CCECFF"/>
        </a:lt2>
        <a:accent1>
          <a:srgbClr val="339966"/>
        </a:accent1>
        <a:accent2>
          <a:srgbClr val="3366FF"/>
        </a:accent2>
        <a:accent3>
          <a:srgbClr val="AAB8CA"/>
        </a:accent3>
        <a:accent4>
          <a:srgbClr val="DADADA"/>
        </a:accent4>
        <a:accent5>
          <a:srgbClr val="ADCAB8"/>
        </a:accent5>
        <a:accent6>
          <a:srgbClr val="2D5CE7"/>
        </a:accent6>
        <a:hlink>
          <a:srgbClr val="33CCFF"/>
        </a:hlink>
        <a:folHlink>
          <a:srgbClr val="FFFFFF"/>
        </a:folHlink>
      </a:clrScheme>
      <a:clrMap bg1="dk2" tx1="lt1" bg2="dk1" tx2="lt2" accent1="accent1" accent2="accent2" accent3="accent3" accent4="accent4" accent5="accent5" accent6="accent6" hlink="hlink" folHlink="folHlink"/>
    </a:extraClrScheme>
    <a:extraClrScheme>
      <a:clrScheme name="Refined 5">
        <a:dk1>
          <a:srgbClr val="000000"/>
        </a:dk1>
        <a:lt1>
          <a:srgbClr val="FFFFFF"/>
        </a:lt1>
        <a:dk2>
          <a:srgbClr val="CC0000"/>
        </a:dk2>
        <a:lt2>
          <a:srgbClr val="666699"/>
        </a:lt2>
        <a:accent1>
          <a:srgbClr val="FF6600"/>
        </a:accent1>
        <a:accent2>
          <a:srgbClr val="FF9933"/>
        </a:accent2>
        <a:accent3>
          <a:srgbClr val="FFFFFF"/>
        </a:accent3>
        <a:accent4>
          <a:srgbClr val="000000"/>
        </a:accent4>
        <a:accent5>
          <a:srgbClr val="FFB8AA"/>
        </a:accent5>
        <a:accent6>
          <a:srgbClr val="E78A2D"/>
        </a:accent6>
        <a:hlink>
          <a:srgbClr val="FFCC00"/>
        </a:hlink>
        <a:folHlink>
          <a:srgbClr val="333399"/>
        </a:folHlink>
      </a:clrScheme>
      <a:clrMap bg1="lt1" tx1="dk1" bg2="lt2" tx2="dk2" accent1="accent1" accent2="accent2" accent3="accent3" accent4="accent4" accent5="accent5" accent6="accent6" hlink="hlink" folHlink="folHlink"/>
    </a:extraClrScheme>
    <a:extraClrScheme>
      <a:clrScheme name="Refined 6">
        <a:dk1>
          <a:srgbClr val="000000"/>
        </a:dk1>
        <a:lt1>
          <a:srgbClr val="FFFFFF"/>
        </a:lt1>
        <a:dk2>
          <a:srgbClr val="000000"/>
        </a:dk2>
        <a:lt2>
          <a:srgbClr val="C0C0C0"/>
        </a:lt2>
        <a:accent1>
          <a:srgbClr val="CC3300"/>
        </a:accent1>
        <a:accent2>
          <a:srgbClr val="666699"/>
        </a:accent2>
        <a:accent3>
          <a:srgbClr val="FFFFFF"/>
        </a:accent3>
        <a:accent4>
          <a:srgbClr val="000000"/>
        </a:accent4>
        <a:accent5>
          <a:srgbClr val="E2ADAA"/>
        </a:accent5>
        <a:accent6>
          <a:srgbClr val="5C5C8A"/>
        </a:accent6>
        <a:hlink>
          <a:srgbClr val="999900"/>
        </a:hlink>
        <a:folHlink>
          <a:srgbClr val="4D4D4D"/>
        </a:folHlink>
      </a:clrScheme>
      <a:clrMap bg1="lt1" tx1="dk1" bg2="lt2" tx2="dk2" accent1="accent1" accent2="accent2" accent3="accent3" accent4="accent4" accent5="accent5" accent6="accent6" hlink="hlink" folHlink="folHlink"/>
    </a:extraClrScheme>
    <a:extraClrScheme>
      <a:clrScheme name="Refined 7">
        <a:dk1>
          <a:srgbClr val="000000"/>
        </a:dk1>
        <a:lt1>
          <a:srgbClr val="FFFFFF"/>
        </a:lt1>
        <a:dk2>
          <a:srgbClr val="000066"/>
        </a:dk2>
        <a:lt2>
          <a:srgbClr val="333399"/>
        </a:lt2>
        <a:accent1>
          <a:srgbClr val="3399FF"/>
        </a:accent1>
        <a:accent2>
          <a:srgbClr val="9999FF"/>
        </a:accent2>
        <a:accent3>
          <a:srgbClr val="FFFFFF"/>
        </a:accent3>
        <a:accent4>
          <a:srgbClr val="000000"/>
        </a:accent4>
        <a:accent5>
          <a:srgbClr val="ADCAFF"/>
        </a:accent5>
        <a:accent6>
          <a:srgbClr val="8A8AE7"/>
        </a:accent6>
        <a:hlink>
          <a:srgbClr val="00CCFF"/>
        </a:hlink>
        <a:folHlink>
          <a:srgbClr val="5F5F5F"/>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Refined</Template>
  <TotalTime>188</TotalTime>
  <Words>853</Words>
  <Application>Microsoft Office PowerPoint</Application>
  <PresentationFormat>On-screen Show (4:3)</PresentationFormat>
  <Paragraphs>78</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Georgia</vt:lpstr>
      <vt:lpstr>Times New Roman</vt:lpstr>
      <vt:lpstr>Wingdings</vt:lpstr>
      <vt:lpstr>Refined</vt:lpstr>
      <vt:lpstr>Communication and Gender</vt:lpstr>
      <vt:lpstr>Introduction</vt:lpstr>
      <vt:lpstr>PowerPoint Presentation</vt:lpstr>
      <vt:lpstr>PowerPoint Presentation</vt:lpstr>
      <vt:lpstr>Scholarly thoughts</vt:lpstr>
      <vt:lpstr>PowerPoint Presentation</vt:lpstr>
      <vt:lpstr>PowerPoint Presentation</vt:lpstr>
      <vt:lpstr>Deborah Tanen in ‘You Just Don’t Understand’.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Why?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E.g. for men</vt:lpstr>
      <vt:lpstr>Understand the Communication style of the opposite gender.</vt:lpstr>
      <vt:lpstr>PowerPoint Presentation</vt:lpstr>
      <vt:lpstr>e.g.</vt:lpstr>
      <vt:lpstr> Adjust to the conversational styles</vt:lpstr>
      <vt:lpstr>PowerPoint Presentation</vt:lpstr>
      <vt:lpstr>PowerPoint Presentation</vt:lpstr>
      <vt:lpstr>4. Don’t make assumptions</vt:lpstr>
      <vt:lpstr>PowerPoint Presentation</vt:lpstr>
      <vt:lpstr>Avoid the temptation to criticise those who communicate differently from you.</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and Gender</dc:title>
  <dc:creator>bnjeru</dc:creator>
  <cp:lastModifiedBy>user</cp:lastModifiedBy>
  <cp:revision>3</cp:revision>
  <dcterms:created xsi:type="dcterms:W3CDTF">2007-12-03T10:24:04Z</dcterms:created>
  <dcterms:modified xsi:type="dcterms:W3CDTF">2022-02-26T06:09:40Z</dcterms:modified>
</cp:coreProperties>
</file>