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21"/>
  </p:notesMasterIdLst>
  <p:sldIdLst>
    <p:sldId id="256" r:id="rId2"/>
    <p:sldId id="275" r:id="rId3"/>
    <p:sldId id="269" r:id="rId4"/>
    <p:sldId id="273" r:id="rId5"/>
    <p:sldId id="274" r:id="rId6"/>
    <p:sldId id="258" r:id="rId7"/>
    <p:sldId id="259" r:id="rId8"/>
    <p:sldId id="260" r:id="rId9"/>
    <p:sldId id="261" r:id="rId10"/>
    <p:sldId id="262" r:id="rId11"/>
    <p:sldId id="263" r:id="rId12"/>
    <p:sldId id="264" r:id="rId13"/>
    <p:sldId id="265" r:id="rId14"/>
    <p:sldId id="266" r:id="rId15"/>
    <p:sldId id="270" r:id="rId16"/>
    <p:sldId id="267" r:id="rId17"/>
    <p:sldId id="271" r:id="rId18"/>
    <p:sldId id="268" r:id="rId19"/>
    <p:sldId id="272"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05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948D0D-5F9D-499C-97A0-61414F8F65D1}" type="datetimeFigureOut">
              <a:rPr lang="en-US" smtClean="0"/>
              <a:pPr/>
              <a:t>1/11/2021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B0222F-AB44-45CE-A306-A68AC38634BE}" type="slidenum">
              <a:rPr lang="en-US" smtClean="0"/>
              <a:pPr/>
              <a:t>‹#›</a:t>
            </a:fld>
            <a:endParaRPr lang="en-US"/>
          </a:p>
        </p:txBody>
      </p:sp>
    </p:spTree>
    <p:extLst>
      <p:ext uri="{BB962C8B-B14F-4D97-AF65-F5344CB8AC3E}">
        <p14:creationId xmlns:p14="http://schemas.microsoft.com/office/powerpoint/2010/main" val="68709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EB2C5A-86A0-4FE6-83E2-CF72E3F38FD0}" type="slidenum">
              <a:rPr lang="en-US"/>
              <a:pPr/>
              <a:t>11</a:t>
            </a:fld>
            <a:endParaRPr lang="en-US"/>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67272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693848-9065-4C12-AE78-0BDB23EB1827}" type="slidenum">
              <a:rPr lang="en-US"/>
              <a:pPr/>
              <a:t>12</a:t>
            </a:fld>
            <a:endParaRPr 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40593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9F6661-9567-4403-8318-FF11741727C7}" type="slidenum">
              <a:rPr lang="en-US"/>
              <a:pPr/>
              <a:t>13</a:t>
            </a:fld>
            <a:endParaRPr lang="en-US"/>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37854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E49A93-5377-49DE-9F25-C378DB016B61}" type="slidenum">
              <a:rPr lang="en-US"/>
              <a:pPr/>
              <a:t>14</a:t>
            </a:fld>
            <a:endParaRPr lang="en-US"/>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80113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96EA1B-6AB4-4072-A586-55416FDA560D}" type="slidenum">
              <a:rPr lang="en-US"/>
              <a:pPr/>
              <a:t>16</a:t>
            </a:fld>
            <a:endParaRPr lang="en-US"/>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94026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5F743E-8253-4D93-A6C3-0DE3FE90497A}" type="slidenum">
              <a:rPr lang="en-US"/>
              <a:pPr/>
              <a:t>18</a:t>
            </a:fld>
            <a:endParaRPr lang="en-US"/>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3286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447800"/>
            <a:ext cx="7772400" cy="3432175"/>
          </a:xfrm>
        </p:spPr>
        <p:txBody>
          <a:bodyPr>
            <a:noAutofit/>
          </a:bodyPr>
          <a:lstStyle/>
          <a:p>
            <a:r>
              <a:rPr lang="en-US" sz="6000" b="1" u="sng" dirty="0" smtClean="0">
                <a:solidFill>
                  <a:srgbClr val="FF0000"/>
                </a:solidFill>
              </a:rPr>
              <a:t>Critical reading:</a:t>
            </a:r>
            <a:r>
              <a:rPr lang="en-US" sz="6000" dirty="0" smtClean="0">
                <a:solidFill>
                  <a:srgbClr val="FF0000"/>
                </a:solidFill>
              </a:rPr>
              <a:t/>
            </a:r>
            <a:br>
              <a:rPr lang="en-US" sz="6000" dirty="0" smtClean="0">
                <a:solidFill>
                  <a:srgbClr val="FF0000"/>
                </a:solidFill>
              </a:rPr>
            </a:br>
            <a:r>
              <a:rPr lang="en-US" sz="6000" dirty="0" smtClean="0">
                <a:solidFill>
                  <a:srgbClr val="FF0000"/>
                </a:solidFill>
              </a:rPr>
              <a:t/>
            </a:r>
            <a:br>
              <a:rPr lang="en-US" sz="6000" dirty="0" smtClean="0">
                <a:solidFill>
                  <a:srgbClr val="FF0000"/>
                </a:solidFill>
              </a:rPr>
            </a:br>
            <a:r>
              <a:rPr lang="en-US" sz="6000" dirty="0" smtClean="0"/>
              <a:t>Reading techniques</a:t>
            </a:r>
            <a:endParaRPr lang="en-US" sz="6000" dirty="0"/>
          </a:p>
        </p:txBody>
      </p:sp>
    </p:spTree>
  </p:cSld>
  <p:clrMapOvr>
    <a:masterClrMapping/>
  </p:clrMapOvr>
  <p:transition>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There are different techniques of reading. The one you use depends on the purpose for reading: enjoyment, information or to complete a task.</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524001"/>
            <a:ext cx="7924800" cy="2076450"/>
          </a:xfrm>
        </p:spPr>
        <p:txBody>
          <a:bodyPr>
            <a:normAutofit fontScale="90000"/>
          </a:bodyPr>
          <a:lstStyle/>
          <a:p>
            <a:r>
              <a:rPr lang="en-US" smtClean="0"/>
              <a:t>“Some </a:t>
            </a:r>
            <a:r>
              <a:rPr lang="en-US" dirty="0" smtClean="0"/>
              <a:t>books are to be tasted, others to be swallowed and some few to be chewed </a:t>
            </a:r>
            <a:r>
              <a:rPr lang="en-US" smtClean="0"/>
              <a:t>and digested”</a:t>
            </a:r>
            <a:endParaRPr lang="en-US" dirty="0"/>
          </a:p>
        </p:txBody>
      </p:sp>
      <p:sp>
        <p:nvSpPr>
          <p:cNvPr id="3" name="Subtitle 2"/>
          <p:cNvSpPr>
            <a:spLocks noGrp="1"/>
          </p:cNvSpPr>
          <p:nvPr>
            <p:ph type="subTitle" idx="1"/>
          </p:nvPr>
        </p:nvSpPr>
        <p:spPr/>
        <p:txBody>
          <a:bodyPr>
            <a:normAutofit/>
          </a:bodyPr>
          <a:lstStyle/>
          <a:p>
            <a:endParaRPr lang="en-US" sz="2000" i="1" dirty="0" smtClean="0"/>
          </a:p>
          <a:p>
            <a:endParaRPr lang="en-US" sz="2000" i="1" dirty="0" smtClean="0"/>
          </a:p>
          <a:p>
            <a:r>
              <a:rPr lang="en-US" sz="2000" i="1" dirty="0" smtClean="0"/>
              <a:t>Francis Bacon (1561-1626)</a:t>
            </a:r>
            <a:endParaRPr lang="en-US" sz="2000" i="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Skimming</a:t>
            </a:r>
            <a:endParaRPr lang="en-US" dirty="0"/>
          </a:p>
        </p:txBody>
      </p:sp>
      <p:sp>
        <p:nvSpPr>
          <p:cNvPr id="3" name="Content Placeholder 2"/>
          <p:cNvSpPr>
            <a:spLocks noGrp="1"/>
          </p:cNvSpPr>
          <p:nvPr>
            <p:ph idx="1"/>
          </p:nvPr>
        </p:nvSpPr>
        <p:spPr/>
        <p:txBody>
          <a:bodyPr/>
          <a:lstStyle/>
          <a:p>
            <a:r>
              <a:rPr lang="en-US" dirty="0" smtClean="0"/>
              <a:t>Skimming: getting the main ideas in a text , e.g. a newspaper. </a:t>
            </a:r>
          </a:p>
          <a:p>
            <a:r>
              <a:rPr lang="en-US" dirty="0" smtClean="0"/>
              <a:t>Done when you have a lot of material to read and limited time.</a:t>
            </a:r>
          </a:p>
          <a:p>
            <a:r>
              <a:rPr lang="en-US" dirty="0" smtClean="0"/>
              <a:t>Used when looking for specific information rather than for comprehension</a:t>
            </a:r>
          </a:p>
          <a:p>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Scanning</a:t>
            </a:r>
            <a:endParaRPr lang="en-US" dirty="0"/>
          </a:p>
        </p:txBody>
      </p:sp>
      <p:sp>
        <p:nvSpPr>
          <p:cNvPr id="3" name="Content Placeholder 2"/>
          <p:cNvSpPr>
            <a:spLocks noGrp="1"/>
          </p:cNvSpPr>
          <p:nvPr>
            <p:ph idx="1"/>
          </p:nvPr>
        </p:nvSpPr>
        <p:spPr/>
        <p:txBody>
          <a:bodyPr/>
          <a:lstStyle/>
          <a:p>
            <a:r>
              <a:rPr lang="en-US" dirty="0" smtClean="0"/>
              <a:t>Its looking up for a particular word/ideas</a:t>
            </a:r>
          </a:p>
          <a:p>
            <a:r>
              <a:rPr lang="en-US" dirty="0" smtClean="0"/>
              <a:t>In scanning, you have an idea in mind and you just read through to find </a:t>
            </a:r>
            <a:r>
              <a:rPr lang="en-US" smtClean="0"/>
              <a:t>the answer</a:t>
            </a:r>
            <a:endParaRPr 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0"/>
            <a:ext cx="8229600" cy="1143000"/>
          </a:xfrm>
        </p:spPr>
        <p:txBody>
          <a:bodyPr/>
          <a:lstStyle/>
          <a:p>
            <a:r>
              <a:rPr lang="en-US" b="1" dirty="0" smtClean="0"/>
              <a:t>1. Before you read</a:t>
            </a:r>
            <a:endParaRPr lang="en-US" dirty="0"/>
          </a:p>
        </p:txBody>
      </p:sp>
      <p:sp>
        <p:nvSpPr>
          <p:cNvPr id="3" name="Content Placeholder 2"/>
          <p:cNvSpPr>
            <a:spLocks noGrp="1"/>
          </p:cNvSpPr>
          <p:nvPr>
            <p:ph idx="1"/>
          </p:nvPr>
        </p:nvSpPr>
        <p:spPr/>
        <p:txBody>
          <a:bodyPr/>
          <a:lstStyle/>
          <a:p>
            <a:pPr lvl="0">
              <a:buNone/>
            </a:pPr>
            <a:r>
              <a:rPr lang="en-US" dirty="0" smtClean="0"/>
              <a:t>   </a:t>
            </a:r>
          </a:p>
          <a:p>
            <a:pPr lvl="0">
              <a:buNone/>
            </a:pPr>
            <a:r>
              <a:rPr lang="en-US" dirty="0" smtClean="0"/>
              <a:t>Scan the piece to get an idea of what it is about and what the main argument is. This may include reading an introduction if there is one, or the subheadings, the title, the author e.t.c.</a:t>
            </a:r>
          </a:p>
          <a:p>
            <a:pPr lvl="0">
              <a:buNone/>
            </a:pPr>
            <a:endParaRPr lang="en-US" dirty="0" smtClean="0"/>
          </a:p>
          <a:p>
            <a:pPr lvl="0">
              <a:buNone/>
            </a:pPr>
            <a:endParaRPr lang="en-US" dirty="0" smtClean="0"/>
          </a:p>
          <a:p>
            <a:endParaRPr lang="en-US" dirty="0"/>
          </a:p>
        </p:txBody>
      </p:sp>
    </p:spTree>
  </p:cSld>
  <p:clrMapOvr>
    <a:masterClrMapping/>
  </p:clrMapOvr>
  <p:transition>
    <p:cut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Skimming </a:t>
            </a:r>
            <a:endParaRPr lang="en-US" dirty="0"/>
          </a:p>
        </p:txBody>
      </p:sp>
      <p:sp>
        <p:nvSpPr>
          <p:cNvPr id="3" name="Content Placeholder 2"/>
          <p:cNvSpPr>
            <a:spLocks noGrp="1"/>
          </p:cNvSpPr>
          <p:nvPr>
            <p:ph idx="1"/>
          </p:nvPr>
        </p:nvSpPr>
        <p:spPr/>
        <p:txBody>
          <a:bodyPr/>
          <a:lstStyle/>
          <a:p>
            <a:pPr lvl="0"/>
            <a:r>
              <a:rPr lang="en-US" dirty="0" smtClean="0"/>
              <a:t>that means reading very fast to find only the main ideas of a text</a:t>
            </a:r>
          </a:p>
          <a:p>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895600" y="3124200"/>
            <a:ext cx="9906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b="1" dirty="0" smtClean="0"/>
              <a:t>3. While you read</a:t>
            </a:r>
            <a:endParaRPr lang="en-US" dirty="0"/>
          </a:p>
        </p:txBody>
      </p:sp>
      <p:sp>
        <p:nvSpPr>
          <p:cNvPr id="3" name="Content Placeholder 2"/>
          <p:cNvSpPr>
            <a:spLocks noGrp="1"/>
          </p:cNvSpPr>
          <p:nvPr>
            <p:ph idx="1"/>
          </p:nvPr>
        </p:nvSpPr>
        <p:spPr/>
        <p:txBody>
          <a:bodyPr/>
          <a:lstStyle/>
          <a:p>
            <a:pPr lvl="0"/>
            <a:r>
              <a:rPr lang="en-US" dirty="0" smtClean="0"/>
              <a:t>Keep a running dialogue with the author through </a:t>
            </a:r>
            <a:r>
              <a:rPr lang="en-US" i="1" dirty="0" smtClean="0"/>
              <a:t>annotation </a:t>
            </a:r>
            <a:r>
              <a:rPr lang="en-US" dirty="0" smtClean="0"/>
              <a:t>by recording your thoughts, ideas, and questions. </a:t>
            </a:r>
            <a:r>
              <a:rPr lang="en-US" u="sng" dirty="0" smtClean="0"/>
              <a:t>Underline</a:t>
            </a:r>
            <a:r>
              <a:rPr lang="en-US" dirty="0" smtClean="0"/>
              <a:t>, </a:t>
            </a:r>
            <a:r>
              <a:rPr lang="en-US" dirty="0" smtClean="0">
                <a:solidFill>
                  <a:srgbClr val="FFFF00"/>
                </a:solidFill>
              </a:rPr>
              <a:t>highlight</a:t>
            </a:r>
            <a:r>
              <a:rPr lang="en-US" dirty="0" smtClean="0"/>
              <a:t>, or circle important parts and points, and write comments in the margins.</a:t>
            </a:r>
          </a:p>
          <a:p>
            <a:endParaRPr lang="en-US" dirty="0"/>
          </a:p>
        </p:txBody>
      </p:sp>
    </p:spTree>
  </p:cSld>
  <p:clrMapOvr>
    <a:masterClrMapping/>
  </p:clrMapOvr>
  <p:transition>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 After you have read</a:t>
            </a:r>
            <a:endParaRPr lang="en-US" dirty="0"/>
          </a:p>
        </p:txBody>
      </p:sp>
      <p:sp>
        <p:nvSpPr>
          <p:cNvPr id="3" name="Content Placeholder 2"/>
          <p:cNvSpPr>
            <a:spLocks noGrp="1"/>
          </p:cNvSpPr>
          <p:nvPr>
            <p:ph idx="1"/>
          </p:nvPr>
        </p:nvSpPr>
        <p:spPr/>
        <p:txBody>
          <a:bodyPr/>
          <a:lstStyle/>
          <a:p>
            <a:pPr lvl="0"/>
            <a:r>
              <a:rPr lang="en-US" dirty="0" smtClean="0"/>
              <a:t>Look over your annotations to get an overall idea of the text. You may also choose to write a summary to solidify your understanding.</a:t>
            </a:r>
          </a:p>
          <a:p>
            <a:endParaRPr lang="en-US" dirty="0"/>
          </a:p>
        </p:txBody>
      </p:sp>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Responding to the text</a:t>
            </a:r>
            <a:endParaRPr lang="en-US" dirty="0"/>
          </a:p>
        </p:txBody>
      </p:sp>
      <p:sp>
        <p:nvSpPr>
          <p:cNvPr id="3" name="Content Placeholder 2"/>
          <p:cNvSpPr>
            <a:spLocks noGrp="1"/>
          </p:cNvSpPr>
          <p:nvPr>
            <p:ph idx="1"/>
          </p:nvPr>
        </p:nvSpPr>
        <p:spPr/>
        <p:txBody>
          <a:bodyPr/>
          <a:lstStyle/>
          <a:p>
            <a:pPr lvl="0">
              <a:buNone/>
            </a:pPr>
            <a:r>
              <a:rPr lang="en-US" b="1" dirty="0" smtClean="0"/>
              <a:t/>
            </a:r>
            <a:br>
              <a:rPr lang="en-US" b="1" dirty="0" smtClean="0"/>
            </a:br>
            <a:r>
              <a:rPr lang="en-US" dirty="0" smtClean="0"/>
              <a:t>After you have developed a clear sense of the author’s argument and line of reasoning, you are able to analyze the author’s argument and methods. Then, you can develop your own ideas—perhaps into an essay of your own. </a:t>
            </a:r>
          </a:p>
          <a:p>
            <a:endParaRPr lang="en-US" dirty="0"/>
          </a:p>
        </p:txBody>
      </p:sp>
    </p:spTree>
  </p:cSld>
  <p:clrMapOvr>
    <a:masterClrMapping/>
  </p:clrMapOvr>
  <p:transition>
    <p:wipe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t>READING TECHNIQUE</a:t>
            </a:r>
          </a:p>
        </p:txBody>
      </p:sp>
      <p:sp>
        <p:nvSpPr>
          <p:cNvPr id="2051" name="Rectangle 3"/>
          <p:cNvSpPr>
            <a:spLocks noGrp="1" noChangeArrowheads="1"/>
          </p:cNvSpPr>
          <p:nvPr>
            <p:ph type="subTitle" idx="1"/>
          </p:nvPr>
        </p:nvSpPr>
        <p:spPr/>
        <p:txBody>
          <a:bodyPr/>
          <a:lstStyle/>
          <a:p>
            <a:r>
              <a:rPr lang="en-US" dirty="0"/>
              <a:t>SQ3R APPROACH</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Effect transition="in" filter="wipe(down)">
                                      <p:cBhvr>
                                        <p:cTn id="7" dur="500"/>
                                        <p:tgtEl>
                                          <p:spTgt spid="20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b="1" u="sng"/>
              <a:t>S</a:t>
            </a:r>
            <a:r>
              <a:rPr lang="en-US" b="1"/>
              <a:t>urvey</a:t>
            </a:r>
            <a:r>
              <a:rPr lang="en-US"/>
              <a:t> </a:t>
            </a:r>
          </a:p>
        </p:txBody>
      </p:sp>
      <p:sp>
        <p:nvSpPr>
          <p:cNvPr id="3075" name="Rectangle 3"/>
          <p:cNvSpPr>
            <a:spLocks noGrp="1" noChangeArrowheads="1"/>
          </p:cNvSpPr>
          <p:nvPr>
            <p:ph idx="1"/>
          </p:nvPr>
        </p:nvSpPr>
        <p:spPr/>
        <p:txBody>
          <a:bodyPr/>
          <a:lstStyle/>
          <a:p>
            <a:r>
              <a:rPr lang="en-US" dirty="0"/>
              <a:t>the title, headings, and subheadings </a:t>
            </a:r>
          </a:p>
          <a:p>
            <a:r>
              <a:rPr lang="en-US" dirty="0"/>
              <a:t>captions under pictures, charts, graphs or maps </a:t>
            </a:r>
          </a:p>
          <a:p>
            <a:r>
              <a:rPr lang="en-US" dirty="0"/>
              <a:t>review questions or teacher-made study guides </a:t>
            </a:r>
          </a:p>
          <a:p>
            <a:r>
              <a:rPr lang="en-US" dirty="0"/>
              <a:t>introductory and concluding paragraphs </a:t>
            </a:r>
          </a:p>
          <a:p>
            <a:r>
              <a:rPr lang="en-US" dirty="0"/>
              <a:t>summary </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5">
                                            <p:txEl>
                                              <p:pRg st="4" end="4"/>
                                            </p:txEl>
                                          </p:spTgt>
                                        </p:tgtEl>
                                        <p:attrNameLst>
                                          <p:attrName>style.visibility</p:attrName>
                                        </p:attrNameLst>
                                      </p:cBhvr>
                                      <p:to>
                                        <p:strVal val="visible"/>
                                      </p:to>
                                    </p:set>
                                    <p:anim calcmode="lin" valueType="num">
                                      <p:cBhvr additive="base">
                                        <p:cTn id="31"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b="1" u="sng"/>
              <a:t>Q</a:t>
            </a:r>
            <a:r>
              <a:rPr lang="en-US" b="1"/>
              <a:t>uestion</a:t>
            </a:r>
            <a:r>
              <a:rPr lang="en-US"/>
              <a:t> </a:t>
            </a:r>
          </a:p>
        </p:txBody>
      </p:sp>
      <p:sp>
        <p:nvSpPr>
          <p:cNvPr id="4099" name="Rectangle 3"/>
          <p:cNvSpPr>
            <a:spLocks noGrp="1" noChangeArrowheads="1"/>
          </p:cNvSpPr>
          <p:nvPr>
            <p:ph idx="1"/>
          </p:nvPr>
        </p:nvSpPr>
        <p:spPr>
          <a:xfrm>
            <a:off x="457200" y="1295400"/>
            <a:ext cx="8229600" cy="5181600"/>
          </a:xfrm>
        </p:spPr>
        <p:txBody>
          <a:bodyPr>
            <a:normAutofit/>
          </a:bodyPr>
          <a:lstStyle/>
          <a:p>
            <a:pPr>
              <a:lnSpc>
                <a:spcPct val="80000"/>
              </a:lnSpc>
            </a:pPr>
            <a:endParaRPr lang="en-US" dirty="0" smtClean="0"/>
          </a:p>
          <a:p>
            <a:pPr>
              <a:lnSpc>
                <a:spcPct val="80000"/>
              </a:lnSpc>
            </a:pPr>
            <a:endParaRPr lang="en-US" dirty="0" smtClean="0"/>
          </a:p>
          <a:p>
            <a:pPr>
              <a:lnSpc>
                <a:spcPct val="80000"/>
              </a:lnSpc>
            </a:pPr>
            <a:r>
              <a:rPr lang="en-US" dirty="0" smtClean="0"/>
              <a:t>Turn </a:t>
            </a:r>
            <a:r>
              <a:rPr lang="en-US" dirty="0"/>
              <a:t>the title, headings, and/or subheadings into questions; </a:t>
            </a:r>
          </a:p>
          <a:p>
            <a:pPr>
              <a:lnSpc>
                <a:spcPct val="80000"/>
              </a:lnSpc>
            </a:pPr>
            <a:r>
              <a:rPr lang="en-US" dirty="0"/>
              <a:t>Read questions at the end of the chapters or after each subheading; </a:t>
            </a:r>
          </a:p>
          <a:p>
            <a:pPr>
              <a:lnSpc>
                <a:spcPct val="80000"/>
              </a:lnSpc>
            </a:pPr>
            <a:r>
              <a:rPr lang="en-US" dirty="0"/>
              <a:t>Ask yourself, "What did my instructor say about this chapter or subject when it was assigned?" </a:t>
            </a:r>
          </a:p>
          <a:p>
            <a:pPr>
              <a:lnSpc>
                <a:spcPct val="80000"/>
              </a:lnSpc>
            </a:pPr>
            <a:r>
              <a:rPr lang="en-US" dirty="0"/>
              <a:t>Ask yourself, "What do I already know about this subject</a:t>
            </a:r>
            <a:r>
              <a:rPr lang="en-US" dirty="0" smtClean="0"/>
              <a:t>?“ </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9">
                                            <p:txEl>
                                              <p:pRg st="2" end="2"/>
                                            </p:txEl>
                                          </p:spTgt>
                                        </p:tgtEl>
                                        <p:attrNameLst>
                                          <p:attrName>style.visibility</p:attrName>
                                        </p:attrNameLst>
                                      </p:cBhvr>
                                      <p:to>
                                        <p:strVal val="visible"/>
                                      </p:to>
                                    </p:set>
                                    <p:animEffect transition="in" filter="wipe(down)">
                                      <p:cBhvr>
                                        <p:cTn id="7" dur="500"/>
                                        <p:tgtEl>
                                          <p:spTgt spid="409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099">
                                            <p:txEl>
                                              <p:pRg st="3" end="3"/>
                                            </p:txEl>
                                          </p:spTgt>
                                        </p:tgtEl>
                                        <p:attrNameLst>
                                          <p:attrName>style.visibility</p:attrName>
                                        </p:attrNameLst>
                                      </p:cBhvr>
                                      <p:to>
                                        <p:strVal val="visible"/>
                                      </p:to>
                                    </p:set>
                                    <p:animEffect transition="in" filter="wipe(down)">
                                      <p:cBhvr>
                                        <p:cTn id="12" dur="500"/>
                                        <p:tgtEl>
                                          <p:spTgt spid="409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099">
                                            <p:txEl>
                                              <p:pRg st="4" end="4"/>
                                            </p:txEl>
                                          </p:spTgt>
                                        </p:tgtEl>
                                        <p:attrNameLst>
                                          <p:attrName>style.visibility</p:attrName>
                                        </p:attrNameLst>
                                      </p:cBhvr>
                                      <p:to>
                                        <p:strVal val="visible"/>
                                      </p:to>
                                    </p:set>
                                    <p:animEffect transition="in" filter="wipe(down)">
                                      <p:cBhvr>
                                        <p:cTn id="17" dur="500"/>
                                        <p:tgtEl>
                                          <p:spTgt spid="409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099">
                                            <p:txEl>
                                              <p:pRg st="5" end="5"/>
                                            </p:txEl>
                                          </p:spTgt>
                                        </p:tgtEl>
                                        <p:attrNameLst>
                                          <p:attrName>style.visibility</p:attrName>
                                        </p:attrNameLst>
                                      </p:cBhvr>
                                      <p:to>
                                        <p:strVal val="visible"/>
                                      </p:to>
                                    </p:set>
                                    <p:animEffect transition="in" filter="wipe(down)">
                                      <p:cBhvr>
                                        <p:cTn id="22"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u="sng"/>
              <a:t>R</a:t>
            </a:r>
            <a:r>
              <a:rPr lang="en-US"/>
              <a:t>ead: </a:t>
            </a:r>
          </a:p>
        </p:txBody>
      </p:sp>
      <p:sp>
        <p:nvSpPr>
          <p:cNvPr id="5123" name="Rectangle 3"/>
          <p:cNvSpPr>
            <a:spLocks noGrp="1" noChangeArrowheads="1"/>
          </p:cNvSpPr>
          <p:nvPr>
            <p:ph idx="1"/>
          </p:nvPr>
        </p:nvSpPr>
        <p:spPr>
          <a:xfrm>
            <a:off x="457200" y="1295400"/>
            <a:ext cx="8229600" cy="5181600"/>
          </a:xfrm>
        </p:spPr>
        <p:txBody>
          <a:bodyPr>
            <a:normAutofit/>
          </a:bodyPr>
          <a:lstStyle/>
          <a:p>
            <a:pPr>
              <a:lnSpc>
                <a:spcPct val="90000"/>
              </a:lnSpc>
            </a:pPr>
            <a:endParaRPr lang="en-US" dirty="0" smtClean="0"/>
          </a:p>
          <a:p>
            <a:pPr>
              <a:lnSpc>
                <a:spcPct val="90000"/>
              </a:lnSpc>
            </a:pPr>
            <a:endParaRPr lang="en-US" dirty="0" smtClean="0"/>
          </a:p>
          <a:p>
            <a:pPr>
              <a:lnSpc>
                <a:spcPct val="90000"/>
              </a:lnSpc>
            </a:pPr>
            <a:r>
              <a:rPr lang="en-US" dirty="0" smtClean="0"/>
              <a:t>Look </a:t>
            </a:r>
            <a:r>
              <a:rPr lang="en-US" dirty="0"/>
              <a:t>for answers to the questions you first raised; </a:t>
            </a:r>
          </a:p>
          <a:p>
            <a:pPr>
              <a:lnSpc>
                <a:spcPct val="90000"/>
              </a:lnSpc>
            </a:pPr>
            <a:r>
              <a:rPr lang="en-US" dirty="0"/>
              <a:t>Answer questions at the beginning or end of chapters or study guides </a:t>
            </a:r>
          </a:p>
          <a:p>
            <a:pPr>
              <a:lnSpc>
                <a:spcPct val="90000"/>
              </a:lnSpc>
            </a:pPr>
            <a:r>
              <a:rPr lang="en-US" dirty="0"/>
              <a:t>Reread captions under pictures, graphs, etc. </a:t>
            </a:r>
          </a:p>
          <a:p>
            <a:pPr>
              <a:lnSpc>
                <a:spcPct val="90000"/>
              </a:lnSpc>
            </a:pPr>
            <a:r>
              <a:rPr lang="en-US" dirty="0"/>
              <a:t>Note all the underlined, italicized, bold printed words or phrases </a:t>
            </a:r>
          </a:p>
          <a:p>
            <a:pPr>
              <a:lnSpc>
                <a:spcPct val="90000"/>
              </a:lnSpc>
            </a:pPr>
            <a:endParaRPr lang="en-US" sz="2800" dirty="0"/>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animEffect transition="in" filter="fade">
                                      <p:cBhvr>
                                        <p:cTn id="7" dur="2000"/>
                                        <p:tgtEl>
                                          <p:spTgt spid="512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3">
                                            <p:txEl>
                                              <p:pRg st="3" end="3"/>
                                            </p:txEl>
                                          </p:spTgt>
                                        </p:tgtEl>
                                        <p:attrNameLst>
                                          <p:attrName>style.visibility</p:attrName>
                                        </p:attrNameLst>
                                      </p:cBhvr>
                                      <p:to>
                                        <p:strVal val="visible"/>
                                      </p:to>
                                    </p:set>
                                    <p:animEffect transition="in" filter="fade">
                                      <p:cBhvr>
                                        <p:cTn id="12" dur="2000"/>
                                        <p:tgtEl>
                                          <p:spTgt spid="512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animEffect transition="in" filter="fade">
                                      <p:cBhvr>
                                        <p:cTn id="17" dur="2000"/>
                                        <p:tgtEl>
                                          <p:spTgt spid="51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23">
                                            <p:txEl>
                                              <p:pRg st="5" end="5"/>
                                            </p:txEl>
                                          </p:spTgt>
                                        </p:tgtEl>
                                        <p:attrNameLst>
                                          <p:attrName>style.visibility</p:attrName>
                                        </p:attrNameLst>
                                      </p:cBhvr>
                                      <p:to>
                                        <p:strVal val="visible"/>
                                      </p:to>
                                    </p:set>
                                    <p:animEffect transition="in" filter="fade">
                                      <p:cBhvr>
                                        <p:cTn id="22" dur="20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          cont’d</a:t>
            </a:r>
            <a:endParaRPr lang="en-US" dirty="0"/>
          </a:p>
        </p:txBody>
      </p:sp>
      <p:sp>
        <p:nvSpPr>
          <p:cNvPr id="3" name="Content Placeholder 2"/>
          <p:cNvSpPr>
            <a:spLocks noGrp="1"/>
          </p:cNvSpPr>
          <p:nvPr>
            <p:ph idx="1"/>
          </p:nvPr>
        </p:nvSpPr>
        <p:spPr/>
        <p:txBody>
          <a:bodyPr/>
          <a:lstStyle/>
          <a:p>
            <a:pPr>
              <a:lnSpc>
                <a:spcPct val="90000"/>
              </a:lnSpc>
            </a:pPr>
            <a:r>
              <a:rPr lang="en-US" dirty="0" smtClean="0"/>
              <a:t>Study graphic aids </a:t>
            </a:r>
          </a:p>
          <a:p>
            <a:pPr>
              <a:lnSpc>
                <a:spcPct val="90000"/>
              </a:lnSpc>
            </a:pPr>
            <a:r>
              <a:rPr lang="en-US" dirty="0" smtClean="0"/>
              <a:t>Reduce your speed for difficult passages </a:t>
            </a:r>
          </a:p>
          <a:p>
            <a:pPr>
              <a:lnSpc>
                <a:spcPct val="90000"/>
              </a:lnSpc>
            </a:pPr>
            <a:r>
              <a:rPr lang="en-US" dirty="0" smtClean="0"/>
              <a:t>Stop and reread parts which are not clear </a:t>
            </a:r>
          </a:p>
          <a:p>
            <a:pPr>
              <a:lnSpc>
                <a:spcPct val="90000"/>
              </a:lnSpc>
            </a:pPr>
            <a:r>
              <a:rPr lang="en-US" dirty="0" smtClean="0"/>
              <a:t>Read only a section at a time and recite after each section </a:t>
            </a:r>
          </a:p>
          <a:p>
            <a:endParaRPr lang="en-US"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b="1" u="sng" dirty="0" smtClean="0"/>
              <a:t>R</a:t>
            </a:r>
            <a:r>
              <a:rPr lang="en-US" b="1" dirty="0" smtClean="0"/>
              <a:t>ecite/Recall</a:t>
            </a:r>
            <a:r>
              <a:rPr lang="en-US" dirty="0" smtClean="0"/>
              <a:t> </a:t>
            </a:r>
            <a:endParaRPr lang="en-US" dirty="0"/>
          </a:p>
        </p:txBody>
      </p:sp>
      <p:sp>
        <p:nvSpPr>
          <p:cNvPr id="6147" name="Rectangle 3"/>
          <p:cNvSpPr>
            <a:spLocks noGrp="1" noChangeArrowheads="1"/>
          </p:cNvSpPr>
          <p:nvPr>
            <p:ph idx="1"/>
          </p:nvPr>
        </p:nvSpPr>
        <p:spPr/>
        <p:txBody>
          <a:bodyPr>
            <a:normAutofit/>
          </a:bodyPr>
          <a:lstStyle/>
          <a:p>
            <a:pPr>
              <a:lnSpc>
                <a:spcPct val="80000"/>
              </a:lnSpc>
            </a:pPr>
            <a:r>
              <a:rPr lang="en-US" sz="3600" dirty="0"/>
              <a:t>Orally ask yourself questions about what you have just read </a:t>
            </a:r>
            <a:r>
              <a:rPr lang="en-US" sz="3600" dirty="0" smtClean="0"/>
              <a:t>or </a:t>
            </a:r>
            <a:r>
              <a:rPr lang="en-US" sz="3600" dirty="0"/>
              <a:t>summarize, in your own words, what you read </a:t>
            </a:r>
          </a:p>
          <a:p>
            <a:pPr>
              <a:lnSpc>
                <a:spcPct val="80000"/>
              </a:lnSpc>
            </a:pPr>
            <a:r>
              <a:rPr lang="en-US" sz="3600" dirty="0"/>
              <a:t>Take notes from the text but write the information in your own words </a:t>
            </a:r>
          </a:p>
          <a:p>
            <a:pPr>
              <a:lnSpc>
                <a:spcPct val="80000"/>
              </a:lnSpc>
            </a:pPr>
            <a:r>
              <a:rPr lang="en-US" sz="3600" dirty="0"/>
              <a:t>Underline or highlight important points you've just read </a:t>
            </a:r>
          </a:p>
          <a:p>
            <a:pPr>
              <a:lnSpc>
                <a:spcPct val="80000"/>
              </a:lnSpc>
            </a:pPr>
            <a:endParaRPr lang="en-US" sz="2400" dirty="0"/>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Recite/Recall           </a:t>
            </a:r>
            <a:r>
              <a:rPr lang="en-US" dirty="0" smtClean="0"/>
              <a:t>cont’d</a:t>
            </a:r>
            <a:endParaRPr lang="en-US" dirty="0"/>
          </a:p>
        </p:txBody>
      </p:sp>
      <p:sp>
        <p:nvSpPr>
          <p:cNvPr id="3" name="Content Placeholder 2"/>
          <p:cNvSpPr>
            <a:spLocks noGrp="1"/>
          </p:cNvSpPr>
          <p:nvPr>
            <p:ph idx="1"/>
          </p:nvPr>
        </p:nvSpPr>
        <p:spPr/>
        <p:txBody>
          <a:bodyPr/>
          <a:lstStyle/>
          <a:p>
            <a:pPr>
              <a:lnSpc>
                <a:spcPct val="80000"/>
              </a:lnSpc>
            </a:pPr>
            <a:r>
              <a:rPr lang="en-US" dirty="0" smtClean="0"/>
              <a:t>Use the method of recitation which best suits your particular learning style but remember, the more senses you use the more likely you are to remember what you read - i.e.,</a:t>
            </a:r>
          </a:p>
          <a:p>
            <a:pPr>
              <a:lnSpc>
                <a:spcPct val="80000"/>
              </a:lnSpc>
            </a:pPr>
            <a:r>
              <a:rPr lang="en-US" dirty="0" smtClean="0"/>
              <a:t>TRIPLE STRENGTH LEARNING: Seeing, saying, hearing-</a:t>
            </a:r>
            <a:br>
              <a:rPr lang="en-US" dirty="0" smtClean="0"/>
            </a:br>
            <a:r>
              <a:rPr lang="en-US" dirty="0" smtClean="0"/>
              <a:t>QUADRUPLE STRENGTH LEARNING: Seeing , saying , hearing, writing. </a:t>
            </a:r>
          </a:p>
          <a:p>
            <a:endParaRPr lang="en-US"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u="sng"/>
              <a:t>R</a:t>
            </a:r>
            <a:r>
              <a:rPr lang="en-US" b="1"/>
              <a:t>eview</a:t>
            </a:r>
            <a:r>
              <a:rPr lang="en-US"/>
              <a:t> </a:t>
            </a:r>
          </a:p>
        </p:txBody>
      </p:sp>
      <p:sp>
        <p:nvSpPr>
          <p:cNvPr id="7171" name="Rectangle 3"/>
          <p:cNvSpPr>
            <a:spLocks noGrp="1" noChangeArrowheads="1"/>
          </p:cNvSpPr>
          <p:nvPr>
            <p:ph idx="1"/>
          </p:nvPr>
        </p:nvSpPr>
        <p:spPr>
          <a:xfrm>
            <a:off x="457200" y="1219200"/>
            <a:ext cx="8229600" cy="5486400"/>
          </a:xfrm>
        </p:spPr>
        <p:txBody>
          <a:bodyPr>
            <a:normAutofit/>
          </a:bodyPr>
          <a:lstStyle/>
          <a:p>
            <a:pPr>
              <a:lnSpc>
                <a:spcPct val="90000"/>
              </a:lnSpc>
            </a:pPr>
            <a:endParaRPr lang="en-US" dirty="0" smtClean="0"/>
          </a:p>
          <a:p>
            <a:pPr>
              <a:lnSpc>
                <a:spcPct val="90000"/>
              </a:lnSpc>
            </a:pPr>
            <a:endParaRPr lang="en-US" dirty="0" smtClean="0"/>
          </a:p>
          <a:p>
            <a:pPr>
              <a:lnSpc>
                <a:spcPct val="90000"/>
              </a:lnSpc>
            </a:pPr>
            <a:r>
              <a:rPr lang="en-US" dirty="0" smtClean="0"/>
              <a:t>If </a:t>
            </a:r>
            <a:r>
              <a:rPr lang="en-US" dirty="0"/>
              <a:t>you took notes while reciting, </a:t>
            </a:r>
            <a:r>
              <a:rPr lang="en-US" dirty="0" smtClean="0"/>
              <a:t>write </a:t>
            </a:r>
            <a:r>
              <a:rPr lang="en-US" dirty="0"/>
              <a:t>questions for the notes you have taken in the left hand margins of your notebook. </a:t>
            </a:r>
          </a:p>
          <a:p>
            <a:pPr>
              <a:lnSpc>
                <a:spcPct val="90000"/>
              </a:lnSpc>
            </a:pPr>
            <a:r>
              <a:rPr lang="en-US" dirty="0"/>
              <a:t>Page through the text and/or your notebook to re-acquaint yourself with the important points. </a:t>
            </a:r>
          </a:p>
          <a:p>
            <a:pPr>
              <a:lnSpc>
                <a:spcPct val="90000"/>
              </a:lnSpc>
            </a:pPr>
            <a:r>
              <a:rPr lang="en-US" dirty="0"/>
              <a:t>Cover the right hand column of your text/note-book and orally ask yourself the questions in the left hand margins. </a:t>
            </a:r>
          </a:p>
          <a:p>
            <a:pPr>
              <a:lnSpc>
                <a:spcPct val="90000"/>
              </a:lnSpc>
              <a:buNone/>
            </a:pPr>
            <a:endParaRPr lang="en-US" sz="2800"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 calcmode="lin" valueType="num">
                                      <p:cBhvr additive="base">
                                        <p:cTn id="7"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anim calcmode="lin" valueType="num">
                                      <p:cBhvr additive="base">
                                        <p:cTn id="13"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anim calcmode="lin" valueType="num">
                                      <p:cBhvr additive="base">
                                        <p:cTn id="19"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cont’d</a:t>
            </a:r>
            <a:endParaRPr lang="en-US" dirty="0"/>
          </a:p>
        </p:txBody>
      </p:sp>
      <p:sp>
        <p:nvSpPr>
          <p:cNvPr id="3" name="Content Placeholder 2"/>
          <p:cNvSpPr>
            <a:spLocks noGrp="1"/>
          </p:cNvSpPr>
          <p:nvPr>
            <p:ph idx="1"/>
          </p:nvPr>
        </p:nvSpPr>
        <p:spPr/>
        <p:txBody>
          <a:bodyPr/>
          <a:lstStyle/>
          <a:p>
            <a:pPr>
              <a:lnSpc>
                <a:spcPct val="90000"/>
              </a:lnSpc>
            </a:pPr>
            <a:r>
              <a:rPr lang="en-US" dirty="0" smtClean="0"/>
              <a:t>Orally recite or write the answers from memory. </a:t>
            </a:r>
          </a:p>
          <a:p>
            <a:pPr>
              <a:lnSpc>
                <a:spcPct val="90000"/>
              </a:lnSpc>
            </a:pPr>
            <a:r>
              <a:rPr lang="en-US" dirty="0" smtClean="0"/>
              <a:t>Make "flash cards" for those questions which give you difficulty. </a:t>
            </a:r>
          </a:p>
          <a:p>
            <a:pPr>
              <a:lnSpc>
                <a:spcPct val="90000"/>
              </a:lnSpc>
            </a:pPr>
            <a:r>
              <a:rPr lang="en-US" dirty="0" smtClean="0"/>
              <a:t>Develop mnemonic devices for material which need to be memorized. </a:t>
            </a:r>
          </a:p>
          <a:p>
            <a:endParaRPr lang="en-US"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TotalTime>
  <Words>619</Words>
  <Application>Microsoft Office PowerPoint</Application>
  <PresentationFormat>On-screen Show (4:3)</PresentationFormat>
  <Paragraphs>75</Paragraphs>
  <Slides>19</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Critical reading:  Reading techniques</vt:lpstr>
      <vt:lpstr>PowerPoint Presentation</vt:lpstr>
      <vt:lpstr>“Some books are to be tasted, others to be swallowed and some few to be chewed and digested”</vt:lpstr>
      <vt:lpstr>Skimming</vt:lpstr>
      <vt:lpstr>Scanning</vt:lpstr>
      <vt:lpstr>1. Before you read</vt:lpstr>
      <vt:lpstr>2. Skimming </vt:lpstr>
      <vt:lpstr>3. While you read</vt:lpstr>
      <vt:lpstr>4. After you have read</vt:lpstr>
      <vt:lpstr>5. Responding to the text</vt:lpstr>
      <vt:lpstr>READING TECHNIQUE</vt:lpstr>
      <vt:lpstr>Survey </vt:lpstr>
      <vt:lpstr>Question </vt:lpstr>
      <vt:lpstr>Read: </vt:lpstr>
      <vt:lpstr>Read          cont’d</vt:lpstr>
      <vt:lpstr>Recite/Recall </vt:lpstr>
      <vt:lpstr>Recite/Recall           cont’d</vt:lpstr>
      <vt:lpstr>Review </vt:lpstr>
      <vt:lpstr>Review            cont’d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Steps in critical reading:</dc:title>
  <dc:creator>Mwangi</dc:creator>
  <cp:lastModifiedBy>user</cp:lastModifiedBy>
  <cp:revision>16</cp:revision>
  <dcterms:created xsi:type="dcterms:W3CDTF">2006-08-16T00:00:00Z</dcterms:created>
  <dcterms:modified xsi:type="dcterms:W3CDTF">2021-01-11T06:57:22Z</dcterms:modified>
</cp:coreProperties>
</file>