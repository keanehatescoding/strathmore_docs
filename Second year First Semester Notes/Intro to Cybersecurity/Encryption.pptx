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095" autoAdjust="0"/>
  </p:normalViewPr>
  <p:slideViewPr>
    <p:cSldViewPr snapToGrid="0">
      <p:cViewPr varScale="1">
        <p:scale>
          <a:sx n="56" d="100"/>
          <a:sy n="56" d="100"/>
        </p:scale>
        <p:origin x="106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AC8B58-D563-448C-B942-1527FE360852}" type="datetimeFigureOut">
              <a:rPr lang="en-KE" smtClean="0"/>
              <a:t>17/05/2022</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B999D0-1464-4C43-B743-657A1613F0D3}" type="slidenum">
              <a:rPr lang="en-KE" smtClean="0"/>
              <a:t>‹#›</a:t>
            </a:fld>
            <a:endParaRPr lang="en-KE"/>
          </a:p>
        </p:txBody>
      </p:sp>
    </p:spTree>
    <p:extLst>
      <p:ext uri="{BB962C8B-B14F-4D97-AF65-F5344CB8AC3E}">
        <p14:creationId xmlns:p14="http://schemas.microsoft.com/office/powerpoint/2010/main" val="2700508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Encryption algorithm is a function, which implies that if you apply the same encryption function to the same input, you always get the same result.</a:t>
            </a:r>
          </a:p>
          <a:p>
            <a:r>
              <a:rPr lang="en-GB" dirty="0"/>
              <a:t>Decryption can be viewed as the inverse of the encryption function unravelling the scrambling so that the information can be understood.</a:t>
            </a:r>
          </a:p>
          <a:p>
            <a:r>
              <a:rPr lang="en-GB" dirty="0"/>
              <a:t>Conventional encryption algorithms use the same keys for encryption and decryption. Public key cryptography uses one key for encryption and a related but different key for decryption.</a:t>
            </a:r>
          </a:p>
          <a:p>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3</a:t>
            </a:fld>
            <a:endParaRPr lang="en-KE"/>
          </a:p>
        </p:txBody>
      </p:sp>
    </p:spTree>
    <p:extLst>
      <p:ext uri="{BB962C8B-B14F-4D97-AF65-F5344CB8AC3E}">
        <p14:creationId xmlns:p14="http://schemas.microsoft.com/office/powerpoint/2010/main" val="1662559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Decryption algorithms decode ciphertext into the original understandable plaintext</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4</a:t>
            </a:fld>
            <a:endParaRPr lang="en-KE"/>
          </a:p>
        </p:txBody>
      </p:sp>
    </p:spTree>
    <p:extLst>
      <p:ext uri="{BB962C8B-B14F-4D97-AF65-F5344CB8AC3E}">
        <p14:creationId xmlns:p14="http://schemas.microsoft.com/office/powerpoint/2010/main" val="3638681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illustrate the interrelated functions of a cryptosystem, let’s examine a simple encryption algorithm based on the binary XOR function.</a:t>
            </a:r>
          </a:p>
          <a:p>
            <a:r>
              <a:rPr lang="en-GB" dirty="0"/>
              <a:t>For conventional encryption, also known as symmetric encryption, the decryption process works by then using the same key for encryption to also decrypt the ciphertext into the original plaintext.</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5</a:t>
            </a:fld>
            <a:endParaRPr lang="en-KE"/>
          </a:p>
        </p:txBody>
      </p:sp>
    </p:spTree>
    <p:extLst>
      <p:ext uri="{BB962C8B-B14F-4D97-AF65-F5344CB8AC3E}">
        <p14:creationId xmlns:p14="http://schemas.microsoft.com/office/powerpoint/2010/main" val="2488085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general scheme for representing encryption between 2 end point entities, designated Alice and Bob, involves the use of an encryption and decryption capability for each end point along with some communication medium, usually the Internet, for sending messages. It is important, obviously, for Alice and Bob to be using the same encryption and decryption functions. In addition, the general scheme for conventional encryption includes a centralized component called the key distribution centre (KDC) that provides the secret key to Alice and Bob.</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6</a:t>
            </a:fld>
            <a:endParaRPr lang="en-KE"/>
          </a:p>
        </p:txBody>
      </p:sp>
    </p:spTree>
    <p:extLst>
      <p:ext uri="{BB962C8B-B14F-4D97-AF65-F5344CB8AC3E}">
        <p14:creationId xmlns:p14="http://schemas.microsoft.com/office/powerpoint/2010/main" val="269625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conventional symmetric encryption approach is valuable because it enforces 2 important security properties:</a:t>
            </a:r>
          </a:p>
          <a:p>
            <a:r>
              <a:rPr lang="en-GB" dirty="0"/>
              <a:t>1. If Alice contacts Bob via encryption using a shared key, then assuming Bob can decrypt and decipher the information sent, he can conclude that only Alice could have initiated this process.</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7</a:t>
            </a:fld>
            <a:endParaRPr lang="en-KE"/>
          </a:p>
        </p:txBody>
      </p:sp>
    </p:spTree>
    <p:extLst>
      <p:ext uri="{BB962C8B-B14F-4D97-AF65-F5344CB8AC3E}">
        <p14:creationId xmlns:p14="http://schemas.microsoft.com/office/powerpoint/2010/main" val="3676498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Only a foo</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8</a:t>
            </a:fld>
            <a:endParaRPr lang="en-KE"/>
          </a:p>
        </p:txBody>
      </p:sp>
    </p:spTree>
    <p:extLst>
      <p:ext uri="{BB962C8B-B14F-4D97-AF65-F5344CB8AC3E}">
        <p14:creationId xmlns:p14="http://schemas.microsoft.com/office/powerpoint/2010/main" val="18101236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Challenge 1: for example, each time a new user is added to a group supporting mutual encryption, a new key must be added for each of the original members.</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9</a:t>
            </a:fld>
            <a:endParaRPr lang="en-KE"/>
          </a:p>
        </p:txBody>
      </p:sp>
    </p:spTree>
    <p:extLst>
      <p:ext uri="{BB962C8B-B14F-4D97-AF65-F5344CB8AC3E}">
        <p14:creationId xmlns:p14="http://schemas.microsoft.com/office/powerpoint/2010/main" val="1987731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Whitfield &amp; Hellman: researchers at Stanford then.</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10</a:t>
            </a:fld>
            <a:endParaRPr lang="en-KE"/>
          </a:p>
        </p:txBody>
      </p:sp>
    </p:spTree>
    <p:extLst>
      <p:ext uri="{BB962C8B-B14F-4D97-AF65-F5344CB8AC3E}">
        <p14:creationId xmlns:p14="http://schemas.microsoft.com/office/powerpoint/2010/main" val="3179623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12</a:t>
            </a:fld>
            <a:endParaRPr lang="en-KE"/>
          </a:p>
        </p:txBody>
      </p:sp>
    </p:spTree>
    <p:extLst>
      <p:ext uri="{BB962C8B-B14F-4D97-AF65-F5344CB8AC3E}">
        <p14:creationId xmlns:p14="http://schemas.microsoft.com/office/powerpoint/2010/main" val="1072604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encryption and decryption functions result in a powerful set of properties that have arguably changed the entire world. Amazon sells nothing online, for example, without this technology.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GB" dirty="0"/>
              <a:t>Allows credit cards to be sent securely across the Internet to websites.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3. encryption by Alice first using SA for authenticity and then using PB for secrecy. Bob decrypts the received ciphertext with SB to unlock secrecy and then PA to check the authenticity of Alice.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KE" dirty="0"/>
          </a:p>
          <a:p>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13</a:t>
            </a:fld>
            <a:endParaRPr lang="en-KE"/>
          </a:p>
        </p:txBody>
      </p:sp>
    </p:spTree>
    <p:extLst>
      <p:ext uri="{BB962C8B-B14F-4D97-AF65-F5344CB8AC3E}">
        <p14:creationId xmlns:p14="http://schemas.microsoft.com/office/powerpoint/2010/main" val="1604633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PKC has had a profound global societal influence by enabling the secure sale of goods on the Internet.</a:t>
            </a:r>
          </a:p>
          <a:p>
            <a:r>
              <a:rPr lang="en-GB" dirty="0"/>
              <a:t>For bullet 3, the CA performs authentication. This can be done weakly by using email checks on sending domains, more thoroughly by using 2FA or in person, face-to-face attestation. These options are called assurance levels.</a:t>
            </a:r>
          </a:p>
          <a:p>
            <a:r>
              <a:rPr lang="en-GB" dirty="0"/>
              <a:t>To decrypt the certificate without having to make requests to the CA for its public key, Netscape in the mid 1990s introduced a solution involving embedding the public keys of all Cas into the actual browser code.</a:t>
            </a:r>
            <a:endParaRPr lang="en-KE" dirty="0"/>
          </a:p>
        </p:txBody>
      </p:sp>
      <p:sp>
        <p:nvSpPr>
          <p:cNvPr id="4" name="Slide Number Placeholder 3"/>
          <p:cNvSpPr>
            <a:spLocks noGrp="1"/>
          </p:cNvSpPr>
          <p:nvPr>
            <p:ph type="sldNum" sz="quarter" idx="5"/>
          </p:nvPr>
        </p:nvSpPr>
        <p:spPr/>
        <p:txBody>
          <a:bodyPr/>
          <a:lstStyle/>
          <a:p>
            <a:fld id="{08B999D0-1464-4C43-B743-657A1613F0D3}" type="slidenum">
              <a:rPr lang="en-KE" smtClean="0"/>
              <a:t>14</a:t>
            </a:fld>
            <a:endParaRPr lang="en-KE"/>
          </a:p>
        </p:txBody>
      </p:sp>
    </p:spTree>
    <p:extLst>
      <p:ext uri="{BB962C8B-B14F-4D97-AF65-F5344CB8AC3E}">
        <p14:creationId xmlns:p14="http://schemas.microsoft.com/office/powerpoint/2010/main" val="1749948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023C0-3769-34E0-7BD6-B9DD8F8D1B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KE"/>
          </a:p>
        </p:txBody>
      </p:sp>
      <p:sp>
        <p:nvSpPr>
          <p:cNvPr id="3" name="Subtitle 2">
            <a:extLst>
              <a:ext uri="{FF2B5EF4-FFF2-40B4-BE49-F238E27FC236}">
                <a16:creationId xmlns:a16="http://schemas.microsoft.com/office/drawing/2014/main" id="{8A94E66E-861B-863C-1EF9-AF9E7C1014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KE"/>
          </a:p>
        </p:txBody>
      </p:sp>
      <p:sp>
        <p:nvSpPr>
          <p:cNvPr id="4" name="Date Placeholder 3">
            <a:extLst>
              <a:ext uri="{FF2B5EF4-FFF2-40B4-BE49-F238E27FC236}">
                <a16:creationId xmlns:a16="http://schemas.microsoft.com/office/drawing/2014/main" id="{A19DB8D4-1FB6-4542-3580-A3120515DE8F}"/>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5" name="Footer Placeholder 4">
            <a:extLst>
              <a:ext uri="{FF2B5EF4-FFF2-40B4-BE49-F238E27FC236}">
                <a16:creationId xmlns:a16="http://schemas.microsoft.com/office/drawing/2014/main" id="{29C02183-8A87-4365-5ED9-D2CD77F124DB}"/>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F439EFF-9C71-E8C8-E73C-EC7E590604AC}"/>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1266321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6AE25-0EAC-515F-7C08-5DC0DBFF0F15}"/>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1AF26FFA-F3DD-38AF-6BD3-195D27EEF5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CF19FE31-489E-38A5-158B-2783911B8E72}"/>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5" name="Footer Placeholder 4">
            <a:extLst>
              <a:ext uri="{FF2B5EF4-FFF2-40B4-BE49-F238E27FC236}">
                <a16:creationId xmlns:a16="http://schemas.microsoft.com/office/drawing/2014/main" id="{700E322A-1E03-801A-4904-AF75CA0AE8D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4481BF88-2E13-0371-1018-A98ADE6FEE63}"/>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1862331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649A9-61BE-EBE3-C0B8-76FF2BAA17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KE"/>
          </a:p>
        </p:txBody>
      </p:sp>
      <p:sp>
        <p:nvSpPr>
          <p:cNvPr id="3" name="Text Placeholder 2">
            <a:extLst>
              <a:ext uri="{FF2B5EF4-FFF2-40B4-BE49-F238E27FC236}">
                <a16:creationId xmlns:a16="http://schemas.microsoft.com/office/drawing/2014/main" id="{DC2DDF2C-512D-68AE-9D51-19D9160AFD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753A56-407C-D5D7-8878-C5BC59E22B71}"/>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5" name="Footer Placeholder 4">
            <a:extLst>
              <a:ext uri="{FF2B5EF4-FFF2-40B4-BE49-F238E27FC236}">
                <a16:creationId xmlns:a16="http://schemas.microsoft.com/office/drawing/2014/main" id="{8C28C1A7-25C3-2500-7CF7-C034E1011F62}"/>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6DAE72CD-BAE2-C455-5BF9-16856C3F9F13}"/>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1404312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A410C-A598-EAD0-BAAD-D7297B8B0CA8}"/>
              </a:ext>
            </a:extLst>
          </p:cNvPr>
          <p:cNvSpPr>
            <a:spLocks noGrp="1"/>
          </p:cNvSpPr>
          <p:nvPr>
            <p:ph type="title"/>
          </p:nvPr>
        </p:nvSpPr>
        <p:spPr/>
        <p:txBody>
          <a:bodyPr/>
          <a:lstStyle/>
          <a:p>
            <a:r>
              <a:rPr lang="en-US"/>
              <a:t>Click to edit Master title style</a:t>
            </a:r>
            <a:endParaRPr lang="en-KE"/>
          </a:p>
        </p:txBody>
      </p:sp>
      <p:sp>
        <p:nvSpPr>
          <p:cNvPr id="3" name="Content Placeholder 2">
            <a:extLst>
              <a:ext uri="{FF2B5EF4-FFF2-40B4-BE49-F238E27FC236}">
                <a16:creationId xmlns:a16="http://schemas.microsoft.com/office/drawing/2014/main" id="{F4A3D937-56F8-6CF8-6F1F-896C634B10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Content Placeholder 3">
            <a:extLst>
              <a:ext uri="{FF2B5EF4-FFF2-40B4-BE49-F238E27FC236}">
                <a16:creationId xmlns:a16="http://schemas.microsoft.com/office/drawing/2014/main" id="{BE23DB8E-F3F7-499E-5BDA-8F11524C0F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Date Placeholder 4">
            <a:extLst>
              <a:ext uri="{FF2B5EF4-FFF2-40B4-BE49-F238E27FC236}">
                <a16:creationId xmlns:a16="http://schemas.microsoft.com/office/drawing/2014/main" id="{42FD2BB3-4B49-CF71-2A98-FE0283F61CD1}"/>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6" name="Footer Placeholder 5">
            <a:extLst>
              <a:ext uri="{FF2B5EF4-FFF2-40B4-BE49-F238E27FC236}">
                <a16:creationId xmlns:a16="http://schemas.microsoft.com/office/drawing/2014/main" id="{2FA2CA28-BCBA-74F2-7235-112849704B17}"/>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64215041-C493-620B-ADD3-D2CEBAC6F843}"/>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45377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DF194-66F2-EBE4-3C31-4A0FACF2BCBE}"/>
              </a:ext>
            </a:extLst>
          </p:cNvPr>
          <p:cNvSpPr>
            <a:spLocks noGrp="1"/>
          </p:cNvSpPr>
          <p:nvPr>
            <p:ph type="title"/>
          </p:nvPr>
        </p:nvSpPr>
        <p:spPr>
          <a:xfrm>
            <a:off x="839788" y="365125"/>
            <a:ext cx="10515600" cy="1325563"/>
          </a:xfrm>
        </p:spPr>
        <p:txBody>
          <a:bodyPr/>
          <a:lstStyle/>
          <a:p>
            <a:r>
              <a:rPr lang="en-US"/>
              <a:t>Click to edit Master title style</a:t>
            </a:r>
            <a:endParaRPr lang="en-KE"/>
          </a:p>
        </p:txBody>
      </p:sp>
      <p:sp>
        <p:nvSpPr>
          <p:cNvPr id="3" name="Text Placeholder 2">
            <a:extLst>
              <a:ext uri="{FF2B5EF4-FFF2-40B4-BE49-F238E27FC236}">
                <a16:creationId xmlns:a16="http://schemas.microsoft.com/office/drawing/2014/main" id="{7E2B5BDE-734B-6934-EC0A-266F78084A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E0360B-89BE-6E43-ECA3-B49EFFDB18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5" name="Text Placeholder 4">
            <a:extLst>
              <a:ext uri="{FF2B5EF4-FFF2-40B4-BE49-F238E27FC236}">
                <a16:creationId xmlns:a16="http://schemas.microsoft.com/office/drawing/2014/main" id="{45C25F10-FA81-DD4F-1CA4-9D1D93B350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5B7AFE-3F6E-0D35-1970-3C64FB7545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7" name="Date Placeholder 6">
            <a:extLst>
              <a:ext uri="{FF2B5EF4-FFF2-40B4-BE49-F238E27FC236}">
                <a16:creationId xmlns:a16="http://schemas.microsoft.com/office/drawing/2014/main" id="{F58F28C3-F713-AD05-75EC-98BC4F0C8769}"/>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8" name="Footer Placeholder 7">
            <a:extLst>
              <a:ext uri="{FF2B5EF4-FFF2-40B4-BE49-F238E27FC236}">
                <a16:creationId xmlns:a16="http://schemas.microsoft.com/office/drawing/2014/main" id="{28B046C4-C863-70FF-82EB-2B1229989370}"/>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98717C2A-D167-FD20-D98E-5801F7DF94A9}"/>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3199929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6079-7594-8BC0-3AB2-D40FEF19D09A}"/>
              </a:ext>
            </a:extLst>
          </p:cNvPr>
          <p:cNvSpPr>
            <a:spLocks noGrp="1"/>
          </p:cNvSpPr>
          <p:nvPr>
            <p:ph type="title"/>
          </p:nvPr>
        </p:nvSpPr>
        <p:spPr/>
        <p:txBody>
          <a:bodyPr/>
          <a:lstStyle/>
          <a:p>
            <a:r>
              <a:rPr lang="en-US"/>
              <a:t>Click to edit Master title style</a:t>
            </a:r>
            <a:endParaRPr lang="en-KE"/>
          </a:p>
        </p:txBody>
      </p:sp>
      <p:sp>
        <p:nvSpPr>
          <p:cNvPr id="3" name="Date Placeholder 2">
            <a:extLst>
              <a:ext uri="{FF2B5EF4-FFF2-40B4-BE49-F238E27FC236}">
                <a16:creationId xmlns:a16="http://schemas.microsoft.com/office/drawing/2014/main" id="{B70DB410-0406-AD46-5616-BEA07BC54795}"/>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4" name="Footer Placeholder 3">
            <a:extLst>
              <a:ext uri="{FF2B5EF4-FFF2-40B4-BE49-F238E27FC236}">
                <a16:creationId xmlns:a16="http://schemas.microsoft.com/office/drawing/2014/main" id="{78EF86B0-43EA-0E39-646D-DAF229427F05}"/>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749DD394-BE2F-D8B0-4E6F-949D93E24108}"/>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4085947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B8E799-066A-FC73-649F-2A962A29EA78}"/>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3" name="Footer Placeholder 2">
            <a:extLst>
              <a:ext uri="{FF2B5EF4-FFF2-40B4-BE49-F238E27FC236}">
                <a16:creationId xmlns:a16="http://schemas.microsoft.com/office/drawing/2014/main" id="{E937F900-094C-D1F4-E0A2-868D48C27BF5}"/>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D93E237A-0EF8-ECCC-5AB5-A3E0A0BDA8CA}"/>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556166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75075-6107-4094-CE8F-0151227918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Content Placeholder 2">
            <a:extLst>
              <a:ext uri="{FF2B5EF4-FFF2-40B4-BE49-F238E27FC236}">
                <a16:creationId xmlns:a16="http://schemas.microsoft.com/office/drawing/2014/main" id="{93B3D9E2-184D-AA2E-E530-97077DF4B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Text Placeholder 3">
            <a:extLst>
              <a:ext uri="{FF2B5EF4-FFF2-40B4-BE49-F238E27FC236}">
                <a16:creationId xmlns:a16="http://schemas.microsoft.com/office/drawing/2014/main" id="{CF69733B-84BC-AA7B-6D71-AED6F48AF4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E0FA6A-5D6F-0D4C-44FC-A340A29BCB7E}"/>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6" name="Footer Placeholder 5">
            <a:extLst>
              <a:ext uri="{FF2B5EF4-FFF2-40B4-BE49-F238E27FC236}">
                <a16:creationId xmlns:a16="http://schemas.microsoft.com/office/drawing/2014/main" id="{D2B241C6-5D2C-5DC9-A29A-8E45BBCCA611}"/>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D3F7194E-B3AB-3938-8B23-F143AAF87D17}"/>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3356874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95848-C48E-ABBB-48AE-26F662A3F6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KE"/>
          </a:p>
        </p:txBody>
      </p:sp>
      <p:sp>
        <p:nvSpPr>
          <p:cNvPr id="3" name="Picture Placeholder 2">
            <a:extLst>
              <a:ext uri="{FF2B5EF4-FFF2-40B4-BE49-F238E27FC236}">
                <a16:creationId xmlns:a16="http://schemas.microsoft.com/office/drawing/2014/main" id="{CFE3FE46-C0E0-990A-3D0A-5B1A776E0F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6D925CA5-BB12-5476-AC6D-A555EED870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357474-05A1-39EB-996B-686B75E1684F}"/>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6" name="Footer Placeholder 5">
            <a:extLst>
              <a:ext uri="{FF2B5EF4-FFF2-40B4-BE49-F238E27FC236}">
                <a16:creationId xmlns:a16="http://schemas.microsoft.com/office/drawing/2014/main" id="{53D43184-1B4E-AEA4-3EBD-A50DF84C777A}"/>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BAA7C6B4-188E-0D21-E039-8B50362A4DD2}"/>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146878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BF044-FE96-3E01-E583-C51E67B91724}"/>
              </a:ext>
            </a:extLst>
          </p:cNvPr>
          <p:cNvSpPr>
            <a:spLocks noGrp="1"/>
          </p:cNvSpPr>
          <p:nvPr>
            <p:ph type="title"/>
          </p:nvPr>
        </p:nvSpPr>
        <p:spPr/>
        <p:txBody>
          <a:bodyPr/>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19D228EC-CEEF-5418-AAA6-4527A6576E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58282B3E-602A-0B6D-B7AB-B118187403E0}"/>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5" name="Footer Placeholder 4">
            <a:extLst>
              <a:ext uri="{FF2B5EF4-FFF2-40B4-BE49-F238E27FC236}">
                <a16:creationId xmlns:a16="http://schemas.microsoft.com/office/drawing/2014/main" id="{78A5F250-74FD-077D-BEF9-D3CD7837ECD4}"/>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0951EAC9-E0A1-7987-6B86-E22FF149BB94}"/>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1195395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5BDE02-6344-689A-BE7E-987EFA2F21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KE"/>
          </a:p>
        </p:txBody>
      </p:sp>
      <p:sp>
        <p:nvSpPr>
          <p:cNvPr id="3" name="Vertical Text Placeholder 2">
            <a:extLst>
              <a:ext uri="{FF2B5EF4-FFF2-40B4-BE49-F238E27FC236}">
                <a16:creationId xmlns:a16="http://schemas.microsoft.com/office/drawing/2014/main" id="{9EEAE45E-6223-EA3C-7ED6-BA12756A2E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12F3CEC5-AAC9-F5DF-CA10-B969026E7D3D}"/>
              </a:ext>
            </a:extLst>
          </p:cNvPr>
          <p:cNvSpPr>
            <a:spLocks noGrp="1"/>
          </p:cNvSpPr>
          <p:nvPr>
            <p:ph type="dt" sz="half" idx="10"/>
          </p:nvPr>
        </p:nvSpPr>
        <p:spPr/>
        <p:txBody>
          <a:bodyPr/>
          <a:lstStyle/>
          <a:p>
            <a:fld id="{5E06EB53-27A3-40C6-84EA-6DFA1A104B31}" type="datetimeFigureOut">
              <a:rPr lang="en-KE" smtClean="0"/>
              <a:t>17/05/2022</a:t>
            </a:fld>
            <a:endParaRPr lang="en-KE"/>
          </a:p>
        </p:txBody>
      </p:sp>
      <p:sp>
        <p:nvSpPr>
          <p:cNvPr id="5" name="Footer Placeholder 4">
            <a:extLst>
              <a:ext uri="{FF2B5EF4-FFF2-40B4-BE49-F238E27FC236}">
                <a16:creationId xmlns:a16="http://schemas.microsoft.com/office/drawing/2014/main" id="{211A4F46-3B45-2E79-41F5-E41037B5471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2A7EDB61-6DE3-71B7-5E28-5E4EE1C830A3}"/>
              </a:ext>
            </a:extLst>
          </p:cNvPr>
          <p:cNvSpPr>
            <a:spLocks noGrp="1"/>
          </p:cNvSpPr>
          <p:nvPr>
            <p:ph type="sldNum" sz="quarter" idx="12"/>
          </p:nvPr>
        </p:nvSpPr>
        <p:spPr/>
        <p:txBody>
          <a:bodyPr/>
          <a:lstStyle/>
          <a:p>
            <a:fld id="{343813A1-4C15-4202-A721-7B986F389E2E}" type="slidenum">
              <a:rPr lang="en-KE" smtClean="0"/>
              <a:t>‹#›</a:t>
            </a:fld>
            <a:endParaRPr lang="en-KE"/>
          </a:p>
        </p:txBody>
      </p:sp>
    </p:spTree>
    <p:extLst>
      <p:ext uri="{BB962C8B-B14F-4D97-AF65-F5344CB8AC3E}">
        <p14:creationId xmlns:p14="http://schemas.microsoft.com/office/powerpoint/2010/main" val="230072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875C7A-2437-4169-A667-8DC58ABB82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KE"/>
          </a:p>
        </p:txBody>
      </p:sp>
      <p:sp>
        <p:nvSpPr>
          <p:cNvPr id="3" name="Text Placeholder 2">
            <a:extLst>
              <a:ext uri="{FF2B5EF4-FFF2-40B4-BE49-F238E27FC236}">
                <a16:creationId xmlns:a16="http://schemas.microsoft.com/office/drawing/2014/main" id="{14A67ABB-43C0-8631-5560-600001B61F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4" name="Date Placeholder 3">
            <a:extLst>
              <a:ext uri="{FF2B5EF4-FFF2-40B4-BE49-F238E27FC236}">
                <a16:creationId xmlns:a16="http://schemas.microsoft.com/office/drawing/2014/main" id="{24FEB599-1549-EDD1-C4BF-B1756563B4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06EB53-27A3-40C6-84EA-6DFA1A104B31}" type="datetimeFigureOut">
              <a:rPr lang="en-KE" smtClean="0"/>
              <a:t>17/05/2022</a:t>
            </a:fld>
            <a:endParaRPr lang="en-KE"/>
          </a:p>
        </p:txBody>
      </p:sp>
      <p:sp>
        <p:nvSpPr>
          <p:cNvPr id="5" name="Footer Placeholder 4">
            <a:extLst>
              <a:ext uri="{FF2B5EF4-FFF2-40B4-BE49-F238E27FC236}">
                <a16:creationId xmlns:a16="http://schemas.microsoft.com/office/drawing/2014/main" id="{0EAD31E3-9BB5-B748-238A-AE9F6EEEDC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3B18C304-2959-CC3B-5C8F-1946DF8F2F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3813A1-4C15-4202-A721-7B986F389E2E}" type="slidenum">
              <a:rPr lang="en-KE" smtClean="0"/>
              <a:t>‹#›</a:t>
            </a:fld>
            <a:endParaRPr lang="en-KE"/>
          </a:p>
        </p:txBody>
      </p:sp>
    </p:spTree>
    <p:extLst>
      <p:ext uri="{BB962C8B-B14F-4D97-AF65-F5344CB8AC3E}">
        <p14:creationId xmlns:p14="http://schemas.microsoft.com/office/powerpoint/2010/main" val="2746809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A1877-A275-6A7A-3C4A-888F2AB73142}"/>
              </a:ext>
            </a:extLst>
          </p:cNvPr>
          <p:cNvSpPr>
            <a:spLocks noGrp="1"/>
          </p:cNvSpPr>
          <p:nvPr>
            <p:ph type="ctrTitle"/>
          </p:nvPr>
        </p:nvSpPr>
        <p:spPr/>
        <p:txBody>
          <a:bodyPr/>
          <a:lstStyle/>
          <a:p>
            <a:r>
              <a:rPr lang="en-GB" dirty="0"/>
              <a:t>Encryption</a:t>
            </a:r>
            <a:endParaRPr lang="en-KE" dirty="0"/>
          </a:p>
        </p:txBody>
      </p:sp>
      <p:sp>
        <p:nvSpPr>
          <p:cNvPr id="3" name="Subtitle 2">
            <a:extLst>
              <a:ext uri="{FF2B5EF4-FFF2-40B4-BE49-F238E27FC236}">
                <a16:creationId xmlns:a16="http://schemas.microsoft.com/office/drawing/2014/main" id="{80C3B996-B609-121B-2DE1-43511C672EA6}"/>
              </a:ext>
            </a:extLst>
          </p:cNvPr>
          <p:cNvSpPr>
            <a:spLocks noGrp="1"/>
          </p:cNvSpPr>
          <p:nvPr>
            <p:ph type="subTitle" idx="1"/>
          </p:nvPr>
        </p:nvSpPr>
        <p:spPr/>
        <p:txBody>
          <a:bodyPr/>
          <a:lstStyle/>
          <a:p>
            <a:r>
              <a:rPr lang="en-GB" dirty="0"/>
              <a:t>Ochieng N. </a:t>
            </a:r>
            <a:r>
              <a:rPr lang="en-GB" dirty="0" err="1"/>
              <a:t>Odunga</a:t>
            </a:r>
            <a:endParaRPr lang="en-KE" dirty="0"/>
          </a:p>
        </p:txBody>
      </p:sp>
    </p:spTree>
    <p:extLst>
      <p:ext uri="{BB962C8B-B14F-4D97-AF65-F5344CB8AC3E}">
        <p14:creationId xmlns:p14="http://schemas.microsoft.com/office/powerpoint/2010/main" val="73868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DCD35-1930-4ADD-3C79-395556FCEB3A}"/>
              </a:ext>
            </a:extLst>
          </p:cNvPr>
          <p:cNvSpPr>
            <a:spLocks noGrp="1"/>
          </p:cNvSpPr>
          <p:nvPr>
            <p:ph type="title"/>
          </p:nvPr>
        </p:nvSpPr>
        <p:spPr/>
        <p:txBody>
          <a:bodyPr/>
          <a:lstStyle/>
          <a:p>
            <a:r>
              <a:rPr lang="en-GB" dirty="0"/>
              <a:t>Introduction</a:t>
            </a:r>
            <a:endParaRPr lang="en-KE" dirty="0"/>
          </a:p>
        </p:txBody>
      </p:sp>
      <p:sp>
        <p:nvSpPr>
          <p:cNvPr id="3" name="Content Placeholder 2">
            <a:extLst>
              <a:ext uri="{FF2B5EF4-FFF2-40B4-BE49-F238E27FC236}">
                <a16:creationId xmlns:a16="http://schemas.microsoft.com/office/drawing/2014/main" id="{15F14BC6-7E9A-4BC0-219F-6A4D0B7BC30F}"/>
              </a:ext>
            </a:extLst>
          </p:cNvPr>
          <p:cNvSpPr>
            <a:spLocks noGrp="1"/>
          </p:cNvSpPr>
          <p:nvPr>
            <p:ph idx="1"/>
          </p:nvPr>
        </p:nvSpPr>
        <p:spPr/>
        <p:txBody>
          <a:bodyPr/>
          <a:lstStyle/>
          <a:p>
            <a:r>
              <a:rPr lang="en-GB" dirty="0"/>
              <a:t>Cryptography involves secret writing between 2 or more people so that others looking in cannot decipher what is being said or shared.</a:t>
            </a:r>
          </a:p>
          <a:p>
            <a:r>
              <a:rPr lang="en-GB" dirty="0"/>
              <a:t>Ensures secrecy of information such as credit cards being passed across the Internet.</a:t>
            </a:r>
          </a:p>
          <a:p>
            <a:r>
              <a:rPr lang="en-GB" dirty="0"/>
              <a:t>Also ensures information being sent across the Internet has not been corrupted</a:t>
            </a:r>
          </a:p>
          <a:p>
            <a:pPr lvl="1"/>
            <a:r>
              <a:rPr lang="en-GB" dirty="0"/>
              <a:t>The decryption process would not work if any of the plaintext or ciphertext was changed in any way.</a:t>
            </a:r>
          </a:p>
          <a:p>
            <a:endParaRPr lang="en-KE" dirty="0"/>
          </a:p>
        </p:txBody>
      </p:sp>
    </p:spTree>
    <p:extLst>
      <p:ext uri="{BB962C8B-B14F-4D97-AF65-F5344CB8AC3E}">
        <p14:creationId xmlns:p14="http://schemas.microsoft.com/office/powerpoint/2010/main" val="1616404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CCDFE-8BC4-E6B1-B5C4-7FC6C9EB48F3}"/>
              </a:ext>
            </a:extLst>
          </p:cNvPr>
          <p:cNvSpPr>
            <a:spLocks noGrp="1"/>
          </p:cNvSpPr>
          <p:nvPr>
            <p:ph type="title"/>
          </p:nvPr>
        </p:nvSpPr>
        <p:spPr/>
        <p:txBody>
          <a:bodyPr/>
          <a:lstStyle/>
          <a:p>
            <a:r>
              <a:rPr lang="en-GB" dirty="0"/>
              <a:t>Components of a cryptosystem</a:t>
            </a:r>
            <a:endParaRPr lang="en-KE" dirty="0"/>
          </a:p>
        </p:txBody>
      </p:sp>
      <p:sp>
        <p:nvSpPr>
          <p:cNvPr id="3" name="Content Placeholder 2">
            <a:extLst>
              <a:ext uri="{FF2B5EF4-FFF2-40B4-BE49-F238E27FC236}">
                <a16:creationId xmlns:a16="http://schemas.microsoft.com/office/drawing/2014/main" id="{0DCC5731-72E2-7E12-1ED1-DA8B78389B0F}"/>
              </a:ext>
            </a:extLst>
          </p:cNvPr>
          <p:cNvSpPr>
            <a:spLocks noGrp="1"/>
          </p:cNvSpPr>
          <p:nvPr>
            <p:ph idx="1"/>
          </p:nvPr>
        </p:nvSpPr>
        <p:spPr/>
        <p:txBody>
          <a:bodyPr/>
          <a:lstStyle/>
          <a:p>
            <a:r>
              <a:rPr lang="en-GB" dirty="0"/>
              <a:t>Encryption Algorithm</a:t>
            </a:r>
          </a:p>
          <a:p>
            <a:pPr lvl="1"/>
            <a:r>
              <a:rPr lang="en-GB" dirty="0"/>
              <a:t>A scrambling procedure used to create a secret writing within a group.</a:t>
            </a:r>
          </a:p>
          <a:p>
            <a:pPr marL="228600" lvl="1">
              <a:spcBef>
                <a:spcPts val="1000"/>
              </a:spcBef>
            </a:pPr>
            <a:r>
              <a:rPr lang="en-GB" sz="2800" dirty="0"/>
              <a:t>Decryption Algorithm </a:t>
            </a:r>
          </a:p>
          <a:p>
            <a:pPr marL="685800" lvl="2">
              <a:spcBef>
                <a:spcPts val="1000"/>
              </a:spcBef>
            </a:pPr>
            <a:r>
              <a:rPr lang="en-GB" sz="2400" dirty="0"/>
              <a:t>A descrambling procedure used by members of a group to interpret the secret writing.</a:t>
            </a:r>
          </a:p>
          <a:p>
            <a:pPr marL="228600" lvl="1">
              <a:spcBef>
                <a:spcPts val="1000"/>
              </a:spcBef>
            </a:pPr>
            <a:r>
              <a:rPr lang="en-GB" sz="2800" dirty="0"/>
              <a:t>Set of keys</a:t>
            </a:r>
          </a:p>
          <a:p>
            <a:pPr marL="685800" lvl="2">
              <a:spcBef>
                <a:spcPts val="1000"/>
              </a:spcBef>
            </a:pPr>
            <a:r>
              <a:rPr lang="en-GB" sz="2400" dirty="0"/>
              <a:t>This is secret information known by members of the group that parameterize the encryption and decryption.</a:t>
            </a:r>
            <a:endParaRPr lang="en-KE" sz="2400" dirty="0"/>
          </a:p>
        </p:txBody>
      </p:sp>
    </p:spTree>
    <p:extLst>
      <p:ext uri="{BB962C8B-B14F-4D97-AF65-F5344CB8AC3E}">
        <p14:creationId xmlns:p14="http://schemas.microsoft.com/office/powerpoint/2010/main" val="4126128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C2595-8E08-1B04-A2AA-48CDD34DEE3D}"/>
              </a:ext>
            </a:extLst>
          </p:cNvPr>
          <p:cNvSpPr>
            <a:spLocks noGrp="1"/>
          </p:cNvSpPr>
          <p:nvPr>
            <p:ph type="title"/>
          </p:nvPr>
        </p:nvSpPr>
        <p:spPr/>
        <p:txBody>
          <a:bodyPr/>
          <a:lstStyle/>
          <a:p>
            <a:r>
              <a:rPr lang="en-GB" dirty="0"/>
              <a:t>Components of a cryptosystem cont.</a:t>
            </a:r>
            <a:endParaRPr lang="en-KE" dirty="0"/>
          </a:p>
        </p:txBody>
      </p:sp>
      <p:sp>
        <p:nvSpPr>
          <p:cNvPr id="3" name="Content Placeholder 2">
            <a:extLst>
              <a:ext uri="{FF2B5EF4-FFF2-40B4-BE49-F238E27FC236}">
                <a16:creationId xmlns:a16="http://schemas.microsoft.com/office/drawing/2014/main" id="{4DB40941-A8A2-A182-F788-2B64FAB3129E}"/>
              </a:ext>
            </a:extLst>
          </p:cNvPr>
          <p:cNvSpPr>
            <a:spLocks noGrp="1"/>
          </p:cNvSpPr>
          <p:nvPr>
            <p:ph idx="1"/>
          </p:nvPr>
        </p:nvSpPr>
        <p:spPr/>
        <p:txBody>
          <a:bodyPr/>
          <a:lstStyle/>
          <a:p>
            <a:r>
              <a:rPr lang="en-GB" dirty="0"/>
              <a:t>Set of plaintext</a:t>
            </a:r>
          </a:p>
          <a:p>
            <a:pPr lvl="1"/>
            <a:r>
              <a:rPr lang="en-GB" dirty="0"/>
              <a:t>This is the set of readable, understandable text that needs to be protected within the group.</a:t>
            </a:r>
          </a:p>
          <a:p>
            <a:pPr marL="228600" lvl="1">
              <a:spcBef>
                <a:spcPts val="1000"/>
              </a:spcBef>
            </a:pPr>
            <a:r>
              <a:rPr lang="en-GB" sz="2800" dirty="0"/>
              <a:t>Set of ciphertext</a:t>
            </a:r>
          </a:p>
          <a:p>
            <a:pPr marL="685800" lvl="2">
              <a:spcBef>
                <a:spcPts val="1000"/>
              </a:spcBef>
            </a:pPr>
            <a:r>
              <a:rPr lang="en-GB" sz="2400" dirty="0"/>
              <a:t>This is a set of unreadable, secretly written text that cannot be deciphered by members outside the group. </a:t>
            </a:r>
            <a:endParaRPr lang="en-KE" sz="2400" dirty="0"/>
          </a:p>
        </p:txBody>
      </p:sp>
    </p:spTree>
    <p:extLst>
      <p:ext uri="{BB962C8B-B14F-4D97-AF65-F5344CB8AC3E}">
        <p14:creationId xmlns:p14="http://schemas.microsoft.com/office/powerpoint/2010/main" val="37618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3C751-BF78-75D5-6421-2BA99F1CF75D}"/>
              </a:ext>
            </a:extLst>
          </p:cNvPr>
          <p:cNvSpPr>
            <a:spLocks noGrp="1"/>
          </p:cNvSpPr>
          <p:nvPr>
            <p:ph type="title"/>
          </p:nvPr>
        </p:nvSpPr>
        <p:spPr/>
        <p:txBody>
          <a:bodyPr/>
          <a:lstStyle/>
          <a:p>
            <a:r>
              <a:rPr lang="en-GB" dirty="0"/>
              <a:t>Example</a:t>
            </a:r>
            <a:endParaRPr lang="en-KE" dirty="0"/>
          </a:p>
        </p:txBody>
      </p:sp>
      <p:sp>
        <p:nvSpPr>
          <p:cNvPr id="3" name="Content Placeholder 2">
            <a:extLst>
              <a:ext uri="{FF2B5EF4-FFF2-40B4-BE49-F238E27FC236}">
                <a16:creationId xmlns:a16="http://schemas.microsoft.com/office/drawing/2014/main" id="{4B92AD4D-47C9-8E02-82D2-A442996493A1}"/>
              </a:ext>
            </a:extLst>
          </p:cNvPr>
          <p:cNvSpPr>
            <a:spLocks noGrp="1"/>
          </p:cNvSpPr>
          <p:nvPr>
            <p:ph idx="1"/>
          </p:nvPr>
        </p:nvSpPr>
        <p:spPr/>
        <p:txBody>
          <a:bodyPr/>
          <a:lstStyle/>
          <a:p>
            <a:r>
              <a:rPr lang="en-GB" dirty="0"/>
              <a:t>Plaintext: 0101 1100</a:t>
            </a:r>
          </a:p>
          <a:p>
            <a:r>
              <a:rPr lang="en-GB" dirty="0"/>
              <a:t>Key: 1010 1010</a:t>
            </a:r>
          </a:p>
          <a:p>
            <a:r>
              <a:rPr lang="en-GB" dirty="0"/>
              <a:t>Encryption and decryption as XOR operations</a:t>
            </a:r>
          </a:p>
          <a:p>
            <a:r>
              <a:rPr lang="en-GB" dirty="0"/>
              <a:t>Ciphertext: 1111 0110</a:t>
            </a:r>
            <a:endParaRPr lang="en-KE" dirty="0"/>
          </a:p>
        </p:txBody>
      </p:sp>
    </p:spTree>
    <p:extLst>
      <p:ext uri="{BB962C8B-B14F-4D97-AF65-F5344CB8AC3E}">
        <p14:creationId xmlns:p14="http://schemas.microsoft.com/office/powerpoint/2010/main" val="735654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7D21E-D11C-7562-CE8C-6B7E3FADDF4F}"/>
              </a:ext>
            </a:extLst>
          </p:cNvPr>
          <p:cNvSpPr>
            <a:spLocks noGrp="1"/>
          </p:cNvSpPr>
          <p:nvPr>
            <p:ph type="title"/>
          </p:nvPr>
        </p:nvSpPr>
        <p:spPr/>
        <p:txBody>
          <a:bodyPr/>
          <a:lstStyle/>
          <a:p>
            <a:r>
              <a:rPr lang="en-GB" dirty="0"/>
              <a:t>Conventional Encryption Scheme</a:t>
            </a:r>
            <a:endParaRPr lang="en-KE" dirty="0"/>
          </a:p>
        </p:txBody>
      </p:sp>
      <p:pic>
        <p:nvPicPr>
          <p:cNvPr id="4" name="Content Placeholder 3">
            <a:extLst>
              <a:ext uri="{FF2B5EF4-FFF2-40B4-BE49-F238E27FC236}">
                <a16:creationId xmlns:a16="http://schemas.microsoft.com/office/drawing/2014/main" id="{F5BA0769-FAF0-7472-2F37-23C964883E6A}"/>
              </a:ext>
            </a:extLst>
          </p:cNvPr>
          <p:cNvPicPr>
            <a:picLocks noGrp="1" noChangeAspect="1"/>
          </p:cNvPicPr>
          <p:nvPr>
            <p:ph idx="1"/>
          </p:nvPr>
        </p:nvPicPr>
        <p:blipFill>
          <a:blip r:embed="rId3"/>
          <a:stretch>
            <a:fillRect/>
          </a:stretch>
        </p:blipFill>
        <p:spPr>
          <a:xfrm>
            <a:off x="838200" y="2279870"/>
            <a:ext cx="10515600" cy="3442847"/>
          </a:xfrm>
          <a:prstGeom prst="rect">
            <a:avLst/>
          </a:prstGeom>
        </p:spPr>
      </p:pic>
    </p:spTree>
    <p:extLst>
      <p:ext uri="{BB962C8B-B14F-4D97-AF65-F5344CB8AC3E}">
        <p14:creationId xmlns:p14="http://schemas.microsoft.com/office/powerpoint/2010/main" val="3605014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83DD3-19C9-45BA-B998-661502CD26C6}"/>
              </a:ext>
            </a:extLst>
          </p:cNvPr>
          <p:cNvSpPr>
            <a:spLocks noGrp="1"/>
          </p:cNvSpPr>
          <p:nvPr>
            <p:ph type="title"/>
          </p:nvPr>
        </p:nvSpPr>
        <p:spPr/>
        <p:txBody>
          <a:bodyPr/>
          <a:lstStyle/>
          <a:p>
            <a:r>
              <a:rPr lang="en-GB" dirty="0"/>
              <a:t>Security properties for conventional encryption</a:t>
            </a:r>
            <a:endParaRPr lang="en-KE" dirty="0"/>
          </a:p>
        </p:txBody>
      </p:sp>
      <p:sp>
        <p:nvSpPr>
          <p:cNvPr id="3" name="Content Placeholder 2">
            <a:extLst>
              <a:ext uri="{FF2B5EF4-FFF2-40B4-BE49-F238E27FC236}">
                <a16:creationId xmlns:a16="http://schemas.microsoft.com/office/drawing/2014/main" id="{461EA7D5-AAB5-DD1E-BC39-83B387D36CE4}"/>
              </a:ext>
            </a:extLst>
          </p:cNvPr>
          <p:cNvSpPr>
            <a:spLocks noGrp="1"/>
          </p:cNvSpPr>
          <p:nvPr>
            <p:ph idx="1"/>
          </p:nvPr>
        </p:nvSpPr>
        <p:spPr/>
        <p:txBody>
          <a:bodyPr/>
          <a:lstStyle/>
          <a:p>
            <a:r>
              <a:rPr lang="en-GB" dirty="0"/>
              <a:t>Allows one end point to authenticate the reported identity of another</a:t>
            </a:r>
          </a:p>
          <a:p>
            <a:r>
              <a:rPr lang="en-GB" dirty="0"/>
              <a:t>It allows for secret communication between Alice and Bob.</a:t>
            </a:r>
          </a:p>
          <a:p>
            <a:pPr lvl="1"/>
            <a:r>
              <a:rPr lang="en-GB" dirty="0"/>
              <a:t>This enables secure e-commerce on the Internet.</a:t>
            </a:r>
            <a:endParaRPr lang="en-KE" dirty="0"/>
          </a:p>
        </p:txBody>
      </p:sp>
    </p:spTree>
    <p:extLst>
      <p:ext uri="{BB962C8B-B14F-4D97-AF65-F5344CB8AC3E}">
        <p14:creationId xmlns:p14="http://schemas.microsoft.com/office/powerpoint/2010/main" val="7787716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0B087-1BBC-4031-FCC5-8607A5E92A55}"/>
              </a:ext>
            </a:extLst>
          </p:cNvPr>
          <p:cNvSpPr>
            <a:spLocks noGrp="1"/>
          </p:cNvSpPr>
          <p:nvPr>
            <p:ph type="title"/>
          </p:nvPr>
        </p:nvSpPr>
        <p:spPr/>
        <p:txBody>
          <a:bodyPr/>
          <a:lstStyle/>
          <a:p>
            <a:r>
              <a:rPr lang="en-GB" dirty="0"/>
              <a:t>Public Key Encryption</a:t>
            </a:r>
            <a:endParaRPr lang="en-KE" dirty="0"/>
          </a:p>
        </p:txBody>
      </p:sp>
      <p:sp>
        <p:nvSpPr>
          <p:cNvPr id="3" name="Content Placeholder 2">
            <a:extLst>
              <a:ext uri="{FF2B5EF4-FFF2-40B4-BE49-F238E27FC236}">
                <a16:creationId xmlns:a16="http://schemas.microsoft.com/office/drawing/2014/main" id="{35BF4C9B-637B-21D5-4A27-A10E4B360C8E}"/>
              </a:ext>
            </a:extLst>
          </p:cNvPr>
          <p:cNvSpPr>
            <a:spLocks noGrp="1"/>
          </p:cNvSpPr>
          <p:nvPr>
            <p:ph idx="1"/>
          </p:nvPr>
        </p:nvSpPr>
        <p:spPr/>
        <p:txBody>
          <a:bodyPr/>
          <a:lstStyle/>
          <a:p>
            <a:pPr marL="0" indent="0">
              <a:buNone/>
            </a:pPr>
            <a:r>
              <a:rPr lang="en-GB" dirty="0"/>
              <a:t>Quote: “</a:t>
            </a:r>
            <a:r>
              <a:rPr lang="en-GB" i="1" dirty="0"/>
              <a:t>Only a fool would be excited by the 100</a:t>
            </a:r>
            <a:r>
              <a:rPr lang="en-GB" i="1" baseline="30000" dirty="0"/>
              <a:t>th</a:t>
            </a:r>
            <a:r>
              <a:rPr lang="en-GB" i="1" dirty="0"/>
              <a:t> idea, but it might take 100 ideas before one really pays off. Unless you are foolish enough to be continually excited, you won’t have the motivation, you won’t have the energy to carry it through. God rewards fools”</a:t>
            </a:r>
          </a:p>
          <a:p>
            <a:pPr marL="0" indent="0">
              <a:buNone/>
            </a:pPr>
            <a:r>
              <a:rPr lang="en-GB" i="1" dirty="0"/>
              <a:t>							Martin Hellman</a:t>
            </a:r>
          </a:p>
        </p:txBody>
      </p:sp>
    </p:spTree>
    <p:extLst>
      <p:ext uri="{BB962C8B-B14F-4D97-AF65-F5344CB8AC3E}">
        <p14:creationId xmlns:p14="http://schemas.microsoft.com/office/powerpoint/2010/main" val="1433199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37760-8F15-142A-8C71-7062BFAE3164}"/>
              </a:ext>
            </a:extLst>
          </p:cNvPr>
          <p:cNvSpPr>
            <a:spLocks noGrp="1"/>
          </p:cNvSpPr>
          <p:nvPr>
            <p:ph type="title"/>
          </p:nvPr>
        </p:nvSpPr>
        <p:spPr/>
        <p:txBody>
          <a:bodyPr/>
          <a:lstStyle/>
          <a:p>
            <a:r>
              <a:rPr lang="en-GB" dirty="0"/>
              <a:t>PKC: Drawbacks of conventional encryption</a:t>
            </a:r>
            <a:endParaRPr lang="en-KE" dirty="0"/>
          </a:p>
        </p:txBody>
      </p:sp>
      <p:sp>
        <p:nvSpPr>
          <p:cNvPr id="3" name="Content Placeholder 2">
            <a:extLst>
              <a:ext uri="{FF2B5EF4-FFF2-40B4-BE49-F238E27FC236}">
                <a16:creationId xmlns:a16="http://schemas.microsoft.com/office/drawing/2014/main" id="{C4AD245F-8DD5-916A-63FA-2E57D4FB64FA}"/>
              </a:ext>
            </a:extLst>
          </p:cNvPr>
          <p:cNvSpPr>
            <a:spLocks noGrp="1"/>
          </p:cNvSpPr>
          <p:nvPr>
            <p:ph idx="1"/>
          </p:nvPr>
        </p:nvSpPr>
        <p:spPr/>
        <p:txBody>
          <a:bodyPr/>
          <a:lstStyle/>
          <a:p>
            <a:r>
              <a:rPr lang="en-GB" dirty="0"/>
              <a:t>For large groups, keeping track of adding and deleting keys as the size of the groups changes is a challenge.</a:t>
            </a:r>
            <a:endParaRPr lang="en-KE" dirty="0"/>
          </a:p>
        </p:txBody>
      </p:sp>
    </p:spTree>
    <p:extLst>
      <p:ext uri="{BB962C8B-B14F-4D97-AF65-F5344CB8AC3E}">
        <p14:creationId xmlns:p14="http://schemas.microsoft.com/office/powerpoint/2010/main" val="383744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93242-C1CC-E38B-7CBC-E070CC44B2C1}"/>
              </a:ext>
            </a:extLst>
          </p:cNvPr>
          <p:cNvSpPr>
            <a:spLocks noGrp="1"/>
          </p:cNvSpPr>
          <p:nvPr>
            <p:ph type="title"/>
          </p:nvPr>
        </p:nvSpPr>
        <p:spPr/>
        <p:txBody>
          <a:bodyPr/>
          <a:lstStyle/>
          <a:p>
            <a:r>
              <a:rPr lang="en-GB" dirty="0"/>
              <a:t>PKC</a:t>
            </a:r>
            <a:endParaRPr lang="en-KE" dirty="0"/>
          </a:p>
        </p:txBody>
      </p:sp>
      <p:sp>
        <p:nvSpPr>
          <p:cNvPr id="3" name="Content Placeholder 2">
            <a:extLst>
              <a:ext uri="{FF2B5EF4-FFF2-40B4-BE49-F238E27FC236}">
                <a16:creationId xmlns:a16="http://schemas.microsoft.com/office/drawing/2014/main" id="{5562DBA9-1A9D-64CC-9263-55BC038E287A}"/>
              </a:ext>
            </a:extLst>
          </p:cNvPr>
          <p:cNvSpPr>
            <a:spLocks noGrp="1"/>
          </p:cNvSpPr>
          <p:nvPr>
            <p:ph idx="1"/>
          </p:nvPr>
        </p:nvSpPr>
        <p:spPr/>
        <p:txBody>
          <a:bodyPr/>
          <a:lstStyle/>
          <a:p>
            <a:r>
              <a:rPr lang="en-GB" dirty="0"/>
              <a:t>Introduced in the 1970s by Whitfield Diffie &amp; Martin Hellman</a:t>
            </a:r>
          </a:p>
          <a:p>
            <a:r>
              <a:rPr lang="en-GB" dirty="0"/>
              <a:t>Keys broken into 2 related components:</a:t>
            </a:r>
          </a:p>
          <a:p>
            <a:pPr lvl="1"/>
            <a:r>
              <a:rPr lang="en-GB" dirty="0"/>
              <a:t>Public key, made available to everyone, perhaps in a directory</a:t>
            </a:r>
          </a:p>
          <a:p>
            <a:pPr lvl="1"/>
            <a:r>
              <a:rPr lang="en-GB" dirty="0"/>
              <a:t>Secret key, kept private like a password.</a:t>
            </a:r>
          </a:p>
          <a:p>
            <a:pPr marL="228600" lvl="1">
              <a:spcBef>
                <a:spcPts val="1000"/>
              </a:spcBef>
            </a:pPr>
            <a:r>
              <a:rPr lang="en-GB" sz="2800" dirty="0"/>
              <a:t>Any plaintext encrypted using a public key could only be decrypted using the corresponding secret key.</a:t>
            </a:r>
          </a:p>
          <a:p>
            <a:pPr marL="685800" lvl="2">
              <a:spcBef>
                <a:spcPts val="1000"/>
              </a:spcBef>
            </a:pPr>
            <a:r>
              <a:rPr lang="en-GB" sz="2400" dirty="0"/>
              <a:t>And any plaintext encrypted using the secret key could only be decrypted using the corresponding public key.</a:t>
            </a:r>
            <a:endParaRPr lang="en-KE" sz="2400" dirty="0"/>
          </a:p>
        </p:txBody>
      </p:sp>
    </p:spTree>
    <p:extLst>
      <p:ext uri="{BB962C8B-B14F-4D97-AF65-F5344CB8AC3E}">
        <p14:creationId xmlns:p14="http://schemas.microsoft.com/office/powerpoint/2010/main" val="3407910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ED3EF-0884-A523-0BBD-B6C605472535}"/>
              </a:ext>
            </a:extLst>
          </p:cNvPr>
          <p:cNvSpPr>
            <a:spLocks noGrp="1"/>
          </p:cNvSpPr>
          <p:nvPr>
            <p:ph type="title"/>
          </p:nvPr>
        </p:nvSpPr>
        <p:spPr/>
        <p:txBody>
          <a:bodyPr/>
          <a:lstStyle/>
          <a:p>
            <a:r>
              <a:rPr lang="en-GB" dirty="0"/>
              <a:t>PKC</a:t>
            </a:r>
            <a:endParaRPr lang="en-KE" dirty="0"/>
          </a:p>
        </p:txBody>
      </p:sp>
      <p:sp>
        <p:nvSpPr>
          <p:cNvPr id="3" name="Content Placeholder 2">
            <a:extLst>
              <a:ext uri="{FF2B5EF4-FFF2-40B4-BE49-F238E27FC236}">
                <a16:creationId xmlns:a16="http://schemas.microsoft.com/office/drawing/2014/main" id="{0DEB0CD5-DBE3-1866-C6F6-F95544EBD27C}"/>
              </a:ext>
            </a:extLst>
          </p:cNvPr>
          <p:cNvSpPr>
            <a:spLocks noGrp="1"/>
          </p:cNvSpPr>
          <p:nvPr>
            <p:ph idx="1"/>
          </p:nvPr>
        </p:nvSpPr>
        <p:spPr/>
        <p:txBody>
          <a:bodyPr/>
          <a:lstStyle/>
          <a:p>
            <a:r>
              <a:rPr lang="en-GB" dirty="0"/>
              <a:t>Individual users create their own public-secret key pair locally.</a:t>
            </a:r>
          </a:p>
          <a:p>
            <a:pPr lvl="1"/>
            <a:r>
              <a:rPr lang="en-GB" dirty="0"/>
              <a:t>There is no centralized KDC required.</a:t>
            </a:r>
          </a:p>
          <a:p>
            <a:pPr lvl="1"/>
            <a:r>
              <a:rPr lang="en-GB" dirty="0"/>
              <a:t>Adding a new user does not require any action from the other users of the group.</a:t>
            </a:r>
            <a:endParaRPr lang="en-KE" dirty="0"/>
          </a:p>
        </p:txBody>
      </p:sp>
    </p:spTree>
    <p:extLst>
      <p:ext uri="{BB962C8B-B14F-4D97-AF65-F5344CB8AC3E}">
        <p14:creationId xmlns:p14="http://schemas.microsoft.com/office/powerpoint/2010/main" val="3818925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8A7D9-C322-C0C9-2766-45EBF2A03B16}"/>
              </a:ext>
            </a:extLst>
          </p:cNvPr>
          <p:cNvSpPr>
            <a:spLocks noGrp="1"/>
          </p:cNvSpPr>
          <p:nvPr>
            <p:ph type="title"/>
          </p:nvPr>
        </p:nvSpPr>
        <p:spPr/>
        <p:txBody>
          <a:bodyPr/>
          <a:lstStyle/>
          <a:p>
            <a:r>
              <a:rPr lang="en-GB" dirty="0"/>
              <a:t>PKC functions</a:t>
            </a:r>
            <a:endParaRPr lang="en-K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201E8-7F25-CB05-D142-FA29A70D96A5}"/>
                  </a:ext>
                </a:extLst>
              </p:cNvPr>
              <p:cNvSpPr>
                <a:spLocks noGrp="1"/>
              </p:cNvSpPr>
              <p:nvPr>
                <p:ph idx="1"/>
              </p:nvPr>
            </p:nvSpPr>
            <p:spPr/>
            <p:txBody>
              <a:bodyPr/>
              <a:lstStyle/>
              <a:p>
                <a:pPr marL="0" indent="0">
                  <a:buNone/>
                </a:pPr>
                <a14:m>
                  <m:oMath xmlns:m="http://schemas.openxmlformats.org/officeDocument/2006/math">
                    <m:d>
                      <m:dPr>
                        <m:begChr m:val="{"/>
                        <m:endChr m:val="}"/>
                        <m:ctrlPr>
                          <a:rPr lang="en-KE" i="1" smtClean="0">
                            <a:latin typeface="Cambria Math" panose="02040503050406030204" pitchFamily="18" charset="0"/>
                          </a:rPr>
                        </m:ctrlPr>
                      </m:dPr>
                      <m:e>
                        <m:r>
                          <a:rPr lang="en-GB" b="0" i="1" smtClean="0">
                            <a:latin typeface="Cambria Math" panose="02040503050406030204" pitchFamily="18" charset="0"/>
                          </a:rPr>
                          <m:t>𝑚</m:t>
                        </m:r>
                      </m:e>
                    </m:d>
                  </m:oMath>
                </a14:m>
                <a:r>
                  <a:rPr lang="en-GB" baseline="-25000" dirty="0"/>
                  <a:t>SA </a:t>
                </a:r>
                <a:r>
                  <a:rPr lang="en-GB" dirty="0"/>
                  <a:t> - digital signature</a:t>
                </a:r>
              </a:p>
              <a:p>
                <a:pPr marL="0" indent="0">
                  <a:buNone/>
                </a:pPr>
                <a14:m>
                  <m:oMathPara xmlns:m="http://schemas.openxmlformats.org/officeDocument/2006/math">
                    <m:oMathParaPr>
                      <m:jc m:val="left"/>
                    </m:oMathParaPr>
                    <m:oMath xmlns:m="http://schemas.openxmlformats.org/officeDocument/2006/math">
                      <m:d>
                        <m:dPr>
                          <m:begChr m:val="{"/>
                          <m:endChr m:val="}"/>
                          <m:ctrlPr>
                            <a:rPr lang="en-KE" i="1" baseline="-25000" smtClean="0">
                              <a:latin typeface="Cambria Math" panose="02040503050406030204" pitchFamily="18" charset="0"/>
                            </a:rPr>
                          </m:ctrlPr>
                        </m:dPr>
                        <m:e>
                          <m:d>
                            <m:dPr>
                              <m:begChr m:val="{"/>
                              <m:endChr m:val="}"/>
                              <m:ctrlPr>
                                <a:rPr lang="en-KE" i="1" smtClean="0">
                                  <a:latin typeface="Cambria Math" panose="02040503050406030204" pitchFamily="18" charset="0"/>
                                </a:rPr>
                              </m:ctrlPr>
                            </m:dPr>
                            <m:e>
                              <m:r>
                                <a:rPr lang="en-GB" b="0" i="1" smtClean="0">
                                  <a:latin typeface="Cambria Math" panose="02040503050406030204" pitchFamily="18" charset="0"/>
                                </a:rPr>
                                <m:t>𝑚</m:t>
                              </m:r>
                            </m:e>
                          </m:d>
                          <m:r>
                            <m:rPr>
                              <m:nor/>
                            </m:rPr>
                            <a:rPr lang="en-GB" baseline="-25000" dirty="0"/>
                            <m:t>SA</m:t>
                          </m:r>
                        </m:e>
                      </m:d>
                      <m:r>
                        <a:rPr lang="en-GB" b="0" i="0" baseline="-25000" smtClean="0">
                          <a:latin typeface="Cambria Math" panose="02040503050406030204" pitchFamily="18" charset="0"/>
                        </a:rPr>
                        <m:t> </m:t>
                      </m:r>
                      <m:r>
                        <m:rPr>
                          <m:sty m:val="p"/>
                        </m:rPr>
                        <a:rPr lang="en-GB" b="0" i="0" baseline="-25000" smtClean="0">
                          <a:latin typeface="Cambria Math" panose="02040503050406030204" pitchFamily="18" charset="0"/>
                        </a:rPr>
                        <m:t>PA</m:t>
                      </m:r>
                      <m:r>
                        <a:rPr lang="en-GB" b="0" i="0" baseline="-25000" smtClean="0">
                          <a:latin typeface="Cambria Math" panose="02040503050406030204" pitchFamily="18" charset="0"/>
                        </a:rPr>
                        <m:t>=</m:t>
                      </m:r>
                      <m:r>
                        <m:rPr>
                          <m:sty m:val="p"/>
                        </m:rPr>
                        <a:rPr lang="en-GB" b="0" i="0" baseline="-25000" smtClean="0">
                          <a:latin typeface="Cambria Math" panose="02040503050406030204" pitchFamily="18" charset="0"/>
                        </a:rPr>
                        <m:t>m</m:t>
                      </m:r>
                    </m:oMath>
                  </m:oMathPara>
                </a14:m>
                <a:endParaRPr lang="en-GB" baseline="-25000" dirty="0"/>
              </a:p>
              <a:p>
                <a:pPr marL="0" indent="0">
                  <a:buNone/>
                </a:pPr>
                <a14:m>
                  <m:oMath xmlns:m="http://schemas.openxmlformats.org/officeDocument/2006/math">
                    <m:d>
                      <m:dPr>
                        <m:begChr m:val="{"/>
                        <m:endChr m:val="}"/>
                        <m:ctrlPr>
                          <a:rPr lang="en-KE" i="1" smtClean="0">
                            <a:latin typeface="Cambria Math" panose="02040503050406030204" pitchFamily="18" charset="0"/>
                          </a:rPr>
                        </m:ctrlPr>
                      </m:dPr>
                      <m:e>
                        <m:r>
                          <a:rPr lang="en-GB" b="0" i="1" smtClean="0">
                            <a:latin typeface="Cambria Math" panose="02040503050406030204" pitchFamily="18" charset="0"/>
                          </a:rPr>
                          <m:t>𝑚</m:t>
                        </m:r>
                      </m:e>
                    </m:d>
                    <m:r>
                      <m:rPr>
                        <m:sty m:val="p"/>
                      </m:rPr>
                      <a:rPr lang="en-GB" b="0" i="0" baseline="-25000" smtClean="0">
                        <a:latin typeface="Cambria Math" panose="02040503050406030204" pitchFamily="18" charset="0"/>
                      </a:rPr>
                      <m:t>P</m:t>
                    </m:r>
                  </m:oMath>
                </a14:m>
                <a:r>
                  <a:rPr lang="en-GB" baseline="-25000" dirty="0"/>
                  <a:t>A</a:t>
                </a:r>
              </a:p>
              <a:p>
                <a:pPr marL="0" indent="0">
                  <a:buNone/>
                </a:pPr>
                <a14:m>
                  <m:oMathPara xmlns:m="http://schemas.openxmlformats.org/officeDocument/2006/math">
                    <m:oMathParaPr>
                      <m:jc m:val="left"/>
                    </m:oMathParaPr>
                    <m:oMath xmlns:m="http://schemas.openxmlformats.org/officeDocument/2006/math">
                      <m:d>
                        <m:dPr>
                          <m:begChr m:val="{"/>
                          <m:endChr m:val="}"/>
                          <m:ctrlPr>
                            <a:rPr lang="en-KE" i="1" baseline="-25000" smtClean="0">
                              <a:latin typeface="Cambria Math" panose="02040503050406030204" pitchFamily="18" charset="0"/>
                            </a:rPr>
                          </m:ctrlPr>
                        </m:dPr>
                        <m:e>
                          <m:d>
                            <m:dPr>
                              <m:begChr m:val="{"/>
                              <m:endChr m:val="}"/>
                              <m:ctrlPr>
                                <a:rPr lang="en-KE" i="1" smtClean="0">
                                  <a:latin typeface="Cambria Math" panose="02040503050406030204" pitchFamily="18" charset="0"/>
                                </a:rPr>
                              </m:ctrlPr>
                            </m:dPr>
                            <m:e>
                              <m:r>
                                <a:rPr lang="en-GB" b="0" i="1" smtClean="0">
                                  <a:latin typeface="Cambria Math" panose="02040503050406030204" pitchFamily="18" charset="0"/>
                                </a:rPr>
                                <m:t>𝑚</m:t>
                              </m:r>
                            </m:e>
                          </m:d>
                          <m:r>
                            <m:rPr>
                              <m:nor/>
                            </m:rPr>
                            <a:rPr lang="en-GB" b="0" i="0" baseline="-25000" smtClean="0">
                              <a:latin typeface="Cambria Math" panose="02040503050406030204" pitchFamily="18" charset="0"/>
                            </a:rPr>
                            <m:t>P</m:t>
                          </m:r>
                          <m:r>
                            <m:rPr>
                              <m:nor/>
                            </m:rPr>
                            <a:rPr lang="en-GB" baseline="-25000" dirty="0"/>
                            <m:t>A</m:t>
                          </m:r>
                        </m:e>
                      </m:d>
                      <m:r>
                        <a:rPr lang="en-GB" b="0" i="0" baseline="-25000" smtClean="0">
                          <a:latin typeface="Cambria Math" panose="02040503050406030204" pitchFamily="18" charset="0"/>
                        </a:rPr>
                        <m:t> </m:t>
                      </m:r>
                      <m:r>
                        <m:rPr>
                          <m:sty m:val="p"/>
                        </m:rPr>
                        <a:rPr lang="en-GB" b="0" i="0" baseline="-25000" smtClean="0">
                          <a:latin typeface="Cambria Math" panose="02040503050406030204" pitchFamily="18" charset="0"/>
                        </a:rPr>
                        <m:t>SA</m:t>
                      </m:r>
                      <m:r>
                        <a:rPr lang="en-GB" b="0" i="0" baseline="-25000" smtClean="0">
                          <a:latin typeface="Cambria Math" panose="02040503050406030204" pitchFamily="18" charset="0"/>
                        </a:rPr>
                        <m:t>=</m:t>
                      </m:r>
                      <m:r>
                        <m:rPr>
                          <m:sty m:val="p"/>
                        </m:rPr>
                        <a:rPr lang="en-GB" b="0" i="0" baseline="-25000" smtClean="0">
                          <a:latin typeface="Cambria Math" panose="02040503050406030204" pitchFamily="18" charset="0"/>
                        </a:rPr>
                        <m:t>m</m:t>
                      </m:r>
                    </m:oMath>
                  </m:oMathPara>
                </a14:m>
                <a:endParaRPr lang="en-GB" baseline="-25000" dirty="0"/>
              </a:p>
              <a:p>
                <a:pPr marL="0" indent="0">
                  <a:buNone/>
                </a:pPr>
                <a:endParaRPr lang="en-KE" baseline="-25000" dirty="0"/>
              </a:p>
            </p:txBody>
          </p:sp>
        </mc:Choice>
        <mc:Fallback xmlns="">
          <p:sp>
            <p:nvSpPr>
              <p:cNvPr id="3" name="Content Placeholder 2">
                <a:extLst>
                  <a:ext uri="{FF2B5EF4-FFF2-40B4-BE49-F238E27FC236}">
                    <a16:creationId xmlns:a16="http://schemas.microsoft.com/office/drawing/2014/main" id="{59E201E8-7F25-CB05-D142-FA29A70D96A5}"/>
                  </a:ext>
                </a:extLst>
              </p:cNvPr>
              <p:cNvSpPr>
                <a:spLocks noGrp="1" noRot="1" noChangeAspect="1" noMove="1" noResize="1" noEditPoints="1" noAdjustHandles="1" noChangeArrowheads="1" noChangeShapeType="1" noTextEdit="1"/>
              </p:cNvSpPr>
              <p:nvPr>
                <p:ph idx="1"/>
              </p:nvPr>
            </p:nvSpPr>
            <p:spPr>
              <a:blipFill>
                <a:blip r:embed="rId3"/>
                <a:stretch>
                  <a:fillRect t="-2241"/>
                </a:stretch>
              </a:blipFill>
            </p:spPr>
            <p:txBody>
              <a:bodyPr/>
              <a:lstStyle/>
              <a:p>
                <a:r>
                  <a:rPr lang="en-KE">
                    <a:noFill/>
                  </a:rPr>
                  <a:t> </a:t>
                </a:r>
              </a:p>
            </p:txBody>
          </p:sp>
        </mc:Fallback>
      </mc:AlternateContent>
    </p:spTree>
    <p:extLst>
      <p:ext uri="{BB962C8B-B14F-4D97-AF65-F5344CB8AC3E}">
        <p14:creationId xmlns:p14="http://schemas.microsoft.com/office/powerpoint/2010/main" val="254781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69E96-4873-AD76-BD7E-043D31DC6D95}"/>
              </a:ext>
            </a:extLst>
          </p:cNvPr>
          <p:cNvSpPr>
            <a:spLocks noGrp="1"/>
          </p:cNvSpPr>
          <p:nvPr>
            <p:ph type="title"/>
          </p:nvPr>
        </p:nvSpPr>
        <p:spPr/>
        <p:txBody>
          <a:bodyPr/>
          <a:lstStyle/>
          <a:p>
            <a:r>
              <a:rPr lang="en-GB" dirty="0"/>
              <a:t>PKC properties</a:t>
            </a:r>
            <a:endParaRPr lang="en-KE" dirty="0"/>
          </a:p>
        </p:txBody>
      </p:sp>
      <p:sp>
        <p:nvSpPr>
          <p:cNvPr id="3" name="Content Placeholder 2">
            <a:extLst>
              <a:ext uri="{FF2B5EF4-FFF2-40B4-BE49-F238E27FC236}">
                <a16:creationId xmlns:a16="http://schemas.microsoft.com/office/drawing/2014/main" id="{2B4B8D80-12E2-895B-0D51-769E4109A06D}"/>
              </a:ext>
            </a:extLst>
          </p:cNvPr>
          <p:cNvSpPr>
            <a:spLocks noGrp="1"/>
          </p:cNvSpPr>
          <p:nvPr>
            <p:ph idx="1"/>
          </p:nvPr>
        </p:nvSpPr>
        <p:spPr/>
        <p:txBody>
          <a:bodyPr/>
          <a:lstStyle/>
          <a:p>
            <a:r>
              <a:rPr lang="en-GB" dirty="0"/>
              <a:t>If Alice encrypts a message to Bob using PB, then only Bob can decrypt that message</a:t>
            </a:r>
          </a:p>
          <a:p>
            <a:pPr lvl="1"/>
            <a:r>
              <a:rPr lang="en-GB" dirty="0"/>
              <a:t>Bob is the only one with SB</a:t>
            </a:r>
          </a:p>
          <a:p>
            <a:pPr marL="228600" lvl="1">
              <a:spcBef>
                <a:spcPts val="1000"/>
              </a:spcBef>
            </a:pPr>
            <a:r>
              <a:rPr lang="en-GB" sz="2800" dirty="0"/>
              <a:t>Now, let’s have Alice encrypt a message m to Bob using SA.</a:t>
            </a:r>
          </a:p>
          <a:p>
            <a:pPr marL="685800" lvl="2">
              <a:spcBef>
                <a:spcPts val="1000"/>
              </a:spcBef>
            </a:pPr>
            <a:r>
              <a:rPr lang="en-GB" sz="2400" dirty="0"/>
              <a:t>Bob, or anyone else in possession of Alice’s public key can decrypt the message.</a:t>
            </a:r>
          </a:p>
          <a:p>
            <a:pPr marL="1143000" lvl="3">
              <a:spcBef>
                <a:spcPts val="1000"/>
              </a:spcBef>
            </a:pPr>
            <a:r>
              <a:rPr lang="en-GB" sz="2200" dirty="0"/>
              <a:t>But only Alice could have created it! (Authentication)</a:t>
            </a:r>
          </a:p>
          <a:p>
            <a:pPr marL="228600" lvl="3">
              <a:spcBef>
                <a:spcPts val="1000"/>
              </a:spcBef>
            </a:pPr>
            <a:r>
              <a:rPr lang="en-GB" sz="2800" dirty="0"/>
              <a:t>To establish both secrecy and authentication??</a:t>
            </a:r>
          </a:p>
          <a:p>
            <a:pPr lvl="1"/>
            <a:endParaRPr lang="en-KE" dirty="0"/>
          </a:p>
        </p:txBody>
      </p:sp>
    </p:spTree>
    <p:extLst>
      <p:ext uri="{BB962C8B-B14F-4D97-AF65-F5344CB8AC3E}">
        <p14:creationId xmlns:p14="http://schemas.microsoft.com/office/powerpoint/2010/main" val="838934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F6EE7-9129-A850-7A9F-BEFBF26CD03F}"/>
              </a:ext>
            </a:extLst>
          </p:cNvPr>
          <p:cNvSpPr>
            <a:spLocks noGrp="1"/>
          </p:cNvSpPr>
          <p:nvPr>
            <p:ph type="title"/>
          </p:nvPr>
        </p:nvSpPr>
        <p:spPr/>
        <p:txBody>
          <a:bodyPr/>
          <a:lstStyle/>
          <a:p>
            <a:r>
              <a:rPr lang="en-GB" dirty="0"/>
              <a:t>Secure E-Commerce</a:t>
            </a:r>
            <a:endParaRPr lang="en-KE" dirty="0"/>
          </a:p>
        </p:txBody>
      </p:sp>
      <p:sp>
        <p:nvSpPr>
          <p:cNvPr id="3" name="Content Placeholder 2">
            <a:extLst>
              <a:ext uri="{FF2B5EF4-FFF2-40B4-BE49-F238E27FC236}">
                <a16:creationId xmlns:a16="http://schemas.microsoft.com/office/drawing/2014/main" id="{C3A88D20-88C2-9019-0F9E-35C72CD577BA}"/>
              </a:ext>
            </a:extLst>
          </p:cNvPr>
          <p:cNvSpPr>
            <a:spLocks noGrp="1"/>
          </p:cNvSpPr>
          <p:nvPr>
            <p:ph idx="1"/>
          </p:nvPr>
        </p:nvSpPr>
        <p:spPr/>
        <p:txBody>
          <a:bodyPr>
            <a:normAutofit fontScale="92500" lnSpcReduction="10000"/>
          </a:bodyPr>
          <a:lstStyle/>
          <a:p>
            <a:r>
              <a:rPr lang="en-GB" dirty="0"/>
              <a:t>3</a:t>
            </a:r>
            <a:r>
              <a:rPr lang="en-GB" baseline="30000" dirty="0"/>
              <a:t>rd</a:t>
            </a:r>
            <a:r>
              <a:rPr lang="en-GB" dirty="0"/>
              <a:t> party business entities called Certificate Authorities (CA) create their own public and secret key pairs.</a:t>
            </a:r>
          </a:p>
          <a:p>
            <a:r>
              <a:rPr lang="en-GB" dirty="0"/>
              <a:t>They invite commerce vendors with websites to send their own public keys for a fee.</a:t>
            </a:r>
          </a:p>
          <a:p>
            <a:r>
              <a:rPr lang="en-GB" dirty="0"/>
              <a:t>The CA then sends back a so-called signed certificate that vouches for the fact that it was truly that website’s public key that was received and is included in the certificate.</a:t>
            </a:r>
          </a:p>
          <a:p>
            <a:r>
              <a:rPr lang="en-GB" dirty="0"/>
              <a:t>Once the website has its certificate, user browsers can obtain the website’s public key via the certificate.</a:t>
            </a:r>
          </a:p>
          <a:p>
            <a:r>
              <a:rPr lang="en-GB" dirty="0"/>
              <a:t>The protocol used for this exchange is called secure sockets layer or SSL</a:t>
            </a:r>
          </a:p>
          <a:p>
            <a:r>
              <a:rPr lang="en-GB" dirty="0"/>
              <a:t>The certificate is encrypted with the secret key of the CA.</a:t>
            </a:r>
            <a:endParaRPr lang="en-KE" dirty="0"/>
          </a:p>
        </p:txBody>
      </p:sp>
    </p:spTree>
    <p:extLst>
      <p:ext uri="{BB962C8B-B14F-4D97-AF65-F5344CB8AC3E}">
        <p14:creationId xmlns:p14="http://schemas.microsoft.com/office/powerpoint/2010/main" val="101000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D2518-2654-6350-70A6-BD90D4358F94}"/>
              </a:ext>
            </a:extLst>
          </p:cNvPr>
          <p:cNvSpPr>
            <a:spLocks noGrp="1"/>
          </p:cNvSpPr>
          <p:nvPr>
            <p:ph type="title"/>
          </p:nvPr>
        </p:nvSpPr>
        <p:spPr/>
        <p:txBody>
          <a:bodyPr/>
          <a:lstStyle/>
          <a:p>
            <a:r>
              <a:rPr lang="en-GB" dirty="0"/>
              <a:t>Concerns with secure e-commerce</a:t>
            </a:r>
            <a:endParaRPr lang="en-KE" dirty="0"/>
          </a:p>
        </p:txBody>
      </p:sp>
      <p:sp>
        <p:nvSpPr>
          <p:cNvPr id="3" name="Content Placeholder 2">
            <a:extLst>
              <a:ext uri="{FF2B5EF4-FFF2-40B4-BE49-F238E27FC236}">
                <a16:creationId xmlns:a16="http://schemas.microsoft.com/office/drawing/2014/main" id="{6B9F9A9F-5A88-CB66-C351-3C07457DEB3B}"/>
              </a:ext>
            </a:extLst>
          </p:cNvPr>
          <p:cNvSpPr>
            <a:spLocks noGrp="1"/>
          </p:cNvSpPr>
          <p:nvPr>
            <p:ph idx="1"/>
          </p:nvPr>
        </p:nvSpPr>
        <p:spPr/>
        <p:txBody>
          <a:bodyPr/>
          <a:lstStyle/>
          <a:p>
            <a:r>
              <a:rPr lang="en-GB" dirty="0"/>
              <a:t>Users must trust that their sensitive credit card information is not mishandled by the website offering them goods.</a:t>
            </a:r>
          </a:p>
          <a:p>
            <a:r>
              <a:rPr lang="en-GB" dirty="0"/>
              <a:t>Users must trust that the CA has created a valid certificate for a given website.</a:t>
            </a:r>
            <a:endParaRPr lang="en-KE" dirty="0"/>
          </a:p>
        </p:txBody>
      </p:sp>
    </p:spTree>
    <p:extLst>
      <p:ext uri="{BB962C8B-B14F-4D97-AF65-F5344CB8AC3E}">
        <p14:creationId xmlns:p14="http://schemas.microsoft.com/office/powerpoint/2010/main" val="1495634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1210</Words>
  <Application>Microsoft Office PowerPoint</Application>
  <PresentationFormat>Widescreen</PresentationFormat>
  <Paragraphs>96</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 Math</vt:lpstr>
      <vt:lpstr>Office Theme</vt:lpstr>
      <vt:lpstr>Encryption</vt:lpstr>
      <vt:lpstr>Introduction</vt:lpstr>
      <vt:lpstr>Components of a cryptosystem</vt:lpstr>
      <vt:lpstr>Components of a cryptosystem cont.</vt:lpstr>
      <vt:lpstr>Example</vt:lpstr>
      <vt:lpstr>Conventional Encryption Scheme</vt:lpstr>
      <vt:lpstr>Security properties for conventional encryption</vt:lpstr>
      <vt:lpstr>Public Key Encryption</vt:lpstr>
      <vt:lpstr>PKC: Drawbacks of conventional encryption</vt:lpstr>
      <vt:lpstr>PKC</vt:lpstr>
      <vt:lpstr>PKC</vt:lpstr>
      <vt:lpstr>PKC functions</vt:lpstr>
      <vt:lpstr>PKC properties</vt:lpstr>
      <vt:lpstr>Secure E-Commerce</vt:lpstr>
      <vt:lpstr>Concerns with secure e-commerce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Encryption</dc:title>
  <dc:creator>nodunga</dc:creator>
  <cp:lastModifiedBy>nodunga</cp:lastModifiedBy>
  <cp:revision>38</cp:revision>
  <dcterms:created xsi:type="dcterms:W3CDTF">2022-05-17T04:05:26Z</dcterms:created>
  <dcterms:modified xsi:type="dcterms:W3CDTF">2022-05-17T06:17:31Z</dcterms:modified>
</cp:coreProperties>
</file>