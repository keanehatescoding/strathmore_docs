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344" r:id="rId2"/>
    <p:sldId id="350" r:id="rId3"/>
    <p:sldId id="351" r:id="rId4"/>
    <p:sldId id="352" r:id="rId5"/>
    <p:sldId id="353" r:id="rId6"/>
    <p:sldId id="354" r:id="rId7"/>
    <p:sldId id="355" r:id="rId8"/>
    <p:sldId id="356" r:id="rId9"/>
    <p:sldId id="357" r:id="rId10"/>
    <p:sldId id="358" r:id="rId11"/>
    <p:sldId id="359" r:id="rId12"/>
    <p:sldId id="360" r:id="rId13"/>
    <p:sldId id="361" r:id="rId14"/>
    <p:sldId id="362" r:id="rId15"/>
    <p:sldId id="363" r:id="rId16"/>
    <p:sldId id="364" r:id="rId17"/>
    <p:sldId id="377" r:id="rId18"/>
    <p:sldId id="378" r:id="rId19"/>
    <p:sldId id="379" r:id="rId20"/>
    <p:sldId id="380" r:id="rId21"/>
    <p:sldId id="381" r:id="rId22"/>
    <p:sldId id="382" r:id="rId23"/>
    <p:sldId id="365" r:id="rId24"/>
    <p:sldId id="366" r:id="rId25"/>
    <p:sldId id="367" r:id="rId26"/>
    <p:sldId id="368" r:id="rId27"/>
    <p:sldId id="369" r:id="rId28"/>
    <p:sldId id="370" r:id="rId29"/>
    <p:sldId id="396" r:id="rId30"/>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60"/>
  </p:normalViewPr>
  <p:slideViewPr>
    <p:cSldViewPr snapToGrid="0">
      <p:cViewPr varScale="1">
        <p:scale>
          <a:sx n="72" d="100"/>
          <a:sy n="72" d="100"/>
        </p:scale>
        <p:origin x="7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A502D6-FBD4-4E57-873C-32DAF99515F2}"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D7890-6E31-432C-893B-63EE3A8FFBC1}" type="slidenum">
              <a:rPr lang="en-US" smtClean="0"/>
              <a:t>‹#›</a:t>
            </a:fld>
            <a:endParaRPr lang="en-US"/>
          </a:p>
        </p:txBody>
      </p:sp>
    </p:spTree>
    <p:extLst>
      <p:ext uri="{BB962C8B-B14F-4D97-AF65-F5344CB8AC3E}">
        <p14:creationId xmlns:p14="http://schemas.microsoft.com/office/powerpoint/2010/main" val="1512183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2"/>
            <a:ext cx="9440035"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5"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69698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91878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2" y="1761069"/>
            <a:ext cx="9590551"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2" y="3589879"/>
            <a:ext cx="9590551"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310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7"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3" y="1732451"/>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615428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4" y="1770324"/>
            <a:ext cx="5049897"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661" y="1770324"/>
            <a:ext cx="5049897"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9"/>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6"/>
            <a:ext cx="4895331"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9"/>
            <a:ext cx="4895331"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80DCA5-40FD-4898-9861-9C60FFF66E16}" type="datetimeFigureOut">
              <a:rPr lang="en-US" smtClean="0"/>
              <a:pPr/>
              <a:t>6/12/2024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40794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81366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0DCA5-40FD-4898-9861-9C60FFF66E16}" type="datetimeFigureOut">
              <a:rPr lang="en-US" smtClean="0"/>
              <a:pPr/>
              <a:t>6/12/2024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07056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7"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4"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7"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42942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983" y="609923"/>
            <a:ext cx="4570861" cy="5205472"/>
          </a:xfrm>
          <a:prstGeom prst="rect">
            <a:avLst/>
          </a:prstGeom>
        </p:spPr>
      </p:pic>
      <p:sp>
        <p:nvSpPr>
          <p:cNvPr id="2" name="Title 1"/>
          <p:cNvSpPr>
            <a:spLocks noGrp="1"/>
          </p:cNvSpPr>
          <p:nvPr>
            <p:ph type="title"/>
          </p:nvPr>
        </p:nvSpPr>
        <p:spPr>
          <a:xfrm>
            <a:off x="913796" y="609923"/>
            <a:ext cx="5232901"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35638" y="743989"/>
            <a:ext cx="4220500"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6" y="2439261"/>
            <a:ext cx="5232901"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62552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994" y="540085"/>
            <a:ext cx="10208013" cy="3834374"/>
          </a:xfrm>
          <a:prstGeom prst="rect">
            <a:avLst/>
          </a:prstGeom>
        </p:spPr>
      </p:pic>
      <p:sp>
        <p:nvSpPr>
          <p:cNvPr id="2" name="Title 1"/>
          <p:cNvSpPr>
            <a:spLocks noGrp="1"/>
          </p:cNvSpPr>
          <p:nvPr>
            <p:ph type="title"/>
          </p:nvPr>
        </p:nvSpPr>
        <p:spPr>
          <a:xfrm>
            <a:off x="913806" y="4565255"/>
            <a:ext cx="10355327"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34956" y="695011"/>
            <a:ext cx="9714133"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3"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703302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3"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7143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610034"/>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5"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
        <p:nvSpPr>
          <p:cNvPr id="11" name="TextBox 10"/>
          <p:cNvSpPr txBox="1"/>
          <p:nvPr/>
        </p:nvSpPr>
        <p:spPr>
          <a:xfrm>
            <a:off x="836612" y="87391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437812" y="2933245"/>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68636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5" y="2126944"/>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6"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177447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367892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986" y="1826045"/>
            <a:ext cx="3372061"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751" y="1826045"/>
            <a:ext cx="3372061"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5620" y="1826045"/>
            <a:ext cx="3372061" cy="1833558"/>
          </a:xfrm>
          <a:prstGeom prst="rect">
            <a:avLst/>
          </a:prstGeom>
        </p:spPr>
      </p:pic>
      <p:sp>
        <p:nvSpPr>
          <p:cNvPr id="30"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3"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70"/>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4" y="4480369"/>
            <a:ext cx="3302337"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9"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7"/>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73470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992008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70" y="609601"/>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601"/>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015877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3"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51"/>
            <a:ext cx="10353763"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7"/>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680DCA5-40FD-4898-9861-9C60FFF66E16}" type="datetimeFigureOut">
              <a:rPr lang="en-US" smtClean="0"/>
              <a:pPr/>
              <a:t>6/12/2024</a:t>
            </a:fld>
            <a:endParaRPr lang="en-US"/>
          </a:p>
        </p:txBody>
      </p:sp>
      <p:sp>
        <p:nvSpPr>
          <p:cNvPr id="5" name="Footer Placeholder 4"/>
          <p:cNvSpPr>
            <a:spLocks noGrp="1"/>
          </p:cNvSpPr>
          <p:nvPr>
            <p:ph type="ftr" sz="quarter" idx="3"/>
          </p:nvPr>
        </p:nvSpPr>
        <p:spPr>
          <a:xfrm>
            <a:off x="913797" y="5883277"/>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3" y="5883277"/>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ABC2D57-CDE0-4E76-9734-C0A2E29607B0}" type="slidenum">
              <a:rPr lang="en-US" smtClean="0"/>
              <a:pPr/>
              <a:t>‹#›</a:t>
            </a:fld>
            <a:endParaRPr lang="en-US"/>
          </a:p>
        </p:txBody>
      </p:sp>
    </p:spTree>
    <p:extLst>
      <p:ext uri="{BB962C8B-B14F-4D97-AF65-F5344CB8AC3E}">
        <p14:creationId xmlns:p14="http://schemas.microsoft.com/office/powerpoint/2010/main" val="17135904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109" y="332509"/>
            <a:ext cx="10422082" cy="6068292"/>
          </a:xfrm>
        </p:spPr>
        <p:txBody>
          <a:bodyPr>
            <a:normAutofit/>
          </a:bodyPr>
          <a:lstStyle/>
          <a:p>
            <a:pPr algn="ctr">
              <a:buNone/>
            </a:pPr>
            <a:r>
              <a:rPr lang="en-US" sz="3000" b="1" dirty="0" smtClean="0">
                <a:solidFill>
                  <a:srgbClr val="00B0F0"/>
                </a:solidFill>
              </a:rPr>
              <a:t>Main </a:t>
            </a:r>
            <a:r>
              <a:rPr lang="en-US" sz="3000" b="1" dirty="0">
                <a:solidFill>
                  <a:srgbClr val="00B0F0"/>
                </a:solidFill>
              </a:rPr>
              <a:t>Ethical Frameworks</a:t>
            </a:r>
          </a:p>
          <a:p>
            <a:r>
              <a:rPr lang="en-US" sz="2600" b="1" dirty="0">
                <a:solidFill>
                  <a:srgbClr val="00B050"/>
                </a:solidFill>
              </a:rPr>
              <a:t>Divine-command ethics</a:t>
            </a:r>
            <a:r>
              <a:rPr lang="en-US" sz="2600" b="1" dirty="0"/>
              <a:t>: </a:t>
            </a:r>
            <a:r>
              <a:rPr lang="en-US" sz="2600" dirty="0"/>
              <a:t>What ought I do? What God ordains I ought to do. Augustine and Aquinas are good examples</a:t>
            </a:r>
          </a:p>
          <a:p>
            <a:r>
              <a:rPr lang="en-US" sz="2600" b="1" dirty="0">
                <a:solidFill>
                  <a:srgbClr val="00B050"/>
                </a:solidFill>
              </a:rPr>
              <a:t>Virtue ethics</a:t>
            </a:r>
            <a:r>
              <a:rPr lang="en-US" sz="2600" b="1" dirty="0"/>
              <a:t>: </a:t>
            </a:r>
            <a:r>
              <a:rPr lang="en-US" sz="2600" dirty="0"/>
              <a:t>For virtue ethics, the primary question is not, what ought I to do? But rather what kind of person ought I to be? Plato and Aristotle are good examples</a:t>
            </a:r>
          </a:p>
          <a:p>
            <a:r>
              <a:rPr lang="en-US" sz="2600" b="1" dirty="0" smtClean="0">
                <a:solidFill>
                  <a:srgbClr val="00B050"/>
                </a:solidFill>
              </a:rPr>
              <a:t>Teleology/Consequentialist</a:t>
            </a:r>
            <a:r>
              <a:rPr lang="en-US" sz="2600" b="1" dirty="0" smtClean="0"/>
              <a:t>:  </a:t>
            </a:r>
            <a:r>
              <a:rPr lang="en-US" sz="2600" dirty="0"/>
              <a:t>What ought I to do? Whatever has the most desirable consequences. The Epicureans, Stoics and Utilitarians are good examples</a:t>
            </a:r>
          </a:p>
          <a:p>
            <a:r>
              <a:rPr lang="en-US" sz="2600" b="1" dirty="0">
                <a:solidFill>
                  <a:srgbClr val="00B050"/>
                </a:solidFill>
              </a:rPr>
              <a:t>Deontological ethics</a:t>
            </a:r>
            <a:r>
              <a:rPr lang="en-US" sz="2600" b="1" dirty="0"/>
              <a:t>: </a:t>
            </a:r>
            <a:r>
              <a:rPr lang="en-US" sz="2600" dirty="0"/>
              <a:t>What ought I to do? Whatever it is my moral duty to do ( sometimes regardless of consequences). E. Kant is a good </a:t>
            </a:r>
            <a:r>
              <a:rPr lang="en-US" sz="2600" dirty="0" smtClean="0"/>
              <a:t>example</a:t>
            </a:r>
          </a:p>
          <a:p>
            <a:endParaRPr lang="en-US" sz="2600" dirty="0"/>
          </a:p>
        </p:txBody>
      </p:sp>
    </p:spTree>
    <p:extLst>
      <p:ext uri="{BB962C8B-B14F-4D97-AF65-F5344CB8AC3E}">
        <p14:creationId xmlns:p14="http://schemas.microsoft.com/office/powerpoint/2010/main" val="101242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0" y="381001"/>
            <a:ext cx="11220174" cy="6086060"/>
          </a:xfrm>
        </p:spPr>
        <p:txBody>
          <a:bodyPr>
            <a:normAutofit/>
          </a:bodyPr>
          <a:lstStyle/>
          <a:p>
            <a:pPr lvl="0">
              <a:buNone/>
            </a:pPr>
            <a:r>
              <a:rPr lang="en-US" sz="3000" b="1" dirty="0" smtClean="0">
                <a:solidFill>
                  <a:srgbClr val="00B0F0"/>
                </a:solidFill>
              </a:rPr>
              <a:t>Consequentialist Theories</a:t>
            </a:r>
            <a:endParaRPr lang="en-US" sz="3000" dirty="0" smtClean="0"/>
          </a:p>
          <a:p>
            <a:pPr lvl="0">
              <a:buFont typeface="Wingdings" panose="05000000000000000000" pitchFamily="2" charset="2"/>
              <a:buChar char="§"/>
            </a:pPr>
            <a:r>
              <a:rPr lang="en-US" sz="2600" dirty="0" smtClean="0"/>
              <a:t>They are also called teleological theories from the Greek word </a:t>
            </a:r>
            <a:r>
              <a:rPr lang="en-US" sz="2600" i="1" dirty="0" smtClean="0"/>
              <a:t>telos</a:t>
            </a:r>
            <a:r>
              <a:rPr lang="en-US" sz="2600" dirty="0" smtClean="0"/>
              <a:t> which means end, goal or purpose</a:t>
            </a:r>
          </a:p>
          <a:p>
            <a:pPr lvl="0"/>
            <a:endParaRPr lang="en-US" sz="2600" dirty="0" smtClean="0"/>
          </a:p>
          <a:p>
            <a:pPr lvl="0"/>
            <a:r>
              <a:rPr lang="en-US" sz="2600" dirty="0" smtClean="0"/>
              <a:t>According </a:t>
            </a:r>
            <a:r>
              <a:rPr lang="en-US" sz="2600" dirty="0"/>
              <a:t>to these theories the rightness or wrongness evaluated on the basis of their goals, end, result, outcome or consequences.</a:t>
            </a:r>
          </a:p>
          <a:p>
            <a:pPr lvl="0"/>
            <a:endParaRPr lang="en-US" sz="2600" dirty="0" smtClean="0"/>
          </a:p>
          <a:p>
            <a:pPr lvl="0"/>
            <a:r>
              <a:rPr lang="en-US" sz="2600" dirty="0" smtClean="0"/>
              <a:t>Actions </a:t>
            </a:r>
            <a:r>
              <a:rPr lang="en-US" sz="2600" dirty="0"/>
              <a:t>are right or wrong on </a:t>
            </a:r>
            <a:r>
              <a:rPr lang="en-US" sz="2600" dirty="0" smtClean="0"/>
              <a:t>the </a:t>
            </a:r>
            <a:r>
              <a:rPr lang="en-US" sz="2600" dirty="0"/>
              <a:t>basis of their </a:t>
            </a:r>
            <a:r>
              <a:rPr lang="en-US" sz="2600" dirty="0" smtClean="0"/>
              <a:t>consequences</a:t>
            </a:r>
            <a:endParaRPr lang="en-US" sz="2600" dirty="0"/>
          </a:p>
          <a:p>
            <a:pPr lvl="0"/>
            <a:endParaRPr lang="en-US" sz="2600" dirty="0" smtClean="0"/>
          </a:p>
          <a:p>
            <a:pPr lvl="0"/>
            <a:r>
              <a:rPr lang="en-US" sz="2600" dirty="0" smtClean="0"/>
              <a:t>Actions </a:t>
            </a:r>
            <a:r>
              <a:rPr lang="en-US" sz="2600" dirty="0"/>
              <a:t>are not right or wrong in themselves they are so by virtue of their consequences. Examples are: utilitarianism and ethical egoism</a:t>
            </a:r>
          </a:p>
          <a:p>
            <a:endParaRPr lang="en-US" sz="2600" dirty="0"/>
          </a:p>
        </p:txBody>
      </p:sp>
    </p:spTree>
    <p:extLst>
      <p:ext uri="{BB962C8B-B14F-4D97-AF65-F5344CB8AC3E}">
        <p14:creationId xmlns:p14="http://schemas.microsoft.com/office/powerpoint/2010/main" val="2365544941"/>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410" y="444842"/>
            <a:ext cx="11146511" cy="6075227"/>
          </a:xfrm>
        </p:spPr>
        <p:txBody>
          <a:bodyPr>
            <a:normAutofit/>
          </a:bodyPr>
          <a:lstStyle/>
          <a:p>
            <a:pPr lvl="0">
              <a:buNone/>
            </a:pPr>
            <a:r>
              <a:rPr lang="en-US" sz="3600" b="1" dirty="0" smtClean="0">
                <a:solidFill>
                  <a:schemeClr val="accent1"/>
                </a:solidFill>
              </a:rPr>
              <a:t> </a:t>
            </a:r>
            <a:r>
              <a:rPr lang="en-US" sz="3600" b="1" dirty="0" smtClean="0">
                <a:solidFill>
                  <a:srgbClr val="00B050"/>
                </a:solidFill>
              </a:rPr>
              <a:t>UTILITARIANISM/ETHICAL UNIVERSALISM </a:t>
            </a:r>
          </a:p>
          <a:p>
            <a:pPr lvl="0"/>
            <a:r>
              <a:rPr lang="en-US" sz="2600" b="1" dirty="0" smtClean="0"/>
              <a:t>ACTIONS –</a:t>
            </a:r>
            <a:r>
              <a:rPr lang="en-US" sz="2600" dirty="0" smtClean="0"/>
              <a:t> are right or wrong solely by virtue of their consequences, nothing else matters.  Actions are not right or wrong in themselves</a:t>
            </a:r>
          </a:p>
          <a:p>
            <a:r>
              <a:rPr lang="en-US" sz="2600" dirty="0" smtClean="0"/>
              <a:t>Actions </a:t>
            </a:r>
            <a:r>
              <a:rPr lang="en-US" sz="2600" dirty="0"/>
              <a:t>are evaluated on the basis of their </a:t>
            </a:r>
            <a:r>
              <a:rPr lang="en-US" sz="2600" dirty="0" smtClean="0"/>
              <a:t>utility; i.e. </a:t>
            </a:r>
            <a:r>
              <a:rPr lang="en-US" sz="2600" dirty="0"/>
              <a:t>it is the usefulness that determines the capacity of actions to produce good results, and hence the moral character of actions</a:t>
            </a:r>
          </a:p>
          <a:p>
            <a:r>
              <a:rPr lang="en-US" sz="2600" dirty="0" smtClean="0"/>
              <a:t>Thus right actions are those that bring about desirable consequences, wrong the reverse.</a:t>
            </a:r>
          </a:p>
          <a:p>
            <a:pPr>
              <a:buFont typeface="Wingdings" pitchFamily="2" charset="2"/>
              <a:buChar char="Ø"/>
            </a:pPr>
            <a:r>
              <a:rPr lang="en-US" sz="2600" dirty="0" smtClean="0">
                <a:solidFill>
                  <a:srgbClr val="FFFF00"/>
                </a:solidFill>
              </a:rPr>
              <a:t> </a:t>
            </a:r>
            <a:r>
              <a:rPr lang="en-US" sz="2600" b="1" dirty="0" smtClean="0">
                <a:solidFill>
                  <a:srgbClr val="FFFF00"/>
                </a:solidFill>
              </a:rPr>
              <a:t>In assessing consequences</a:t>
            </a:r>
            <a:r>
              <a:rPr lang="en-US" sz="2600" dirty="0" smtClean="0">
                <a:solidFill>
                  <a:srgbClr val="FFFF00"/>
                </a:solidFill>
              </a:rPr>
              <a:t> </a:t>
            </a:r>
            <a:r>
              <a:rPr lang="en-US" sz="2600" dirty="0" smtClean="0"/>
              <a:t>– what matters is the amount of happiness or unhappiness caused, thus actions are right if they maximize or increase happiness(pleasure or absence of pain and suffering) or at least minimize unhappiness(pain and suffering).</a:t>
            </a:r>
          </a:p>
        </p:txBody>
      </p:sp>
    </p:spTree>
    <p:extLst>
      <p:ext uri="{BB962C8B-B14F-4D97-AF65-F5344CB8AC3E}">
        <p14:creationId xmlns:p14="http://schemas.microsoft.com/office/powerpoint/2010/main" val="56691420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809" y="518984"/>
            <a:ext cx="11463130" cy="5895067"/>
          </a:xfrm>
        </p:spPr>
        <p:txBody>
          <a:bodyPr>
            <a:normAutofit/>
          </a:bodyPr>
          <a:lstStyle/>
          <a:p>
            <a:r>
              <a:rPr lang="en-US" sz="2600" dirty="0" smtClean="0"/>
              <a:t>Thus right actions are those that bring about greater amount of happiness over evil</a:t>
            </a:r>
          </a:p>
          <a:p>
            <a:pPr lvl="0"/>
            <a:endParaRPr lang="en-US" sz="2600" b="1" dirty="0" smtClean="0">
              <a:solidFill>
                <a:srgbClr val="FFC000"/>
              </a:solidFill>
            </a:endParaRPr>
          </a:p>
          <a:p>
            <a:pPr lvl="0"/>
            <a:r>
              <a:rPr lang="en-US" sz="2600" b="1" dirty="0" smtClean="0">
                <a:solidFill>
                  <a:srgbClr val="FFC000"/>
                </a:solidFill>
              </a:rPr>
              <a:t>In calculating happiness or unhappiness caused</a:t>
            </a:r>
            <a:r>
              <a:rPr lang="en-US" sz="2600" dirty="0" smtClean="0">
                <a:solidFill>
                  <a:srgbClr val="FFC000"/>
                </a:solidFill>
              </a:rPr>
              <a:t> </a:t>
            </a:r>
            <a:r>
              <a:rPr lang="en-US" sz="2600" dirty="0" smtClean="0"/>
              <a:t>–</a:t>
            </a:r>
            <a:r>
              <a:rPr lang="en-US" sz="2600" dirty="0"/>
              <a:t>each person’s welfare, wellbeing counts equally.</a:t>
            </a:r>
          </a:p>
          <a:p>
            <a:endParaRPr lang="en-US" sz="2600" dirty="0" smtClean="0"/>
          </a:p>
          <a:p>
            <a:r>
              <a:rPr lang="en-US" sz="2600" dirty="0" smtClean="0"/>
              <a:t>Actions </a:t>
            </a:r>
            <a:r>
              <a:rPr lang="en-US" sz="2600" dirty="0"/>
              <a:t>are right if they bring about the greatest amount of happiness for the greatest majority or they promote common good.</a:t>
            </a:r>
          </a:p>
          <a:p>
            <a:endParaRPr lang="en-US" sz="2600" dirty="0" smtClean="0"/>
          </a:p>
          <a:p>
            <a:r>
              <a:rPr lang="en-US" sz="2600" dirty="0" smtClean="0"/>
              <a:t>Therefore </a:t>
            </a:r>
            <a:r>
              <a:rPr lang="en-US" sz="2600" dirty="0"/>
              <a:t>utilitarianism is a theory based on the principle of utility which states that actions are morally right in proportion as they tend to produce happiness or wrong as they tend to produce the reverse of happiness</a:t>
            </a:r>
          </a:p>
          <a:p>
            <a:endParaRPr lang="en-US" sz="2400" dirty="0"/>
          </a:p>
        </p:txBody>
      </p:sp>
    </p:spTree>
    <p:extLst>
      <p:ext uri="{BB962C8B-B14F-4D97-AF65-F5344CB8AC3E}">
        <p14:creationId xmlns:p14="http://schemas.microsoft.com/office/powerpoint/2010/main" val="303094304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205" y="432486"/>
            <a:ext cx="11281719" cy="6054811"/>
          </a:xfrm>
        </p:spPr>
        <p:txBody>
          <a:bodyPr>
            <a:normAutofit/>
          </a:bodyPr>
          <a:lstStyle/>
          <a:p>
            <a:pPr algn="ctr">
              <a:buNone/>
            </a:pPr>
            <a:r>
              <a:rPr lang="en-US" sz="2400" b="1" dirty="0" smtClean="0"/>
              <a:t>STRENGTHS OF UTILITARIAN THEORY</a:t>
            </a:r>
            <a:endParaRPr lang="en-US" sz="2400" dirty="0" smtClean="0"/>
          </a:p>
          <a:p>
            <a:r>
              <a:rPr lang="en-US" sz="2400" dirty="0" smtClean="0"/>
              <a:t>Modern </a:t>
            </a:r>
            <a:r>
              <a:rPr lang="en-US" sz="2400" dirty="0"/>
              <a:t>utilitarian has been very influential in social reforms, social and economic policy formulation (utilitarianism – underlies the classical economic theory)</a:t>
            </a:r>
          </a:p>
          <a:p>
            <a:pPr lvl="0"/>
            <a:r>
              <a:rPr lang="en-US" sz="2400" dirty="0" smtClean="0"/>
              <a:t>Looks </a:t>
            </a:r>
            <a:r>
              <a:rPr lang="en-US" sz="2400" dirty="0"/>
              <a:t>at the actual impact of a particular decision, action, policy and asks; how will it affect people?</a:t>
            </a:r>
          </a:p>
          <a:p>
            <a:pPr lvl="0"/>
            <a:r>
              <a:rPr lang="en-US" sz="2400" dirty="0" smtClean="0"/>
              <a:t>It </a:t>
            </a:r>
            <a:r>
              <a:rPr lang="en-US" sz="2400" dirty="0"/>
              <a:t>is therefore tuned to the nuances of life and seeks to respond to them</a:t>
            </a:r>
          </a:p>
          <a:p>
            <a:pPr lvl="0"/>
            <a:r>
              <a:rPr lang="en-US" sz="2400" dirty="0" smtClean="0"/>
              <a:t>Economists </a:t>
            </a:r>
            <a:r>
              <a:rPr lang="en-US" sz="2400" dirty="0"/>
              <a:t>– share the concept of utility – in terms of ability or capacity in goods and services to satisfy needs; for example they ask what would society benefit from alternative form of expenditure</a:t>
            </a:r>
            <a:r>
              <a:rPr lang="en-US" sz="2400" dirty="0" smtClean="0"/>
              <a:t>?</a:t>
            </a:r>
          </a:p>
          <a:p>
            <a:pPr lvl="0"/>
            <a:r>
              <a:rPr lang="en-US" sz="2400" dirty="0" smtClean="0"/>
              <a:t>Seeks happiness of all rather than the fortunate few, it tends towards egalitarianism – hence helps to defeat egoistic tendencies</a:t>
            </a:r>
          </a:p>
          <a:p>
            <a:pPr lvl="0"/>
            <a:r>
              <a:rPr lang="en-US" sz="2400" dirty="0" smtClean="0"/>
              <a:t>Stimulus for social improvement, it recognizes humans as social beings.</a:t>
            </a:r>
          </a:p>
          <a:p>
            <a:pPr lvl="0"/>
            <a:r>
              <a:rPr lang="en-US" sz="2400" dirty="0" smtClean="0"/>
              <a:t>Promotes public good, it aims at achieving the common good.</a:t>
            </a:r>
          </a:p>
          <a:p>
            <a:pPr lvl="0"/>
            <a:endParaRPr lang="en-US" sz="2400" dirty="0"/>
          </a:p>
        </p:txBody>
      </p:sp>
    </p:spTree>
    <p:extLst>
      <p:ext uri="{BB962C8B-B14F-4D97-AF65-F5344CB8AC3E}">
        <p14:creationId xmlns:p14="http://schemas.microsoft.com/office/powerpoint/2010/main" val="2955318601"/>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4908" y="531340"/>
            <a:ext cx="9465276" cy="5745891"/>
          </a:xfrm>
        </p:spPr>
        <p:txBody>
          <a:bodyPr>
            <a:normAutofit/>
          </a:bodyPr>
          <a:lstStyle/>
          <a:p>
            <a:pPr lvl="0" algn="ctr">
              <a:buNone/>
            </a:pPr>
            <a:r>
              <a:rPr lang="en-US" sz="2800" b="1" dirty="0" smtClean="0"/>
              <a:t>WEAKNESSES</a:t>
            </a:r>
            <a:endParaRPr lang="en-US" sz="2800" dirty="0" smtClean="0"/>
          </a:p>
          <a:p>
            <a:pPr lvl="0" algn="just"/>
            <a:r>
              <a:rPr lang="en-US" sz="2400" dirty="0" smtClean="0"/>
              <a:t>Ignores </a:t>
            </a:r>
            <a:r>
              <a:rPr lang="en-US" sz="2400" dirty="0"/>
              <a:t>other moral making characteristics e.g. justice, rights, keeping promise; hence it may justify the principle </a:t>
            </a:r>
            <a:r>
              <a:rPr lang="en-US" sz="2400" dirty="0" smtClean="0"/>
              <a:t>that the end </a:t>
            </a:r>
            <a:r>
              <a:rPr lang="en-US" sz="2400" dirty="0"/>
              <a:t>justifies the means</a:t>
            </a:r>
          </a:p>
          <a:p>
            <a:pPr algn="just"/>
            <a:endParaRPr lang="en-US" sz="2400" dirty="0"/>
          </a:p>
          <a:p>
            <a:pPr lvl="0" algn="just"/>
            <a:r>
              <a:rPr lang="en-US" sz="2400" dirty="0"/>
              <a:t>Utilitarianism may sanction the use of persons as mere </a:t>
            </a:r>
            <a:r>
              <a:rPr lang="en-US" sz="2400" dirty="0" smtClean="0"/>
              <a:t>means </a:t>
            </a:r>
            <a:r>
              <a:rPr lang="en-US" sz="2400" dirty="0"/>
              <a:t>instead of requiring us to respect persons as ends </a:t>
            </a:r>
          </a:p>
          <a:p>
            <a:pPr algn="just"/>
            <a:endParaRPr lang="en-US" sz="2400" dirty="0"/>
          </a:p>
          <a:p>
            <a:pPr lvl="0" algn="just"/>
            <a:r>
              <a:rPr lang="en-US" sz="2400" dirty="0"/>
              <a:t>Problem of how to determine or calculate happiness or pleasure, what is the common good? What is the standard of measure?</a:t>
            </a:r>
          </a:p>
          <a:p>
            <a:endParaRPr lang="en-US" sz="2400" dirty="0"/>
          </a:p>
        </p:txBody>
      </p:sp>
    </p:spTree>
    <p:extLst>
      <p:ext uri="{BB962C8B-B14F-4D97-AF65-F5344CB8AC3E}">
        <p14:creationId xmlns:p14="http://schemas.microsoft.com/office/powerpoint/2010/main" val="63855228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ETHICAL EGOISM</a:t>
            </a:r>
            <a:endParaRPr lang="en-US" dirty="0"/>
          </a:p>
        </p:txBody>
      </p:sp>
      <p:sp>
        <p:nvSpPr>
          <p:cNvPr id="3" name="Content Placeholder 2"/>
          <p:cNvSpPr>
            <a:spLocks noGrp="1"/>
          </p:cNvSpPr>
          <p:nvPr>
            <p:ph idx="1"/>
          </p:nvPr>
        </p:nvSpPr>
        <p:spPr>
          <a:xfrm>
            <a:off x="609600" y="1219200"/>
            <a:ext cx="10972800" cy="5257800"/>
          </a:xfrm>
        </p:spPr>
        <p:txBody>
          <a:bodyPr>
            <a:noAutofit/>
          </a:bodyPr>
          <a:lstStyle/>
          <a:p>
            <a:r>
              <a:rPr lang="en-US" sz="2600" dirty="0" smtClean="0"/>
              <a:t>This theory </a:t>
            </a:r>
            <a:r>
              <a:rPr lang="en-US" sz="2600" dirty="0"/>
              <a:t>says that each person ought to pursue his or her own self-interest exclusively</a:t>
            </a:r>
            <a:r>
              <a:rPr lang="en-US" sz="2600" dirty="0" smtClean="0"/>
              <a:t>.</a:t>
            </a:r>
          </a:p>
          <a:p>
            <a:r>
              <a:rPr lang="en-US" sz="2600" dirty="0" smtClean="0"/>
              <a:t>No </a:t>
            </a:r>
            <a:r>
              <a:rPr lang="en-US" sz="2600" dirty="0"/>
              <a:t>one has any moral duty except to do what is in </a:t>
            </a:r>
            <a:r>
              <a:rPr lang="en-US" sz="2600" dirty="0" smtClean="0"/>
              <a:t>one’s </a:t>
            </a:r>
            <a:r>
              <a:rPr lang="en-US" sz="2600" dirty="0"/>
              <a:t>best interest or to promote self interest</a:t>
            </a:r>
            <a:r>
              <a:rPr lang="en-US" sz="2600" dirty="0" smtClean="0"/>
              <a:t>.</a:t>
            </a:r>
          </a:p>
          <a:p>
            <a:r>
              <a:rPr lang="en-US" sz="2600" dirty="0" smtClean="0"/>
              <a:t>That </a:t>
            </a:r>
            <a:r>
              <a:rPr lang="en-US" sz="2600" dirty="0"/>
              <a:t>what makes an action right is the fact that it is to </a:t>
            </a:r>
            <a:r>
              <a:rPr lang="en-US" sz="2600" dirty="0" smtClean="0"/>
              <a:t>one’s </a:t>
            </a:r>
            <a:r>
              <a:rPr lang="en-US" sz="2600" dirty="0"/>
              <a:t>own advantage, hence the ultimate principle of moral conduct is self interest</a:t>
            </a:r>
            <a:r>
              <a:rPr lang="en-US" sz="2600" dirty="0" smtClean="0"/>
              <a:t>.</a:t>
            </a:r>
          </a:p>
          <a:p>
            <a:r>
              <a:rPr lang="en-US" sz="2600" dirty="0" smtClean="0"/>
              <a:t>One </a:t>
            </a:r>
            <a:r>
              <a:rPr lang="en-US" sz="2600" dirty="0"/>
              <a:t>can pursue self interest in the short term which tends towards hedonism or long term, what may be termed enlightened self interest</a:t>
            </a:r>
          </a:p>
        </p:txBody>
      </p:sp>
    </p:spTree>
    <p:extLst>
      <p:ext uri="{BB962C8B-B14F-4D97-AF65-F5344CB8AC3E}">
        <p14:creationId xmlns:p14="http://schemas.microsoft.com/office/powerpoint/2010/main" val="350315665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81914"/>
            <a:ext cx="8596668" cy="976183"/>
          </a:xfrm>
        </p:spPr>
        <p:txBody>
          <a:bodyPr>
            <a:normAutofit fontScale="90000"/>
          </a:bodyPr>
          <a:lstStyle/>
          <a:p>
            <a:r>
              <a:rPr lang="en-US" sz="3200" b="1" dirty="0" smtClean="0"/>
              <a:t/>
            </a:r>
            <a:br>
              <a:rPr lang="en-US" sz="3200" b="1" dirty="0" smtClean="0"/>
            </a:br>
            <a:r>
              <a:rPr lang="en-US" sz="3600" b="1" dirty="0" smtClean="0"/>
              <a:t>ARGUMENTS IN FAVOUR OF ETHICAL EGOISM</a:t>
            </a:r>
            <a:r>
              <a:rPr lang="en-US" sz="3200" dirty="0" smtClean="0"/>
              <a:t/>
            </a:r>
            <a:br>
              <a:rPr lang="en-US" sz="3200" dirty="0" smtClean="0"/>
            </a:br>
            <a:endParaRPr lang="en-US" sz="3200" dirty="0"/>
          </a:p>
        </p:txBody>
      </p:sp>
      <p:sp>
        <p:nvSpPr>
          <p:cNvPr id="3" name="Content Placeholder 2"/>
          <p:cNvSpPr>
            <a:spLocks noGrp="1"/>
          </p:cNvSpPr>
          <p:nvPr>
            <p:ph idx="1"/>
          </p:nvPr>
        </p:nvSpPr>
        <p:spPr>
          <a:xfrm>
            <a:off x="420131" y="1631092"/>
            <a:ext cx="9774194" cy="4845908"/>
          </a:xfrm>
        </p:spPr>
        <p:txBody>
          <a:bodyPr>
            <a:normAutofit/>
          </a:bodyPr>
          <a:lstStyle/>
          <a:p>
            <a:pPr lvl="0"/>
            <a:r>
              <a:rPr lang="en-US" sz="2500" dirty="0"/>
              <a:t>That each person knows oneself better, hence familiar with ones </a:t>
            </a:r>
            <a:r>
              <a:rPr lang="en-US" sz="2500" dirty="0" smtClean="0"/>
              <a:t>own</a:t>
            </a:r>
            <a:r>
              <a:rPr lang="en-US" sz="2500" b="1" dirty="0" smtClean="0"/>
              <a:t> </a:t>
            </a:r>
            <a:r>
              <a:rPr lang="en-US" sz="2500" dirty="0" smtClean="0"/>
              <a:t>interests, needs, wants; one </a:t>
            </a:r>
            <a:r>
              <a:rPr lang="en-US" sz="2500" dirty="0"/>
              <a:t>may not know other people’s </a:t>
            </a:r>
            <a:r>
              <a:rPr lang="en-US" sz="2500" dirty="0" smtClean="0"/>
              <a:t>interests</a:t>
            </a:r>
          </a:p>
          <a:p>
            <a:pPr lvl="0"/>
            <a:endParaRPr lang="en-US" sz="2500" dirty="0"/>
          </a:p>
          <a:p>
            <a:pPr lvl="0"/>
            <a:r>
              <a:rPr lang="en-US" sz="2500" dirty="0"/>
              <a:t>That looking out for others is intrusion into their </a:t>
            </a:r>
            <a:r>
              <a:rPr lang="en-US" sz="2500" dirty="0" smtClean="0"/>
              <a:t>privacy</a:t>
            </a:r>
          </a:p>
          <a:p>
            <a:pPr lvl="0"/>
            <a:endParaRPr lang="en-US" sz="2500" dirty="0"/>
          </a:p>
          <a:p>
            <a:pPr lvl="0"/>
            <a:r>
              <a:rPr lang="en-US" sz="2500" dirty="0"/>
              <a:t>That making other people our objects of charity or altruism is degrading, it robs them their dignity and individuality.</a:t>
            </a:r>
          </a:p>
          <a:p>
            <a:endParaRPr lang="en-US" sz="2500" dirty="0"/>
          </a:p>
        </p:txBody>
      </p:sp>
    </p:spTree>
    <p:extLst>
      <p:ext uri="{BB962C8B-B14F-4D97-AF65-F5344CB8AC3E}">
        <p14:creationId xmlns:p14="http://schemas.microsoft.com/office/powerpoint/2010/main" val="20149752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ARGUMENTS AGAINST ETHICAL EGOISM</a:t>
            </a:r>
            <a:endParaRPr lang="en-US" sz="3600" dirty="0"/>
          </a:p>
        </p:txBody>
      </p:sp>
      <p:sp>
        <p:nvSpPr>
          <p:cNvPr id="3" name="Content Placeholder 2"/>
          <p:cNvSpPr>
            <a:spLocks noGrp="1"/>
          </p:cNvSpPr>
          <p:nvPr>
            <p:ph idx="1"/>
          </p:nvPr>
        </p:nvSpPr>
        <p:spPr>
          <a:xfrm>
            <a:off x="449705" y="1655804"/>
            <a:ext cx="9707549" cy="4584357"/>
          </a:xfrm>
        </p:spPr>
        <p:txBody>
          <a:bodyPr>
            <a:noAutofit/>
          </a:bodyPr>
          <a:lstStyle/>
          <a:p>
            <a:pPr lvl="0" algn="just"/>
            <a:r>
              <a:rPr lang="en-US" sz="2500" dirty="0"/>
              <a:t>It is a defective theory as it cannot perform the major functions of morality e.g. solving conflicts of interests, advising, judging etc</a:t>
            </a:r>
            <a:r>
              <a:rPr lang="en-US" sz="2500" dirty="0" smtClean="0"/>
              <a:t>.</a:t>
            </a:r>
          </a:p>
          <a:p>
            <a:pPr lvl="0" algn="just">
              <a:buNone/>
            </a:pPr>
            <a:endParaRPr lang="en-US" sz="2500" dirty="0"/>
          </a:p>
          <a:p>
            <a:pPr lvl="0" algn="just"/>
            <a:r>
              <a:rPr lang="en-US" sz="2500" dirty="0"/>
              <a:t>It is contradictory as it can not be in ones interest or advantage that everyone pursues self interest assiduously, hence one can not will egoistic maxim to be </a:t>
            </a:r>
            <a:r>
              <a:rPr lang="en-US" sz="2500" dirty="0" smtClean="0"/>
              <a:t>universalized.</a:t>
            </a:r>
          </a:p>
          <a:p>
            <a:pPr lvl="0" algn="just"/>
            <a:endParaRPr lang="en-US" sz="2500" dirty="0"/>
          </a:p>
          <a:p>
            <a:pPr lvl="0" algn="just"/>
            <a:r>
              <a:rPr lang="en-US" sz="2500" dirty="0"/>
              <a:t>It is an arbitrary doctrine, regarding ones own interests as being more important than all others.</a:t>
            </a:r>
          </a:p>
          <a:p>
            <a:endParaRPr lang="en-US" sz="2500" dirty="0"/>
          </a:p>
        </p:txBody>
      </p:sp>
    </p:spTree>
    <p:extLst>
      <p:ext uri="{BB962C8B-B14F-4D97-AF65-F5344CB8AC3E}">
        <p14:creationId xmlns:p14="http://schemas.microsoft.com/office/powerpoint/2010/main" val="307812731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635" y="254834"/>
            <a:ext cx="10815729" cy="686070"/>
          </a:xfrm>
        </p:spPr>
        <p:txBody>
          <a:bodyPr>
            <a:normAutofit fontScale="90000"/>
          </a:bodyPr>
          <a:lstStyle/>
          <a:p>
            <a:r>
              <a:rPr lang="en-US" b="1" dirty="0" smtClean="0"/>
              <a:t/>
            </a:r>
            <a:br>
              <a:rPr lang="en-US" b="1" dirty="0" smtClean="0"/>
            </a:br>
            <a:r>
              <a:rPr lang="en-US" b="1" dirty="0" smtClean="0">
                <a:solidFill>
                  <a:srgbClr val="00B0F0"/>
                </a:solidFill>
              </a:rPr>
              <a:t>DEONTOLOGICAL </a:t>
            </a:r>
            <a:r>
              <a:rPr lang="en-US" b="1" dirty="0">
                <a:solidFill>
                  <a:srgbClr val="00B0F0"/>
                </a:solidFill>
              </a:rPr>
              <a:t>THEORIES </a:t>
            </a:r>
            <a:r>
              <a:rPr lang="en-US" dirty="0"/>
              <a:t/>
            </a:r>
            <a:br>
              <a:rPr lang="en-US" dirty="0"/>
            </a:br>
            <a:endParaRPr lang="en-US" dirty="0"/>
          </a:p>
        </p:txBody>
      </p:sp>
      <p:sp>
        <p:nvSpPr>
          <p:cNvPr id="3" name="Content Placeholder 2"/>
          <p:cNvSpPr>
            <a:spLocks noGrp="1"/>
          </p:cNvSpPr>
          <p:nvPr>
            <p:ph idx="1"/>
          </p:nvPr>
        </p:nvSpPr>
        <p:spPr>
          <a:xfrm>
            <a:off x="299803" y="1073427"/>
            <a:ext cx="11521136" cy="5406886"/>
          </a:xfrm>
        </p:spPr>
        <p:txBody>
          <a:bodyPr>
            <a:normAutofit fontScale="77500" lnSpcReduction="20000"/>
          </a:bodyPr>
          <a:lstStyle/>
          <a:p>
            <a:pPr marL="0" indent="0">
              <a:buNone/>
            </a:pPr>
            <a:r>
              <a:rPr lang="en-US" sz="3600" dirty="0"/>
              <a:t>Derived from the Greek word </a:t>
            </a:r>
            <a:r>
              <a:rPr lang="en-US" sz="3600" i="1" dirty="0" err="1"/>
              <a:t>deon</a:t>
            </a:r>
            <a:r>
              <a:rPr lang="en-US" sz="3600" i="1" dirty="0"/>
              <a:t>, </a:t>
            </a:r>
            <a:r>
              <a:rPr lang="en-US" sz="3600" dirty="0"/>
              <a:t>meaning obligations, duty or principle</a:t>
            </a:r>
          </a:p>
          <a:p>
            <a:pPr>
              <a:buNone/>
            </a:pPr>
            <a:r>
              <a:rPr lang="en-US" sz="3600" dirty="0"/>
              <a:t> </a:t>
            </a:r>
          </a:p>
          <a:p>
            <a:pPr lvl="0"/>
            <a:r>
              <a:rPr lang="en-US" sz="3600" dirty="0"/>
              <a:t>Places the determination of right/wrong on one’s duty or  </a:t>
            </a:r>
            <a:r>
              <a:rPr lang="en-US" sz="3600" dirty="0" smtClean="0"/>
              <a:t>obligation</a:t>
            </a:r>
          </a:p>
          <a:p>
            <a:pPr lvl="0"/>
            <a:endParaRPr lang="en-US" sz="3600" dirty="0"/>
          </a:p>
          <a:p>
            <a:pPr lvl="0"/>
            <a:r>
              <a:rPr lang="en-US" sz="3600" dirty="0" smtClean="0"/>
              <a:t>Actions </a:t>
            </a:r>
            <a:r>
              <a:rPr lang="en-US" sz="3600" dirty="0"/>
              <a:t>are done for reasons of duty or principle i.e. from a sense of duty</a:t>
            </a:r>
          </a:p>
          <a:p>
            <a:pPr lvl="0"/>
            <a:endParaRPr lang="en-US" sz="3600" dirty="0" smtClean="0"/>
          </a:p>
          <a:p>
            <a:pPr lvl="0"/>
            <a:r>
              <a:rPr lang="en-US" sz="3600" dirty="0" smtClean="0"/>
              <a:t>Consequences </a:t>
            </a:r>
            <a:r>
              <a:rPr lang="en-US" sz="3600" dirty="0"/>
              <a:t>are irrelevant in determination of right or wrong.</a:t>
            </a:r>
          </a:p>
          <a:p>
            <a:pPr lvl="0"/>
            <a:endParaRPr lang="en-US" sz="3600" dirty="0" smtClean="0"/>
          </a:p>
          <a:p>
            <a:pPr lvl="0"/>
            <a:r>
              <a:rPr lang="en-US" sz="3600" dirty="0" smtClean="0"/>
              <a:t>Examples</a:t>
            </a:r>
            <a:r>
              <a:rPr lang="en-US" sz="3600" dirty="0"/>
              <a:t>: Kant’s theory, Rights-based theory, Divine command theory.</a:t>
            </a:r>
          </a:p>
          <a:p>
            <a:endParaRPr lang="en-US" dirty="0"/>
          </a:p>
        </p:txBody>
      </p:sp>
    </p:spTree>
    <p:extLst>
      <p:ext uri="{BB962C8B-B14F-4D97-AF65-F5344CB8AC3E}">
        <p14:creationId xmlns:p14="http://schemas.microsoft.com/office/powerpoint/2010/main" val="1120647489"/>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19270"/>
            <a:ext cx="10353763" cy="1099930"/>
          </a:xfrm>
        </p:spPr>
        <p:txBody>
          <a:bodyPr/>
          <a:lstStyle/>
          <a:p>
            <a:r>
              <a:rPr lang="en-US" b="1" dirty="0">
                <a:solidFill>
                  <a:srgbClr val="00B050"/>
                </a:solidFill>
              </a:rPr>
              <a:t>EMMANUEL KANT’S THEORY</a:t>
            </a:r>
            <a:endParaRPr lang="en-US" dirty="0">
              <a:solidFill>
                <a:srgbClr val="00B050"/>
              </a:solidFill>
            </a:endParaRPr>
          </a:p>
        </p:txBody>
      </p:sp>
      <p:sp>
        <p:nvSpPr>
          <p:cNvPr id="3" name="Content Placeholder 2"/>
          <p:cNvSpPr>
            <a:spLocks noGrp="1"/>
          </p:cNvSpPr>
          <p:nvPr>
            <p:ph idx="1"/>
          </p:nvPr>
        </p:nvSpPr>
        <p:spPr>
          <a:xfrm>
            <a:off x="444843" y="1219200"/>
            <a:ext cx="11323087" cy="5128591"/>
          </a:xfrm>
        </p:spPr>
        <p:txBody>
          <a:bodyPr>
            <a:noAutofit/>
          </a:bodyPr>
          <a:lstStyle/>
          <a:p>
            <a:r>
              <a:rPr lang="en-US" sz="3000" dirty="0" smtClean="0"/>
              <a:t>Morality </a:t>
            </a:r>
            <a:r>
              <a:rPr lang="en-US" sz="3000" dirty="0"/>
              <a:t>is a matter of following absolute rules or duties </a:t>
            </a:r>
          </a:p>
          <a:p>
            <a:r>
              <a:rPr lang="en-US" sz="3000" dirty="0" smtClean="0"/>
              <a:t>Moral </a:t>
            </a:r>
            <a:r>
              <a:rPr lang="en-US" sz="3000" dirty="0"/>
              <a:t>duties are absolute, they admit no exception i.e. must be followed no </a:t>
            </a:r>
            <a:r>
              <a:rPr lang="en-US" sz="3000" dirty="0" smtClean="0"/>
              <a:t>matter what </a:t>
            </a:r>
            <a:r>
              <a:rPr lang="en-US" sz="3000" dirty="0"/>
              <a:t>– duty for the sake of duty</a:t>
            </a:r>
          </a:p>
          <a:p>
            <a:r>
              <a:rPr lang="en-US" sz="3000" dirty="0" smtClean="0"/>
              <a:t>The </a:t>
            </a:r>
            <a:r>
              <a:rPr lang="en-US" sz="3000" dirty="0"/>
              <a:t>moral worth of actions is determined not by </a:t>
            </a:r>
            <a:r>
              <a:rPr lang="en-US" sz="3000" dirty="0" smtClean="0"/>
              <a:t>the consequences </a:t>
            </a:r>
            <a:r>
              <a:rPr lang="en-US" sz="3000" dirty="0"/>
              <a:t>but by the motive of the duty from which the act is </a:t>
            </a:r>
            <a:r>
              <a:rPr lang="en-US" sz="3000" dirty="0" smtClean="0"/>
              <a:t>performed</a:t>
            </a:r>
          </a:p>
          <a:p>
            <a:r>
              <a:rPr lang="en-US" sz="3000" dirty="0" smtClean="0"/>
              <a:t>An </a:t>
            </a:r>
            <a:r>
              <a:rPr lang="en-US" sz="3000" dirty="0"/>
              <a:t>action is morally right only if the person performing it is motivated by good will, morally wrong if not.  </a:t>
            </a:r>
          </a:p>
          <a:p>
            <a:endParaRPr lang="en-US" sz="2500" dirty="0"/>
          </a:p>
        </p:txBody>
      </p:sp>
    </p:spTree>
    <p:extLst>
      <p:ext uri="{BB962C8B-B14F-4D97-AF65-F5344CB8AC3E}">
        <p14:creationId xmlns:p14="http://schemas.microsoft.com/office/powerpoint/2010/main" val="417763817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9557" y="424070"/>
            <a:ext cx="11404391" cy="5617293"/>
          </a:xfrm>
        </p:spPr>
        <p:txBody>
          <a:bodyPr>
            <a:noAutofit/>
          </a:bodyPr>
          <a:lstStyle/>
          <a:p>
            <a:endParaRPr lang="en-US" sz="2400" dirty="0" smtClean="0"/>
          </a:p>
          <a:p>
            <a:r>
              <a:rPr lang="en-US" sz="3000" dirty="0" smtClean="0"/>
              <a:t>Reason </a:t>
            </a:r>
            <a:r>
              <a:rPr lang="en-US" sz="3000" dirty="0"/>
              <a:t>tells us our moral duties and </a:t>
            </a:r>
            <a:r>
              <a:rPr lang="en-US" sz="3000" dirty="0" smtClean="0"/>
              <a:t>obligations</a:t>
            </a:r>
            <a:endParaRPr lang="en-US" sz="3000" dirty="0"/>
          </a:p>
          <a:p>
            <a:r>
              <a:rPr lang="en-US" sz="3000" dirty="0" smtClean="0"/>
              <a:t>Kant </a:t>
            </a:r>
            <a:r>
              <a:rPr lang="en-US" sz="3000" dirty="0"/>
              <a:t>says morality is based on categorical </a:t>
            </a:r>
            <a:r>
              <a:rPr lang="en-US" sz="3000" dirty="0" smtClean="0"/>
              <a:t>imperatives</a:t>
            </a:r>
            <a:endParaRPr lang="en-US" sz="3000" dirty="0"/>
          </a:p>
          <a:p>
            <a:pPr marL="1260475" indent="-407988"/>
            <a:r>
              <a:rPr lang="en-US" sz="2800" dirty="0" smtClean="0"/>
              <a:t>That </a:t>
            </a:r>
            <a:r>
              <a:rPr lang="en-US" sz="2800" dirty="0"/>
              <a:t>is morality does not depend on a particular desire, or situation</a:t>
            </a:r>
          </a:p>
          <a:p>
            <a:pPr marL="1260475" indent="-407988"/>
            <a:r>
              <a:rPr lang="en-US" sz="2800" dirty="0" smtClean="0"/>
              <a:t>Moral </a:t>
            </a:r>
            <a:r>
              <a:rPr lang="en-US" sz="2800" dirty="0"/>
              <a:t>obligation is categorical i.e. you ought to do such and such, period</a:t>
            </a:r>
          </a:p>
          <a:p>
            <a:pPr marL="1260475" indent="-407988"/>
            <a:r>
              <a:rPr lang="en-US" sz="2800" dirty="0" smtClean="0"/>
              <a:t>They </a:t>
            </a:r>
            <a:r>
              <a:rPr lang="en-US" sz="2800" dirty="0"/>
              <a:t>are derived on the principle that every rational person must accept them.</a:t>
            </a:r>
          </a:p>
        </p:txBody>
      </p:sp>
    </p:spTree>
    <p:extLst>
      <p:ext uri="{BB962C8B-B14F-4D97-AF65-F5344CB8AC3E}">
        <p14:creationId xmlns:p14="http://schemas.microsoft.com/office/powerpoint/2010/main" val="2381854156"/>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989" y="145774"/>
            <a:ext cx="11474950" cy="1139687"/>
          </a:xfrm>
        </p:spPr>
        <p:txBody>
          <a:bodyPr>
            <a:normAutofit fontScale="90000"/>
          </a:bodyPr>
          <a:lstStyle/>
          <a:p>
            <a:r>
              <a:rPr lang="en-US" b="1" dirty="0" smtClean="0"/>
              <a:t/>
            </a:r>
            <a:br>
              <a:rPr lang="en-US" b="1" dirty="0" smtClean="0"/>
            </a:br>
            <a:r>
              <a:rPr lang="en-US" sz="3600" b="1" dirty="0" smtClean="0">
                <a:solidFill>
                  <a:srgbClr val="FFFF00"/>
                </a:solidFill>
              </a:rPr>
              <a:t>Two Principles of Kant’s Categorical Imperatives</a:t>
            </a:r>
            <a:r>
              <a:rPr lang="en-US" sz="3600" dirty="0" smtClean="0">
                <a:solidFill>
                  <a:srgbClr val="00B0F0"/>
                </a:solidFill>
              </a:rPr>
              <a:t/>
            </a:r>
            <a:br>
              <a:rPr lang="en-US" sz="3600" dirty="0" smtClean="0">
                <a:solidFill>
                  <a:srgbClr val="00B0F0"/>
                </a:solidFill>
              </a:rPr>
            </a:br>
            <a:endParaRPr lang="en-US" sz="3600" dirty="0">
              <a:solidFill>
                <a:srgbClr val="00B0F0"/>
              </a:solidFill>
            </a:endParaRPr>
          </a:p>
        </p:txBody>
      </p:sp>
      <p:sp>
        <p:nvSpPr>
          <p:cNvPr id="3" name="Content Placeholder 2"/>
          <p:cNvSpPr>
            <a:spLocks noGrp="1"/>
          </p:cNvSpPr>
          <p:nvPr>
            <p:ph idx="1"/>
          </p:nvPr>
        </p:nvSpPr>
        <p:spPr>
          <a:xfrm>
            <a:off x="432486" y="1152939"/>
            <a:ext cx="11216175" cy="5486400"/>
          </a:xfrm>
        </p:spPr>
        <p:txBody>
          <a:bodyPr>
            <a:normAutofit/>
          </a:bodyPr>
          <a:lstStyle/>
          <a:p>
            <a:pPr marL="111125" indent="-111125">
              <a:buNone/>
            </a:pPr>
            <a:r>
              <a:rPr lang="en-US" sz="3000" b="1" i="1" dirty="0" smtClean="0">
                <a:solidFill>
                  <a:srgbClr val="92D050"/>
                </a:solidFill>
              </a:rPr>
              <a:t>1. ‘’Act </a:t>
            </a:r>
            <a:r>
              <a:rPr lang="en-US" sz="3000" b="1" i="1" dirty="0">
                <a:solidFill>
                  <a:srgbClr val="92D050"/>
                </a:solidFill>
              </a:rPr>
              <a:t>only according to the maxim by which you </a:t>
            </a:r>
            <a:r>
              <a:rPr lang="en-US" sz="3000" b="1" i="1" dirty="0" smtClean="0">
                <a:solidFill>
                  <a:srgbClr val="92D050"/>
                </a:solidFill>
              </a:rPr>
              <a:t>will </a:t>
            </a:r>
            <a:r>
              <a:rPr lang="en-US" sz="3000" b="1" i="1" dirty="0">
                <a:solidFill>
                  <a:srgbClr val="92D050"/>
                </a:solidFill>
              </a:rPr>
              <a:t>at the same time will that it </a:t>
            </a:r>
            <a:r>
              <a:rPr lang="en-US" sz="3000" b="1" i="1" dirty="0" smtClean="0">
                <a:solidFill>
                  <a:srgbClr val="92D050"/>
                </a:solidFill>
              </a:rPr>
              <a:t>becomes a </a:t>
            </a:r>
            <a:r>
              <a:rPr lang="en-US" sz="3000" b="1" i="1" dirty="0">
                <a:solidFill>
                  <a:srgbClr val="92D050"/>
                </a:solidFill>
              </a:rPr>
              <a:t>universal law’’</a:t>
            </a:r>
            <a:endParaRPr lang="en-US" sz="3000" b="1" i="1" dirty="0" smtClean="0">
              <a:solidFill>
                <a:srgbClr val="92D050"/>
              </a:solidFill>
            </a:endParaRPr>
          </a:p>
          <a:p>
            <a:pPr marL="803275" lvl="0" indent="-346075"/>
            <a:r>
              <a:rPr lang="en-US" sz="2800" dirty="0"/>
              <a:t>Being moral </a:t>
            </a:r>
            <a:r>
              <a:rPr lang="en-US" sz="2800" dirty="0" smtClean="0"/>
              <a:t>agents </a:t>
            </a:r>
            <a:r>
              <a:rPr lang="en-US" sz="2800" dirty="0"/>
              <a:t>means guiding our moral conduct by universal </a:t>
            </a:r>
            <a:r>
              <a:rPr lang="en-US" sz="2800" dirty="0" smtClean="0"/>
              <a:t>laws</a:t>
            </a:r>
            <a:endParaRPr lang="en-US" sz="2800" dirty="0"/>
          </a:p>
          <a:p>
            <a:pPr marL="803275" lvl="0" indent="-346075"/>
            <a:r>
              <a:rPr lang="en-US" sz="2800" dirty="0"/>
              <a:t>Moral rules are absolute, without exception  applying  in all circumstances</a:t>
            </a:r>
          </a:p>
          <a:p>
            <a:pPr marL="803275" lvl="0" indent="-346075"/>
            <a:r>
              <a:rPr lang="en-US" sz="2800" dirty="0" smtClean="0"/>
              <a:t>Morality is </a:t>
            </a:r>
            <a:r>
              <a:rPr lang="en-US" sz="2800" dirty="0"/>
              <a:t>not about personal preference or </a:t>
            </a:r>
            <a:r>
              <a:rPr lang="en-US" sz="2800" dirty="0" smtClean="0"/>
              <a:t>likes. </a:t>
            </a:r>
          </a:p>
          <a:p>
            <a:pPr marL="803275" lvl="0" indent="-346075"/>
            <a:r>
              <a:rPr lang="en-US" sz="2800" dirty="0" smtClean="0"/>
              <a:t>Thus </a:t>
            </a:r>
            <a:r>
              <a:rPr lang="en-US" sz="2800" dirty="0"/>
              <a:t>actions are right if they can be universalized, they are wrong otherwise.</a:t>
            </a:r>
          </a:p>
          <a:p>
            <a:endParaRPr lang="en-US" dirty="0"/>
          </a:p>
        </p:txBody>
      </p:sp>
    </p:spTree>
    <p:extLst>
      <p:ext uri="{BB962C8B-B14F-4D97-AF65-F5344CB8AC3E}">
        <p14:creationId xmlns:p14="http://schemas.microsoft.com/office/powerpoint/2010/main" val="146156872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983" y="766119"/>
            <a:ext cx="10957399" cy="5548184"/>
          </a:xfrm>
        </p:spPr>
        <p:txBody>
          <a:bodyPr>
            <a:normAutofit/>
          </a:bodyPr>
          <a:lstStyle/>
          <a:p>
            <a:pPr>
              <a:buNone/>
            </a:pPr>
            <a:r>
              <a:rPr lang="en-US" sz="3000" b="1" i="1" dirty="0" smtClean="0">
                <a:solidFill>
                  <a:srgbClr val="92D050"/>
                </a:solidFill>
              </a:rPr>
              <a:t>2. “Act </a:t>
            </a:r>
            <a:r>
              <a:rPr lang="en-US" sz="3000" b="1" i="1" dirty="0">
                <a:solidFill>
                  <a:srgbClr val="92D050"/>
                </a:solidFill>
              </a:rPr>
              <a:t>so as to treat </a:t>
            </a:r>
            <a:r>
              <a:rPr lang="en-US" sz="3000" b="1" i="1" dirty="0" smtClean="0">
                <a:solidFill>
                  <a:srgbClr val="92D050"/>
                </a:solidFill>
              </a:rPr>
              <a:t>humanity whether in your own person that of another as an end </a:t>
            </a:r>
            <a:r>
              <a:rPr lang="en-US" sz="3000" b="1" i="1" dirty="0">
                <a:solidFill>
                  <a:srgbClr val="92D050"/>
                </a:solidFill>
              </a:rPr>
              <a:t>never as mere means’’</a:t>
            </a:r>
            <a:endParaRPr lang="en-US" sz="3000" b="1" i="1" dirty="0" smtClean="0">
              <a:solidFill>
                <a:srgbClr val="92D050"/>
              </a:solidFill>
            </a:endParaRPr>
          </a:p>
          <a:p>
            <a:pPr marL="568325" lvl="0" indent="-333375"/>
            <a:r>
              <a:rPr lang="en-US" sz="2800" dirty="0"/>
              <a:t>Persons are centers of </a:t>
            </a:r>
            <a:r>
              <a:rPr lang="en-US" sz="2800" dirty="0" smtClean="0"/>
              <a:t>value</a:t>
            </a:r>
          </a:p>
          <a:p>
            <a:pPr marL="568325" lvl="0" indent="-333375"/>
            <a:r>
              <a:rPr lang="en-US" sz="2800" dirty="0" smtClean="0"/>
              <a:t>Persons </a:t>
            </a:r>
            <a:r>
              <a:rPr lang="en-US" sz="2800" dirty="0"/>
              <a:t>have intrinsic value, they should never be treated as expendable objects</a:t>
            </a:r>
          </a:p>
          <a:p>
            <a:pPr marL="568325" lvl="0" indent="-333375"/>
            <a:r>
              <a:rPr lang="en-US" sz="2800" dirty="0"/>
              <a:t>To treat persons as objects is  to  undermine their dignity, integrity</a:t>
            </a:r>
          </a:p>
          <a:p>
            <a:pPr marL="568325" lvl="0" indent="-333375"/>
            <a:r>
              <a:rPr lang="en-US" sz="2800" dirty="0"/>
              <a:t>To treat people as if they were mere means is to deny them personhood.</a:t>
            </a:r>
          </a:p>
          <a:p>
            <a:pPr marL="568325" lvl="0" indent="-333375"/>
            <a:r>
              <a:rPr lang="en-US" sz="2800" dirty="0"/>
              <a:t>To act morally is to respect </a:t>
            </a:r>
            <a:r>
              <a:rPr lang="en-US" sz="2800" dirty="0" smtClean="0"/>
              <a:t>the personhood </a:t>
            </a:r>
            <a:r>
              <a:rPr lang="en-US" sz="2800" dirty="0"/>
              <a:t>of </a:t>
            </a:r>
            <a:r>
              <a:rPr lang="en-US" sz="2800" dirty="0" smtClean="0"/>
              <a:t> person</a:t>
            </a:r>
            <a:r>
              <a:rPr lang="en-US" sz="2800" dirty="0"/>
              <a:t>,</a:t>
            </a:r>
          </a:p>
          <a:p>
            <a:endParaRPr lang="en-US" sz="2700" dirty="0"/>
          </a:p>
        </p:txBody>
      </p:sp>
    </p:spTree>
    <p:extLst>
      <p:ext uri="{BB962C8B-B14F-4D97-AF65-F5344CB8AC3E}">
        <p14:creationId xmlns:p14="http://schemas.microsoft.com/office/powerpoint/2010/main" val="253138559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92766"/>
            <a:ext cx="10353763" cy="1046922"/>
          </a:xfrm>
        </p:spPr>
        <p:txBody>
          <a:bodyPr/>
          <a:lstStyle/>
          <a:p>
            <a:r>
              <a:rPr lang="en-US" b="1" dirty="0"/>
              <a:t>ADVANTAGES</a:t>
            </a:r>
            <a:endParaRPr lang="en-US" dirty="0"/>
          </a:p>
        </p:txBody>
      </p:sp>
      <p:sp>
        <p:nvSpPr>
          <p:cNvPr id="3" name="Content Placeholder 2"/>
          <p:cNvSpPr>
            <a:spLocks noGrp="1"/>
          </p:cNvSpPr>
          <p:nvPr>
            <p:ph idx="1"/>
          </p:nvPr>
        </p:nvSpPr>
        <p:spPr>
          <a:xfrm>
            <a:off x="432486" y="1139688"/>
            <a:ext cx="11322192" cy="5327373"/>
          </a:xfrm>
        </p:spPr>
        <p:txBody>
          <a:bodyPr>
            <a:normAutofit lnSpcReduction="10000"/>
          </a:bodyPr>
          <a:lstStyle/>
          <a:p>
            <a:pPr lvl="0"/>
            <a:r>
              <a:rPr lang="en-US" sz="2500" dirty="0"/>
              <a:t>Consistency in acting and the application of morality</a:t>
            </a:r>
          </a:p>
          <a:p>
            <a:pPr lvl="0"/>
            <a:endParaRPr lang="en-US" sz="2500" dirty="0" smtClean="0"/>
          </a:p>
          <a:p>
            <a:pPr lvl="0"/>
            <a:r>
              <a:rPr lang="en-US" sz="2500" dirty="0" smtClean="0"/>
              <a:t>Promotes </a:t>
            </a:r>
            <a:r>
              <a:rPr lang="en-US" sz="2500" dirty="0"/>
              <a:t>the golden </a:t>
            </a:r>
            <a:r>
              <a:rPr lang="en-US" sz="2500" dirty="0" smtClean="0"/>
              <a:t>rule - no </a:t>
            </a:r>
            <a:r>
              <a:rPr lang="en-US" sz="2500" dirty="0"/>
              <a:t>one should prescribe for others what one would not prescribe for self, calls for universality, reciprocity</a:t>
            </a:r>
          </a:p>
          <a:p>
            <a:pPr lvl="0"/>
            <a:endParaRPr lang="en-US" sz="2500" dirty="0" smtClean="0"/>
          </a:p>
          <a:p>
            <a:pPr lvl="0"/>
            <a:r>
              <a:rPr lang="en-US" sz="2500" dirty="0" smtClean="0"/>
              <a:t>No </a:t>
            </a:r>
            <a:r>
              <a:rPr lang="en-US" sz="2500" dirty="0"/>
              <a:t>one is special in matters of morality</a:t>
            </a:r>
          </a:p>
          <a:p>
            <a:pPr lvl="0"/>
            <a:endParaRPr lang="en-US" sz="2500" dirty="0" smtClean="0"/>
          </a:p>
          <a:p>
            <a:pPr lvl="0"/>
            <a:r>
              <a:rPr lang="en-US" sz="2500" dirty="0" smtClean="0"/>
              <a:t>Doing </a:t>
            </a:r>
            <a:r>
              <a:rPr lang="en-US" sz="2500" dirty="0"/>
              <a:t>morally right is not dependent on personal conveniences, this frees morality from arbitrariness and caprice of individuals</a:t>
            </a:r>
          </a:p>
          <a:p>
            <a:pPr lvl="0"/>
            <a:endParaRPr lang="en-US" sz="2500" dirty="0" smtClean="0"/>
          </a:p>
          <a:p>
            <a:pPr lvl="0"/>
            <a:r>
              <a:rPr lang="en-US" sz="2500" dirty="0" smtClean="0"/>
              <a:t>A </a:t>
            </a:r>
            <a:r>
              <a:rPr lang="en-US" sz="2500" dirty="0"/>
              <a:t>good moral judgment must be supported by good reasons</a:t>
            </a:r>
          </a:p>
        </p:txBody>
      </p:sp>
    </p:spTree>
    <p:extLst>
      <p:ext uri="{BB962C8B-B14F-4D97-AF65-F5344CB8AC3E}">
        <p14:creationId xmlns:p14="http://schemas.microsoft.com/office/powerpoint/2010/main" val="124414356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WEAKNESSES</a:t>
            </a:r>
            <a:r>
              <a:rPr lang="en-US" dirty="0"/>
              <a:t/>
            </a:r>
            <a:br>
              <a:rPr lang="en-US" dirty="0"/>
            </a:br>
            <a:endParaRPr lang="en-US" dirty="0"/>
          </a:p>
        </p:txBody>
      </p:sp>
      <p:sp>
        <p:nvSpPr>
          <p:cNvPr id="3" name="Content Placeholder 2"/>
          <p:cNvSpPr>
            <a:spLocks noGrp="1"/>
          </p:cNvSpPr>
          <p:nvPr>
            <p:ph idx="1"/>
          </p:nvPr>
        </p:nvSpPr>
        <p:spPr>
          <a:xfrm>
            <a:off x="636105" y="1732451"/>
            <a:ext cx="10959548" cy="4694853"/>
          </a:xfrm>
        </p:spPr>
        <p:txBody>
          <a:bodyPr>
            <a:normAutofit/>
          </a:bodyPr>
          <a:lstStyle/>
          <a:p>
            <a:pPr lvl="0"/>
            <a:r>
              <a:rPr lang="en-US" sz="2800" dirty="0"/>
              <a:t>Ignores consequences in determining the rightness and wrongness of actions.</a:t>
            </a:r>
          </a:p>
          <a:p>
            <a:pPr lvl="0"/>
            <a:endParaRPr lang="en-US" sz="2800" dirty="0" smtClean="0"/>
          </a:p>
          <a:p>
            <a:pPr lvl="0"/>
            <a:r>
              <a:rPr lang="en-US" sz="2800" dirty="0" smtClean="0"/>
              <a:t>The </a:t>
            </a:r>
            <a:r>
              <a:rPr lang="en-US" sz="2800" dirty="0"/>
              <a:t>idea that morality is absolute; it  makes morality rigid, legalistic; morality must accept extenuating circumstances</a:t>
            </a:r>
          </a:p>
          <a:p>
            <a:pPr lvl="0"/>
            <a:endParaRPr lang="en-US" sz="2800" dirty="0" smtClean="0"/>
          </a:p>
          <a:p>
            <a:pPr lvl="0"/>
            <a:r>
              <a:rPr lang="en-US" sz="2800" dirty="0" smtClean="0"/>
              <a:t>Renders </a:t>
            </a:r>
            <a:r>
              <a:rPr lang="en-US" sz="2800" dirty="0"/>
              <a:t>morality unable to solve conflicts in a situation of conflict of values. </a:t>
            </a:r>
          </a:p>
          <a:p>
            <a:endParaRPr lang="en-US" sz="2500" dirty="0"/>
          </a:p>
        </p:txBody>
      </p:sp>
    </p:spTree>
    <p:extLst>
      <p:ext uri="{BB962C8B-B14F-4D97-AF65-F5344CB8AC3E}">
        <p14:creationId xmlns:p14="http://schemas.microsoft.com/office/powerpoint/2010/main" val="172144651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60011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2609" y="259773"/>
            <a:ext cx="10906539" cy="6369627"/>
          </a:xfrm>
        </p:spPr>
        <p:txBody>
          <a:bodyPr>
            <a:normAutofit/>
          </a:bodyPr>
          <a:lstStyle/>
          <a:p>
            <a:pPr marL="0" indent="0">
              <a:buNone/>
            </a:pPr>
            <a:r>
              <a:rPr lang="en-US" sz="3200" b="1" dirty="0" smtClean="0">
                <a:solidFill>
                  <a:srgbClr val="00B0F0"/>
                </a:solidFill>
              </a:rPr>
              <a:t>DIVINE </a:t>
            </a:r>
            <a:r>
              <a:rPr lang="en-US" sz="3200" b="1" dirty="0">
                <a:solidFill>
                  <a:srgbClr val="00B0F0"/>
                </a:solidFill>
              </a:rPr>
              <a:t>COMMAND THEORY</a:t>
            </a:r>
            <a:r>
              <a:rPr lang="en-US" sz="3200" dirty="0">
                <a:solidFill>
                  <a:srgbClr val="00B0F0"/>
                </a:solidFill>
              </a:rPr>
              <a:t/>
            </a:r>
            <a:br>
              <a:rPr lang="en-US" sz="3200" dirty="0">
                <a:solidFill>
                  <a:srgbClr val="00B0F0"/>
                </a:solidFill>
              </a:rPr>
            </a:br>
            <a:r>
              <a:rPr lang="en-US" sz="3000" dirty="0" smtClean="0"/>
              <a:t>This </a:t>
            </a:r>
            <a:r>
              <a:rPr lang="en-US" sz="3000" dirty="0"/>
              <a:t>theory is also called theological voluntarism </a:t>
            </a:r>
            <a:r>
              <a:rPr lang="en-US" sz="3000" dirty="0" smtClean="0"/>
              <a:t>and </a:t>
            </a:r>
            <a:r>
              <a:rPr lang="en-US" sz="3000" dirty="0"/>
              <a:t>is an example of </a:t>
            </a:r>
            <a:r>
              <a:rPr lang="en-US" sz="3000" dirty="0" smtClean="0"/>
              <a:t>a deontological </a:t>
            </a:r>
            <a:r>
              <a:rPr lang="en-US" sz="3000" dirty="0"/>
              <a:t>theory</a:t>
            </a:r>
            <a:r>
              <a:rPr lang="en-US" sz="3000" dirty="0" smtClean="0"/>
              <a:t>.</a:t>
            </a:r>
          </a:p>
          <a:p>
            <a:r>
              <a:rPr lang="en-US" sz="2800" dirty="0" smtClean="0"/>
              <a:t>Divine </a:t>
            </a:r>
            <a:r>
              <a:rPr lang="en-US" sz="2800" dirty="0"/>
              <a:t>command theory holds that the standard of right and wrong is the will </a:t>
            </a:r>
            <a:r>
              <a:rPr lang="en-US" sz="2800" dirty="0" smtClean="0"/>
              <a:t>or </a:t>
            </a:r>
            <a:r>
              <a:rPr lang="en-US" sz="2800" dirty="0"/>
              <a:t>law of </a:t>
            </a:r>
            <a:r>
              <a:rPr lang="en-US" sz="2800" dirty="0" smtClean="0"/>
              <a:t>God.</a:t>
            </a:r>
          </a:p>
          <a:p>
            <a:r>
              <a:rPr lang="en-US" sz="2800" dirty="0" smtClean="0"/>
              <a:t>If </a:t>
            </a:r>
            <a:r>
              <a:rPr lang="en-US" sz="2800" dirty="0"/>
              <a:t>God exists, he is omniscient; he is the infallible source of </a:t>
            </a:r>
            <a:r>
              <a:rPr lang="en-US" sz="2800" dirty="0" smtClean="0"/>
              <a:t>morality.</a:t>
            </a:r>
          </a:p>
          <a:p>
            <a:r>
              <a:rPr lang="en-US" sz="2800" dirty="0" smtClean="0"/>
              <a:t>According </a:t>
            </a:r>
            <a:r>
              <a:rPr lang="en-US" sz="2800" dirty="0"/>
              <a:t>to this position actions are right if they are commanded by God and wrong if they are </a:t>
            </a:r>
            <a:r>
              <a:rPr lang="en-US" sz="2800" dirty="0" smtClean="0"/>
              <a:t>forbidden.</a:t>
            </a:r>
          </a:p>
          <a:p>
            <a:r>
              <a:rPr lang="en-US" sz="2800" dirty="0" smtClean="0"/>
              <a:t>Thus </a:t>
            </a:r>
            <a:r>
              <a:rPr lang="en-US" sz="2800" dirty="0"/>
              <a:t>what ultimately makes an action right or wrong is being either commanded or forbidden by God</a:t>
            </a:r>
            <a:endParaRPr lang="en-US" sz="2800" dirty="0" smtClean="0"/>
          </a:p>
          <a:p>
            <a:endParaRPr lang="en-US" sz="2600" dirty="0"/>
          </a:p>
        </p:txBody>
      </p:sp>
    </p:spTree>
    <p:extLst>
      <p:ext uri="{BB962C8B-B14F-4D97-AF65-F5344CB8AC3E}">
        <p14:creationId xmlns:p14="http://schemas.microsoft.com/office/powerpoint/2010/main" val="750220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5245" y="644237"/>
            <a:ext cx="11243416" cy="5746172"/>
          </a:xfrm>
        </p:spPr>
        <p:txBody>
          <a:bodyPr>
            <a:normAutofit/>
          </a:bodyPr>
          <a:lstStyle/>
          <a:p>
            <a:r>
              <a:rPr lang="en-US" sz="3000" dirty="0" smtClean="0"/>
              <a:t>Many people have built their ethics, value systems upon religion.</a:t>
            </a:r>
          </a:p>
          <a:p>
            <a:pPr lvl="1"/>
            <a:r>
              <a:rPr lang="en-US" sz="2800" dirty="0" smtClean="0"/>
              <a:t>For Christians the ethical rule book is the bible. </a:t>
            </a:r>
          </a:p>
          <a:p>
            <a:pPr lvl="1"/>
            <a:r>
              <a:rPr lang="en-US" sz="2800" dirty="0" smtClean="0"/>
              <a:t>For Muslims the ethical rule book is the Quran.</a:t>
            </a:r>
          </a:p>
          <a:p>
            <a:pPr lvl="1"/>
            <a:r>
              <a:rPr lang="en-US" sz="2800" dirty="0" smtClean="0"/>
              <a:t>The Vedas - Upanishads, The Torah, </a:t>
            </a:r>
          </a:p>
          <a:p>
            <a:r>
              <a:rPr lang="en-US" sz="2800" dirty="0" smtClean="0"/>
              <a:t>God is the ultimate source of morality and also backs </a:t>
            </a:r>
            <a:r>
              <a:rPr lang="en-US" sz="2800" dirty="0"/>
              <a:t>them up with </a:t>
            </a:r>
            <a:r>
              <a:rPr lang="en-US" sz="2800" dirty="0" smtClean="0"/>
              <a:t>sanctions. </a:t>
            </a:r>
          </a:p>
          <a:p>
            <a:r>
              <a:rPr lang="en-US" sz="2800" dirty="0" smtClean="0"/>
              <a:t>For example, Christians and Muslims believe that God will reward the righteous and punish the wicked, if not in this life, the life hereafter.</a:t>
            </a:r>
          </a:p>
          <a:p>
            <a:endParaRPr lang="en-US" sz="2800" dirty="0" smtClean="0"/>
          </a:p>
          <a:p>
            <a:endParaRPr lang="en-US" sz="2800" dirty="0"/>
          </a:p>
        </p:txBody>
      </p:sp>
    </p:spTree>
    <p:extLst>
      <p:ext uri="{BB962C8B-B14F-4D97-AF65-F5344CB8AC3E}">
        <p14:creationId xmlns:p14="http://schemas.microsoft.com/office/powerpoint/2010/main" val="19765256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982" y="488373"/>
            <a:ext cx="10650682" cy="6099463"/>
          </a:xfrm>
        </p:spPr>
        <p:txBody>
          <a:bodyPr>
            <a:normAutofit/>
          </a:bodyPr>
          <a:lstStyle/>
          <a:p>
            <a:pPr marL="0" lvl="0" indent="0">
              <a:buNone/>
            </a:pPr>
            <a:r>
              <a:rPr lang="en-US" sz="3600" b="1" dirty="0" smtClean="0">
                <a:solidFill>
                  <a:srgbClr val="5FCBEF"/>
                </a:solidFill>
                <a:ea typeface="+mj-ea"/>
                <a:cs typeface="+mj-cs"/>
              </a:rPr>
              <a:t>The problem with this theory</a:t>
            </a:r>
            <a:endParaRPr lang="en-US" dirty="0" smtClean="0"/>
          </a:p>
          <a:p>
            <a:pPr lvl="0"/>
            <a:r>
              <a:rPr lang="en-US" sz="2400" dirty="0" smtClean="0"/>
              <a:t>How </a:t>
            </a:r>
            <a:r>
              <a:rPr lang="en-US" sz="2400" dirty="0"/>
              <a:t>do we know what God commands or forbids</a:t>
            </a:r>
            <a:r>
              <a:rPr lang="en-US" sz="2400" dirty="0" smtClean="0"/>
              <a:t>?</a:t>
            </a:r>
          </a:p>
          <a:p>
            <a:pPr lvl="0"/>
            <a:r>
              <a:rPr lang="en-US" sz="2400" dirty="0" smtClean="0"/>
              <a:t>Is </a:t>
            </a:r>
            <a:r>
              <a:rPr lang="en-US" sz="2400" dirty="0"/>
              <a:t>something right because God commands it or does he command it because </a:t>
            </a:r>
            <a:r>
              <a:rPr lang="en-US" sz="2400" dirty="0" smtClean="0"/>
              <a:t>it is </a:t>
            </a:r>
            <a:r>
              <a:rPr lang="en-US" sz="2400" dirty="0"/>
              <a:t>right in the first place. If he commands it because it is right in the first place then the theory </a:t>
            </a:r>
            <a:r>
              <a:rPr lang="en-US" sz="2400" dirty="0" smtClean="0"/>
              <a:t>collapses.</a:t>
            </a:r>
          </a:p>
          <a:p>
            <a:pPr lvl="0"/>
            <a:r>
              <a:rPr lang="en-US" sz="2400" dirty="0" smtClean="0"/>
              <a:t>God </a:t>
            </a:r>
            <a:r>
              <a:rPr lang="en-US" sz="2400" dirty="0"/>
              <a:t>does not create rightness by merely willing it, if this were to be the case, God would be a dictator. </a:t>
            </a:r>
            <a:endParaRPr lang="en-US" sz="2400" dirty="0" smtClean="0"/>
          </a:p>
          <a:p>
            <a:pPr lvl="0"/>
            <a:r>
              <a:rPr lang="en-US" sz="2400" dirty="0" smtClean="0"/>
              <a:t>Morality </a:t>
            </a:r>
            <a:r>
              <a:rPr lang="en-US" sz="2400" dirty="0"/>
              <a:t>would be arbitrary. Supposing God were to command cruelty, injustice, dishonesty, would they be right? The proponents of this theory could say God cannot go against his nature and command evil. But this would be arguing in circles</a:t>
            </a:r>
            <a:r>
              <a:rPr lang="en-US" sz="2400" dirty="0" smtClean="0"/>
              <a:t>.</a:t>
            </a:r>
          </a:p>
          <a:p>
            <a:pPr lvl="0"/>
            <a:r>
              <a:rPr lang="en-US" sz="2400" dirty="0" smtClean="0"/>
              <a:t>Religious </a:t>
            </a:r>
            <a:r>
              <a:rPr lang="en-US" sz="2400" dirty="0"/>
              <a:t>based morality can be sectarian, may have appeal only to those accept the foundations upon which they are based</a:t>
            </a:r>
          </a:p>
        </p:txBody>
      </p:sp>
    </p:spTree>
    <p:extLst>
      <p:ext uri="{BB962C8B-B14F-4D97-AF65-F5344CB8AC3E}">
        <p14:creationId xmlns:p14="http://schemas.microsoft.com/office/powerpoint/2010/main" val="2584139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90945"/>
            <a:ext cx="11201400" cy="6328064"/>
          </a:xfrm>
        </p:spPr>
        <p:txBody>
          <a:bodyPr>
            <a:normAutofit fontScale="77500" lnSpcReduction="20000"/>
          </a:bodyPr>
          <a:lstStyle/>
          <a:p>
            <a:pPr lvl="0"/>
            <a:endParaRPr lang="en-US" dirty="0" smtClean="0"/>
          </a:p>
          <a:p>
            <a:pPr marL="0" lvl="0" indent="0">
              <a:buNone/>
            </a:pPr>
            <a:r>
              <a:rPr lang="en-US" sz="3600" b="1" dirty="0">
                <a:solidFill>
                  <a:srgbClr val="5FCBEF"/>
                </a:solidFill>
                <a:ea typeface="+mj-ea"/>
                <a:cs typeface="+mj-cs"/>
              </a:rPr>
              <a:t>WHAT DOES RELIGION </a:t>
            </a:r>
            <a:r>
              <a:rPr lang="en-US" sz="3600" b="1" dirty="0" smtClean="0">
                <a:solidFill>
                  <a:srgbClr val="5FCBEF"/>
                </a:solidFill>
                <a:ea typeface="+mj-ea"/>
                <a:cs typeface="+mj-cs"/>
              </a:rPr>
              <a:t>ADD </a:t>
            </a:r>
            <a:r>
              <a:rPr lang="en-US" sz="3600" b="1" dirty="0">
                <a:solidFill>
                  <a:srgbClr val="5FCBEF"/>
                </a:solidFill>
                <a:ea typeface="+mj-ea"/>
                <a:cs typeface="+mj-cs"/>
              </a:rPr>
              <a:t>TO MORALITY</a:t>
            </a:r>
            <a:endParaRPr lang="en-US" sz="3600" dirty="0" smtClean="0"/>
          </a:p>
          <a:p>
            <a:pPr lvl="0"/>
            <a:r>
              <a:rPr lang="en-US" sz="3800" dirty="0"/>
              <a:t>Religious based ethics e.g. Christian ethics is concerned with both secular wellbeing as well as heavenly wellbeing, hence there is much more at stake for the follower of religion</a:t>
            </a:r>
          </a:p>
          <a:p>
            <a:pPr marL="0" lvl="0" indent="0">
              <a:buNone/>
            </a:pPr>
            <a:endParaRPr lang="en-US" sz="3800" dirty="0"/>
          </a:p>
          <a:p>
            <a:pPr lvl="0"/>
            <a:r>
              <a:rPr lang="en-US" sz="3800" dirty="0"/>
              <a:t>A religion may also enable its followers to experience a sense of belonging to a tradition or community it is therefore more binding-binds followers to a sense of brotherhood and fellowship.</a:t>
            </a:r>
          </a:p>
          <a:p>
            <a:pPr>
              <a:buNone/>
            </a:pPr>
            <a:r>
              <a:rPr lang="en-US" sz="3800" dirty="0"/>
              <a:t> </a:t>
            </a:r>
          </a:p>
          <a:p>
            <a:r>
              <a:rPr lang="en-US" sz="3800" dirty="0"/>
              <a:t>Religion may also provide its followers with a distinctive means of achieving their goals by ensuring that a community is distinctive by imposing special obligations upon its members e.g. may deplore extremes of wealth and poverty</a:t>
            </a:r>
            <a:r>
              <a:rPr lang="en-US" dirty="0"/>
              <a:t>.</a:t>
            </a:r>
          </a:p>
        </p:txBody>
      </p:sp>
    </p:spTree>
    <p:extLst>
      <p:ext uri="{BB962C8B-B14F-4D97-AF65-F5344CB8AC3E}">
        <p14:creationId xmlns:p14="http://schemas.microsoft.com/office/powerpoint/2010/main" val="2586806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388" y="456480"/>
            <a:ext cx="10264294" cy="5954711"/>
          </a:xfrm>
        </p:spPr>
        <p:txBody>
          <a:bodyPr>
            <a:normAutofit/>
          </a:bodyPr>
          <a:lstStyle/>
          <a:p>
            <a:pPr lvl="0"/>
            <a:endParaRPr lang="en-US" dirty="0" smtClean="0"/>
          </a:p>
          <a:p>
            <a:pPr lvl="0"/>
            <a:r>
              <a:rPr lang="en-US" sz="2800" dirty="0" smtClean="0"/>
              <a:t>It </a:t>
            </a:r>
            <a:r>
              <a:rPr lang="en-US" sz="2800" dirty="0"/>
              <a:t>sets communal obligations, assumed by the whole community which is much more difficult to break-as approved to individual resolutions</a:t>
            </a:r>
          </a:p>
          <a:p>
            <a:endParaRPr lang="en-US" sz="2800" dirty="0" smtClean="0"/>
          </a:p>
          <a:p>
            <a:pPr lvl="0"/>
            <a:r>
              <a:rPr lang="en-US" sz="2800" dirty="0"/>
              <a:t>Religion acts as </a:t>
            </a:r>
            <a:r>
              <a:rPr lang="en-US" sz="2800" dirty="0" smtClean="0"/>
              <a:t>a powerful </a:t>
            </a:r>
            <a:r>
              <a:rPr lang="en-US" sz="2800" dirty="0"/>
              <a:t>motivation e.g. provides followers with myth and stories which serve as an inspiration and illustration for moral life. The parable of Good Samaritan encourages love for neighborhood; the story of Job inspires people to patience, loyalty even in the face of adversity.</a:t>
            </a:r>
          </a:p>
          <a:p>
            <a:endParaRPr lang="en-US" dirty="0"/>
          </a:p>
        </p:txBody>
      </p:sp>
    </p:spTree>
    <p:extLst>
      <p:ext uri="{BB962C8B-B14F-4D97-AF65-F5344CB8AC3E}">
        <p14:creationId xmlns:p14="http://schemas.microsoft.com/office/powerpoint/2010/main" val="34821159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2765"/>
            <a:ext cx="10972800" cy="920489"/>
          </a:xfrm>
        </p:spPr>
        <p:txBody>
          <a:bodyPr/>
          <a:lstStyle/>
          <a:p>
            <a:r>
              <a:rPr lang="en-US" b="1" dirty="0">
                <a:solidFill>
                  <a:srgbClr val="00B0F0"/>
                </a:solidFill>
              </a:rPr>
              <a:t>RIGHTS BASED THEORY</a:t>
            </a:r>
            <a:endParaRPr lang="en-US" dirty="0">
              <a:solidFill>
                <a:srgbClr val="00B0F0"/>
              </a:solidFill>
            </a:endParaRPr>
          </a:p>
        </p:txBody>
      </p:sp>
      <p:sp>
        <p:nvSpPr>
          <p:cNvPr id="3" name="Content Placeholder 2"/>
          <p:cNvSpPr>
            <a:spLocks noGrp="1"/>
          </p:cNvSpPr>
          <p:nvPr>
            <p:ph idx="1"/>
          </p:nvPr>
        </p:nvSpPr>
        <p:spPr>
          <a:xfrm>
            <a:off x="609600" y="1013254"/>
            <a:ext cx="10972800" cy="5692346"/>
          </a:xfrm>
        </p:spPr>
        <p:txBody>
          <a:bodyPr>
            <a:noAutofit/>
          </a:bodyPr>
          <a:lstStyle/>
          <a:p>
            <a:pPr lvl="0"/>
            <a:r>
              <a:rPr lang="en-US" sz="2600" dirty="0"/>
              <a:t>Rights  theory is connected with the natural law </a:t>
            </a:r>
            <a:r>
              <a:rPr lang="en-US" sz="2600" dirty="0" smtClean="0"/>
              <a:t>morality</a:t>
            </a:r>
          </a:p>
          <a:p>
            <a:pPr lvl="0"/>
            <a:r>
              <a:rPr lang="en-US" sz="2600" dirty="0" smtClean="0"/>
              <a:t>Natural </a:t>
            </a:r>
            <a:r>
              <a:rPr lang="en-US" sz="2600" dirty="0"/>
              <a:t>law stems from the argument that human nature confers rights and duties that are binding to all humans, all times, place, regardless of their customs, fortune or circumstances</a:t>
            </a:r>
            <a:r>
              <a:rPr lang="en-US" sz="2600" dirty="0" smtClean="0"/>
              <a:t>.</a:t>
            </a:r>
          </a:p>
          <a:p>
            <a:pPr lvl="0"/>
            <a:r>
              <a:rPr lang="en-US" sz="2600" dirty="0" smtClean="0"/>
              <a:t>The </a:t>
            </a:r>
            <a:r>
              <a:rPr lang="en-US" sz="2600" dirty="0"/>
              <a:t>rights based theory states that human beings have fundamental rights which belong to them by virtue of their being which must be recognized and respected.</a:t>
            </a:r>
          </a:p>
          <a:p>
            <a:pPr lvl="0"/>
            <a:r>
              <a:rPr lang="en-US" sz="2600" dirty="0" smtClean="0"/>
              <a:t>Moral </a:t>
            </a:r>
            <a:r>
              <a:rPr lang="en-US" sz="2600" dirty="0"/>
              <a:t>rights or human rights are seen to be natural, they are not granted by governments, governments merely recognize them, and they are inalienable.</a:t>
            </a:r>
          </a:p>
          <a:p>
            <a:pPr lvl="0"/>
            <a:r>
              <a:rPr lang="en-US" sz="2600" dirty="0" smtClean="0"/>
              <a:t>To </a:t>
            </a:r>
            <a:r>
              <a:rPr lang="en-US" sz="2600" dirty="0"/>
              <a:t>have a right is to have a legitimate claim to something which puts an obligation on others to respect, protect and observe that claim.</a:t>
            </a:r>
          </a:p>
          <a:p>
            <a:endParaRPr lang="en-US" sz="2600" dirty="0"/>
          </a:p>
        </p:txBody>
      </p:sp>
    </p:spTree>
    <p:extLst>
      <p:ext uri="{BB962C8B-B14F-4D97-AF65-F5344CB8AC3E}">
        <p14:creationId xmlns:p14="http://schemas.microsoft.com/office/powerpoint/2010/main" val="389762730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19269"/>
            <a:ext cx="10560509" cy="967409"/>
          </a:xfrm>
        </p:spPr>
        <p:txBody>
          <a:bodyPr/>
          <a:lstStyle/>
          <a:p>
            <a:r>
              <a:rPr lang="en-US" b="1" dirty="0" smtClean="0">
                <a:solidFill>
                  <a:srgbClr val="00B0F0"/>
                </a:solidFill>
              </a:rPr>
              <a:t>RIGHTS BASED THEORY</a:t>
            </a:r>
            <a:endParaRPr lang="en-US" dirty="0">
              <a:solidFill>
                <a:srgbClr val="00B0F0"/>
              </a:solidFill>
            </a:endParaRPr>
          </a:p>
        </p:txBody>
      </p:sp>
      <p:sp>
        <p:nvSpPr>
          <p:cNvPr id="3" name="Content Placeholder 2"/>
          <p:cNvSpPr>
            <a:spLocks noGrp="1"/>
          </p:cNvSpPr>
          <p:nvPr>
            <p:ph idx="1"/>
          </p:nvPr>
        </p:nvSpPr>
        <p:spPr>
          <a:xfrm>
            <a:off x="395415" y="1297459"/>
            <a:ext cx="11239993" cy="4743903"/>
          </a:xfrm>
        </p:spPr>
        <p:txBody>
          <a:bodyPr>
            <a:noAutofit/>
          </a:bodyPr>
          <a:lstStyle/>
          <a:p>
            <a:pPr algn="just"/>
            <a:r>
              <a:rPr lang="en-US" sz="2800" dirty="0" smtClean="0"/>
              <a:t>John Locke one of the main proponents of the rights theory argues that moral or human rights stem for human nature and are self – evident i.e. need no further justification.</a:t>
            </a:r>
          </a:p>
          <a:p>
            <a:pPr algn="just"/>
            <a:endParaRPr lang="en-US" sz="2800" dirty="0" smtClean="0"/>
          </a:p>
          <a:p>
            <a:pPr algn="just"/>
            <a:r>
              <a:rPr lang="en-US" sz="2800" dirty="0" smtClean="0"/>
              <a:t>Others say they are God given. Others argue that humans are created in the image of God and only humans have moral rights.</a:t>
            </a:r>
          </a:p>
          <a:p>
            <a:pPr algn="just"/>
            <a:endParaRPr lang="en-US" sz="2800" dirty="0" smtClean="0"/>
          </a:p>
          <a:p>
            <a:pPr algn="just"/>
            <a:r>
              <a:rPr lang="en-US" sz="2800" dirty="0" smtClean="0"/>
              <a:t> We also distinguish between welfare rights and liberty rights</a:t>
            </a:r>
            <a:endParaRPr lang="en-US" sz="2800" dirty="0"/>
          </a:p>
        </p:txBody>
      </p:sp>
    </p:spTree>
    <p:extLst>
      <p:ext uri="{BB962C8B-B14F-4D97-AF65-F5344CB8AC3E}">
        <p14:creationId xmlns:p14="http://schemas.microsoft.com/office/powerpoint/2010/main" val="319186502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868362"/>
          </a:xfrm>
        </p:spPr>
        <p:txBody>
          <a:bodyPr>
            <a:normAutofit fontScale="90000"/>
          </a:bodyPr>
          <a:lstStyle/>
          <a:p>
            <a:r>
              <a:rPr lang="en-US" b="1" dirty="0" smtClean="0"/>
              <a:t/>
            </a:r>
            <a:br>
              <a:rPr lang="en-US" b="1" dirty="0" smtClean="0"/>
            </a:br>
            <a:r>
              <a:rPr lang="en-US" b="1" dirty="0" smtClean="0"/>
              <a:t>WELFARE RIGHTS</a:t>
            </a:r>
            <a:r>
              <a:rPr lang="en-US" dirty="0" smtClean="0"/>
              <a:t/>
            </a:r>
            <a:br>
              <a:rPr lang="en-US" dirty="0" smtClean="0"/>
            </a:br>
            <a:endParaRPr lang="en-US" dirty="0"/>
          </a:p>
        </p:txBody>
      </p:sp>
      <p:sp>
        <p:nvSpPr>
          <p:cNvPr id="3" name="Content Placeholder 2"/>
          <p:cNvSpPr>
            <a:spLocks noGrp="1"/>
          </p:cNvSpPr>
          <p:nvPr>
            <p:ph idx="1"/>
          </p:nvPr>
        </p:nvSpPr>
        <p:spPr>
          <a:xfrm>
            <a:off x="407773" y="1346886"/>
            <a:ext cx="9440562" cy="5029200"/>
          </a:xfrm>
        </p:spPr>
        <p:txBody>
          <a:bodyPr/>
          <a:lstStyle/>
          <a:p>
            <a:pPr lvl="0"/>
            <a:endParaRPr lang="en-US" dirty="0" smtClean="0"/>
          </a:p>
          <a:p>
            <a:pPr lvl="0"/>
            <a:r>
              <a:rPr lang="en-US" sz="2600" dirty="0" smtClean="0"/>
              <a:t>Include </a:t>
            </a:r>
            <a:r>
              <a:rPr lang="en-US" sz="2600" dirty="0"/>
              <a:t>the right to receive basic social benefits such as basic education, medical care, </a:t>
            </a:r>
            <a:r>
              <a:rPr lang="en-US" sz="2600" dirty="0" smtClean="0"/>
              <a:t>protection</a:t>
            </a:r>
          </a:p>
          <a:p>
            <a:pPr lvl="0"/>
            <a:endParaRPr lang="en-US" sz="2600" dirty="0"/>
          </a:p>
          <a:p>
            <a:pPr lvl="0"/>
            <a:r>
              <a:rPr lang="en-US" sz="2600" dirty="0"/>
              <a:t>They enable persons to pursue their other legitimate </a:t>
            </a:r>
            <a:r>
              <a:rPr lang="en-US" sz="2600" dirty="0" smtClean="0"/>
              <a:t>interests</a:t>
            </a:r>
          </a:p>
          <a:p>
            <a:pPr lvl="0"/>
            <a:endParaRPr lang="en-US" sz="2600" dirty="0"/>
          </a:p>
          <a:p>
            <a:pPr lvl="0"/>
            <a:r>
              <a:rPr lang="en-US" sz="2600" dirty="0" smtClean="0"/>
              <a:t>Some </a:t>
            </a:r>
            <a:r>
              <a:rPr lang="en-US" sz="2600" dirty="0"/>
              <a:t>societies put more emphasis on welfare rights.</a:t>
            </a:r>
          </a:p>
          <a:p>
            <a:endParaRPr lang="en-US" dirty="0"/>
          </a:p>
        </p:txBody>
      </p:sp>
    </p:spTree>
    <p:extLst>
      <p:ext uri="{BB962C8B-B14F-4D97-AF65-F5344CB8AC3E}">
        <p14:creationId xmlns:p14="http://schemas.microsoft.com/office/powerpoint/2010/main" val="623176150"/>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txBody>
          <a:bodyPr>
            <a:normAutofit fontScale="90000"/>
          </a:bodyPr>
          <a:lstStyle/>
          <a:p>
            <a:r>
              <a:rPr lang="en-US" b="1" dirty="0" smtClean="0"/>
              <a:t/>
            </a:r>
            <a:br>
              <a:rPr lang="en-US" b="1" dirty="0" smtClean="0"/>
            </a:br>
            <a:r>
              <a:rPr lang="en-US" b="1" dirty="0" smtClean="0"/>
              <a:t>LIBERTY RIGHTS</a:t>
            </a:r>
            <a:r>
              <a:rPr lang="en-US" dirty="0" smtClean="0"/>
              <a:t/>
            </a:r>
            <a:br>
              <a:rPr lang="en-US" dirty="0" smtClean="0"/>
            </a:br>
            <a:endParaRPr lang="en-US" dirty="0"/>
          </a:p>
        </p:txBody>
      </p:sp>
      <p:sp>
        <p:nvSpPr>
          <p:cNvPr id="3" name="Content Placeholder 2"/>
          <p:cNvSpPr>
            <a:spLocks noGrp="1"/>
          </p:cNvSpPr>
          <p:nvPr>
            <p:ph idx="1"/>
          </p:nvPr>
        </p:nvSpPr>
        <p:spPr>
          <a:xfrm>
            <a:off x="333632" y="1421026"/>
            <a:ext cx="11248768" cy="4751173"/>
          </a:xfrm>
        </p:spPr>
        <p:txBody>
          <a:bodyPr>
            <a:noAutofit/>
          </a:bodyPr>
          <a:lstStyle/>
          <a:p>
            <a:pPr lvl="0"/>
            <a:r>
              <a:rPr lang="en-US" sz="2800" dirty="0"/>
              <a:t>Entail the right to be left alone to pursue legitimate interests without undue interference from others or </a:t>
            </a:r>
            <a:r>
              <a:rPr lang="en-US" sz="2800" dirty="0" smtClean="0"/>
              <a:t>society</a:t>
            </a:r>
          </a:p>
          <a:p>
            <a:pPr lvl="0"/>
            <a:r>
              <a:rPr lang="en-US" sz="2800" dirty="0" smtClean="0"/>
              <a:t>Legitimate </a:t>
            </a:r>
            <a:r>
              <a:rPr lang="en-US" sz="2800" dirty="0"/>
              <a:t>interests are those that do not violate similar interests of  </a:t>
            </a:r>
            <a:r>
              <a:rPr lang="en-US" sz="2800" dirty="0" smtClean="0"/>
              <a:t>others.</a:t>
            </a:r>
          </a:p>
          <a:p>
            <a:pPr lvl="0"/>
            <a:r>
              <a:rPr lang="en-US" sz="2800" dirty="0" smtClean="0"/>
              <a:t>Liberty </a:t>
            </a:r>
            <a:r>
              <a:rPr lang="en-US" sz="2800" dirty="0"/>
              <a:t>rights include; conscience, privacy, career choice, own property, life </a:t>
            </a:r>
            <a:r>
              <a:rPr lang="en-US" sz="2800" dirty="0" smtClean="0"/>
              <a:t>etc.</a:t>
            </a:r>
          </a:p>
          <a:p>
            <a:pPr lvl="0"/>
            <a:r>
              <a:rPr lang="en-US" sz="2800" dirty="0" smtClean="0"/>
              <a:t>Morality </a:t>
            </a:r>
            <a:r>
              <a:rPr lang="en-US" sz="2800" dirty="0"/>
              <a:t>demands that we recognize and respect the rights of others</a:t>
            </a:r>
            <a:r>
              <a:rPr lang="en-US" sz="2800" dirty="0" smtClean="0"/>
              <a:t>.</a:t>
            </a:r>
          </a:p>
          <a:p>
            <a:pPr lvl="0"/>
            <a:r>
              <a:rPr lang="en-US" sz="2800" dirty="0" smtClean="0"/>
              <a:t>Some </a:t>
            </a:r>
            <a:r>
              <a:rPr lang="en-US" sz="2800" dirty="0"/>
              <a:t>societies place more value on individual liberty rights</a:t>
            </a:r>
          </a:p>
          <a:p>
            <a:endParaRPr lang="en-US" sz="2500" dirty="0"/>
          </a:p>
        </p:txBody>
      </p:sp>
    </p:spTree>
    <p:extLst>
      <p:ext uri="{BB962C8B-B14F-4D97-AF65-F5344CB8AC3E}">
        <p14:creationId xmlns:p14="http://schemas.microsoft.com/office/powerpoint/2010/main" val="65255750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44562"/>
          </a:xfrm>
        </p:spPr>
        <p:txBody>
          <a:bodyPr>
            <a:normAutofit fontScale="90000"/>
          </a:bodyPr>
          <a:lstStyle/>
          <a:p>
            <a:r>
              <a:rPr lang="en-US" sz="4000" b="1" dirty="0" smtClean="0"/>
              <a:t/>
            </a:r>
            <a:br>
              <a:rPr lang="en-US" sz="4000" b="1" dirty="0" smtClean="0"/>
            </a:br>
            <a:r>
              <a:rPr lang="en-US" sz="4000" b="1" dirty="0" smtClean="0"/>
              <a:t>STRENGTHS </a:t>
            </a:r>
            <a:r>
              <a:rPr lang="en-US" sz="4000" b="1" dirty="0"/>
              <a:t>/ IMPORTANCE OF RIGHTS</a:t>
            </a:r>
            <a:r>
              <a:rPr lang="en-US" dirty="0"/>
              <a:t/>
            </a:r>
            <a:br>
              <a:rPr lang="en-US" dirty="0"/>
            </a:br>
            <a:endParaRPr lang="en-US" dirty="0"/>
          </a:p>
        </p:txBody>
      </p:sp>
      <p:sp>
        <p:nvSpPr>
          <p:cNvPr id="3" name="Content Placeholder 2"/>
          <p:cNvSpPr>
            <a:spLocks noGrp="1"/>
          </p:cNvSpPr>
          <p:nvPr>
            <p:ph idx="1"/>
          </p:nvPr>
        </p:nvSpPr>
        <p:spPr>
          <a:xfrm>
            <a:off x="358346" y="1470454"/>
            <a:ext cx="9527059" cy="5189838"/>
          </a:xfrm>
        </p:spPr>
        <p:txBody>
          <a:bodyPr>
            <a:normAutofit/>
          </a:bodyPr>
          <a:lstStyle/>
          <a:p>
            <a:pPr lvl="0"/>
            <a:r>
              <a:rPr lang="en-US" sz="2500" dirty="0"/>
              <a:t>Protect dignity and integrity of </a:t>
            </a:r>
            <a:r>
              <a:rPr lang="en-US" sz="2500" dirty="0" smtClean="0"/>
              <a:t>persons.</a:t>
            </a:r>
          </a:p>
          <a:p>
            <a:pPr lvl="0">
              <a:buNone/>
            </a:pPr>
            <a:endParaRPr lang="en-US" sz="2500" dirty="0"/>
          </a:p>
          <a:p>
            <a:pPr lvl="0"/>
            <a:r>
              <a:rPr lang="en-US" sz="2500" dirty="0"/>
              <a:t>Rights define an individual’s relation to society hence define what an individual is owed by society to which he is entitled</a:t>
            </a:r>
            <a:r>
              <a:rPr lang="en-US" sz="2500" dirty="0" smtClean="0"/>
              <a:t>.</a:t>
            </a:r>
          </a:p>
          <a:p>
            <a:pPr lvl="0"/>
            <a:endParaRPr lang="en-US" sz="2500" dirty="0"/>
          </a:p>
          <a:p>
            <a:pPr lvl="0"/>
            <a:r>
              <a:rPr lang="en-US" sz="2500" dirty="0"/>
              <a:t>The rights guarantee certain minimum treatment for persons from others, society</a:t>
            </a:r>
            <a:r>
              <a:rPr lang="en-US" sz="2500" dirty="0" smtClean="0"/>
              <a:t>.</a:t>
            </a:r>
          </a:p>
          <a:p>
            <a:pPr lvl="0"/>
            <a:endParaRPr lang="en-US" sz="2500" dirty="0"/>
          </a:p>
          <a:p>
            <a:pPr lvl="0"/>
            <a:r>
              <a:rPr lang="en-US" sz="2500" dirty="0"/>
              <a:t>Protect individuals from being taken advantage of, exploited, and treated as mere object.</a:t>
            </a:r>
          </a:p>
          <a:p>
            <a:endParaRPr lang="en-US" sz="2500" dirty="0"/>
          </a:p>
        </p:txBody>
      </p:sp>
    </p:spTree>
    <p:extLst>
      <p:ext uri="{BB962C8B-B14F-4D97-AF65-F5344CB8AC3E}">
        <p14:creationId xmlns:p14="http://schemas.microsoft.com/office/powerpoint/2010/main" val="2237546994"/>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44562"/>
          </a:xfrm>
        </p:spPr>
        <p:txBody>
          <a:bodyPr>
            <a:normAutofit fontScale="90000"/>
          </a:bodyPr>
          <a:lstStyle/>
          <a:p>
            <a:r>
              <a:rPr lang="en-US" b="1" dirty="0" smtClean="0"/>
              <a:t/>
            </a:r>
            <a:br>
              <a:rPr lang="en-US" b="1" dirty="0" smtClean="0"/>
            </a:br>
            <a:r>
              <a:rPr lang="en-US" b="1" dirty="0" smtClean="0"/>
              <a:t>WEAKNESSES </a:t>
            </a:r>
            <a:r>
              <a:rPr lang="en-US" b="1" dirty="0"/>
              <a:t>OF RIGHTS THEORY</a:t>
            </a:r>
            <a:r>
              <a:rPr lang="en-US" dirty="0"/>
              <a:t/>
            </a:r>
            <a:br>
              <a:rPr lang="en-US" dirty="0"/>
            </a:br>
            <a:endParaRPr lang="en-US" dirty="0"/>
          </a:p>
        </p:txBody>
      </p:sp>
      <p:sp>
        <p:nvSpPr>
          <p:cNvPr id="3" name="Content Placeholder 2"/>
          <p:cNvSpPr>
            <a:spLocks noGrp="1"/>
          </p:cNvSpPr>
          <p:nvPr>
            <p:ph idx="1"/>
          </p:nvPr>
        </p:nvSpPr>
        <p:spPr>
          <a:xfrm>
            <a:off x="222422" y="1470453"/>
            <a:ext cx="9749481" cy="5214551"/>
          </a:xfrm>
        </p:spPr>
        <p:txBody>
          <a:bodyPr>
            <a:normAutofit/>
          </a:bodyPr>
          <a:lstStyle/>
          <a:p>
            <a:pPr lvl="0"/>
            <a:r>
              <a:rPr lang="en-US" sz="2500" dirty="0"/>
              <a:t>Idea that rights are self evident is problematic,  does not provide clear criteria of determining what is legitimate and  illegitimate </a:t>
            </a:r>
            <a:r>
              <a:rPr lang="en-US" sz="2500" dirty="0" smtClean="0"/>
              <a:t>rights</a:t>
            </a:r>
          </a:p>
          <a:p>
            <a:pPr lvl="0"/>
            <a:endParaRPr lang="en-US" sz="2500" dirty="0"/>
          </a:p>
          <a:p>
            <a:pPr lvl="0"/>
            <a:r>
              <a:rPr lang="en-US" sz="2500" dirty="0"/>
              <a:t>Too much insistence of liberty rights may undermine society and social institutions yet they play an important role in an individual’s </a:t>
            </a:r>
            <a:r>
              <a:rPr lang="en-US" sz="2500" dirty="0" smtClean="0"/>
              <a:t>wellbeing.</a:t>
            </a:r>
          </a:p>
          <a:p>
            <a:pPr lvl="0"/>
            <a:endParaRPr lang="en-US" sz="2500" dirty="0"/>
          </a:p>
          <a:p>
            <a:pPr lvl="0"/>
            <a:r>
              <a:rPr lang="en-US" sz="2500" dirty="0"/>
              <a:t>Idea that rights are absolute is problematic; some rights can be lost, overridden or set aside.</a:t>
            </a:r>
          </a:p>
        </p:txBody>
      </p:sp>
    </p:spTree>
    <p:extLst>
      <p:ext uri="{BB962C8B-B14F-4D97-AF65-F5344CB8AC3E}">
        <p14:creationId xmlns:p14="http://schemas.microsoft.com/office/powerpoint/2010/main" val="50449557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583" y="450575"/>
            <a:ext cx="11224591" cy="6003234"/>
          </a:xfrm>
        </p:spPr>
        <p:txBody>
          <a:bodyPr/>
          <a:lstStyle/>
          <a:p>
            <a:endParaRPr lang="en-US" dirty="0"/>
          </a:p>
        </p:txBody>
      </p:sp>
    </p:spTree>
    <p:extLst>
      <p:ext uri="{BB962C8B-B14F-4D97-AF65-F5344CB8AC3E}">
        <p14:creationId xmlns:p14="http://schemas.microsoft.com/office/powerpoint/2010/main" val="42125765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1465</TotalTime>
  <Words>2018</Words>
  <Application>Microsoft Office PowerPoint</Application>
  <PresentationFormat>Widescreen</PresentationFormat>
  <Paragraphs>172</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vt:lpstr>
      <vt:lpstr>Calisto MT</vt:lpstr>
      <vt:lpstr>Trebuchet MS</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ETHICAL EGOISM</vt:lpstr>
      <vt:lpstr> ARGUMENTS IN FAVOUR OF ETHICAL EGOISM </vt:lpstr>
      <vt:lpstr>ARGUMENTS AGAINST ETHICAL EGOISM</vt:lpstr>
      <vt:lpstr> DEONTOLOGICAL THEORIES  </vt:lpstr>
      <vt:lpstr>EMMANUEL KANT’S THEORY</vt:lpstr>
      <vt:lpstr>PowerPoint Presentation</vt:lpstr>
      <vt:lpstr> Two Principles of Kant’s Categorical Imperatives </vt:lpstr>
      <vt:lpstr>PowerPoint Presentation</vt:lpstr>
      <vt:lpstr>ADVANTAGES</vt:lpstr>
      <vt:lpstr> WEAKNESSES </vt:lpstr>
      <vt:lpstr>PowerPoint Presentation</vt:lpstr>
      <vt:lpstr>PowerPoint Presentation</vt:lpstr>
      <vt:lpstr>PowerPoint Presentation</vt:lpstr>
      <vt:lpstr>PowerPoint Presentation</vt:lpstr>
      <vt:lpstr>PowerPoint Presentation</vt:lpstr>
      <vt:lpstr>PowerPoint Presentation</vt:lpstr>
      <vt:lpstr>RIGHTS BASED THEORY</vt:lpstr>
      <vt:lpstr>RIGHTS BASED THEORY</vt:lpstr>
      <vt:lpstr> WELFARE RIGHTS </vt:lpstr>
      <vt:lpstr> LIBERTY RIGHTS </vt:lpstr>
      <vt:lpstr> STRENGTHS / IMPORTANCE OF RIGHTS </vt:lpstr>
      <vt:lpstr> WEAKNESSES OF RIGHTS THEORY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user</cp:lastModifiedBy>
  <cp:revision>81</cp:revision>
  <dcterms:created xsi:type="dcterms:W3CDTF">2020-07-20T03:42:52Z</dcterms:created>
  <dcterms:modified xsi:type="dcterms:W3CDTF">2024-06-12T15:06:38Z</dcterms:modified>
</cp:coreProperties>
</file>