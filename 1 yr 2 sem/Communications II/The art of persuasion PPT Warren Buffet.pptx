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9" r:id="rId3"/>
    <p:sldId id="270" r:id="rId4"/>
    <p:sldId id="257" r:id="rId5"/>
    <p:sldId id="259" r:id="rId6"/>
    <p:sldId id="260" r:id="rId7"/>
    <p:sldId id="268" r:id="rId8"/>
    <p:sldId id="267" r:id="rId9"/>
    <p:sldId id="265" r:id="rId10"/>
    <p:sldId id="275" r:id="rId11"/>
    <p:sldId id="278" r:id="rId12"/>
    <p:sldId id="271" r:id="rId13"/>
    <p:sldId id="273" r:id="rId14"/>
    <p:sldId id="274" r:id="rId15"/>
    <p:sldId id="276" r:id="rId16"/>
    <p:sldId id="279" r:id="rId17"/>
    <p:sldId id="280" r:id="rId18"/>
    <p:sldId id="281"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4660"/>
  </p:normalViewPr>
  <p:slideViewPr>
    <p:cSldViewPr snapToGrid="0">
      <p:cViewPr varScale="1">
        <p:scale>
          <a:sx n="91" d="100"/>
          <a:sy n="91" d="100"/>
        </p:scale>
        <p:origin x="43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smtClean="0"/>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dirty="0"/>
              <a:pPr/>
              <a:t>12/4/2023</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dirty="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12/4/2023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dirty="0"/>
              <a:pPr/>
              <a:t>12/4/2023</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dirty="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dirty="0"/>
              <a:t>12/4/2023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mod="1">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dirty="0"/>
              <a:t>12/4/2023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mod="1">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dirty="0"/>
              <a:t>12/4/2023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dirty="0"/>
              <a:t>12/4/2023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smtClean="0"/>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dirty="0"/>
              <a:t>12/4/2023</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dirty="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extLst mod="1">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dirty="0"/>
              <a:t>12/4/2023</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12/4/2023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dirty="0"/>
              <a:t>12/4/2023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dirty="0"/>
              <a:pPr/>
              <a:t>12/4/2023</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dirty="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hyperlink" Target="https://youtu.be/lmR58_dqLxY"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The art of persuasion</a:t>
            </a:r>
            <a:endParaRPr lang="en-US" dirty="0"/>
          </a:p>
        </p:txBody>
      </p:sp>
      <p:sp>
        <p:nvSpPr>
          <p:cNvPr id="3" name="Subtitle 2"/>
          <p:cNvSpPr>
            <a:spLocks noGrp="1"/>
          </p:cNvSpPr>
          <p:nvPr>
            <p:ph type="subTitle" idx="1"/>
          </p:nvPr>
        </p:nvSpPr>
        <p:spPr>
          <a:xfrm>
            <a:off x="1214438" y="5086350"/>
            <a:ext cx="10182503" cy="1635125"/>
          </a:xfrm>
        </p:spPr>
        <p:txBody>
          <a:bodyPr/>
          <a:lstStyle/>
          <a:p>
            <a:r>
              <a:rPr lang="en-US" dirty="0" smtClean="0"/>
              <a:t>A powerful tool for effective communication skills</a:t>
            </a:r>
            <a:endParaRPr lang="en-US" dirty="0"/>
          </a:p>
        </p:txBody>
      </p:sp>
    </p:spTree>
    <p:extLst>
      <p:ext uri="{BB962C8B-B14F-4D97-AF65-F5344CB8AC3E}">
        <p14:creationId xmlns:p14="http://schemas.microsoft.com/office/powerpoint/2010/main" val="22908129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946353"/>
          </a:xfrm>
        </p:spPr>
        <p:txBody>
          <a:bodyPr/>
          <a:lstStyle/>
          <a:p>
            <a:r>
              <a:rPr lang="en-US" dirty="0"/>
              <a:t>billionaire Warren </a:t>
            </a:r>
            <a:r>
              <a:rPr lang="en-US" dirty="0" smtClean="0"/>
              <a:t>Buffett……..</a:t>
            </a:r>
            <a:endParaRPr lang="en-US" dirty="0"/>
          </a:p>
        </p:txBody>
      </p:sp>
      <p:sp>
        <p:nvSpPr>
          <p:cNvPr id="3" name="Content Placeholder 2"/>
          <p:cNvSpPr>
            <a:spLocks noGrp="1"/>
          </p:cNvSpPr>
          <p:nvPr>
            <p:ph sz="half" idx="1"/>
          </p:nvPr>
        </p:nvSpPr>
        <p:spPr>
          <a:xfrm>
            <a:off x="1257300" y="1328738"/>
            <a:ext cx="4800600" cy="5272087"/>
          </a:xfrm>
        </p:spPr>
        <p:txBody>
          <a:bodyPr>
            <a:normAutofit/>
          </a:bodyPr>
          <a:lstStyle/>
          <a:p>
            <a:pPr marL="0" indent="0">
              <a:buNone/>
            </a:pPr>
            <a:r>
              <a:rPr lang="en-US" sz="2800" dirty="0">
                <a:solidFill>
                  <a:schemeClr val="tx1"/>
                </a:solidFill>
              </a:rPr>
              <a:t>T</a:t>
            </a:r>
            <a:r>
              <a:rPr lang="en-US" sz="2800" dirty="0" smtClean="0">
                <a:solidFill>
                  <a:schemeClr val="tx1"/>
                </a:solidFill>
              </a:rPr>
              <a:t>he </a:t>
            </a:r>
            <a:r>
              <a:rPr lang="en-US" sz="2800" dirty="0">
                <a:solidFill>
                  <a:schemeClr val="tx1"/>
                </a:solidFill>
              </a:rPr>
              <a:t>only diploma he proudly displays in his office is a public-speaking certificate from </a:t>
            </a:r>
            <a:r>
              <a:rPr lang="en-US" sz="2800" dirty="0" smtClean="0">
                <a:solidFill>
                  <a:schemeClr val="tx1"/>
                </a:solidFill>
              </a:rPr>
              <a:t>a Dale Carnegie course. </a:t>
            </a:r>
          </a:p>
          <a:p>
            <a:pPr marL="0" indent="0">
              <a:buNone/>
            </a:pPr>
            <a:r>
              <a:rPr lang="en-US" sz="2800" dirty="0" smtClean="0">
                <a:solidFill>
                  <a:schemeClr val="tx1"/>
                </a:solidFill>
              </a:rPr>
              <a:t>He once told business </a:t>
            </a:r>
            <a:r>
              <a:rPr lang="en-US" sz="2800" dirty="0">
                <a:solidFill>
                  <a:schemeClr val="tx1"/>
                </a:solidFill>
              </a:rPr>
              <a:t>students that improving their communication skills would boost their professional value by 50% — instantly.</a:t>
            </a:r>
          </a:p>
          <a:p>
            <a:endParaRPr lang="en-US" sz="2800" dirty="0">
              <a:solidFill>
                <a:schemeClr val="tx1"/>
              </a:solidFill>
            </a:endParaRPr>
          </a:p>
        </p:txBody>
      </p:sp>
      <p:pic>
        <p:nvPicPr>
          <p:cNvPr id="5" name="Content Placeholder 4"/>
          <p:cNvPicPr>
            <a:picLocks noGrp="1" noChangeAspect="1"/>
          </p:cNvPicPr>
          <p:nvPr>
            <p:ph sz="half" idx="2"/>
          </p:nvPr>
        </p:nvPicPr>
        <p:blipFill>
          <a:blip r:embed="rId2"/>
          <a:stretch>
            <a:fillRect/>
          </a:stretch>
        </p:blipFill>
        <p:spPr>
          <a:xfrm>
            <a:off x="6515101" y="1685925"/>
            <a:ext cx="4157661" cy="4557712"/>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0226708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persuasion </a:t>
            </a:r>
            <a:r>
              <a:rPr lang="en-US" sz="4000" dirty="0"/>
              <a:t>is no longer </a:t>
            </a:r>
            <a:r>
              <a:rPr lang="en-US" sz="4000" dirty="0" smtClean="0"/>
              <a:t>just a </a:t>
            </a:r>
            <a:r>
              <a:rPr lang="en-US" sz="4000" dirty="0"/>
              <a:t>“soft skill</a:t>
            </a:r>
            <a:r>
              <a:rPr lang="en-US" sz="4000" dirty="0" smtClean="0"/>
              <a:t>”…….</a:t>
            </a:r>
            <a:endParaRPr lang="en-US" sz="4000" dirty="0"/>
          </a:p>
        </p:txBody>
      </p:sp>
      <p:sp>
        <p:nvSpPr>
          <p:cNvPr id="3" name="Content Placeholder 2"/>
          <p:cNvSpPr>
            <a:spLocks noGrp="1"/>
          </p:cNvSpPr>
          <p:nvPr>
            <p:ph idx="1"/>
          </p:nvPr>
        </p:nvSpPr>
        <p:spPr>
          <a:xfrm>
            <a:off x="1251678" y="1874517"/>
            <a:ext cx="10178322" cy="4697733"/>
          </a:xfrm>
        </p:spPr>
        <p:txBody>
          <a:bodyPr>
            <a:normAutofit/>
          </a:bodyPr>
          <a:lstStyle/>
          <a:p>
            <a:pPr marL="0" indent="0">
              <a:buNone/>
            </a:pPr>
            <a:r>
              <a:rPr lang="en-US" sz="3600" dirty="0" smtClean="0">
                <a:solidFill>
                  <a:schemeClr val="tx1"/>
                </a:solidFill>
              </a:rPr>
              <a:t>……..it </a:t>
            </a:r>
            <a:r>
              <a:rPr lang="en-US" sz="3600" dirty="0">
                <a:solidFill>
                  <a:schemeClr val="tx1"/>
                </a:solidFill>
              </a:rPr>
              <a:t>is a </a:t>
            </a:r>
            <a:r>
              <a:rPr lang="en-US" sz="3600" b="1" dirty="0">
                <a:solidFill>
                  <a:schemeClr val="tx1"/>
                </a:solidFill>
              </a:rPr>
              <a:t>fundamental skill </a:t>
            </a:r>
            <a:r>
              <a:rPr lang="en-US" sz="3600" dirty="0">
                <a:solidFill>
                  <a:schemeClr val="tx1"/>
                </a:solidFill>
              </a:rPr>
              <a:t>that can help you attract investors, sell products, build brands, inspire teams, and trigger movements</a:t>
            </a:r>
          </a:p>
        </p:txBody>
      </p:sp>
    </p:spTree>
    <p:extLst>
      <p:ext uri="{BB962C8B-B14F-4D97-AF65-F5344CB8AC3E}">
        <p14:creationId xmlns:p14="http://schemas.microsoft.com/office/powerpoint/2010/main" val="14109205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400" dirty="0">
                <a:solidFill>
                  <a:schemeClr val="tx1"/>
                </a:solidFill>
              </a:rPr>
              <a:t>Ideas are the currency of the twenty-first century.</a:t>
            </a:r>
            <a:endParaRPr lang="en-US" dirty="0"/>
          </a:p>
        </p:txBody>
      </p:sp>
      <p:sp>
        <p:nvSpPr>
          <p:cNvPr id="3" name="Content Placeholder 2"/>
          <p:cNvSpPr>
            <a:spLocks noGrp="1"/>
          </p:cNvSpPr>
          <p:nvPr>
            <p:ph idx="1"/>
          </p:nvPr>
        </p:nvSpPr>
        <p:spPr/>
        <p:txBody>
          <a:bodyPr>
            <a:normAutofit/>
          </a:bodyPr>
          <a:lstStyle/>
          <a:p>
            <a:pPr marL="0" indent="0">
              <a:buNone/>
            </a:pPr>
            <a:r>
              <a:rPr lang="en-US" sz="4000" dirty="0" smtClean="0">
                <a:solidFill>
                  <a:schemeClr val="tx1"/>
                </a:solidFill>
              </a:rPr>
              <a:t>The </a:t>
            </a:r>
            <a:r>
              <a:rPr lang="en-US" sz="4000" dirty="0">
                <a:solidFill>
                  <a:schemeClr val="tx1"/>
                </a:solidFill>
              </a:rPr>
              <a:t>ability to persuade, to change hearts and minds, is perhaps the single greatest skill that will give you a competitive edge in the knowledge economy — an age where ideas matter more than ever.</a:t>
            </a:r>
          </a:p>
          <a:p>
            <a:pPr marL="0" indent="0">
              <a:buNone/>
            </a:pPr>
            <a:endParaRPr lang="en-US" sz="4000" dirty="0">
              <a:solidFill>
                <a:schemeClr val="tx1"/>
              </a:solidFill>
            </a:endParaRPr>
          </a:p>
        </p:txBody>
      </p:sp>
    </p:spTree>
    <p:extLst>
      <p:ext uri="{BB962C8B-B14F-4D97-AF65-F5344CB8AC3E}">
        <p14:creationId xmlns:p14="http://schemas.microsoft.com/office/powerpoint/2010/main" val="38760730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 OF IDEAS</a:t>
            </a:r>
            <a:endParaRPr lang="en-US" dirty="0"/>
          </a:p>
        </p:txBody>
      </p:sp>
      <p:sp>
        <p:nvSpPr>
          <p:cNvPr id="3" name="Content Placeholder 2"/>
          <p:cNvSpPr>
            <a:spLocks noGrp="1"/>
          </p:cNvSpPr>
          <p:nvPr>
            <p:ph sz="half" idx="1"/>
          </p:nvPr>
        </p:nvSpPr>
        <p:spPr>
          <a:xfrm>
            <a:off x="1257300" y="1728788"/>
            <a:ext cx="4800600" cy="4386262"/>
          </a:xfrm>
        </p:spPr>
        <p:txBody>
          <a:bodyPr>
            <a:noAutofit/>
          </a:bodyPr>
          <a:lstStyle/>
          <a:p>
            <a:pPr marL="0" indent="0">
              <a:buNone/>
            </a:pPr>
            <a:r>
              <a:rPr lang="en-US" sz="2800" dirty="0">
                <a:solidFill>
                  <a:schemeClr val="tx1"/>
                </a:solidFill>
              </a:rPr>
              <a:t>As our economy has evolved from an agrarian to an industrial to a knowledge-based one, successful people in nearly every profession have become those capable of convincing others to take action on their ideas.</a:t>
            </a:r>
          </a:p>
          <a:p>
            <a:endParaRPr lang="en-US" sz="2800" dirty="0">
              <a:solidFill>
                <a:schemeClr val="tx1"/>
              </a:solidFill>
            </a:endParaRPr>
          </a:p>
        </p:txBody>
      </p:sp>
      <p:pic>
        <p:nvPicPr>
          <p:cNvPr id="5" name="Content Placeholder 4"/>
          <p:cNvPicPr>
            <a:picLocks noGrp="1" noChangeAspect="1"/>
          </p:cNvPicPr>
          <p:nvPr>
            <p:ph sz="half" idx="2"/>
          </p:nvPr>
        </p:nvPicPr>
        <p:blipFill>
          <a:blip r:embed="rId2"/>
          <a:stretch>
            <a:fillRect/>
          </a:stretch>
        </p:blipFill>
        <p:spPr>
          <a:xfrm>
            <a:off x="6229350" y="1874517"/>
            <a:ext cx="5219700" cy="4240533"/>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30170639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717753"/>
          </a:xfrm>
        </p:spPr>
        <p:txBody>
          <a:bodyPr>
            <a:normAutofit/>
          </a:bodyPr>
          <a:lstStyle/>
          <a:p>
            <a:r>
              <a:rPr lang="en-US" sz="4000" dirty="0" smtClean="0"/>
              <a:t>The role of persuasion in our daily lives</a:t>
            </a:r>
            <a:endParaRPr lang="en-US" sz="4000" dirty="0"/>
          </a:p>
        </p:txBody>
      </p:sp>
      <p:sp>
        <p:nvSpPr>
          <p:cNvPr id="3" name="Content Placeholder 2"/>
          <p:cNvSpPr>
            <a:spLocks noGrp="1"/>
          </p:cNvSpPr>
          <p:nvPr>
            <p:ph idx="1"/>
          </p:nvPr>
        </p:nvSpPr>
        <p:spPr>
          <a:xfrm>
            <a:off x="1251678" y="1100138"/>
            <a:ext cx="10178322" cy="5757862"/>
          </a:xfrm>
        </p:spPr>
        <p:txBody>
          <a:bodyPr>
            <a:noAutofit/>
          </a:bodyPr>
          <a:lstStyle/>
          <a:p>
            <a:pPr lvl="0"/>
            <a:r>
              <a:rPr lang="en-US" sz="3200" dirty="0">
                <a:solidFill>
                  <a:schemeClr val="tx1"/>
                </a:solidFill>
              </a:rPr>
              <a:t>Entrepreneurs persuade investors to back their startups.</a:t>
            </a:r>
          </a:p>
          <a:p>
            <a:pPr lvl="0"/>
            <a:r>
              <a:rPr lang="en-US" sz="3200" dirty="0">
                <a:solidFill>
                  <a:schemeClr val="tx1"/>
                </a:solidFill>
              </a:rPr>
              <a:t>Job candidates persuade recruiters to hire them.</a:t>
            </a:r>
          </a:p>
          <a:p>
            <a:pPr lvl="0"/>
            <a:r>
              <a:rPr lang="en-US" sz="3200" dirty="0">
                <a:solidFill>
                  <a:schemeClr val="tx1"/>
                </a:solidFill>
              </a:rPr>
              <a:t>Politicians persuade people to vote for them.</a:t>
            </a:r>
          </a:p>
          <a:p>
            <a:pPr lvl="0"/>
            <a:r>
              <a:rPr lang="en-US" sz="3200" dirty="0">
                <a:solidFill>
                  <a:schemeClr val="tx1"/>
                </a:solidFill>
              </a:rPr>
              <a:t>Leaders persuade employees to take specific plans of action.</a:t>
            </a:r>
          </a:p>
          <a:p>
            <a:pPr lvl="0"/>
            <a:r>
              <a:rPr lang="en-US" sz="3200" dirty="0">
                <a:solidFill>
                  <a:schemeClr val="tx1"/>
                </a:solidFill>
              </a:rPr>
              <a:t>CEOs persuade analysts to write favorable reports about their companies.</a:t>
            </a:r>
          </a:p>
          <a:p>
            <a:pPr lvl="0"/>
            <a:r>
              <a:rPr lang="en-US" sz="3200" dirty="0">
                <a:solidFill>
                  <a:schemeClr val="tx1"/>
                </a:solidFill>
              </a:rPr>
              <a:t>Salespeople persuade customers to choose their product over a competitor’s offering.</a:t>
            </a:r>
          </a:p>
          <a:p>
            <a:endParaRPr lang="en-US" sz="3200" dirty="0">
              <a:solidFill>
                <a:schemeClr val="tx1"/>
              </a:solidFill>
            </a:endParaRPr>
          </a:p>
        </p:txBody>
      </p:sp>
    </p:spTree>
    <p:extLst>
      <p:ext uri="{BB962C8B-B14F-4D97-AF65-F5344CB8AC3E}">
        <p14:creationId xmlns:p14="http://schemas.microsoft.com/office/powerpoint/2010/main" val="413074388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Aristotle’s influence on persuasion today</a:t>
            </a:r>
            <a:endParaRPr lang="en-US" sz="3600" dirty="0"/>
          </a:p>
        </p:txBody>
      </p:sp>
      <p:sp>
        <p:nvSpPr>
          <p:cNvPr id="3" name="Content Placeholder 2"/>
          <p:cNvSpPr>
            <a:spLocks noGrp="1"/>
          </p:cNvSpPr>
          <p:nvPr>
            <p:ph idx="1"/>
          </p:nvPr>
        </p:nvSpPr>
        <p:spPr>
          <a:xfrm>
            <a:off x="1251677" y="1185863"/>
            <a:ext cx="10449785" cy="5243512"/>
          </a:xfrm>
        </p:spPr>
        <p:txBody>
          <a:bodyPr>
            <a:noAutofit/>
          </a:bodyPr>
          <a:lstStyle/>
          <a:p>
            <a:pPr marL="0" indent="0">
              <a:buNone/>
            </a:pPr>
            <a:r>
              <a:rPr lang="en-US" sz="4000" dirty="0">
                <a:solidFill>
                  <a:schemeClr val="tx1"/>
                </a:solidFill>
              </a:rPr>
              <a:t>More than 2,000 years ago Aristotle outlined a formula on how to master the art </a:t>
            </a:r>
            <a:r>
              <a:rPr lang="en-US" sz="4000" dirty="0" smtClean="0">
                <a:solidFill>
                  <a:schemeClr val="tx1"/>
                </a:solidFill>
              </a:rPr>
              <a:t>of persuasion.</a:t>
            </a:r>
          </a:p>
          <a:p>
            <a:pPr marL="0" indent="0">
              <a:buNone/>
            </a:pPr>
            <a:endParaRPr lang="en-US" sz="4000" dirty="0" smtClean="0">
              <a:solidFill>
                <a:schemeClr val="tx1"/>
              </a:solidFill>
            </a:endParaRPr>
          </a:p>
          <a:p>
            <a:pPr marL="0" indent="0">
              <a:buNone/>
            </a:pPr>
            <a:r>
              <a:rPr lang="en-US" sz="4000" dirty="0" smtClean="0">
                <a:solidFill>
                  <a:schemeClr val="tx1"/>
                </a:solidFill>
              </a:rPr>
              <a:t>Many </a:t>
            </a:r>
            <a:r>
              <a:rPr lang="en-US" sz="4000" dirty="0">
                <a:solidFill>
                  <a:schemeClr val="tx1"/>
                </a:solidFill>
              </a:rPr>
              <a:t>great communicators have used it throughout the ages to deliver some of the </a:t>
            </a:r>
            <a:r>
              <a:rPr lang="en-US" sz="4000" dirty="0" smtClean="0">
                <a:solidFill>
                  <a:schemeClr val="tx1"/>
                </a:solidFill>
              </a:rPr>
              <a:t>most influential speeches, presentations</a:t>
            </a:r>
            <a:r>
              <a:rPr lang="en-US" sz="4000" dirty="0">
                <a:solidFill>
                  <a:schemeClr val="tx1"/>
                </a:solidFill>
              </a:rPr>
              <a:t>, and share their ideas with the world.</a:t>
            </a:r>
          </a:p>
          <a:p>
            <a:pPr marL="0" indent="0">
              <a:buNone/>
            </a:pPr>
            <a:endParaRPr lang="en-US" sz="4000" dirty="0"/>
          </a:p>
        </p:txBody>
      </p:sp>
    </p:spTree>
    <p:extLst>
      <p:ext uri="{BB962C8B-B14F-4D97-AF65-F5344CB8AC3E}">
        <p14:creationId xmlns:p14="http://schemas.microsoft.com/office/powerpoint/2010/main" val="16275577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832053"/>
          </a:xfrm>
        </p:spPr>
        <p:txBody>
          <a:bodyPr/>
          <a:lstStyle/>
          <a:p>
            <a:r>
              <a:rPr lang="en-US" dirty="0" smtClean="0"/>
              <a:t>          Key modes of persuasion</a:t>
            </a:r>
            <a:endParaRPr lang="en-US" dirty="0"/>
          </a:p>
        </p:txBody>
      </p:sp>
      <p:pic>
        <p:nvPicPr>
          <p:cNvPr id="4" name="Content Placeholder 3"/>
          <p:cNvPicPr>
            <a:picLocks noGrp="1" noChangeAspect="1"/>
          </p:cNvPicPr>
          <p:nvPr>
            <p:ph idx="1"/>
          </p:nvPr>
        </p:nvPicPr>
        <p:blipFill>
          <a:blip r:embed="rId2"/>
          <a:stretch>
            <a:fillRect/>
          </a:stretch>
        </p:blipFill>
        <p:spPr>
          <a:xfrm>
            <a:off x="2143125" y="1357313"/>
            <a:ext cx="8629649" cy="5214937"/>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8945993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251678" y="382385"/>
            <a:ext cx="10178322" cy="6318453"/>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3190847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rotWithShape="1">
          <a:blip r:embed="rId2"/>
          <a:srcRect b="3879"/>
          <a:stretch/>
        </p:blipFill>
        <p:spPr>
          <a:xfrm>
            <a:off x="1251678" y="382385"/>
            <a:ext cx="10178322" cy="6275590"/>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8024052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19199" y="514351"/>
            <a:ext cx="10310813" cy="6086474"/>
          </a:xfrm>
          <a:prstGeom prst="rect">
            <a:avLst/>
          </a:prstGeom>
        </p:spPr>
      </p:pic>
    </p:spTree>
    <p:extLst>
      <p:ext uri="{BB962C8B-B14F-4D97-AF65-F5344CB8AC3E}">
        <p14:creationId xmlns:p14="http://schemas.microsoft.com/office/powerpoint/2010/main" val="18028701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ETHOS….</a:t>
            </a:r>
            <a:endParaRPr lang="en-US" dirty="0"/>
          </a:p>
        </p:txBody>
      </p:sp>
      <p:sp>
        <p:nvSpPr>
          <p:cNvPr id="3" name="Content Placeholder 2"/>
          <p:cNvSpPr>
            <a:spLocks noGrp="1"/>
          </p:cNvSpPr>
          <p:nvPr>
            <p:ph idx="1"/>
          </p:nvPr>
        </p:nvSpPr>
        <p:spPr>
          <a:xfrm>
            <a:off x="1251678" y="1457325"/>
            <a:ext cx="10178322" cy="5057775"/>
          </a:xfrm>
        </p:spPr>
        <p:txBody>
          <a:bodyPr>
            <a:noAutofit/>
          </a:bodyPr>
          <a:lstStyle/>
          <a:p>
            <a:pPr marL="0" indent="0">
              <a:buNone/>
            </a:pPr>
            <a:r>
              <a:rPr lang="en-US" sz="3600" dirty="0">
                <a:solidFill>
                  <a:schemeClr val="tx1"/>
                </a:solidFill>
              </a:rPr>
              <a:t>R</a:t>
            </a:r>
            <a:r>
              <a:rPr lang="en-US" sz="3600" dirty="0" smtClean="0">
                <a:solidFill>
                  <a:schemeClr val="tx1"/>
                </a:solidFill>
              </a:rPr>
              <a:t>epresents </a:t>
            </a:r>
            <a:r>
              <a:rPr lang="en-US" sz="3600" dirty="0">
                <a:solidFill>
                  <a:schemeClr val="tx1"/>
                </a:solidFill>
              </a:rPr>
              <a:t>the part of a speech or presentation when </a:t>
            </a:r>
            <a:r>
              <a:rPr lang="en-US" sz="3600" dirty="0" smtClean="0">
                <a:solidFill>
                  <a:schemeClr val="tx1"/>
                </a:solidFill>
              </a:rPr>
              <a:t>the </a:t>
            </a:r>
            <a:r>
              <a:rPr lang="en-US" sz="3600" dirty="0">
                <a:solidFill>
                  <a:schemeClr val="tx1"/>
                </a:solidFill>
              </a:rPr>
              <a:t>audience gains some insight into </a:t>
            </a:r>
            <a:r>
              <a:rPr lang="en-US" sz="3600" dirty="0" smtClean="0">
                <a:solidFill>
                  <a:schemeClr val="tx1"/>
                </a:solidFill>
              </a:rPr>
              <a:t>the speaker’s/persuader’s credibility</a:t>
            </a:r>
            <a:r>
              <a:rPr lang="en-US" sz="3600" dirty="0">
                <a:solidFill>
                  <a:schemeClr val="tx1"/>
                </a:solidFill>
              </a:rPr>
              <a:t>. </a:t>
            </a:r>
            <a:endParaRPr lang="en-US" sz="3600" dirty="0" smtClean="0">
              <a:solidFill>
                <a:schemeClr val="tx1"/>
              </a:solidFill>
            </a:endParaRPr>
          </a:p>
          <a:p>
            <a:pPr marL="0" indent="0">
              <a:buNone/>
            </a:pPr>
            <a:endParaRPr lang="en-US" sz="3600" dirty="0">
              <a:solidFill>
                <a:schemeClr val="tx1"/>
              </a:solidFill>
            </a:endParaRPr>
          </a:p>
          <a:p>
            <a:pPr marL="0" indent="0">
              <a:buNone/>
            </a:pPr>
            <a:r>
              <a:rPr lang="en-US" sz="3600" dirty="0" smtClean="0">
                <a:solidFill>
                  <a:schemeClr val="tx1"/>
                </a:solidFill>
              </a:rPr>
              <a:t>Aristotle </a:t>
            </a:r>
            <a:r>
              <a:rPr lang="en-US" sz="3600" dirty="0">
                <a:solidFill>
                  <a:schemeClr val="tx1"/>
                </a:solidFill>
              </a:rPr>
              <a:t>believed that if a speaker’s actions didn’t back their words, they would lose credibility, and ultimately, weaken their argument.</a:t>
            </a:r>
          </a:p>
          <a:p>
            <a:pPr marL="0" indent="0">
              <a:buNone/>
            </a:pPr>
            <a:endParaRPr lang="en-US" sz="3600" dirty="0">
              <a:solidFill>
                <a:schemeClr val="tx1"/>
              </a:solidFill>
            </a:endParaRPr>
          </a:p>
        </p:txBody>
      </p:sp>
    </p:spTree>
    <p:extLst>
      <p:ext uri="{BB962C8B-B14F-4D97-AF65-F5344CB8AC3E}">
        <p14:creationId xmlns:p14="http://schemas.microsoft.com/office/powerpoint/2010/main" val="37358150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317828"/>
          </a:xfrm>
        </p:spPr>
        <p:txBody>
          <a:bodyPr>
            <a:noAutofit/>
          </a:bodyPr>
          <a:lstStyle/>
          <a:p>
            <a:pPr algn="ctr"/>
            <a:r>
              <a:rPr lang="en-US" sz="4800" dirty="0" smtClean="0"/>
              <a:t>Ethos-Human </a:t>
            </a:r>
            <a:r>
              <a:rPr lang="en-US" sz="4800" dirty="0"/>
              <a:t>Rights Attorney </a:t>
            </a:r>
            <a:r>
              <a:rPr lang="en-US" sz="4800" dirty="0" smtClean="0"/>
              <a:t>    Bryan </a:t>
            </a:r>
            <a:r>
              <a:rPr lang="en-US" sz="4800" dirty="0"/>
              <a:t>Stevenson </a:t>
            </a:r>
          </a:p>
        </p:txBody>
      </p:sp>
      <p:pic>
        <p:nvPicPr>
          <p:cNvPr id="5" name="Content Placeholder 4"/>
          <p:cNvPicPr>
            <a:picLocks noGrp="1" noChangeAspect="1"/>
          </p:cNvPicPr>
          <p:nvPr>
            <p:ph sz="half" idx="1"/>
          </p:nvPr>
        </p:nvPicPr>
        <p:blipFill>
          <a:blip r:embed="rId2"/>
          <a:stretch>
            <a:fillRect/>
          </a:stretch>
        </p:blipFill>
        <p:spPr>
          <a:xfrm>
            <a:off x="928687" y="2157412"/>
            <a:ext cx="2714625" cy="36195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4" name="Content Placeholder 3"/>
          <p:cNvSpPr>
            <a:spLocks noGrp="1"/>
          </p:cNvSpPr>
          <p:nvPr>
            <p:ph sz="half" idx="2"/>
          </p:nvPr>
        </p:nvSpPr>
        <p:spPr>
          <a:xfrm>
            <a:off x="4014789" y="1943100"/>
            <a:ext cx="7658100" cy="4772025"/>
          </a:xfrm>
        </p:spPr>
        <p:txBody>
          <a:bodyPr>
            <a:normAutofit fontScale="92500" lnSpcReduction="10000"/>
          </a:bodyPr>
          <a:lstStyle/>
          <a:p>
            <a:pPr marL="0" indent="0">
              <a:buNone/>
            </a:pPr>
            <a:r>
              <a:rPr lang="en-US" sz="2800" dirty="0">
                <a:solidFill>
                  <a:schemeClr val="tx1"/>
                </a:solidFill>
              </a:rPr>
              <a:t>“I spend most of my time in jails, in prisons, </a:t>
            </a:r>
            <a:r>
              <a:rPr lang="en-US" sz="2800" dirty="0" smtClean="0">
                <a:solidFill>
                  <a:schemeClr val="tx1"/>
                </a:solidFill>
              </a:rPr>
              <a:t>with death row inmates. </a:t>
            </a:r>
            <a:r>
              <a:rPr lang="en-US" sz="2800" dirty="0">
                <a:solidFill>
                  <a:schemeClr val="tx1"/>
                </a:solidFill>
              </a:rPr>
              <a:t>I spend most of my time in very low-income communities in the projects and places where there’s a great deal of hopelessness.” </a:t>
            </a:r>
            <a:endParaRPr lang="en-US" sz="2800" dirty="0" smtClean="0">
              <a:solidFill>
                <a:schemeClr val="tx1"/>
              </a:solidFill>
            </a:endParaRPr>
          </a:p>
          <a:p>
            <a:pPr marL="0" indent="0">
              <a:buNone/>
            </a:pPr>
            <a:endParaRPr lang="en-US" sz="2800" dirty="0">
              <a:solidFill>
                <a:schemeClr val="tx1"/>
              </a:solidFill>
            </a:endParaRPr>
          </a:p>
          <a:p>
            <a:pPr marL="0" indent="0">
              <a:buNone/>
            </a:pPr>
            <a:r>
              <a:rPr lang="en-US" sz="2800" dirty="0" smtClean="0">
                <a:solidFill>
                  <a:schemeClr val="tx1"/>
                </a:solidFill>
              </a:rPr>
              <a:t>You’ll </a:t>
            </a:r>
            <a:r>
              <a:rPr lang="en-US" sz="2800" dirty="0">
                <a:solidFill>
                  <a:schemeClr val="tx1"/>
                </a:solidFill>
              </a:rPr>
              <a:t>notice that Stevenson does not list his degrees, accomplishments, and awards like he might on a résumé. Instead, he establishes his character for those in the audience who don’t know him. By doing so, he is building a sense of trust between himself and his listeners.</a:t>
            </a:r>
          </a:p>
          <a:p>
            <a:pPr marL="0" indent="0">
              <a:buNone/>
            </a:pPr>
            <a:endParaRPr lang="en-US" sz="2800" dirty="0">
              <a:solidFill>
                <a:schemeClr val="tx1"/>
              </a:solidFill>
            </a:endParaRPr>
          </a:p>
        </p:txBody>
      </p:sp>
    </p:spTree>
    <p:extLst>
      <p:ext uri="{BB962C8B-B14F-4D97-AF65-F5344CB8AC3E}">
        <p14:creationId xmlns:p14="http://schemas.microsoft.com/office/powerpoint/2010/main" val="177420454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ETHOS-REASON TO TRUST…….</a:t>
            </a:r>
            <a:endParaRPr lang="en-US" dirty="0"/>
          </a:p>
        </p:txBody>
      </p:sp>
      <p:sp>
        <p:nvSpPr>
          <p:cNvPr id="3" name="Content Placeholder 2"/>
          <p:cNvSpPr>
            <a:spLocks noGrp="1"/>
          </p:cNvSpPr>
          <p:nvPr>
            <p:ph idx="1"/>
          </p:nvPr>
        </p:nvSpPr>
        <p:spPr>
          <a:xfrm>
            <a:off x="1251678" y="1443039"/>
            <a:ext cx="10178322" cy="5100636"/>
          </a:xfrm>
        </p:spPr>
        <p:txBody>
          <a:bodyPr>
            <a:normAutofit/>
          </a:bodyPr>
          <a:lstStyle/>
          <a:p>
            <a:pPr marL="0" indent="0">
              <a:buNone/>
            </a:pPr>
            <a:r>
              <a:rPr lang="en-US" sz="3200" dirty="0">
                <a:solidFill>
                  <a:schemeClr val="tx1"/>
                </a:solidFill>
              </a:rPr>
              <a:t>As humans, we are hardwired to search for reasons to trust another person, and </a:t>
            </a:r>
            <a:r>
              <a:rPr lang="en-US" sz="3200" dirty="0" smtClean="0">
                <a:solidFill>
                  <a:schemeClr val="tx1"/>
                </a:solidFill>
              </a:rPr>
              <a:t>we do so quickly….</a:t>
            </a:r>
            <a:endParaRPr lang="en-US" sz="3200" u="sng" dirty="0">
              <a:solidFill>
                <a:schemeClr val="tx1"/>
              </a:solidFill>
            </a:endParaRPr>
          </a:p>
          <a:p>
            <a:pPr marL="0" indent="0">
              <a:buNone/>
            </a:pPr>
            <a:endParaRPr lang="en-US" sz="3200" u="sng" dirty="0" smtClean="0">
              <a:solidFill>
                <a:schemeClr val="tx1"/>
              </a:solidFill>
            </a:endParaRPr>
          </a:p>
          <a:p>
            <a:pPr marL="0" indent="0">
              <a:buNone/>
            </a:pPr>
            <a:r>
              <a:rPr lang="en-US" sz="3200" dirty="0" smtClean="0">
                <a:solidFill>
                  <a:schemeClr val="tx1"/>
                </a:solidFill>
              </a:rPr>
              <a:t>After </a:t>
            </a:r>
            <a:r>
              <a:rPr lang="en-US" sz="3200" dirty="0">
                <a:solidFill>
                  <a:schemeClr val="tx1"/>
                </a:solidFill>
              </a:rPr>
              <a:t>all, our ancestors had an instant to determine whether a stranger was friend or foe. A simple reminder that you are committed to the welfare of others will build your credibility before you lay out your argument.</a:t>
            </a:r>
          </a:p>
          <a:p>
            <a:pPr marL="0" indent="0">
              <a:buNone/>
            </a:pPr>
            <a:endParaRPr lang="en-US" sz="3200" dirty="0">
              <a:solidFill>
                <a:schemeClr val="tx1"/>
              </a:solidFill>
            </a:endParaRPr>
          </a:p>
        </p:txBody>
      </p:sp>
    </p:spTree>
    <p:extLst>
      <p:ext uri="{BB962C8B-B14F-4D97-AF65-F5344CB8AC3E}">
        <p14:creationId xmlns:p14="http://schemas.microsoft.com/office/powerpoint/2010/main" val="52144503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Logos or reason</a:t>
            </a:r>
            <a:endParaRPr lang="en-US" dirty="0"/>
          </a:p>
        </p:txBody>
      </p:sp>
      <p:sp>
        <p:nvSpPr>
          <p:cNvPr id="3" name="Content Placeholder 2"/>
          <p:cNvSpPr>
            <a:spLocks noGrp="1"/>
          </p:cNvSpPr>
          <p:nvPr>
            <p:ph idx="1"/>
          </p:nvPr>
        </p:nvSpPr>
        <p:spPr>
          <a:xfrm>
            <a:off x="985839" y="1114425"/>
            <a:ext cx="10829924" cy="5743575"/>
          </a:xfrm>
        </p:spPr>
        <p:txBody>
          <a:bodyPr>
            <a:noAutofit/>
          </a:bodyPr>
          <a:lstStyle/>
          <a:p>
            <a:pPr marL="0" indent="0">
              <a:buNone/>
            </a:pPr>
            <a:r>
              <a:rPr lang="en-US" sz="3200" dirty="0">
                <a:solidFill>
                  <a:schemeClr val="tx1"/>
                </a:solidFill>
              </a:rPr>
              <a:t>Why should your audience care about your idea? </a:t>
            </a:r>
            <a:endParaRPr lang="en-US" sz="3200" dirty="0" smtClean="0">
              <a:solidFill>
                <a:schemeClr val="tx1"/>
              </a:solidFill>
            </a:endParaRPr>
          </a:p>
          <a:p>
            <a:pPr marL="0" indent="0">
              <a:buNone/>
            </a:pPr>
            <a:r>
              <a:rPr lang="en-US" sz="3200" dirty="0">
                <a:solidFill>
                  <a:schemeClr val="tx1"/>
                </a:solidFill>
              </a:rPr>
              <a:t>What is in it for the </a:t>
            </a:r>
            <a:r>
              <a:rPr lang="en-US" sz="3200" dirty="0" smtClean="0">
                <a:solidFill>
                  <a:schemeClr val="tx1"/>
                </a:solidFill>
              </a:rPr>
              <a:t>audience? How </a:t>
            </a:r>
            <a:r>
              <a:rPr lang="en-US" sz="3200" dirty="0">
                <a:solidFill>
                  <a:schemeClr val="tx1"/>
                </a:solidFill>
              </a:rPr>
              <a:t>do they benefit</a:t>
            </a:r>
            <a:r>
              <a:rPr lang="en-US" sz="3200" dirty="0" smtClean="0">
                <a:solidFill>
                  <a:schemeClr val="tx1"/>
                </a:solidFill>
              </a:rPr>
              <a:t>?</a:t>
            </a:r>
          </a:p>
          <a:p>
            <a:pPr marL="0" indent="0">
              <a:buNone/>
            </a:pPr>
            <a:r>
              <a:rPr lang="en-US" sz="3200" dirty="0" smtClean="0">
                <a:solidFill>
                  <a:schemeClr val="tx1"/>
                </a:solidFill>
              </a:rPr>
              <a:t>If </a:t>
            </a:r>
            <a:r>
              <a:rPr lang="en-US" sz="3200" dirty="0">
                <a:solidFill>
                  <a:schemeClr val="tx1"/>
                </a:solidFill>
              </a:rPr>
              <a:t>it will save your audience money, for example, they’ll want to know how much it will save them and how the savings will be accomplished. </a:t>
            </a:r>
            <a:endParaRPr lang="en-US" sz="3200" dirty="0" smtClean="0">
              <a:solidFill>
                <a:schemeClr val="tx1"/>
              </a:solidFill>
            </a:endParaRPr>
          </a:p>
          <a:p>
            <a:pPr marL="0" indent="0">
              <a:buNone/>
            </a:pPr>
            <a:r>
              <a:rPr lang="en-US" sz="3200" dirty="0" smtClean="0">
                <a:solidFill>
                  <a:schemeClr val="tx1"/>
                </a:solidFill>
              </a:rPr>
              <a:t>The </a:t>
            </a:r>
            <a:r>
              <a:rPr lang="en-US" sz="3200" dirty="0">
                <a:solidFill>
                  <a:schemeClr val="tx1"/>
                </a:solidFill>
              </a:rPr>
              <a:t>same reasoning applies to making money. How will your idea help your listeners earn a profit? What steps do they have to take next?  These are all logical appeals that will help you gain support. Use data, evidence, and facts to form a rational argument</a:t>
            </a:r>
            <a:r>
              <a:rPr lang="en-US" sz="3200" dirty="0" smtClean="0">
                <a:solidFill>
                  <a:schemeClr val="tx1"/>
                </a:solidFill>
              </a:rPr>
              <a:t>.</a:t>
            </a:r>
          </a:p>
        </p:txBody>
      </p:sp>
    </p:spTree>
    <p:extLst>
      <p:ext uri="{BB962C8B-B14F-4D97-AF65-F5344CB8AC3E}">
        <p14:creationId xmlns:p14="http://schemas.microsoft.com/office/powerpoint/2010/main" val="124754635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874915"/>
          </a:xfrm>
        </p:spPr>
        <p:txBody>
          <a:bodyPr>
            <a:normAutofit fontScale="90000"/>
          </a:bodyPr>
          <a:lstStyle/>
          <a:p>
            <a:r>
              <a:rPr lang="en-US" b="1" dirty="0"/>
              <a:t>Pathos or “Emotion”</a:t>
            </a:r>
            <a:r>
              <a:rPr lang="en-US" dirty="0"/>
              <a:t/>
            </a:r>
            <a:br>
              <a:rPr lang="en-US" dirty="0"/>
            </a:br>
            <a:endParaRPr lang="en-US" dirty="0"/>
          </a:p>
        </p:txBody>
      </p:sp>
      <p:sp>
        <p:nvSpPr>
          <p:cNvPr id="3" name="Content Placeholder 2"/>
          <p:cNvSpPr>
            <a:spLocks noGrp="1"/>
          </p:cNvSpPr>
          <p:nvPr>
            <p:ph idx="1"/>
          </p:nvPr>
        </p:nvSpPr>
        <p:spPr>
          <a:xfrm>
            <a:off x="1251678" y="1257300"/>
            <a:ext cx="10178322" cy="5600699"/>
          </a:xfrm>
        </p:spPr>
        <p:txBody>
          <a:bodyPr/>
          <a:lstStyle/>
          <a:p>
            <a:pPr marL="0" indent="0">
              <a:buNone/>
            </a:pPr>
            <a:r>
              <a:rPr lang="en-US" dirty="0">
                <a:solidFill>
                  <a:schemeClr val="tx1"/>
                </a:solidFill>
              </a:rPr>
              <a:t>According to Aristotle, persuasion cannot occur in the absence of emotion. </a:t>
            </a:r>
            <a:endParaRPr lang="en-US" dirty="0" smtClean="0">
              <a:solidFill>
                <a:schemeClr val="tx1"/>
              </a:solidFill>
            </a:endParaRPr>
          </a:p>
          <a:p>
            <a:pPr marL="0" indent="0">
              <a:buNone/>
            </a:pPr>
            <a:r>
              <a:rPr lang="en-US" dirty="0" smtClean="0">
                <a:solidFill>
                  <a:schemeClr val="tx1"/>
                </a:solidFill>
              </a:rPr>
              <a:t>People </a:t>
            </a:r>
            <a:r>
              <a:rPr lang="en-US" dirty="0">
                <a:solidFill>
                  <a:schemeClr val="tx1"/>
                </a:solidFill>
              </a:rPr>
              <a:t>are moved to action by how a speaker makes </a:t>
            </a:r>
            <a:r>
              <a:rPr lang="en-US" dirty="0" smtClean="0">
                <a:solidFill>
                  <a:schemeClr val="tx1"/>
                </a:solidFill>
              </a:rPr>
              <a:t>them</a:t>
            </a:r>
            <a:r>
              <a:rPr lang="en-US" b="1" dirty="0" smtClean="0">
                <a:solidFill>
                  <a:srgbClr val="FF0000"/>
                </a:solidFill>
              </a:rPr>
              <a:t> FEEL</a:t>
            </a:r>
            <a:r>
              <a:rPr lang="en-US" dirty="0" smtClean="0">
                <a:solidFill>
                  <a:schemeClr val="tx1"/>
                </a:solidFill>
              </a:rPr>
              <a:t>. </a:t>
            </a:r>
          </a:p>
          <a:p>
            <a:pPr marL="0" indent="0">
              <a:buNone/>
            </a:pPr>
            <a:r>
              <a:rPr lang="en-US" dirty="0" smtClean="0">
                <a:solidFill>
                  <a:schemeClr val="tx1"/>
                </a:solidFill>
              </a:rPr>
              <a:t>Feelings of joy, hope, fear, sympathy, excitement etc.…can be used to effectively persuade an audience</a:t>
            </a:r>
          </a:p>
          <a:p>
            <a:pPr marL="0" indent="0">
              <a:buNone/>
            </a:pPr>
            <a:endParaRPr lang="en-US" dirty="0">
              <a:solidFill>
                <a:schemeClr val="tx1"/>
              </a:solidFill>
            </a:endParaRPr>
          </a:p>
        </p:txBody>
      </p:sp>
      <p:pic>
        <p:nvPicPr>
          <p:cNvPr id="5" name="Picture 4"/>
          <p:cNvPicPr>
            <a:picLocks noChangeAspect="1"/>
          </p:cNvPicPr>
          <p:nvPr/>
        </p:nvPicPr>
        <p:blipFill>
          <a:blip r:embed="rId2"/>
          <a:stretch>
            <a:fillRect/>
          </a:stretch>
        </p:blipFill>
        <p:spPr>
          <a:xfrm>
            <a:off x="0" y="2928937"/>
            <a:ext cx="4828453" cy="223143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p:cNvPicPr>
            <a:picLocks noChangeAspect="1"/>
          </p:cNvPicPr>
          <p:nvPr/>
        </p:nvPicPr>
        <p:blipFill>
          <a:blip r:embed="rId3"/>
          <a:stretch>
            <a:fillRect/>
          </a:stretch>
        </p:blipFill>
        <p:spPr>
          <a:xfrm>
            <a:off x="4860469" y="2671760"/>
            <a:ext cx="2619375" cy="1743075"/>
          </a:xfrm>
          <a:prstGeom prst="rect">
            <a:avLst/>
          </a:prstGeom>
          <a:ln w="88900" cap="sq" cmpd="thickThin">
            <a:solidFill>
              <a:srgbClr val="000000"/>
            </a:solidFill>
            <a:prstDash val="solid"/>
            <a:miter lim="800000"/>
          </a:ln>
          <a:effectLst>
            <a:innerShdw blurRad="76200">
              <a:srgbClr val="000000"/>
            </a:innerShdw>
          </a:effectLst>
        </p:spPr>
      </p:pic>
      <p:pic>
        <p:nvPicPr>
          <p:cNvPr id="8" name="Picture 7"/>
          <p:cNvPicPr>
            <a:picLocks noChangeAspect="1"/>
          </p:cNvPicPr>
          <p:nvPr/>
        </p:nvPicPr>
        <p:blipFill>
          <a:blip r:embed="rId4"/>
          <a:stretch>
            <a:fillRect/>
          </a:stretch>
        </p:blipFill>
        <p:spPr>
          <a:xfrm>
            <a:off x="7636238" y="3684884"/>
            <a:ext cx="4120837" cy="2914649"/>
          </a:xfrm>
          <a:prstGeom prst="rect">
            <a:avLst/>
          </a:prstGeom>
          <a:ln w="88900" cap="sq" cmpd="thickThin">
            <a:solidFill>
              <a:srgbClr val="000000"/>
            </a:solidFill>
            <a:prstDash val="solid"/>
            <a:miter lim="800000"/>
          </a:ln>
          <a:effectLst>
            <a:innerShdw blurRad="76200">
              <a:srgbClr val="000000"/>
            </a:innerShdw>
          </a:effectLst>
        </p:spPr>
      </p:pic>
      <p:pic>
        <p:nvPicPr>
          <p:cNvPr id="9" name="Picture 8"/>
          <p:cNvPicPr>
            <a:picLocks noChangeAspect="1"/>
          </p:cNvPicPr>
          <p:nvPr/>
        </p:nvPicPr>
        <p:blipFill>
          <a:blip r:embed="rId5"/>
          <a:stretch>
            <a:fillRect/>
          </a:stretch>
        </p:blipFill>
        <p:spPr>
          <a:xfrm>
            <a:off x="3105489" y="4556422"/>
            <a:ext cx="3064667" cy="204311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1072315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1678" y="382385"/>
            <a:ext cx="10178322" cy="1003503"/>
          </a:xfrm>
        </p:spPr>
        <p:txBody>
          <a:bodyPr>
            <a:normAutofit fontScale="90000"/>
          </a:bodyPr>
          <a:lstStyle/>
          <a:p>
            <a:r>
              <a:rPr lang="en-US" dirty="0" smtClean="0"/>
              <a:t>Story telling as a form of pathos….</a:t>
            </a:r>
            <a:endParaRPr lang="en-US" dirty="0"/>
          </a:p>
        </p:txBody>
      </p:sp>
      <p:pic>
        <p:nvPicPr>
          <p:cNvPr id="5" name="Content Placeholder 4"/>
          <p:cNvPicPr>
            <a:picLocks noGrp="1" noChangeAspect="1"/>
          </p:cNvPicPr>
          <p:nvPr>
            <p:ph sz="half" idx="1"/>
          </p:nvPr>
        </p:nvPicPr>
        <p:blipFill>
          <a:blip r:embed="rId2"/>
          <a:stretch>
            <a:fillRect/>
          </a:stretch>
        </p:blipFill>
        <p:spPr>
          <a:xfrm>
            <a:off x="1251679" y="1543050"/>
            <a:ext cx="4906234" cy="4929188"/>
          </a:xfrm>
          <a:prstGeom prst="rect">
            <a:avLst/>
          </a:prstGeom>
          <a:ln w="88900" cap="sq" cmpd="thickThin">
            <a:solidFill>
              <a:srgbClr val="000000"/>
            </a:solidFill>
            <a:prstDash val="solid"/>
            <a:miter lim="800000"/>
          </a:ln>
          <a:effectLst>
            <a:innerShdw blurRad="76200">
              <a:srgbClr val="000000"/>
            </a:innerShdw>
          </a:effectLst>
        </p:spPr>
      </p:pic>
      <p:sp>
        <p:nvSpPr>
          <p:cNvPr id="4" name="Content Placeholder 3"/>
          <p:cNvSpPr>
            <a:spLocks noGrp="1"/>
          </p:cNvSpPr>
          <p:nvPr>
            <p:ph sz="half" idx="2"/>
          </p:nvPr>
        </p:nvSpPr>
        <p:spPr>
          <a:xfrm>
            <a:off x="6329363" y="1385888"/>
            <a:ext cx="5119033" cy="5472112"/>
          </a:xfrm>
        </p:spPr>
        <p:txBody>
          <a:bodyPr>
            <a:normAutofit lnSpcReduction="10000"/>
          </a:bodyPr>
          <a:lstStyle/>
          <a:p>
            <a:pPr marL="0" indent="0">
              <a:buNone/>
            </a:pPr>
            <a:r>
              <a:rPr lang="en-US" sz="2400" dirty="0" smtClean="0">
                <a:solidFill>
                  <a:schemeClr val="tx1"/>
                </a:solidFill>
              </a:rPr>
              <a:t>“I </a:t>
            </a:r>
            <a:r>
              <a:rPr lang="en-US" sz="2400" dirty="0">
                <a:solidFill>
                  <a:schemeClr val="tx1"/>
                </a:solidFill>
              </a:rPr>
              <a:t>found that </a:t>
            </a:r>
            <a:r>
              <a:rPr lang="en-US" sz="2400" i="1" dirty="0">
                <a:solidFill>
                  <a:schemeClr val="tx1"/>
                </a:solidFill>
              </a:rPr>
              <a:t>s</a:t>
            </a:r>
            <a:r>
              <a:rPr lang="en-US" sz="2400" dirty="0">
                <a:solidFill>
                  <a:schemeClr val="tx1"/>
                </a:solidFill>
              </a:rPr>
              <a:t>tories made up 65% of the average speaker’s talk, whereas 25% went to logos, and 10% went to ethos. In other words, the winning formula for a popular TED talk is to wrap the big idea in a story</a:t>
            </a:r>
            <a:r>
              <a:rPr lang="en-US" sz="2400" dirty="0" smtClean="0">
                <a:solidFill>
                  <a:schemeClr val="tx1"/>
                </a:solidFill>
              </a:rPr>
              <a:t>.</a:t>
            </a:r>
          </a:p>
          <a:p>
            <a:pPr marL="0" indent="0">
              <a:buNone/>
            </a:pPr>
            <a:r>
              <a:rPr lang="en-US" sz="2400" dirty="0" smtClean="0">
                <a:solidFill>
                  <a:schemeClr val="tx1"/>
                </a:solidFill>
              </a:rPr>
              <a:t>The </a:t>
            </a:r>
            <a:r>
              <a:rPr lang="en-US" sz="2400" dirty="0">
                <a:solidFill>
                  <a:schemeClr val="tx1"/>
                </a:solidFill>
              </a:rPr>
              <a:t>stories that can generate the best connection are stories about you personally or about people close to you. Tales of failure, awkwardness, misfortune, danger or disaster, told authentically, hastens deep engagement.” The most personal content is the most </a:t>
            </a:r>
            <a:r>
              <a:rPr lang="en-US" sz="2400" dirty="0" smtClean="0">
                <a:solidFill>
                  <a:schemeClr val="tx1"/>
                </a:solidFill>
              </a:rPr>
              <a:t>relatable”</a:t>
            </a:r>
            <a:endParaRPr lang="en-US" sz="2400" dirty="0">
              <a:solidFill>
                <a:schemeClr val="tx1"/>
              </a:solidFill>
            </a:endParaRP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8890489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Art of persuasion</a:t>
            </a:r>
            <a:endParaRPr lang="en-US" dirty="0"/>
          </a:p>
        </p:txBody>
      </p:sp>
      <p:sp>
        <p:nvSpPr>
          <p:cNvPr id="3" name="Content Placeholder 2"/>
          <p:cNvSpPr>
            <a:spLocks noGrp="1"/>
          </p:cNvSpPr>
          <p:nvPr>
            <p:ph idx="1"/>
          </p:nvPr>
        </p:nvSpPr>
        <p:spPr/>
        <p:txBody>
          <a:bodyPr/>
          <a:lstStyle/>
          <a:p>
            <a:pPr marL="0" indent="0">
              <a:buNone/>
            </a:pPr>
            <a:r>
              <a:rPr lang="en-US" dirty="0">
                <a:hlinkClick r:id="rId2"/>
              </a:rPr>
              <a:t>https://</a:t>
            </a:r>
            <a:r>
              <a:rPr lang="en-US" dirty="0" smtClean="0">
                <a:hlinkClick r:id="rId2"/>
              </a:rPr>
              <a:t>youtu.be/lmR58_dqLxY</a:t>
            </a:r>
            <a:endParaRPr lang="en-US" dirty="0" smtClean="0"/>
          </a:p>
          <a:p>
            <a:pPr marL="0" indent="0">
              <a:buNone/>
            </a:pPr>
            <a:endParaRPr lang="en-US" dirty="0"/>
          </a:p>
        </p:txBody>
      </p:sp>
    </p:spTree>
    <p:extLst>
      <p:ext uri="{BB962C8B-B14F-4D97-AF65-F5344CB8AC3E}">
        <p14:creationId xmlns:p14="http://schemas.microsoft.com/office/powerpoint/2010/main" val="2796011803"/>
      </p:ext>
    </p:extLst>
  </p:cSld>
  <p:clrMapOvr>
    <a:masterClrMapping/>
  </p:clrMapOvr>
  <p:timing>
    <p:tnLst>
      <p:par>
        <p:cTn id="1" dur="indefinite" restart="never" nodeType="tmRoot"/>
      </p:par>
    </p:tnLst>
  </p:timing>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docProps/app.xml><?xml version="1.0" encoding="utf-8"?>
<Properties xmlns="http://schemas.openxmlformats.org/officeDocument/2006/extended-properties" xmlns:vt="http://schemas.openxmlformats.org/officeDocument/2006/docPropsVTypes">
  <Template>Badge</Template>
  <TotalTime>150</TotalTime>
  <Words>577</Words>
  <Application>Microsoft Office PowerPoint</Application>
  <PresentationFormat>Widescreen</PresentationFormat>
  <Paragraphs>49</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Gill Sans MT</vt:lpstr>
      <vt:lpstr>Impact</vt:lpstr>
      <vt:lpstr>Badge</vt:lpstr>
      <vt:lpstr>The art of persuasion</vt:lpstr>
      <vt:lpstr>billionaire Warren Buffett……..</vt:lpstr>
      <vt:lpstr>persuasion is no longer just a “soft skill”…….</vt:lpstr>
      <vt:lpstr>Ideas are the currency of the twenty-first century.</vt:lpstr>
      <vt:lpstr>AGE OF IDEAS</vt:lpstr>
      <vt:lpstr>The role of persuasion in our daily lives</vt:lpstr>
      <vt:lpstr>Aristotle’s influence on persuasion today</vt:lpstr>
      <vt:lpstr>          Key modes of persuasion</vt:lpstr>
      <vt:lpstr>PowerPoint Presentation</vt:lpstr>
      <vt:lpstr>PowerPoint Presentation</vt:lpstr>
      <vt:lpstr>PowerPoint Presentation</vt:lpstr>
      <vt:lpstr>ETHOS….</vt:lpstr>
      <vt:lpstr>Ethos-Human Rights Attorney     Bryan Stevenson </vt:lpstr>
      <vt:lpstr>ETHOS-REASON TO TRUST…….</vt:lpstr>
      <vt:lpstr>Logos or reason</vt:lpstr>
      <vt:lpstr>Pathos or “Emotion” </vt:lpstr>
      <vt:lpstr>Story telling as a form of pathos….</vt:lpstr>
      <vt:lpstr>Art of persuasion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art of persuasion</dc:title>
  <dc:creator>user</dc:creator>
  <cp:lastModifiedBy>Margaret Kariuki</cp:lastModifiedBy>
  <cp:revision>11</cp:revision>
  <dcterms:created xsi:type="dcterms:W3CDTF">2022-01-09T15:46:00Z</dcterms:created>
  <dcterms:modified xsi:type="dcterms:W3CDTF">2023-12-04T09:05:50Z</dcterms:modified>
</cp:coreProperties>
</file>