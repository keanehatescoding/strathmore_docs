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8" r:id="rId2"/>
    <p:sldId id="259" r:id="rId3"/>
    <p:sldId id="278" r:id="rId4"/>
    <p:sldId id="260" r:id="rId5"/>
    <p:sldId id="271" r:id="rId6"/>
    <p:sldId id="272" r:id="rId7"/>
    <p:sldId id="268" r:id="rId8"/>
    <p:sldId id="279" r:id="rId9"/>
    <p:sldId id="269" r:id="rId10"/>
    <p:sldId id="270" r:id="rId11"/>
    <p:sldId id="261" r:id="rId12"/>
    <p:sldId id="262" r:id="rId13"/>
    <p:sldId id="263" r:id="rId14"/>
    <p:sldId id="281" r:id="rId15"/>
    <p:sldId id="280" r:id="rId16"/>
    <p:sldId id="276" r:id="rId17"/>
    <p:sldId id="277" r:id="rId18"/>
    <p:sldId id="266" r:id="rId19"/>
    <p:sldId id="267" r:id="rId20"/>
    <p:sldId id="282" r:id="rId21"/>
    <p:sldId id="28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3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362838-B3DC-4317-B18F-D19FBEB29B8F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91BF98-ED99-4425-BC03-EDA9721E2D4B}">
      <dgm:prSet phldrT="[Text]"/>
      <dgm:spPr/>
      <dgm:t>
        <a:bodyPr/>
        <a:lstStyle/>
        <a:p>
          <a:r>
            <a:rPr lang="en-GB" dirty="0"/>
            <a:t>1. Fully responsible</a:t>
          </a:r>
        </a:p>
      </dgm:t>
    </dgm:pt>
    <dgm:pt modelId="{45515422-8BF3-4FCC-A459-59D4B317FEBE}" type="parTrans" cxnId="{50A709CD-74D8-4436-9A13-8182E818A498}">
      <dgm:prSet/>
      <dgm:spPr/>
      <dgm:t>
        <a:bodyPr/>
        <a:lstStyle/>
        <a:p>
          <a:endParaRPr lang="en-GB"/>
        </a:p>
      </dgm:t>
    </dgm:pt>
    <dgm:pt modelId="{21D81439-A889-487C-8FD6-E0EF4EACF44C}" type="sibTrans" cxnId="{50A709CD-74D8-4436-9A13-8182E818A498}">
      <dgm:prSet/>
      <dgm:spPr/>
      <dgm:t>
        <a:bodyPr/>
        <a:lstStyle/>
        <a:p>
          <a:endParaRPr lang="en-GB"/>
        </a:p>
      </dgm:t>
    </dgm:pt>
    <dgm:pt modelId="{A1B0A666-D578-4168-8C6B-806E578D2E6A}">
      <dgm:prSet phldrT="[Text]"/>
      <dgm:spPr/>
      <dgm:t>
        <a:bodyPr/>
        <a:lstStyle/>
        <a:p>
          <a:r>
            <a:rPr lang="en-GB" b="1" dirty="0"/>
            <a:t>Act + consequences:  foreseen - known</a:t>
          </a:r>
        </a:p>
      </dgm:t>
    </dgm:pt>
    <dgm:pt modelId="{BBAC171D-53E4-4761-9923-4C8BCF00E9EA}" type="parTrans" cxnId="{12E89F51-1677-4D56-B6B6-5F5E6384C0A8}">
      <dgm:prSet/>
      <dgm:spPr/>
      <dgm:t>
        <a:bodyPr/>
        <a:lstStyle/>
        <a:p>
          <a:endParaRPr lang="en-GB"/>
        </a:p>
      </dgm:t>
    </dgm:pt>
    <dgm:pt modelId="{7C72EEEB-6BD5-4417-BA39-DE065C491B73}" type="sibTrans" cxnId="{12E89F51-1677-4D56-B6B6-5F5E6384C0A8}">
      <dgm:prSet/>
      <dgm:spPr/>
      <dgm:t>
        <a:bodyPr/>
        <a:lstStyle/>
        <a:p>
          <a:endParaRPr lang="en-GB"/>
        </a:p>
      </dgm:t>
    </dgm:pt>
    <dgm:pt modelId="{C1364547-F44E-4E8F-9DE0-4525B82C7F00}">
      <dgm:prSet phldrT="[Text]"/>
      <dgm:spPr/>
      <dgm:t>
        <a:bodyPr/>
        <a:lstStyle/>
        <a:p>
          <a:r>
            <a:rPr lang="en-GB" b="1" dirty="0"/>
            <a:t>Act + consequences: wanted - willed</a:t>
          </a:r>
        </a:p>
      </dgm:t>
    </dgm:pt>
    <dgm:pt modelId="{0220F5B5-7D61-4D8E-902D-45D9B91C1A32}" type="parTrans" cxnId="{4F149358-9363-4D82-AFD9-AB015C3F447E}">
      <dgm:prSet/>
      <dgm:spPr/>
      <dgm:t>
        <a:bodyPr/>
        <a:lstStyle/>
        <a:p>
          <a:endParaRPr lang="en-GB"/>
        </a:p>
      </dgm:t>
    </dgm:pt>
    <dgm:pt modelId="{0FAC95DE-925F-4D26-A3DC-AE9DB375B37E}" type="sibTrans" cxnId="{4F149358-9363-4D82-AFD9-AB015C3F447E}">
      <dgm:prSet/>
      <dgm:spPr/>
      <dgm:t>
        <a:bodyPr/>
        <a:lstStyle/>
        <a:p>
          <a:endParaRPr lang="en-GB"/>
        </a:p>
      </dgm:t>
    </dgm:pt>
    <dgm:pt modelId="{47633122-6827-4596-9921-DF8F881205EC}">
      <dgm:prSet phldrT="[Text]"/>
      <dgm:spPr/>
      <dgm:t>
        <a:bodyPr/>
        <a:lstStyle/>
        <a:p>
          <a:r>
            <a:rPr lang="en-GB" dirty="0"/>
            <a:t>4. Not responsible</a:t>
          </a:r>
        </a:p>
      </dgm:t>
    </dgm:pt>
    <dgm:pt modelId="{451476F4-0357-40F6-A064-51D8B5AE4746}" type="parTrans" cxnId="{F9393483-62E9-4435-A15F-3BD399D22D83}">
      <dgm:prSet/>
      <dgm:spPr/>
      <dgm:t>
        <a:bodyPr/>
        <a:lstStyle/>
        <a:p>
          <a:endParaRPr lang="en-GB"/>
        </a:p>
      </dgm:t>
    </dgm:pt>
    <dgm:pt modelId="{C8C62560-FD35-4C9D-88C6-7DA2FBCAC902}" type="sibTrans" cxnId="{F9393483-62E9-4435-A15F-3BD399D22D83}">
      <dgm:prSet/>
      <dgm:spPr/>
      <dgm:t>
        <a:bodyPr/>
        <a:lstStyle/>
        <a:p>
          <a:endParaRPr lang="en-GB"/>
        </a:p>
      </dgm:t>
    </dgm:pt>
    <dgm:pt modelId="{AC8E90D8-1314-4DA3-BDF0-B753D2FC9D54}">
      <dgm:prSet phldrT="[Text]"/>
      <dgm:spPr/>
      <dgm:t>
        <a:bodyPr/>
        <a:lstStyle/>
        <a:p>
          <a:r>
            <a:rPr lang="en-GB" b="1" dirty="0"/>
            <a:t>Act + consequences: could not possibly be foreseen/involuntary</a:t>
          </a:r>
        </a:p>
      </dgm:t>
    </dgm:pt>
    <dgm:pt modelId="{22966004-EEDA-4DFA-A386-45C8C97F4BB6}" type="parTrans" cxnId="{1A78B681-32A9-41CC-B638-2DDD1F24B698}">
      <dgm:prSet/>
      <dgm:spPr/>
      <dgm:t>
        <a:bodyPr/>
        <a:lstStyle/>
        <a:p>
          <a:endParaRPr lang="en-GB"/>
        </a:p>
      </dgm:t>
    </dgm:pt>
    <dgm:pt modelId="{4B84814C-DEB2-49EE-AECC-DF3A8CB58AE7}" type="sibTrans" cxnId="{1A78B681-32A9-41CC-B638-2DDD1F24B698}">
      <dgm:prSet/>
      <dgm:spPr/>
      <dgm:t>
        <a:bodyPr/>
        <a:lstStyle/>
        <a:p>
          <a:endParaRPr lang="en-GB"/>
        </a:p>
      </dgm:t>
    </dgm:pt>
    <dgm:pt modelId="{09558CC2-6C21-414A-81D2-854C9148CD21}">
      <dgm:prSet phldrT="[Text]"/>
      <dgm:spPr/>
      <dgm:t>
        <a:bodyPr/>
        <a:lstStyle/>
        <a:p>
          <a:r>
            <a:rPr lang="en-GB" b="1" dirty="0"/>
            <a:t>Invincible ignorance</a:t>
          </a:r>
        </a:p>
      </dgm:t>
    </dgm:pt>
    <dgm:pt modelId="{4E1CC34C-5F41-4BD8-93B6-A990724A99D0}" type="parTrans" cxnId="{A47CDAEE-34F1-4FF0-8EA9-39E4C7FFB890}">
      <dgm:prSet/>
      <dgm:spPr/>
      <dgm:t>
        <a:bodyPr/>
        <a:lstStyle/>
        <a:p>
          <a:endParaRPr lang="en-GB"/>
        </a:p>
      </dgm:t>
    </dgm:pt>
    <dgm:pt modelId="{78D24604-26B0-499A-8586-74A265AC2A76}" type="sibTrans" cxnId="{A47CDAEE-34F1-4FF0-8EA9-39E4C7FFB890}">
      <dgm:prSet/>
      <dgm:spPr/>
      <dgm:t>
        <a:bodyPr/>
        <a:lstStyle/>
        <a:p>
          <a:endParaRPr lang="en-GB"/>
        </a:p>
      </dgm:t>
    </dgm:pt>
    <dgm:pt modelId="{9D039004-4FCA-4B04-968A-BC08B49B89FA}">
      <dgm:prSet/>
      <dgm:spPr/>
      <dgm:t>
        <a:bodyPr/>
        <a:lstStyle/>
        <a:p>
          <a:r>
            <a:rPr lang="en-GB" dirty="0"/>
            <a:t>2. Indirectly responsible </a:t>
          </a:r>
        </a:p>
      </dgm:t>
    </dgm:pt>
    <dgm:pt modelId="{C001904D-0695-44F6-A698-C7FC119D0CBD}" type="parTrans" cxnId="{16997C87-88A6-4674-9E89-874736D5B937}">
      <dgm:prSet/>
      <dgm:spPr/>
      <dgm:t>
        <a:bodyPr/>
        <a:lstStyle/>
        <a:p>
          <a:endParaRPr lang="en-US"/>
        </a:p>
      </dgm:t>
    </dgm:pt>
    <dgm:pt modelId="{5A45C1B1-5D80-4899-A004-E4EE129C8298}" type="sibTrans" cxnId="{16997C87-88A6-4674-9E89-874736D5B937}">
      <dgm:prSet/>
      <dgm:spPr/>
      <dgm:t>
        <a:bodyPr/>
        <a:lstStyle/>
        <a:p>
          <a:endParaRPr lang="en-US"/>
        </a:p>
      </dgm:t>
    </dgm:pt>
    <dgm:pt modelId="{21F87265-4E5B-45AC-B8BB-2DBC334B2926}">
      <dgm:prSet/>
      <dgm:spPr/>
      <dgm:t>
        <a:bodyPr/>
        <a:lstStyle/>
        <a:p>
          <a:r>
            <a:rPr lang="en-GB" dirty="0"/>
            <a:t>3. Partially responsible</a:t>
          </a:r>
        </a:p>
      </dgm:t>
    </dgm:pt>
    <dgm:pt modelId="{C8D8B209-C664-40C3-A85F-FE821163831F}" type="parTrans" cxnId="{98E95A2D-53EB-48D0-B79F-BF17031FE7E4}">
      <dgm:prSet/>
      <dgm:spPr/>
      <dgm:t>
        <a:bodyPr/>
        <a:lstStyle/>
        <a:p>
          <a:endParaRPr lang="en-US"/>
        </a:p>
      </dgm:t>
    </dgm:pt>
    <dgm:pt modelId="{6AE82242-E4BA-4F70-A957-68BBE1D553AE}" type="sibTrans" cxnId="{98E95A2D-53EB-48D0-B79F-BF17031FE7E4}">
      <dgm:prSet/>
      <dgm:spPr/>
      <dgm:t>
        <a:bodyPr/>
        <a:lstStyle/>
        <a:p>
          <a:endParaRPr lang="en-US"/>
        </a:p>
      </dgm:t>
    </dgm:pt>
    <dgm:pt modelId="{CF291568-760B-48B8-B93F-DA31458C3802}">
      <dgm:prSet/>
      <dgm:spPr/>
      <dgm:t>
        <a:bodyPr/>
        <a:lstStyle/>
        <a:p>
          <a:r>
            <a:rPr lang="en-GB" b="1" dirty="0"/>
            <a:t>Act + consequences: foreseen – known more or less</a:t>
          </a:r>
        </a:p>
      </dgm:t>
    </dgm:pt>
    <dgm:pt modelId="{96646842-3C51-435D-8917-851F7B743E75}" type="parTrans" cxnId="{CE837E55-71F9-40CB-A05E-33F6A02038AB}">
      <dgm:prSet/>
      <dgm:spPr/>
      <dgm:t>
        <a:bodyPr/>
        <a:lstStyle/>
        <a:p>
          <a:endParaRPr lang="en-US"/>
        </a:p>
      </dgm:t>
    </dgm:pt>
    <dgm:pt modelId="{7A94FC71-69C3-4A91-BE08-DE9DA374D268}" type="sibTrans" cxnId="{CE837E55-71F9-40CB-A05E-33F6A02038AB}">
      <dgm:prSet/>
      <dgm:spPr/>
      <dgm:t>
        <a:bodyPr/>
        <a:lstStyle/>
        <a:p>
          <a:endParaRPr lang="en-US"/>
        </a:p>
      </dgm:t>
    </dgm:pt>
    <dgm:pt modelId="{05669772-2CE3-47FE-B402-0136D2C959FF}">
      <dgm:prSet/>
      <dgm:spPr/>
      <dgm:t>
        <a:bodyPr/>
        <a:lstStyle/>
        <a:p>
          <a:r>
            <a:rPr lang="en-GB" b="1" dirty="0"/>
            <a:t>Act + consequences: not wanted – not willed </a:t>
          </a:r>
        </a:p>
      </dgm:t>
    </dgm:pt>
    <dgm:pt modelId="{B8E3E41F-34AA-4EF6-80CB-78516FD6D706}" type="parTrans" cxnId="{6B2280B7-F842-49BA-8980-6A49D06DA50F}">
      <dgm:prSet/>
      <dgm:spPr/>
      <dgm:t>
        <a:bodyPr/>
        <a:lstStyle/>
        <a:p>
          <a:endParaRPr lang="en-US"/>
        </a:p>
      </dgm:t>
    </dgm:pt>
    <dgm:pt modelId="{8F5A4FB3-94FF-44F0-971B-D6142DA6F813}" type="sibTrans" cxnId="{6B2280B7-F842-49BA-8980-6A49D06DA50F}">
      <dgm:prSet/>
      <dgm:spPr/>
      <dgm:t>
        <a:bodyPr/>
        <a:lstStyle/>
        <a:p>
          <a:endParaRPr lang="en-US"/>
        </a:p>
      </dgm:t>
    </dgm:pt>
    <dgm:pt modelId="{263BF7AD-799C-4625-B25E-41963639D3F5}">
      <dgm:prSet/>
      <dgm:spPr/>
      <dgm:t>
        <a:bodyPr/>
        <a:lstStyle/>
        <a:p>
          <a:r>
            <a:rPr lang="en-GB" b="1" dirty="0"/>
            <a:t>Act + consequences: difficult to foresee but could be foreseen</a:t>
          </a:r>
        </a:p>
      </dgm:t>
    </dgm:pt>
    <dgm:pt modelId="{3C9F73D9-97DE-410D-B4A1-268AC8DED729}" type="parTrans" cxnId="{6C1547F1-85E0-4BB1-88D6-4C8A022C6DB8}">
      <dgm:prSet/>
      <dgm:spPr/>
      <dgm:t>
        <a:bodyPr/>
        <a:lstStyle/>
        <a:p>
          <a:endParaRPr lang="en-US"/>
        </a:p>
      </dgm:t>
    </dgm:pt>
    <dgm:pt modelId="{5CD4FD65-DCE1-46F5-A60C-F9F805E3C1E3}" type="sibTrans" cxnId="{6C1547F1-85E0-4BB1-88D6-4C8A022C6DB8}">
      <dgm:prSet/>
      <dgm:spPr/>
      <dgm:t>
        <a:bodyPr/>
        <a:lstStyle/>
        <a:p>
          <a:endParaRPr lang="en-US"/>
        </a:p>
      </dgm:t>
    </dgm:pt>
    <dgm:pt modelId="{E6353B59-59E6-4BFE-9EFA-3D9A049F1683}">
      <dgm:prSet/>
      <dgm:spPr/>
      <dgm:t>
        <a:bodyPr/>
        <a:lstStyle/>
        <a:p>
          <a:r>
            <a:rPr lang="en-GB" b="1" dirty="0"/>
            <a:t>Vincible ignorance (can be overcome)</a:t>
          </a:r>
        </a:p>
      </dgm:t>
    </dgm:pt>
    <dgm:pt modelId="{965AC32F-1828-45CB-974E-16C212023E2F}" type="parTrans" cxnId="{2E9ED96F-C072-4995-8341-24EAA17B0BC6}">
      <dgm:prSet/>
      <dgm:spPr/>
      <dgm:t>
        <a:bodyPr/>
        <a:lstStyle/>
        <a:p>
          <a:endParaRPr lang="en-US"/>
        </a:p>
      </dgm:t>
    </dgm:pt>
    <dgm:pt modelId="{BEAF5717-A4CC-41F6-8CF1-D0590FC709BC}" type="sibTrans" cxnId="{2E9ED96F-C072-4995-8341-24EAA17B0BC6}">
      <dgm:prSet/>
      <dgm:spPr/>
      <dgm:t>
        <a:bodyPr/>
        <a:lstStyle/>
        <a:p>
          <a:endParaRPr lang="en-US"/>
        </a:p>
      </dgm:t>
    </dgm:pt>
    <dgm:pt modelId="{78B4544F-05C7-4A81-B68B-1182C6E2F58A}" type="pres">
      <dgm:prSet presAssocID="{70362838-B3DC-4317-B18F-D19FBEB29B8F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779469D-D00F-4F4D-AF6B-48605016EE01}" type="pres">
      <dgm:prSet presAssocID="{5F91BF98-ED99-4425-BC03-EDA9721E2D4B}" presName="linNode" presStyleCnt="0"/>
      <dgm:spPr/>
    </dgm:pt>
    <dgm:pt modelId="{6754EAA3-8ECB-43BE-941D-02CAF9E8B09C}" type="pres">
      <dgm:prSet presAssocID="{5F91BF98-ED99-4425-BC03-EDA9721E2D4B}" presName="parent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900263-CEA5-4A18-9B2E-098A5161080D}" type="pres">
      <dgm:prSet presAssocID="{5F91BF98-ED99-4425-BC03-EDA9721E2D4B}" presName="childShp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2FC3AD-C4DC-4371-99C7-5798EFEFE925}" type="pres">
      <dgm:prSet presAssocID="{21D81439-A889-487C-8FD6-E0EF4EACF44C}" presName="spacing" presStyleCnt="0"/>
      <dgm:spPr/>
    </dgm:pt>
    <dgm:pt modelId="{A263AA5B-A36C-4458-B661-918D03861F1D}" type="pres">
      <dgm:prSet presAssocID="{9D039004-4FCA-4B04-968A-BC08B49B89FA}" presName="linNode" presStyleCnt="0"/>
      <dgm:spPr/>
    </dgm:pt>
    <dgm:pt modelId="{8BC0EC2E-0F19-4729-97A9-BF8FADCAB5A3}" type="pres">
      <dgm:prSet presAssocID="{9D039004-4FCA-4B04-968A-BC08B49B89FA}" presName="parent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BC074B-14BE-4801-A354-E98FBEC4B54A}" type="pres">
      <dgm:prSet presAssocID="{9D039004-4FCA-4B04-968A-BC08B49B89FA}" presName="childShp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0B1D6F-8D04-480D-B40F-38015D654F97}" type="pres">
      <dgm:prSet presAssocID="{5A45C1B1-5D80-4899-A004-E4EE129C8298}" presName="spacing" presStyleCnt="0"/>
      <dgm:spPr/>
    </dgm:pt>
    <dgm:pt modelId="{7A0F40B5-A7D4-4089-8E42-106C805D7FAC}" type="pres">
      <dgm:prSet presAssocID="{21F87265-4E5B-45AC-B8BB-2DBC334B2926}" presName="linNode" presStyleCnt="0"/>
      <dgm:spPr/>
    </dgm:pt>
    <dgm:pt modelId="{0CAA4D22-6F86-4A18-A894-64A728AFAA28}" type="pres">
      <dgm:prSet presAssocID="{21F87265-4E5B-45AC-B8BB-2DBC334B2926}" presName="parent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1FA399-30F3-465B-8396-3791BB1DC0DC}" type="pres">
      <dgm:prSet presAssocID="{21F87265-4E5B-45AC-B8BB-2DBC334B2926}" presName="childShp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F1D86F-E7C0-469B-A6EF-09CEC1038253}" type="pres">
      <dgm:prSet presAssocID="{6AE82242-E4BA-4F70-A957-68BBE1D553AE}" presName="spacing" presStyleCnt="0"/>
      <dgm:spPr/>
    </dgm:pt>
    <dgm:pt modelId="{505DD14D-4A43-4CA0-B2A3-252A7335F3B6}" type="pres">
      <dgm:prSet presAssocID="{47633122-6827-4596-9921-DF8F881205EC}" presName="linNode" presStyleCnt="0"/>
      <dgm:spPr/>
    </dgm:pt>
    <dgm:pt modelId="{9982EB19-EA30-4FDB-9827-BB6EF1369A29}" type="pres">
      <dgm:prSet presAssocID="{47633122-6827-4596-9921-DF8F881205EC}" presName="parent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90CB74-305A-4E15-9A6E-57C099726C1A}" type="pres">
      <dgm:prSet presAssocID="{47633122-6827-4596-9921-DF8F881205EC}" presName="childShp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A709CD-74D8-4436-9A13-8182E818A498}" srcId="{70362838-B3DC-4317-B18F-D19FBEB29B8F}" destId="{5F91BF98-ED99-4425-BC03-EDA9721E2D4B}" srcOrd="0" destOrd="0" parTransId="{45515422-8BF3-4FCC-A459-59D4B317FEBE}" sibTransId="{21D81439-A889-487C-8FD6-E0EF4EACF44C}"/>
    <dgm:cxn modelId="{35A902E1-A269-4832-9805-B53EE40DDBEC}" type="presOf" srcId="{47633122-6827-4596-9921-DF8F881205EC}" destId="{9982EB19-EA30-4FDB-9827-BB6EF1369A29}" srcOrd="0" destOrd="0" presId="urn:microsoft.com/office/officeart/2005/8/layout/vList6"/>
    <dgm:cxn modelId="{1022544D-0A64-4558-96E3-480485A6BB51}" type="presOf" srcId="{09558CC2-6C21-414A-81D2-854C9148CD21}" destId="{AB90CB74-305A-4E15-9A6E-57C099726C1A}" srcOrd="0" destOrd="1" presId="urn:microsoft.com/office/officeart/2005/8/layout/vList6"/>
    <dgm:cxn modelId="{6C1547F1-85E0-4BB1-88D6-4C8A022C6DB8}" srcId="{21F87265-4E5B-45AC-B8BB-2DBC334B2926}" destId="{263BF7AD-799C-4625-B25E-41963639D3F5}" srcOrd="0" destOrd="0" parTransId="{3C9F73D9-97DE-410D-B4A1-268AC8DED729}" sibTransId="{5CD4FD65-DCE1-46F5-A60C-F9F805E3C1E3}"/>
    <dgm:cxn modelId="{76294D27-8709-4EE8-AAC3-5AAE2693D69D}" type="presOf" srcId="{263BF7AD-799C-4625-B25E-41963639D3F5}" destId="{7E1FA399-30F3-465B-8396-3791BB1DC0DC}" srcOrd="0" destOrd="0" presId="urn:microsoft.com/office/officeart/2005/8/layout/vList6"/>
    <dgm:cxn modelId="{F7D1F8B8-4D48-4AEB-82DB-9C2346E7F239}" type="presOf" srcId="{A1B0A666-D578-4168-8C6B-806E578D2E6A}" destId="{70900263-CEA5-4A18-9B2E-098A5161080D}" srcOrd="0" destOrd="0" presId="urn:microsoft.com/office/officeart/2005/8/layout/vList6"/>
    <dgm:cxn modelId="{98E95A2D-53EB-48D0-B79F-BF17031FE7E4}" srcId="{70362838-B3DC-4317-B18F-D19FBEB29B8F}" destId="{21F87265-4E5B-45AC-B8BB-2DBC334B2926}" srcOrd="2" destOrd="0" parTransId="{C8D8B209-C664-40C3-A85F-FE821163831F}" sibTransId="{6AE82242-E4BA-4F70-A957-68BBE1D553AE}"/>
    <dgm:cxn modelId="{FD6643D6-051E-4CE5-96FC-7D34261EEF92}" type="presOf" srcId="{70362838-B3DC-4317-B18F-D19FBEB29B8F}" destId="{78B4544F-05C7-4A81-B68B-1182C6E2F58A}" srcOrd="0" destOrd="0" presId="urn:microsoft.com/office/officeart/2005/8/layout/vList6"/>
    <dgm:cxn modelId="{4F149358-9363-4D82-AFD9-AB015C3F447E}" srcId="{5F91BF98-ED99-4425-BC03-EDA9721E2D4B}" destId="{C1364547-F44E-4E8F-9DE0-4525B82C7F00}" srcOrd="1" destOrd="0" parTransId="{0220F5B5-7D61-4D8E-902D-45D9B91C1A32}" sibTransId="{0FAC95DE-925F-4D26-A3DC-AE9DB375B37E}"/>
    <dgm:cxn modelId="{A47CDAEE-34F1-4FF0-8EA9-39E4C7FFB890}" srcId="{47633122-6827-4596-9921-DF8F881205EC}" destId="{09558CC2-6C21-414A-81D2-854C9148CD21}" srcOrd="1" destOrd="0" parTransId="{4E1CC34C-5F41-4BD8-93B6-A990724A99D0}" sibTransId="{78D24604-26B0-499A-8586-74A265AC2A76}"/>
    <dgm:cxn modelId="{358EFF29-51D9-4EBF-961F-53E5383619F1}" type="presOf" srcId="{E6353B59-59E6-4BFE-9EFA-3D9A049F1683}" destId="{7E1FA399-30F3-465B-8396-3791BB1DC0DC}" srcOrd="0" destOrd="1" presId="urn:microsoft.com/office/officeart/2005/8/layout/vList6"/>
    <dgm:cxn modelId="{7B027419-DB26-4A9D-B1C0-B6FD8AC446C7}" type="presOf" srcId="{C1364547-F44E-4E8F-9DE0-4525B82C7F00}" destId="{70900263-CEA5-4A18-9B2E-098A5161080D}" srcOrd="0" destOrd="1" presId="urn:microsoft.com/office/officeart/2005/8/layout/vList6"/>
    <dgm:cxn modelId="{16997C87-88A6-4674-9E89-874736D5B937}" srcId="{70362838-B3DC-4317-B18F-D19FBEB29B8F}" destId="{9D039004-4FCA-4B04-968A-BC08B49B89FA}" srcOrd="1" destOrd="0" parTransId="{C001904D-0695-44F6-A698-C7FC119D0CBD}" sibTransId="{5A45C1B1-5D80-4899-A004-E4EE129C8298}"/>
    <dgm:cxn modelId="{6B2280B7-F842-49BA-8980-6A49D06DA50F}" srcId="{9D039004-4FCA-4B04-968A-BC08B49B89FA}" destId="{05669772-2CE3-47FE-B402-0136D2C959FF}" srcOrd="1" destOrd="0" parTransId="{B8E3E41F-34AA-4EF6-80CB-78516FD6D706}" sibTransId="{8F5A4FB3-94FF-44F0-971B-D6142DA6F813}"/>
    <dgm:cxn modelId="{AE40EA51-1D4A-40DD-8020-60712AE8D6C5}" type="presOf" srcId="{AC8E90D8-1314-4DA3-BDF0-B753D2FC9D54}" destId="{AB90CB74-305A-4E15-9A6E-57C099726C1A}" srcOrd="0" destOrd="0" presId="urn:microsoft.com/office/officeart/2005/8/layout/vList6"/>
    <dgm:cxn modelId="{2E62A74E-B562-45B8-A69A-ECDA24DC1DE5}" type="presOf" srcId="{CF291568-760B-48B8-B93F-DA31458C3802}" destId="{0EBC074B-14BE-4801-A354-E98FBEC4B54A}" srcOrd="0" destOrd="0" presId="urn:microsoft.com/office/officeart/2005/8/layout/vList6"/>
    <dgm:cxn modelId="{F9393483-62E9-4435-A15F-3BD399D22D83}" srcId="{70362838-B3DC-4317-B18F-D19FBEB29B8F}" destId="{47633122-6827-4596-9921-DF8F881205EC}" srcOrd="3" destOrd="0" parTransId="{451476F4-0357-40F6-A064-51D8B5AE4746}" sibTransId="{C8C62560-FD35-4C9D-88C6-7DA2FBCAC902}"/>
    <dgm:cxn modelId="{2E9ED96F-C072-4995-8341-24EAA17B0BC6}" srcId="{21F87265-4E5B-45AC-B8BB-2DBC334B2926}" destId="{E6353B59-59E6-4BFE-9EFA-3D9A049F1683}" srcOrd="1" destOrd="0" parTransId="{965AC32F-1828-45CB-974E-16C212023E2F}" sibTransId="{BEAF5717-A4CC-41F6-8CF1-D0590FC709BC}"/>
    <dgm:cxn modelId="{B7F9859F-DF88-4618-AF4C-01AC5DC2F9F9}" type="presOf" srcId="{21F87265-4E5B-45AC-B8BB-2DBC334B2926}" destId="{0CAA4D22-6F86-4A18-A894-64A728AFAA28}" srcOrd="0" destOrd="0" presId="urn:microsoft.com/office/officeart/2005/8/layout/vList6"/>
    <dgm:cxn modelId="{12E89F51-1677-4D56-B6B6-5F5E6384C0A8}" srcId="{5F91BF98-ED99-4425-BC03-EDA9721E2D4B}" destId="{A1B0A666-D578-4168-8C6B-806E578D2E6A}" srcOrd="0" destOrd="0" parTransId="{BBAC171D-53E4-4761-9923-4C8BCF00E9EA}" sibTransId="{7C72EEEB-6BD5-4417-BA39-DE065C491B73}"/>
    <dgm:cxn modelId="{0BB46016-10D9-4D89-BDF2-FA8B4ABA0195}" type="presOf" srcId="{9D039004-4FCA-4B04-968A-BC08B49B89FA}" destId="{8BC0EC2E-0F19-4729-97A9-BF8FADCAB5A3}" srcOrd="0" destOrd="0" presId="urn:microsoft.com/office/officeart/2005/8/layout/vList6"/>
    <dgm:cxn modelId="{08BE0CDC-07FB-4EBD-90A6-2064B1802180}" type="presOf" srcId="{05669772-2CE3-47FE-B402-0136D2C959FF}" destId="{0EBC074B-14BE-4801-A354-E98FBEC4B54A}" srcOrd="0" destOrd="1" presId="urn:microsoft.com/office/officeart/2005/8/layout/vList6"/>
    <dgm:cxn modelId="{1A78B681-32A9-41CC-B638-2DDD1F24B698}" srcId="{47633122-6827-4596-9921-DF8F881205EC}" destId="{AC8E90D8-1314-4DA3-BDF0-B753D2FC9D54}" srcOrd="0" destOrd="0" parTransId="{22966004-EEDA-4DFA-A386-45C8C97F4BB6}" sibTransId="{4B84814C-DEB2-49EE-AECC-DF3A8CB58AE7}"/>
    <dgm:cxn modelId="{DDC7CBD4-07E5-4152-8194-2DE395A54FE1}" type="presOf" srcId="{5F91BF98-ED99-4425-BC03-EDA9721E2D4B}" destId="{6754EAA3-8ECB-43BE-941D-02CAF9E8B09C}" srcOrd="0" destOrd="0" presId="urn:microsoft.com/office/officeart/2005/8/layout/vList6"/>
    <dgm:cxn modelId="{CE837E55-71F9-40CB-A05E-33F6A02038AB}" srcId="{9D039004-4FCA-4B04-968A-BC08B49B89FA}" destId="{CF291568-760B-48B8-B93F-DA31458C3802}" srcOrd="0" destOrd="0" parTransId="{96646842-3C51-435D-8917-851F7B743E75}" sibTransId="{7A94FC71-69C3-4A91-BE08-DE9DA374D268}"/>
    <dgm:cxn modelId="{1148B43C-A4BF-460A-8138-BF37C60F759C}" type="presParOf" srcId="{78B4544F-05C7-4A81-B68B-1182C6E2F58A}" destId="{3779469D-D00F-4F4D-AF6B-48605016EE01}" srcOrd="0" destOrd="0" presId="urn:microsoft.com/office/officeart/2005/8/layout/vList6"/>
    <dgm:cxn modelId="{6F99A552-8CCD-4E29-9182-8674639B5E34}" type="presParOf" srcId="{3779469D-D00F-4F4D-AF6B-48605016EE01}" destId="{6754EAA3-8ECB-43BE-941D-02CAF9E8B09C}" srcOrd="0" destOrd="0" presId="urn:microsoft.com/office/officeart/2005/8/layout/vList6"/>
    <dgm:cxn modelId="{BD88DAF7-65C4-4A69-998A-0903D5A70B5E}" type="presParOf" srcId="{3779469D-D00F-4F4D-AF6B-48605016EE01}" destId="{70900263-CEA5-4A18-9B2E-098A5161080D}" srcOrd="1" destOrd="0" presId="urn:microsoft.com/office/officeart/2005/8/layout/vList6"/>
    <dgm:cxn modelId="{C98BBCB7-9940-4076-91C4-DED850682C61}" type="presParOf" srcId="{78B4544F-05C7-4A81-B68B-1182C6E2F58A}" destId="{7F2FC3AD-C4DC-4371-99C7-5798EFEFE925}" srcOrd="1" destOrd="0" presId="urn:microsoft.com/office/officeart/2005/8/layout/vList6"/>
    <dgm:cxn modelId="{84366354-0902-42E5-A202-7AC3A951C827}" type="presParOf" srcId="{78B4544F-05C7-4A81-B68B-1182C6E2F58A}" destId="{A263AA5B-A36C-4458-B661-918D03861F1D}" srcOrd="2" destOrd="0" presId="urn:microsoft.com/office/officeart/2005/8/layout/vList6"/>
    <dgm:cxn modelId="{ABBD3722-C5A3-41C2-9022-102A273BA9B1}" type="presParOf" srcId="{A263AA5B-A36C-4458-B661-918D03861F1D}" destId="{8BC0EC2E-0F19-4729-97A9-BF8FADCAB5A3}" srcOrd="0" destOrd="0" presId="urn:microsoft.com/office/officeart/2005/8/layout/vList6"/>
    <dgm:cxn modelId="{8A6E78F6-B2D3-4A2F-B225-D4C1BE3CD89B}" type="presParOf" srcId="{A263AA5B-A36C-4458-B661-918D03861F1D}" destId="{0EBC074B-14BE-4801-A354-E98FBEC4B54A}" srcOrd="1" destOrd="0" presId="urn:microsoft.com/office/officeart/2005/8/layout/vList6"/>
    <dgm:cxn modelId="{28E79CDA-6392-4C34-9AD5-763779D11392}" type="presParOf" srcId="{78B4544F-05C7-4A81-B68B-1182C6E2F58A}" destId="{4E0B1D6F-8D04-480D-B40F-38015D654F97}" srcOrd="3" destOrd="0" presId="urn:microsoft.com/office/officeart/2005/8/layout/vList6"/>
    <dgm:cxn modelId="{04DE4D60-4168-40B0-816C-BD93D7B8472B}" type="presParOf" srcId="{78B4544F-05C7-4A81-B68B-1182C6E2F58A}" destId="{7A0F40B5-A7D4-4089-8E42-106C805D7FAC}" srcOrd="4" destOrd="0" presId="urn:microsoft.com/office/officeart/2005/8/layout/vList6"/>
    <dgm:cxn modelId="{E657E42B-934A-4D8D-ABD6-E9C4A0284B94}" type="presParOf" srcId="{7A0F40B5-A7D4-4089-8E42-106C805D7FAC}" destId="{0CAA4D22-6F86-4A18-A894-64A728AFAA28}" srcOrd="0" destOrd="0" presId="urn:microsoft.com/office/officeart/2005/8/layout/vList6"/>
    <dgm:cxn modelId="{FC0DC3C8-180F-4CBE-849B-8C17799C9F1C}" type="presParOf" srcId="{7A0F40B5-A7D4-4089-8E42-106C805D7FAC}" destId="{7E1FA399-30F3-465B-8396-3791BB1DC0DC}" srcOrd="1" destOrd="0" presId="urn:microsoft.com/office/officeart/2005/8/layout/vList6"/>
    <dgm:cxn modelId="{FC33AB34-0E29-4553-BEDD-130D083C7564}" type="presParOf" srcId="{78B4544F-05C7-4A81-B68B-1182C6E2F58A}" destId="{80F1D86F-E7C0-469B-A6EF-09CEC1038253}" srcOrd="5" destOrd="0" presId="urn:microsoft.com/office/officeart/2005/8/layout/vList6"/>
    <dgm:cxn modelId="{5AC1BD80-471E-457E-9C85-E7EA6031DCF8}" type="presParOf" srcId="{78B4544F-05C7-4A81-B68B-1182C6E2F58A}" destId="{505DD14D-4A43-4CA0-B2A3-252A7335F3B6}" srcOrd="6" destOrd="0" presId="urn:microsoft.com/office/officeart/2005/8/layout/vList6"/>
    <dgm:cxn modelId="{EC15170E-A12B-44F0-AADB-6AC894795800}" type="presParOf" srcId="{505DD14D-4A43-4CA0-B2A3-252A7335F3B6}" destId="{9982EB19-EA30-4FDB-9827-BB6EF1369A29}" srcOrd="0" destOrd="0" presId="urn:microsoft.com/office/officeart/2005/8/layout/vList6"/>
    <dgm:cxn modelId="{B620E81A-8715-44D8-9C0C-DF79E2213688}" type="presParOf" srcId="{505DD14D-4A43-4CA0-B2A3-252A7335F3B6}" destId="{AB90CB74-305A-4E15-9A6E-57C099726C1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C40EB-AC5D-4D1B-A01B-30962482321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03F87CA-93A6-44FA-9667-142DD5F6E1B0}">
      <dgm:prSet phldrT="[Text]"/>
      <dgm:spPr/>
      <dgm:t>
        <a:bodyPr/>
        <a:lstStyle/>
        <a:p>
          <a:r>
            <a:rPr lang="en-GB" dirty="0"/>
            <a:t>Formal cooperation</a:t>
          </a:r>
        </a:p>
      </dgm:t>
    </dgm:pt>
    <dgm:pt modelId="{10353422-BF8E-487A-8000-02BD4D281163}" type="parTrans" cxnId="{83A4E95E-D7BC-464B-B0B9-11AEB3AB6792}">
      <dgm:prSet/>
      <dgm:spPr/>
      <dgm:t>
        <a:bodyPr/>
        <a:lstStyle/>
        <a:p>
          <a:endParaRPr lang="en-GB"/>
        </a:p>
      </dgm:t>
    </dgm:pt>
    <dgm:pt modelId="{AC43FAB8-92F2-4E27-8707-08514D9438BC}" type="sibTrans" cxnId="{83A4E95E-D7BC-464B-B0B9-11AEB3AB6792}">
      <dgm:prSet/>
      <dgm:spPr/>
      <dgm:t>
        <a:bodyPr/>
        <a:lstStyle/>
        <a:p>
          <a:endParaRPr lang="en-GB"/>
        </a:p>
      </dgm:t>
    </dgm:pt>
    <dgm:pt modelId="{83537475-F137-46B2-AED8-D49A3D701CE0}">
      <dgm:prSet phldrT="[Text]"/>
      <dgm:spPr/>
      <dgm:t>
        <a:bodyPr/>
        <a:lstStyle/>
        <a:p>
          <a:r>
            <a:rPr lang="en-GB" b="1" dirty="0"/>
            <a:t>I know about and agree with the evil action</a:t>
          </a:r>
        </a:p>
      </dgm:t>
    </dgm:pt>
    <dgm:pt modelId="{5087102B-531D-4CAB-9B74-C596FFF76B1E}" type="parTrans" cxnId="{EABDE294-A1D3-4B16-9DDA-B6AB905A951D}">
      <dgm:prSet/>
      <dgm:spPr/>
      <dgm:t>
        <a:bodyPr/>
        <a:lstStyle/>
        <a:p>
          <a:endParaRPr lang="en-GB"/>
        </a:p>
      </dgm:t>
    </dgm:pt>
    <dgm:pt modelId="{701A4512-270D-40B9-B183-78A709AF10E9}" type="sibTrans" cxnId="{EABDE294-A1D3-4B16-9DDA-B6AB905A951D}">
      <dgm:prSet/>
      <dgm:spPr/>
      <dgm:t>
        <a:bodyPr/>
        <a:lstStyle/>
        <a:p>
          <a:endParaRPr lang="en-GB"/>
        </a:p>
      </dgm:t>
    </dgm:pt>
    <dgm:pt modelId="{278B7F39-4668-4462-922D-FEABF278FDD9}">
      <dgm:prSet phldrT="[Text]"/>
      <dgm:spPr/>
      <dgm:t>
        <a:bodyPr/>
        <a:lstStyle/>
        <a:p>
          <a:r>
            <a:rPr lang="en-GB" dirty="0"/>
            <a:t>Material cooperation</a:t>
          </a:r>
        </a:p>
      </dgm:t>
    </dgm:pt>
    <dgm:pt modelId="{3401AE28-9616-4673-A988-2997A6BF1B11}" type="parTrans" cxnId="{BDF530F3-474C-48E0-95DF-ED46FD2450C1}">
      <dgm:prSet/>
      <dgm:spPr/>
      <dgm:t>
        <a:bodyPr/>
        <a:lstStyle/>
        <a:p>
          <a:endParaRPr lang="en-GB"/>
        </a:p>
      </dgm:t>
    </dgm:pt>
    <dgm:pt modelId="{82F5E5B2-5D3C-497D-8C0B-0A7A1FBB2C2E}" type="sibTrans" cxnId="{BDF530F3-474C-48E0-95DF-ED46FD2450C1}">
      <dgm:prSet/>
      <dgm:spPr/>
      <dgm:t>
        <a:bodyPr/>
        <a:lstStyle/>
        <a:p>
          <a:endParaRPr lang="en-GB"/>
        </a:p>
      </dgm:t>
    </dgm:pt>
    <dgm:pt modelId="{63DBAD74-DFA4-4529-829B-BA08985E2340}">
      <dgm:prSet phldrT="[Text]"/>
      <dgm:spPr/>
      <dgm:t>
        <a:bodyPr/>
        <a:lstStyle/>
        <a:p>
          <a:r>
            <a:rPr lang="en-GB" b="1" dirty="0"/>
            <a:t>I do not know about / I know but do not agree with the evil action</a:t>
          </a:r>
        </a:p>
      </dgm:t>
    </dgm:pt>
    <dgm:pt modelId="{EDC9CBF2-CB27-42E1-81AF-45E6AB5F4075}" type="parTrans" cxnId="{8D4DDCC4-2280-42EB-B9AF-E2DFA693DD2B}">
      <dgm:prSet/>
      <dgm:spPr/>
      <dgm:t>
        <a:bodyPr/>
        <a:lstStyle/>
        <a:p>
          <a:endParaRPr lang="en-GB"/>
        </a:p>
      </dgm:t>
    </dgm:pt>
    <dgm:pt modelId="{A87FAD51-22B6-415E-AD03-B7EB75885E45}" type="sibTrans" cxnId="{8D4DDCC4-2280-42EB-B9AF-E2DFA693DD2B}">
      <dgm:prSet/>
      <dgm:spPr/>
      <dgm:t>
        <a:bodyPr/>
        <a:lstStyle/>
        <a:p>
          <a:endParaRPr lang="en-GB"/>
        </a:p>
      </dgm:t>
    </dgm:pt>
    <dgm:pt modelId="{E9448961-F2BA-4B3D-8E36-D6950266B865}">
      <dgm:prSet phldrT="[Text]"/>
      <dgm:spPr/>
      <dgm:t>
        <a:bodyPr/>
        <a:lstStyle/>
        <a:p>
          <a:r>
            <a:rPr lang="en-GB" b="1" dirty="0"/>
            <a:t>Done by another person</a:t>
          </a:r>
        </a:p>
      </dgm:t>
    </dgm:pt>
    <dgm:pt modelId="{75ABEDC5-157E-435E-804A-2D7739B8FF7A}" type="parTrans" cxnId="{6257019D-1CF4-4428-9828-DC2FDEA467A9}">
      <dgm:prSet/>
      <dgm:spPr/>
      <dgm:t>
        <a:bodyPr/>
        <a:lstStyle/>
        <a:p>
          <a:endParaRPr lang="en-GB"/>
        </a:p>
      </dgm:t>
    </dgm:pt>
    <dgm:pt modelId="{54A2F30B-9BEE-40B1-B107-BB046CDC46F9}" type="sibTrans" cxnId="{6257019D-1CF4-4428-9828-DC2FDEA467A9}">
      <dgm:prSet/>
      <dgm:spPr/>
      <dgm:t>
        <a:bodyPr/>
        <a:lstStyle/>
        <a:p>
          <a:endParaRPr lang="en-GB"/>
        </a:p>
      </dgm:t>
    </dgm:pt>
    <dgm:pt modelId="{0D411736-4B20-4DA4-80DD-0FFB55D6FBEB}">
      <dgm:prSet phldrT="[Text]"/>
      <dgm:spPr/>
      <dgm:t>
        <a:bodyPr/>
        <a:lstStyle/>
        <a:p>
          <a:r>
            <a:rPr lang="en-GB" b="1" dirty="0"/>
            <a:t>Done by another person</a:t>
          </a:r>
        </a:p>
      </dgm:t>
    </dgm:pt>
    <dgm:pt modelId="{29F0F7C9-B5DC-401B-97C6-D8589568F03F}" type="parTrans" cxnId="{E085DF95-8D05-4055-9048-9718CFF69648}">
      <dgm:prSet/>
      <dgm:spPr/>
      <dgm:t>
        <a:bodyPr/>
        <a:lstStyle/>
        <a:p>
          <a:endParaRPr lang="en-GB"/>
        </a:p>
      </dgm:t>
    </dgm:pt>
    <dgm:pt modelId="{7A26FB4E-5137-4E99-B12A-9E725CA4A9B3}" type="sibTrans" cxnId="{E085DF95-8D05-4055-9048-9718CFF69648}">
      <dgm:prSet/>
      <dgm:spPr/>
      <dgm:t>
        <a:bodyPr/>
        <a:lstStyle/>
        <a:p>
          <a:endParaRPr lang="en-GB"/>
        </a:p>
      </dgm:t>
    </dgm:pt>
    <dgm:pt modelId="{A7D09836-2018-4835-8D31-6C721DB2A2DD}">
      <dgm:prSet phldrT="[Text]"/>
      <dgm:spPr/>
      <dgm:t>
        <a:bodyPr/>
        <a:lstStyle/>
        <a:p>
          <a:r>
            <a:rPr lang="en-GB" b="1" dirty="0"/>
            <a:t>Example: I agree with friend to use ChatGPT for group assignment</a:t>
          </a:r>
        </a:p>
      </dgm:t>
    </dgm:pt>
    <dgm:pt modelId="{CC65B2F6-BD63-4D7C-B2C5-B6148B555C81}" type="parTrans" cxnId="{3A177CBB-69A7-4E03-BA63-B54D4208A68B}">
      <dgm:prSet/>
      <dgm:spPr/>
      <dgm:t>
        <a:bodyPr/>
        <a:lstStyle/>
        <a:p>
          <a:endParaRPr lang="en-GB"/>
        </a:p>
      </dgm:t>
    </dgm:pt>
    <dgm:pt modelId="{7042B3FB-1B5E-4810-A4B3-B693E02AD5B2}" type="sibTrans" cxnId="{3A177CBB-69A7-4E03-BA63-B54D4208A68B}">
      <dgm:prSet/>
      <dgm:spPr/>
      <dgm:t>
        <a:bodyPr/>
        <a:lstStyle/>
        <a:p>
          <a:endParaRPr lang="en-GB"/>
        </a:p>
      </dgm:t>
    </dgm:pt>
    <dgm:pt modelId="{282A089A-F4D0-4288-A874-746B81D5D8BA}">
      <dgm:prSet phldrT="[Text]"/>
      <dgm:spPr/>
      <dgm:t>
        <a:bodyPr/>
        <a:lstStyle/>
        <a:p>
          <a:r>
            <a:rPr lang="en-GB" b="1" dirty="0"/>
            <a:t>Example: I don’t know/do not agree with friend using ChatGPT for group assignment</a:t>
          </a:r>
        </a:p>
      </dgm:t>
    </dgm:pt>
    <dgm:pt modelId="{999B3A01-C145-4C10-B4C3-87823F4DC153}" type="parTrans" cxnId="{1B9FEEDA-A429-42DA-9C27-239336085942}">
      <dgm:prSet/>
      <dgm:spPr/>
      <dgm:t>
        <a:bodyPr/>
        <a:lstStyle/>
        <a:p>
          <a:endParaRPr lang="en-GB"/>
        </a:p>
      </dgm:t>
    </dgm:pt>
    <dgm:pt modelId="{CC763FDB-F590-4049-9DF4-5F6C7FBD372E}" type="sibTrans" cxnId="{1B9FEEDA-A429-42DA-9C27-239336085942}">
      <dgm:prSet/>
      <dgm:spPr/>
      <dgm:t>
        <a:bodyPr/>
        <a:lstStyle/>
        <a:p>
          <a:endParaRPr lang="en-GB"/>
        </a:p>
      </dgm:t>
    </dgm:pt>
    <dgm:pt modelId="{F393917B-39CC-44C0-AA21-A45E7A00E88D}">
      <dgm:prSet phldrT="[Text]"/>
      <dgm:spPr/>
      <dgm:t>
        <a:bodyPr/>
        <a:lstStyle/>
        <a:p>
          <a:r>
            <a:rPr lang="en-GB" b="1" dirty="0"/>
            <a:t>Never ethically acceptable</a:t>
          </a:r>
        </a:p>
      </dgm:t>
    </dgm:pt>
    <dgm:pt modelId="{2E3ACA0B-0C34-4B7F-979C-BA47C5516E06}" type="parTrans" cxnId="{2397FD43-2046-4CBF-82B6-CD51E0313358}">
      <dgm:prSet/>
      <dgm:spPr/>
    </dgm:pt>
    <dgm:pt modelId="{96B26B1C-E9CA-4D9A-BF03-3AC6CC7698D3}" type="sibTrans" cxnId="{2397FD43-2046-4CBF-82B6-CD51E0313358}">
      <dgm:prSet/>
      <dgm:spPr/>
    </dgm:pt>
    <dgm:pt modelId="{E0AE3BEB-56BE-4B17-8C6C-61FD75AB096A}">
      <dgm:prSet phldrT="[Text]"/>
      <dgm:spPr/>
      <dgm:t>
        <a:bodyPr/>
        <a:lstStyle/>
        <a:p>
          <a:r>
            <a:rPr lang="en-GB" b="1" dirty="0"/>
            <a:t>Generally, not ethically acceptable</a:t>
          </a:r>
        </a:p>
      </dgm:t>
    </dgm:pt>
    <dgm:pt modelId="{FB48E644-05C4-4451-82B1-F8E2FB966C1B}" type="parTrans" cxnId="{1F1189D3-0F27-413B-8D8D-0102E9CE717A}">
      <dgm:prSet/>
      <dgm:spPr/>
    </dgm:pt>
    <dgm:pt modelId="{2DC4D2D9-269D-4F98-BE96-149C646BC14C}" type="sibTrans" cxnId="{1F1189D3-0F27-413B-8D8D-0102E9CE717A}">
      <dgm:prSet/>
      <dgm:spPr/>
    </dgm:pt>
    <dgm:pt modelId="{99F23BA4-6294-42EE-A901-125F0EC793C1}" type="pres">
      <dgm:prSet presAssocID="{D1AC40EB-AC5D-4D1B-A01B-309624823218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8FBA982-CDF0-4AFC-97E4-420B0869F8F9}" type="pres">
      <dgm:prSet presAssocID="{A03F87CA-93A6-44FA-9667-142DD5F6E1B0}" presName="linNode" presStyleCnt="0"/>
      <dgm:spPr/>
    </dgm:pt>
    <dgm:pt modelId="{CD614BBA-5C2F-49BA-A191-9013E500D048}" type="pres">
      <dgm:prSet presAssocID="{A03F87CA-93A6-44FA-9667-142DD5F6E1B0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0D044-746D-40BC-80E2-CFF001B39E68}" type="pres">
      <dgm:prSet presAssocID="{A03F87CA-93A6-44FA-9667-142DD5F6E1B0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1A5946-19B1-49AF-BBA2-259E6CA52B40}" type="pres">
      <dgm:prSet presAssocID="{AC43FAB8-92F2-4E27-8707-08514D9438BC}" presName="spacing" presStyleCnt="0"/>
      <dgm:spPr/>
    </dgm:pt>
    <dgm:pt modelId="{2F3CC4FE-9C2D-49CB-8DD4-F07CD5A42B69}" type="pres">
      <dgm:prSet presAssocID="{278B7F39-4668-4462-922D-FEABF278FDD9}" presName="linNode" presStyleCnt="0"/>
      <dgm:spPr/>
    </dgm:pt>
    <dgm:pt modelId="{1126D26F-AB7C-485C-9942-0F6D620B754B}" type="pres">
      <dgm:prSet presAssocID="{278B7F39-4668-4462-922D-FEABF278FDD9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285CAA-D1CC-49FB-B896-DF14ACD4ACC0}" type="pres">
      <dgm:prSet presAssocID="{278B7F39-4668-4462-922D-FEABF278FDD9}" presName="childShp" presStyleLbl="bgAccFollowNode1" presStyleIdx="1" presStyleCnt="2" custScaleY="112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F31A05-39A7-47BE-994E-FA6D7BA7AD91}" type="presOf" srcId="{83537475-F137-46B2-AED8-D49A3D701CE0}" destId="{3610D044-746D-40BC-80E2-CFF001B39E68}" srcOrd="0" destOrd="0" presId="urn:microsoft.com/office/officeart/2005/8/layout/vList6"/>
    <dgm:cxn modelId="{5FB82BC6-53D1-43E5-B6D9-5E006A2FD7D3}" type="presOf" srcId="{F393917B-39CC-44C0-AA21-A45E7A00E88D}" destId="{3610D044-746D-40BC-80E2-CFF001B39E68}" srcOrd="0" destOrd="3" presId="urn:microsoft.com/office/officeart/2005/8/layout/vList6"/>
    <dgm:cxn modelId="{BDF530F3-474C-48E0-95DF-ED46FD2450C1}" srcId="{D1AC40EB-AC5D-4D1B-A01B-309624823218}" destId="{278B7F39-4668-4462-922D-FEABF278FDD9}" srcOrd="1" destOrd="0" parTransId="{3401AE28-9616-4673-A988-2997A6BF1B11}" sibTransId="{82F5E5B2-5D3C-497D-8C0B-0A7A1FBB2C2E}"/>
    <dgm:cxn modelId="{993AE727-26B8-48A6-970D-EE98E4158796}" type="presOf" srcId="{278B7F39-4668-4462-922D-FEABF278FDD9}" destId="{1126D26F-AB7C-485C-9942-0F6D620B754B}" srcOrd="0" destOrd="0" presId="urn:microsoft.com/office/officeart/2005/8/layout/vList6"/>
    <dgm:cxn modelId="{83A4E95E-D7BC-464B-B0B9-11AEB3AB6792}" srcId="{D1AC40EB-AC5D-4D1B-A01B-309624823218}" destId="{A03F87CA-93A6-44FA-9667-142DD5F6E1B0}" srcOrd="0" destOrd="0" parTransId="{10353422-BF8E-487A-8000-02BD4D281163}" sibTransId="{AC43FAB8-92F2-4E27-8707-08514D9438BC}"/>
    <dgm:cxn modelId="{8D4DDCC4-2280-42EB-B9AF-E2DFA693DD2B}" srcId="{278B7F39-4668-4462-922D-FEABF278FDD9}" destId="{63DBAD74-DFA4-4529-829B-BA08985E2340}" srcOrd="0" destOrd="0" parTransId="{EDC9CBF2-CB27-42E1-81AF-45E6AB5F4075}" sibTransId="{A87FAD51-22B6-415E-AD03-B7EB75885E45}"/>
    <dgm:cxn modelId="{2397FD43-2046-4CBF-82B6-CD51E0313358}" srcId="{A03F87CA-93A6-44FA-9667-142DD5F6E1B0}" destId="{F393917B-39CC-44C0-AA21-A45E7A00E88D}" srcOrd="3" destOrd="0" parTransId="{2E3ACA0B-0C34-4B7F-979C-BA47C5516E06}" sibTransId="{96B26B1C-E9CA-4D9A-BF03-3AC6CC7698D3}"/>
    <dgm:cxn modelId="{EBDD4243-4569-44C0-8D6F-AF7D775993E5}" type="presOf" srcId="{E0AE3BEB-56BE-4B17-8C6C-61FD75AB096A}" destId="{E9285CAA-D1CC-49FB-B896-DF14ACD4ACC0}" srcOrd="0" destOrd="3" presId="urn:microsoft.com/office/officeart/2005/8/layout/vList6"/>
    <dgm:cxn modelId="{1F1189D3-0F27-413B-8D8D-0102E9CE717A}" srcId="{278B7F39-4668-4462-922D-FEABF278FDD9}" destId="{E0AE3BEB-56BE-4B17-8C6C-61FD75AB096A}" srcOrd="3" destOrd="0" parTransId="{FB48E644-05C4-4451-82B1-F8E2FB966C1B}" sibTransId="{2DC4D2D9-269D-4F98-BE96-149C646BC14C}"/>
    <dgm:cxn modelId="{6257019D-1CF4-4428-9828-DC2FDEA467A9}" srcId="{A03F87CA-93A6-44FA-9667-142DD5F6E1B0}" destId="{E9448961-F2BA-4B3D-8E36-D6950266B865}" srcOrd="1" destOrd="0" parTransId="{75ABEDC5-157E-435E-804A-2D7739B8FF7A}" sibTransId="{54A2F30B-9BEE-40B1-B107-BB046CDC46F9}"/>
    <dgm:cxn modelId="{CD095DDE-D32F-4C45-B3F0-6E80A28445B8}" type="presOf" srcId="{E9448961-F2BA-4B3D-8E36-D6950266B865}" destId="{3610D044-746D-40BC-80E2-CFF001B39E68}" srcOrd="0" destOrd="1" presId="urn:microsoft.com/office/officeart/2005/8/layout/vList6"/>
    <dgm:cxn modelId="{75A6FE74-B154-4F51-A18E-0A1229B59352}" type="presOf" srcId="{D1AC40EB-AC5D-4D1B-A01B-309624823218}" destId="{99F23BA4-6294-42EE-A901-125F0EC793C1}" srcOrd="0" destOrd="0" presId="urn:microsoft.com/office/officeart/2005/8/layout/vList6"/>
    <dgm:cxn modelId="{7E5AD873-E0EB-47CA-AF78-12D362398CA4}" type="presOf" srcId="{282A089A-F4D0-4288-A874-746B81D5D8BA}" destId="{E9285CAA-D1CC-49FB-B896-DF14ACD4ACC0}" srcOrd="0" destOrd="2" presId="urn:microsoft.com/office/officeart/2005/8/layout/vList6"/>
    <dgm:cxn modelId="{5A4B88CA-1E65-454E-98E2-4A2C3C24D545}" type="presOf" srcId="{A03F87CA-93A6-44FA-9667-142DD5F6E1B0}" destId="{CD614BBA-5C2F-49BA-A191-9013E500D048}" srcOrd="0" destOrd="0" presId="urn:microsoft.com/office/officeart/2005/8/layout/vList6"/>
    <dgm:cxn modelId="{C2ABBF1F-97DE-46A2-AE57-075E13510939}" type="presOf" srcId="{63DBAD74-DFA4-4529-829B-BA08985E2340}" destId="{E9285CAA-D1CC-49FB-B896-DF14ACD4ACC0}" srcOrd="0" destOrd="0" presId="urn:microsoft.com/office/officeart/2005/8/layout/vList6"/>
    <dgm:cxn modelId="{B7E5413D-4E46-487A-A976-50033C44AC23}" type="presOf" srcId="{0D411736-4B20-4DA4-80DD-0FFB55D6FBEB}" destId="{E9285CAA-D1CC-49FB-B896-DF14ACD4ACC0}" srcOrd="0" destOrd="1" presId="urn:microsoft.com/office/officeart/2005/8/layout/vList6"/>
    <dgm:cxn modelId="{1B9FEEDA-A429-42DA-9C27-239336085942}" srcId="{278B7F39-4668-4462-922D-FEABF278FDD9}" destId="{282A089A-F4D0-4288-A874-746B81D5D8BA}" srcOrd="2" destOrd="0" parTransId="{999B3A01-C145-4C10-B4C3-87823F4DC153}" sibTransId="{CC763FDB-F590-4049-9DF4-5F6C7FBD372E}"/>
    <dgm:cxn modelId="{E085DF95-8D05-4055-9048-9718CFF69648}" srcId="{278B7F39-4668-4462-922D-FEABF278FDD9}" destId="{0D411736-4B20-4DA4-80DD-0FFB55D6FBEB}" srcOrd="1" destOrd="0" parTransId="{29F0F7C9-B5DC-401B-97C6-D8589568F03F}" sibTransId="{7A26FB4E-5137-4E99-B12A-9E725CA4A9B3}"/>
    <dgm:cxn modelId="{97C58146-90C2-4AC0-8193-07411180123E}" type="presOf" srcId="{A7D09836-2018-4835-8D31-6C721DB2A2DD}" destId="{3610D044-746D-40BC-80E2-CFF001B39E68}" srcOrd="0" destOrd="2" presId="urn:microsoft.com/office/officeart/2005/8/layout/vList6"/>
    <dgm:cxn modelId="{3A177CBB-69A7-4E03-BA63-B54D4208A68B}" srcId="{A03F87CA-93A6-44FA-9667-142DD5F6E1B0}" destId="{A7D09836-2018-4835-8D31-6C721DB2A2DD}" srcOrd="2" destOrd="0" parTransId="{CC65B2F6-BD63-4D7C-B2C5-B6148B555C81}" sibTransId="{7042B3FB-1B5E-4810-A4B3-B693E02AD5B2}"/>
    <dgm:cxn modelId="{EABDE294-A1D3-4B16-9DDA-B6AB905A951D}" srcId="{A03F87CA-93A6-44FA-9667-142DD5F6E1B0}" destId="{83537475-F137-46B2-AED8-D49A3D701CE0}" srcOrd="0" destOrd="0" parTransId="{5087102B-531D-4CAB-9B74-C596FFF76B1E}" sibTransId="{701A4512-270D-40B9-B183-78A709AF10E9}"/>
    <dgm:cxn modelId="{3884DE81-A5CE-4F5B-AE4A-CD648483FAFD}" type="presParOf" srcId="{99F23BA4-6294-42EE-A901-125F0EC793C1}" destId="{C8FBA982-CDF0-4AFC-97E4-420B0869F8F9}" srcOrd="0" destOrd="0" presId="urn:microsoft.com/office/officeart/2005/8/layout/vList6"/>
    <dgm:cxn modelId="{AF784040-8FA7-420A-B673-94A3B0F69DFA}" type="presParOf" srcId="{C8FBA982-CDF0-4AFC-97E4-420B0869F8F9}" destId="{CD614BBA-5C2F-49BA-A191-9013E500D048}" srcOrd="0" destOrd="0" presId="urn:microsoft.com/office/officeart/2005/8/layout/vList6"/>
    <dgm:cxn modelId="{6E5ACD14-BCFB-45C4-8443-467F2D88E812}" type="presParOf" srcId="{C8FBA982-CDF0-4AFC-97E4-420B0869F8F9}" destId="{3610D044-746D-40BC-80E2-CFF001B39E68}" srcOrd="1" destOrd="0" presId="urn:microsoft.com/office/officeart/2005/8/layout/vList6"/>
    <dgm:cxn modelId="{4F1F0875-8B15-4B3B-8693-D320C53CB05F}" type="presParOf" srcId="{99F23BA4-6294-42EE-A901-125F0EC793C1}" destId="{0B1A5946-19B1-49AF-BBA2-259E6CA52B40}" srcOrd="1" destOrd="0" presId="urn:microsoft.com/office/officeart/2005/8/layout/vList6"/>
    <dgm:cxn modelId="{4F372DD5-C582-47A0-8A94-498534925D10}" type="presParOf" srcId="{99F23BA4-6294-42EE-A901-125F0EC793C1}" destId="{2F3CC4FE-9C2D-49CB-8DD4-F07CD5A42B69}" srcOrd="2" destOrd="0" presId="urn:microsoft.com/office/officeart/2005/8/layout/vList6"/>
    <dgm:cxn modelId="{527043D8-6A4B-4787-8671-98281215D0F5}" type="presParOf" srcId="{2F3CC4FE-9C2D-49CB-8DD4-F07CD5A42B69}" destId="{1126D26F-AB7C-485C-9942-0F6D620B754B}" srcOrd="0" destOrd="0" presId="urn:microsoft.com/office/officeart/2005/8/layout/vList6"/>
    <dgm:cxn modelId="{BE84A130-C379-4100-9BE6-0B8B494EEDC5}" type="presParOf" srcId="{2F3CC4FE-9C2D-49CB-8DD4-F07CD5A42B69}" destId="{E9285CAA-D1CC-49FB-B896-DF14ACD4ACC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00263-CEA5-4A18-9B2E-098A5161080D}">
      <dsp:nvSpPr>
        <dsp:cNvPr id="0" name=""/>
        <dsp:cNvSpPr/>
      </dsp:nvSpPr>
      <dsp:spPr>
        <a:xfrm>
          <a:off x="3291839" y="1355"/>
          <a:ext cx="4937760" cy="107517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Act + consequences:  foreseen - known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Act + consequences: wanted - willed</a:t>
          </a:r>
        </a:p>
      </dsp:txBody>
      <dsp:txXfrm>
        <a:off x="3291839" y="135752"/>
        <a:ext cx="4534569" cy="806383"/>
      </dsp:txXfrm>
    </dsp:sp>
    <dsp:sp modelId="{6754EAA3-8ECB-43BE-941D-02CAF9E8B09C}">
      <dsp:nvSpPr>
        <dsp:cNvPr id="0" name=""/>
        <dsp:cNvSpPr/>
      </dsp:nvSpPr>
      <dsp:spPr>
        <a:xfrm>
          <a:off x="0" y="1355"/>
          <a:ext cx="3291840" cy="10751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/>
            <a:t>1. Fully responsible</a:t>
          </a:r>
        </a:p>
      </dsp:txBody>
      <dsp:txXfrm>
        <a:off x="52486" y="53841"/>
        <a:ext cx="3186868" cy="970205"/>
      </dsp:txXfrm>
    </dsp:sp>
    <dsp:sp modelId="{0EBC074B-14BE-4801-A354-E98FBEC4B54A}">
      <dsp:nvSpPr>
        <dsp:cNvPr id="0" name=""/>
        <dsp:cNvSpPr/>
      </dsp:nvSpPr>
      <dsp:spPr>
        <a:xfrm>
          <a:off x="3291839" y="1184050"/>
          <a:ext cx="4937760" cy="107517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Act + consequences: foreseen – known more or less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Act + consequences: not wanted – not willed </a:t>
          </a:r>
        </a:p>
      </dsp:txBody>
      <dsp:txXfrm>
        <a:off x="3291839" y="1318447"/>
        <a:ext cx="4534569" cy="806383"/>
      </dsp:txXfrm>
    </dsp:sp>
    <dsp:sp modelId="{8BC0EC2E-0F19-4729-97A9-BF8FADCAB5A3}">
      <dsp:nvSpPr>
        <dsp:cNvPr id="0" name=""/>
        <dsp:cNvSpPr/>
      </dsp:nvSpPr>
      <dsp:spPr>
        <a:xfrm>
          <a:off x="0" y="1184050"/>
          <a:ext cx="3291840" cy="10751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/>
            <a:t>2. Indirectly responsible </a:t>
          </a:r>
        </a:p>
      </dsp:txBody>
      <dsp:txXfrm>
        <a:off x="52486" y="1236536"/>
        <a:ext cx="3186868" cy="970205"/>
      </dsp:txXfrm>
    </dsp:sp>
    <dsp:sp modelId="{7E1FA399-30F3-465B-8396-3791BB1DC0DC}">
      <dsp:nvSpPr>
        <dsp:cNvPr id="0" name=""/>
        <dsp:cNvSpPr/>
      </dsp:nvSpPr>
      <dsp:spPr>
        <a:xfrm>
          <a:off x="3291839" y="2366746"/>
          <a:ext cx="4937760" cy="107517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Act + consequences: difficult to foresee but could be foreseen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Vincible ignorance (can be overcome)</a:t>
          </a:r>
        </a:p>
      </dsp:txBody>
      <dsp:txXfrm>
        <a:off x="3291839" y="2501143"/>
        <a:ext cx="4534569" cy="806383"/>
      </dsp:txXfrm>
    </dsp:sp>
    <dsp:sp modelId="{0CAA4D22-6F86-4A18-A894-64A728AFAA28}">
      <dsp:nvSpPr>
        <dsp:cNvPr id="0" name=""/>
        <dsp:cNvSpPr/>
      </dsp:nvSpPr>
      <dsp:spPr>
        <a:xfrm>
          <a:off x="0" y="2366746"/>
          <a:ext cx="3291840" cy="10751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/>
            <a:t>3. Partially responsible</a:t>
          </a:r>
        </a:p>
      </dsp:txBody>
      <dsp:txXfrm>
        <a:off x="52486" y="2419232"/>
        <a:ext cx="3186868" cy="970205"/>
      </dsp:txXfrm>
    </dsp:sp>
    <dsp:sp modelId="{AB90CB74-305A-4E15-9A6E-57C099726C1A}">
      <dsp:nvSpPr>
        <dsp:cNvPr id="0" name=""/>
        <dsp:cNvSpPr/>
      </dsp:nvSpPr>
      <dsp:spPr>
        <a:xfrm>
          <a:off x="3291839" y="3549441"/>
          <a:ext cx="4937760" cy="107517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Act + consequences: could not possibly be foreseen/involuntary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700" b="1" kern="1200" dirty="0"/>
            <a:t>Invincible ignorance</a:t>
          </a:r>
        </a:p>
      </dsp:txBody>
      <dsp:txXfrm>
        <a:off x="3291839" y="3683838"/>
        <a:ext cx="4534569" cy="806383"/>
      </dsp:txXfrm>
    </dsp:sp>
    <dsp:sp modelId="{9982EB19-EA30-4FDB-9827-BB6EF1369A29}">
      <dsp:nvSpPr>
        <dsp:cNvPr id="0" name=""/>
        <dsp:cNvSpPr/>
      </dsp:nvSpPr>
      <dsp:spPr>
        <a:xfrm>
          <a:off x="0" y="3549441"/>
          <a:ext cx="3291840" cy="10751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/>
            <a:t>4. Not responsible</a:t>
          </a:r>
        </a:p>
      </dsp:txBody>
      <dsp:txXfrm>
        <a:off x="52486" y="3601927"/>
        <a:ext cx="3186868" cy="9702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0D044-746D-40BC-80E2-CFF001B39E68}">
      <dsp:nvSpPr>
        <dsp:cNvPr id="0" name=""/>
        <dsp:cNvSpPr/>
      </dsp:nvSpPr>
      <dsp:spPr>
        <a:xfrm>
          <a:off x="3108960" y="1305"/>
          <a:ext cx="4663440" cy="205606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I know about and agree with the evil action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Done by another person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Example: I agree with friend to use ChatGPT for group assignment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Never ethically acceptable</a:t>
          </a:r>
        </a:p>
      </dsp:txBody>
      <dsp:txXfrm>
        <a:off x="3108960" y="258313"/>
        <a:ext cx="3892418" cy="1542045"/>
      </dsp:txXfrm>
    </dsp:sp>
    <dsp:sp modelId="{CD614BBA-5C2F-49BA-A191-9013E500D048}">
      <dsp:nvSpPr>
        <dsp:cNvPr id="0" name=""/>
        <dsp:cNvSpPr/>
      </dsp:nvSpPr>
      <dsp:spPr>
        <a:xfrm>
          <a:off x="0" y="1305"/>
          <a:ext cx="3108960" cy="205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Formal cooperation</a:t>
          </a:r>
        </a:p>
      </dsp:txBody>
      <dsp:txXfrm>
        <a:off x="100369" y="101674"/>
        <a:ext cx="2908222" cy="1855322"/>
      </dsp:txXfrm>
    </dsp:sp>
    <dsp:sp modelId="{E9285CAA-D1CC-49FB-B896-DF14ACD4ACC0}">
      <dsp:nvSpPr>
        <dsp:cNvPr id="0" name=""/>
        <dsp:cNvSpPr/>
      </dsp:nvSpPr>
      <dsp:spPr>
        <a:xfrm>
          <a:off x="3109719" y="2262972"/>
          <a:ext cx="4658885" cy="230772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I do not know about / I know but do not agree with the evil action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Done by another person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Example: I don’t know/do not agree with friend using ChatGPT for group assignment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600" b="1" kern="1200" dirty="0"/>
            <a:t>Generally, not ethically acceptable</a:t>
          </a:r>
        </a:p>
      </dsp:txBody>
      <dsp:txXfrm>
        <a:off x="3109719" y="2551437"/>
        <a:ext cx="3793489" cy="1730792"/>
      </dsp:txXfrm>
    </dsp:sp>
    <dsp:sp modelId="{1126D26F-AB7C-485C-9942-0F6D620B754B}">
      <dsp:nvSpPr>
        <dsp:cNvPr id="0" name=""/>
        <dsp:cNvSpPr/>
      </dsp:nvSpPr>
      <dsp:spPr>
        <a:xfrm>
          <a:off x="3795" y="2388803"/>
          <a:ext cx="3105923" cy="205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Material cooperation</a:t>
          </a:r>
        </a:p>
      </dsp:txBody>
      <dsp:txXfrm>
        <a:off x="104164" y="2489172"/>
        <a:ext cx="2905185" cy="18553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21D94-0E2A-43C3-B342-FCA3824CBA31}" type="datetimeFigureOut">
              <a:rPr lang="en-GB" smtClean="0"/>
              <a:t>12/06/2024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7EE91-39B4-4746-8568-EBB22820F08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8481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29C30-9307-45BD-BCEA-91C16372462A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4112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4A314-714C-419C-88B8-A0B6534104CA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0738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4A314-714C-419C-88B8-A0B6534104CA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87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4A314-714C-419C-88B8-A0B6534104CA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412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4A314-714C-419C-88B8-A0B6534104CA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1799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4A314-714C-419C-88B8-A0B6534104CA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07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00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-5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04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3466" y="547195"/>
            <a:ext cx="5389604" cy="787847"/>
          </a:xfrm>
        </p:spPr>
        <p:txBody>
          <a:bodyPr>
            <a:noAutofit/>
          </a:bodyPr>
          <a:lstStyle>
            <a:lvl1pPr algn="l">
              <a:defRPr sz="3600" b="0" i="0">
                <a:solidFill>
                  <a:srgbClr val="18376A"/>
                </a:solidFill>
                <a:latin typeface="Frutiger LT Std 55 Roman"/>
                <a:cs typeface="Frutiger LT Std 55 Roman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466" y="1600200"/>
            <a:ext cx="7623334" cy="4911309"/>
          </a:xfrm>
        </p:spPr>
        <p:txBody>
          <a:bodyPr/>
          <a:lstStyle>
            <a:lvl1pPr>
              <a:defRPr b="0" i="0">
                <a:latin typeface="Frutiger LT Std 45 Light"/>
                <a:cs typeface="Frutiger LT Std 45 Light"/>
              </a:defRPr>
            </a:lvl1pPr>
            <a:lvl2pPr>
              <a:defRPr b="0" i="0">
                <a:latin typeface="Frutiger LT Std 45 Light"/>
                <a:cs typeface="Frutiger LT Std 45 Light"/>
              </a:defRPr>
            </a:lvl2pPr>
            <a:lvl3pPr>
              <a:defRPr b="0" i="0">
                <a:latin typeface="Frutiger LT Std 45 Light"/>
                <a:cs typeface="Frutiger LT Std 45 Light"/>
              </a:defRPr>
            </a:lvl3pPr>
            <a:lvl4pPr>
              <a:defRPr b="0" i="0">
                <a:latin typeface="Frutiger LT Std 45 Light"/>
                <a:cs typeface="Frutiger LT Std 45 Light"/>
              </a:defRPr>
            </a:lvl4pPr>
            <a:lvl5pPr>
              <a:defRPr b="0" i="0">
                <a:latin typeface="Frutiger LT Std 45 Light"/>
                <a:cs typeface="Frutiger LT Std 45 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University Logo-01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1" t="29152" r="15018" b="33275"/>
          <a:stretch/>
        </p:blipFill>
        <p:spPr>
          <a:xfrm>
            <a:off x="6712486" y="274638"/>
            <a:ext cx="2257655" cy="86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8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5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-5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0499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7800" y="1782762"/>
            <a:ext cx="3628373" cy="4525963"/>
          </a:xfrm>
        </p:spPr>
        <p:txBody>
          <a:bodyPr/>
          <a:lstStyle>
            <a:lvl1pPr>
              <a:defRPr sz="2800" b="0" i="0">
                <a:latin typeface="Frutiger LT Std 45 Light"/>
                <a:cs typeface="Frutiger LT Std 45 Light"/>
              </a:defRPr>
            </a:lvl1pPr>
            <a:lvl2pPr>
              <a:defRPr sz="2400" b="0" i="0">
                <a:latin typeface="Frutiger LT Std 45 Light"/>
                <a:cs typeface="Frutiger LT Std 45 Light"/>
              </a:defRPr>
            </a:lvl2pPr>
            <a:lvl3pPr>
              <a:defRPr sz="2000" b="0" i="0">
                <a:latin typeface="Frutiger LT Std 45 Light"/>
                <a:cs typeface="Frutiger LT Std 45 Light"/>
              </a:defRPr>
            </a:lvl3pPr>
            <a:lvl4pPr>
              <a:defRPr sz="1800" b="0" i="0">
                <a:latin typeface="Frutiger LT Std 45 Light"/>
                <a:cs typeface="Frutiger LT Std 45 Light"/>
              </a:defRPr>
            </a:lvl4pPr>
            <a:lvl5pPr>
              <a:defRPr sz="1800" b="0" i="0">
                <a:latin typeface="Frutiger LT Std 45 Light"/>
                <a:cs typeface="Frutiger LT Std 45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8380" y="1782762"/>
            <a:ext cx="3627237" cy="4525963"/>
          </a:xfrm>
        </p:spPr>
        <p:txBody>
          <a:bodyPr/>
          <a:lstStyle>
            <a:lvl1pPr>
              <a:defRPr sz="2800" b="0" i="0">
                <a:latin typeface="Frutiger LT Std 45 Light"/>
                <a:cs typeface="Frutiger LT Std 45 Light"/>
              </a:defRPr>
            </a:lvl1pPr>
            <a:lvl2pPr>
              <a:defRPr sz="2400" b="0" i="0">
                <a:latin typeface="Frutiger LT Std 45 Light"/>
                <a:cs typeface="Frutiger LT Std 45 Light"/>
              </a:defRPr>
            </a:lvl2pPr>
            <a:lvl3pPr>
              <a:defRPr sz="2000" b="0" i="0">
                <a:latin typeface="Frutiger LT Std 45 Light"/>
                <a:cs typeface="Frutiger LT Std 45 Light"/>
              </a:defRPr>
            </a:lvl3pPr>
            <a:lvl4pPr>
              <a:defRPr sz="1800" b="0" i="0">
                <a:latin typeface="Frutiger LT Std 45 Light"/>
                <a:cs typeface="Frutiger LT Std 45 Light"/>
              </a:defRPr>
            </a:lvl4pPr>
            <a:lvl5pPr>
              <a:defRPr sz="1800" b="0" i="0">
                <a:latin typeface="Frutiger LT Std 45 Light"/>
                <a:cs typeface="Frutiger LT Std 45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063466" y="718550"/>
            <a:ext cx="4399249" cy="787847"/>
          </a:xfrm>
        </p:spPr>
        <p:txBody>
          <a:bodyPr>
            <a:noAutofit/>
          </a:bodyPr>
          <a:lstStyle>
            <a:lvl1pPr algn="l">
              <a:defRPr sz="3600" b="0" i="0">
                <a:solidFill>
                  <a:srgbClr val="18376A"/>
                </a:solidFill>
                <a:latin typeface="Frutiger LT Std 55 Roman"/>
                <a:cs typeface="Frutiger LT Std 55 Roman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10" name="Picture 9" descr="University Logo-01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1" t="29152" r="15018" b="33275"/>
          <a:stretch/>
        </p:blipFill>
        <p:spPr>
          <a:xfrm>
            <a:off x="6712486" y="274638"/>
            <a:ext cx="2257655" cy="86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7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g-5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049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967" y="1535113"/>
            <a:ext cx="3774363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latin typeface="Frutiger LT Std 45 Light"/>
                <a:cs typeface="Frutiger LT Std 45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967" y="2174875"/>
            <a:ext cx="3774363" cy="3951288"/>
          </a:xfrm>
        </p:spPr>
        <p:txBody>
          <a:bodyPr/>
          <a:lstStyle>
            <a:lvl1pPr>
              <a:defRPr sz="2400" b="0" i="0">
                <a:latin typeface="Frutiger LT Std 45 Light"/>
                <a:cs typeface="Frutiger LT Std 45 Light"/>
              </a:defRPr>
            </a:lvl1pPr>
            <a:lvl2pPr>
              <a:defRPr sz="2000" b="0" i="0">
                <a:latin typeface="Frutiger LT Std 45 Light"/>
                <a:cs typeface="Frutiger LT Std 45 Light"/>
              </a:defRPr>
            </a:lvl2pPr>
            <a:lvl3pPr>
              <a:defRPr sz="1800" b="0" i="0">
                <a:latin typeface="Frutiger LT Std 45 Light"/>
                <a:cs typeface="Frutiger LT Std 45 Light"/>
              </a:defRPr>
            </a:lvl3pPr>
            <a:lvl4pPr>
              <a:defRPr sz="1600" b="0" i="0">
                <a:latin typeface="Frutiger LT Std 45 Light"/>
                <a:cs typeface="Frutiger LT Std 45 Light"/>
              </a:defRPr>
            </a:lvl4pPr>
            <a:lvl5pPr>
              <a:defRPr sz="1600" b="0" i="0">
                <a:latin typeface="Frutiger LT Std 45 Light"/>
                <a:cs typeface="Frutiger LT Std 45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7986" y="1535113"/>
            <a:ext cx="3828814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latin typeface="Frutiger LT Std 45 Light"/>
                <a:cs typeface="Frutiger LT Std 45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7986" y="2174875"/>
            <a:ext cx="3828814" cy="3951288"/>
          </a:xfrm>
        </p:spPr>
        <p:txBody>
          <a:bodyPr/>
          <a:lstStyle>
            <a:lvl1pPr>
              <a:defRPr sz="2400" b="0" i="0">
                <a:latin typeface="Frutiger LT Std 45 Light"/>
                <a:cs typeface="Frutiger LT Std 45 Light"/>
              </a:defRPr>
            </a:lvl1pPr>
            <a:lvl2pPr>
              <a:defRPr sz="2000" b="0" i="0">
                <a:latin typeface="Frutiger LT Std 45 Light"/>
                <a:cs typeface="Frutiger LT Std 45 Light"/>
              </a:defRPr>
            </a:lvl2pPr>
            <a:lvl3pPr>
              <a:defRPr sz="1800" b="0" i="0">
                <a:latin typeface="Frutiger LT Std 45 Light"/>
                <a:cs typeface="Frutiger LT Std 45 Light"/>
              </a:defRPr>
            </a:lvl3pPr>
            <a:lvl4pPr>
              <a:defRPr sz="1600" b="0" i="0">
                <a:latin typeface="Frutiger LT Std 45 Light"/>
                <a:cs typeface="Frutiger LT Std 45 Light"/>
              </a:defRPr>
            </a:lvl4pPr>
            <a:lvl5pPr>
              <a:defRPr sz="1600" b="0" i="0">
                <a:latin typeface="Frutiger LT Std 45 Light"/>
                <a:cs typeface="Frutiger LT Std 45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University Logo-01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1" t="29152" r="15018" b="33275"/>
          <a:stretch/>
        </p:blipFill>
        <p:spPr>
          <a:xfrm>
            <a:off x="6712486" y="274638"/>
            <a:ext cx="2257655" cy="860989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71968" y="577434"/>
            <a:ext cx="4399249" cy="787847"/>
          </a:xfrm>
        </p:spPr>
        <p:txBody>
          <a:bodyPr>
            <a:noAutofit/>
          </a:bodyPr>
          <a:lstStyle>
            <a:lvl1pPr algn="l">
              <a:defRPr sz="3600" b="0" i="0">
                <a:solidFill>
                  <a:srgbClr val="18376A"/>
                </a:solidFill>
                <a:latin typeface="Frutiger LT Std 55 Roman"/>
                <a:cs typeface="Frutiger LT Std 55 Roman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7136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-57-5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1" y="0"/>
            <a:ext cx="9130499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2403948" y="2764736"/>
            <a:ext cx="4399249" cy="7878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rgbClr val="18376A"/>
                </a:solidFill>
                <a:latin typeface="Frutiger LT Std 55 Roman"/>
                <a:ea typeface="+mj-ea"/>
                <a:cs typeface="Frutiger LT Std 55 Roman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Click to edit title</a:t>
            </a:r>
          </a:p>
        </p:txBody>
      </p:sp>
      <p:pic>
        <p:nvPicPr>
          <p:cNvPr id="11" name="Picture 10" descr="logo white-58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0" t="13639" b="15603"/>
          <a:stretch/>
        </p:blipFill>
        <p:spPr>
          <a:xfrm>
            <a:off x="6672173" y="224970"/>
            <a:ext cx="2388678" cy="82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8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1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7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1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57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C200C-FF32-6547-A111-FE1A990ABEF1}" type="datetimeFigureOut">
              <a:rPr lang="en-US" smtClean="0"/>
              <a:t>6/12/2024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49B1A-91C3-E64F-B506-477AB9378A6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0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72"/>
          <a:stretch/>
        </p:blipFill>
        <p:spPr>
          <a:xfrm flipH="1">
            <a:off x="2726163" y="0"/>
            <a:ext cx="6428987" cy="6858000"/>
          </a:xfrm>
          <a:prstGeom prst="rect">
            <a:avLst/>
          </a:prstGeom>
        </p:spPr>
      </p:pic>
      <p:pic>
        <p:nvPicPr>
          <p:cNvPr id="11" name="Picture 10" descr="ppt-5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" y="-15562"/>
            <a:ext cx="9130499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5649" y="1205949"/>
            <a:ext cx="3810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30009"/>
                </a:solidFill>
                <a:latin typeface="Frutiger LT Std 55 Roman"/>
                <a:cs typeface="Frutiger LT Std 55 Roman"/>
              </a:rPr>
              <a:t>Moral </a:t>
            </a:r>
            <a:r>
              <a:rPr lang="en-US" sz="4000" dirty="0">
                <a:solidFill>
                  <a:srgbClr val="C30009"/>
                </a:solidFill>
                <a:latin typeface="Frutiger LT Std 55 Roman"/>
                <a:cs typeface="Frutiger LT Std 55 Roman"/>
              </a:rPr>
              <a:t>Responsibility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779" y="3187956"/>
            <a:ext cx="381011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30009"/>
                </a:solidFill>
                <a:latin typeface="Frutiger LT Std 45 Light"/>
                <a:cs typeface="Frutiger LT Std 45 Light"/>
              </a:rPr>
              <a:t>Principles of Ethics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1" y="3720609"/>
            <a:ext cx="3679518" cy="260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Responsibility for the consequences of a given act (Debeljuh, pp. 198-201)</a:t>
            </a:r>
          </a:p>
          <a:p>
            <a:pPr lvl="1"/>
            <a:r>
              <a:rPr lang="en-GB" dirty="0"/>
              <a:t>Explain the degrees of responsibility for our own actions</a:t>
            </a:r>
          </a:p>
          <a:p>
            <a:pPr lvl="1"/>
            <a:r>
              <a:rPr lang="en-GB" dirty="0"/>
              <a:t>Discuss how we may be responsible for the actions of others using relevant examples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Cooperation in evil (Debeljuh, pp. 206-214)</a:t>
            </a:r>
          </a:p>
          <a:p>
            <a:pPr lvl="1"/>
            <a:r>
              <a:rPr lang="en-GB" dirty="0"/>
              <a:t>Distinguish material and formal cooperation in evil</a:t>
            </a:r>
          </a:p>
          <a:p>
            <a:pPr lvl="1"/>
            <a:r>
              <a:rPr lang="en-GB" dirty="0"/>
              <a:t>Apply ethical guidelines for cooperation in evil to specific cases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Conscientious objection (Debeljuh, pp. 214-221)</a:t>
            </a:r>
          </a:p>
          <a:p>
            <a:pPr lvl="1"/>
            <a:r>
              <a:rPr lang="en-GB" dirty="0"/>
              <a:t>Explain the meaning of conscientious objection</a:t>
            </a:r>
          </a:p>
          <a:p>
            <a:pPr lvl="1"/>
            <a:r>
              <a:rPr lang="en-GB" dirty="0"/>
              <a:t>Discuss how to engage in conscientious objection in the professional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2994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B994-B138-DA3F-072D-F0777E7E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Responsibility for consequences of our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6C95E-D256-CB67-FB36-6540AB843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66" y="368490"/>
            <a:ext cx="5896892" cy="11054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Degrees of responsibility for own act + consequences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241906"/>
              </p:ext>
            </p:extLst>
          </p:nvPr>
        </p:nvGraphicFramePr>
        <p:xfrm>
          <a:off x="457200" y="1774825"/>
          <a:ext cx="8229600" cy="4625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22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4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 I responsible?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1. For my decision to use ChatGPT to do an individual assignment?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 For knowingly using ChatGPT materials generated by another group member to complete a team assignment although I didn’t agree with using Chat GPT?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3. For using materials that I suspect a friend got from Chat GPT to complete a team assignment?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4. For using materials generated via ChatGPT by a friend for a group assignment before the existence of the app was public knowledge?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817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Poll: Managerial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a manger responsible for the actions of her employees in the workplace?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56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Ways a manager could influence the actions of her employees in the workplace</a:t>
            </a:r>
          </a:p>
          <a:p>
            <a:pPr lvl="1"/>
            <a:r>
              <a:rPr lang="en-GB" dirty="0"/>
              <a:t>Request</a:t>
            </a:r>
          </a:p>
          <a:p>
            <a:pPr lvl="1"/>
            <a:r>
              <a:rPr lang="en-GB" dirty="0"/>
              <a:t>Persuasion</a:t>
            </a:r>
          </a:p>
          <a:p>
            <a:pPr lvl="1"/>
            <a:r>
              <a:rPr lang="en-GB" dirty="0"/>
              <a:t>Example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9F598-95D3-0C4C-6083-8BB52C871B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Research online and give an example for each possibility in your professional context</a:t>
            </a:r>
          </a:p>
          <a:p>
            <a:pPr lvl="1"/>
            <a:r>
              <a:rPr lang="en-GB" dirty="0"/>
              <a:t>#Request</a:t>
            </a:r>
          </a:p>
          <a:p>
            <a:pPr lvl="1"/>
            <a:r>
              <a:rPr lang="en-GB" dirty="0"/>
              <a:t>#Persuasion</a:t>
            </a:r>
          </a:p>
          <a:p>
            <a:pPr lvl="1"/>
            <a:r>
              <a:rPr lang="en-GB" dirty="0"/>
              <a:t>#Example 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66" y="718550"/>
            <a:ext cx="5663905" cy="787847"/>
          </a:xfrm>
        </p:spPr>
        <p:txBody>
          <a:bodyPr/>
          <a:lstStyle/>
          <a:p>
            <a:r>
              <a:rPr lang="en-GB" dirty="0"/>
              <a:t>Responsibility for actions of other people</a:t>
            </a:r>
          </a:p>
        </p:txBody>
      </p:sp>
    </p:spTree>
    <p:extLst>
      <p:ext uri="{BB962C8B-B14F-4D97-AF65-F5344CB8AC3E}">
        <p14:creationId xmlns:p14="http://schemas.microsoft.com/office/powerpoint/2010/main" val="21586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C5EC-1EF8-CC07-320A-E3F6B044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Cooperation in evil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11E2C-170F-01C5-48CF-37BB2D884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67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Professional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When working with other people, we cooperate in greater or lesser ways with their actions</a:t>
            </a:r>
          </a:p>
          <a:p>
            <a:pPr lvl="1"/>
            <a:r>
              <a:rPr lang="en-GB" dirty="0"/>
              <a:t>Business-people cooperate with various stakeholders: employees; clients; suppliers; shareholders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We share the moral responsibility for those actions to some extent</a:t>
            </a:r>
          </a:p>
          <a:p>
            <a:pPr lvl="1"/>
            <a:r>
              <a:rPr lang="en-GB" dirty="0"/>
              <a:t>How far am I responsible for the actions of others?</a:t>
            </a:r>
          </a:p>
        </p:txBody>
      </p:sp>
    </p:spTree>
    <p:extLst>
      <p:ext uri="{BB962C8B-B14F-4D97-AF65-F5344CB8AC3E}">
        <p14:creationId xmlns:p14="http://schemas.microsoft.com/office/powerpoint/2010/main" val="1284116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Cooperation in good actions</a:t>
            </a:r>
          </a:p>
          <a:p>
            <a:pPr lvl="1"/>
            <a:r>
              <a:rPr lang="en-GB" dirty="0"/>
              <a:t>My moral responsibility?</a:t>
            </a:r>
          </a:p>
          <a:p>
            <a:endParaRPr lang="en-GB" dirty="0"/>
          </a:p>
          <a:p>
            <a:r>
              <a:rPr lang="en-GB" dirty="0"/>
              <a:t>Cooperation in bad actions</a:t>
            </a:r>
          </a:p>
          <a:p>
            <a:pPr lvl="1"/>
            <a:r>
              <a:rPr lang="en-GB" dirty="0"/>
              <a:t>My moral responsibility?</a:t>
            </a:r>
          </a:p>
          <a:p>
            <a:endParaRPr lang="en-GB" dirty="0"/>
          </a:p>
          <a:p>
            <a:r>
              <a:rPr lang="en-GB" dirty="0"/>
              <a:t>First Moral Principle: </a:t>
            </a:r>
          </a:p>
          <a:p>
            <a:pPr lvl="1"/>
            <a:r>
              <a:rPr lang="en-GB" dirty="0"/>
              <a:t>Do good; avoid evil</a:t>
            </a:r>
          </a:p>
          <a:p>
            <a:pPr lvl="1"/>
            <a:endParaRPr lang="en-GB" dirty="0"/>
          </a:p>
          <a:p>
            <a:r>
              <a:rPr lang="en-GB" dirty="0"/>
              <a:t>What if I act well but this involves cooperating in a bad act done by someone else?</a:t>
            </a:r>
          </a:p>
        </p:txBody>
      </p:sp>
    </p:spTree>
    <p:extLst>
      <p:ext uri="{BB962C8B-B14F-4D97-AF65-F5344CB8AC3E}">
        <p14:creationId xmlns:p14="http://schemas.microsoft.com/office/powerpoint/2010/main" val="374996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Cooperation in evil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411349"/>
              </p:ext>
            </p:extLst>
          </p:nvPr>
        </p:nvGraphicFramePr>
        <p:xfrm>
          <a:off x="914400" y="178435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230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2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384" y="1782762"/>
            <a:ext cx="4017790" cy="4525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GB" sz="3200" dirty="0"/>
              <a:t>Your cooperation </a:t>
            </a:r>
            <a:r>
              <a:rPr lang="en-GB" sz="2400" dirty="0"/>
              <a:t>[what you do] </a:t>
            </a:r>
            <a:r>
              <a:rPr lang="en-GB" sz="3200" b="1" u="sng" dirty="0"/>
              <a:t>must</a:t>
            </a:r>
            <a:r>
              <a:rPr lang="en-GB" sz="3200" dirty="0"/>
              <a:t> be material cooperation </a:t>
            </a:r>
            <a:r>
              <a:rPr lang="en-GB" sz="2400" dirty="0"/>
              <a:t>[know + don’t agree] </a:t>
            </a:r>
            <a:r>
              <a:rPr lang="en-GB" sz="3200" dirty="0"/>
              <a:t>and not formal cooperation </a:t>
            </a:r>
            <a:r>
              <a:rPr lang="en-GB" sz="2400" dirty="0"/>
              <a:t>[know = agree]</a:t>
            </a:r>
          </a:p>
          <a:p>
            <a:pPr marL="514350" indent="-514350">
              <a:buAutoNum type="arabicPeriod"/>
            </a:pPr>
            <a:endParaRPr lang="en-GB" sz="3200" dirty="0"/>
          </a:p>
          <a:p>
            <a:pPr marL="514350" indent="-514350">
              <a:buAutoNum type="arabicPeriod"/>
            </a:pPr>
            <a:r>
              <a:rPr lang="en-GB" dirty="0"/>
              <a:t>The </a:t>
            </a:r>
            <a:r>
              <a:rPr lang="en-GB" sz="3200" dirty="0"/>
              <a:t>act you do, and the effect should be good </a:t>
            </a:r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1D385-BFE0-AD8D-3B8C-4B7A2EBA15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800" dirty="0"/>
              <a:t>3. Your intention should be good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dirty="0"/>
              <a:t>4. The good effect of your act should be the main effect and come before the bad effect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5. You need a proportionately serious reason to do a good act that may lead to a bad secondary effect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66" y="402772"/>
            <a:ext cx="5097848" cy="1103626"/>
          </a:xfrm>
        </p:spPr>
        <p:txBody>
          <a:bodyPr>
            <a:noAutofit/>
          </a:bodyPr>
          <a:lstStyle/>
          <a:p>
            <a:r>
              <a:rPr lang="en-GB" sz="3000" dirty="0"/>
              <a:t>Conditions where cooperation in evil may be morally justifiable</a:t>
            </a:r>
          </a:p>
        </p:txBody>
      </p:sp>
    </p:spTree>
    <p:extLst>
      <p:ext uri="{BB962C8B-B14F-4D97-AF65-F5344CB8AC3E}">
        <p14:creationId xmlns:p14="http://schemas.microsoft.com/office/powerpoint/2010/main" val="320786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Proportionately serious 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The importance, need for carrying out the good action, should be greater than the importance, seriousness of the bad effect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4267200"/>
            <a:ext cx="16764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Good action </a:t>
            </a:r>
          </a:p>
        </p:txBody>
      </p:sp>
      <p:sp>
        <p:nvSpPr>
          <p:cNvPr id="5" name="Chevron 4"/>
          <p:cNvSpPr/>
          <p:nvPr/>
        </p:nvSpPr>
        <p:spPr>
          <a:xfrm>
            <a:off x="3810000" y="3962400"/>
            <a:ext cx="1645920" cy="164592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53200" y="4419600"/>
            <a:ext cx="12192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Bad  effect</a:t>
            </a:r>
          </a:p>
        </p:txBody>
      </p:sp>
    </p:spTree>
    <p:extLst>
      <p:ext uri="{BB962C8B-B14F-4D97-AF65-F5344CB8AC3E}">
        <p14:creationId xmlns:p14="http://schemas.microsoft.com/office/powerpoint/2010/main" val="297477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1AD2-53BD-D4B4-895C-6AF929FA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45AD-2F02-0810-B75A-417D819B3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 case scenario to illustrate the difference between formal and material cooperation in evil, and how cooperation in evil may be morally acceptable</a:t>
            </a:r>
          </a:p>
        </p:txBody>
      </p:sp>
    </p:spTree>
    <p:extLst>
      <p:ext uri="{BB962C8B-B14F-4D97-AF65-F5344CB8AC3E}">
        <p14:creationId xmlns:p14="http://schemas.microsoft.com/office/powerpoint/2010/main" val="2991887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15AFC8-4A49-3F3E-FC51-F887AAE0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Conscientious objection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4E68A-B7A2-33C4-AAC8-DF3B9379D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27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Think and respond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have just started your first job. Two weeks later, your boss asks you to tell a guest that there are no rooms available at the resort, even though you know there are two free rooms.</a:t>
            </a:r>
          </a:p>
          <a:p>
            <a:endParaRPr lang="en-GB" dirty="0"/>
          </a:p>
          <a:p>
            <a:r>
              <a:rPr lang="en-GB" dirty="0"/>
              <a:t>What can you do?</a:t>
            </a:r>
          </a:p>
          <a:p>
            <a:endParaRPr lang="en-GB" dirty="0"/>
          </a:p>
          <a:p>
            <a:r>
              <a:rPr lang="en-GB" dirty="0"/>
              <a:t>What would you do?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7028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right to refuse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 human person with a conscience, you have the right to refuse to do what your boss is asking</a:t>
            </a:r>
          </a:p>
          <a:p>
            <a:endParaRPr lang="en-GB" dirty="0"/>
          </a:p>
          <a:p>
            <a:r>
              <a:rPr lang="en-GB" dirty="0"/>
              <a:t>What is the technical term used to refer to this right to refuse to cooperate in something you understand is evil?</a:t>
            </a:r>
          </a:p>
        </p:txBody>
      </p:sp>
    </p:spTree>
    <p:extLst>
      <p:ext uri="{BB962C8B-B14F-4D97-AF65-F5344CB8AC3E}">
        <p14:creationId xmlns:p14="http://schemas.microsoft.com/office/powerpoint/2010/main" val="2313025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Conscientious Objection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Any form of resistance to an action required by a higher authority, based on what one’s conscience tells them they should do or not do</a:t>
            </a:r>
          </a:p>
          <a:p>
            <a:endParaRPr lang="en-GB" dirty="0"/>
          </a:p>
          <a:p>
            <a:r>
              <a:rPr lang="en-GB" dirty="0"/>
              <a:t>Source: </a:t>
            </a:r>
          </a:p>
          <a:p>
            <a:pPr lvl="1"/>
            <a:r>
              <a:rPr lang="en-GB" dirty="0"/>
              <a:t>My judgement of conscience on whether or not to do an act </a:t>
            </a:r>
          </a:p>
          <a:p>
            <a:pPr lvl="1"/>
            <a:r>
              <a:rPr lang="en-GB" dirty="0"/>
              <a:t>I am obliged by my nature to follow my conscience 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WHY?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9587785"/>
      </p:ext>
    </p:ext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Conscientious Objection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Our society needs to develop an appreciation of and respect for every  person’s right to conscientious objection</a:t>
            </a:r>
          </a:p>
          <a:p>
            <a:endParaRPr lang="en-GB" dirty="0"/>
          </a:p>
          <a:p>
            <a:r>
              <a:rPr lang="en-GB" dirty="0"/>
              <a:t>We should exercise it with courage when necessary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8615186"/>
      </p:ext>
    </p:ext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Think and respond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You have just started your first job. Two weeks later, your boss asks you to tell a guest that there are no rooms available at the resort, even though you know there are two free rooms.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How could you use the idea of conscientious objection to explain why you cannot do what your boss is asking?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436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6575-1AD2-EFA7-0C2B-4177DFBD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 in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58D89-ED53-E15A-15D9-5EC8ECEA9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Identify 2 specific examples of cases where you might need to call on the right to conscientious objection in your future work context</a:t>
            </a:r>
          </a:p>
          <a:p>
            <a:endParaRPr lang="en-GB" dirty="0"/>
          </a:p>
          <a:p>
            <a:r>
              <a:rPr lang="en-GB" dirty="0"/>
              <a:t>Share on Zoom chat</a:t>
            </a:r>
          </a:p>
        </p:txBody>
      </p:sp>
    </p:spTree>
    <p:extLst>
      <p:ext uri="{BB962C8B-B14F-4D97-AF65-F5344CB8AC3E}">
        <p14:creationId xmlns:p14="http://schemas.microsoft.com/office/powerpoint/2010/main" val="297823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945</Words>
  <Application>Microsoft Office PowerPoint</Application>
  <PresentationFormat>On-screen Show (4:3)</PresentationFormat>
  <Paragraphs>127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Frutiger LT Std 45 Light</vt:lpstr>
      <vt:lpstr>Frutiger LT Std 55 Roman</vt:lpstr>
      <vt:lpstr>Office Theme</vt:lpstr>
      <vt:lpstr>PowerPoint Presentation</vt:lpstr>
      <vt:lpstr>Overview</vt:lpstr>
      <vt:lpstr>Responsibility for consequences of our actions</vt:lpstr>
      <vt:lpstr>Degrees of responsibility for own act + consequences</vt:lpstr>
      <vt:lpstr>Am I responsible?</vt:lpstr>
      <vt:lpstr>Poll: Managerial Responsibility</vt:lpstr>
      <vt:lpstr>Responsibility for actions of other people</vt:lpstr>
      <vt:lpstr>Cooperation in evil</vt:lpstr>
      <vt:lpstr>Professional Context</vt:lpstr>
      <vt:lpstr>Types of actions</vt:lpstr>
      <vt:lpstr>Cooperation in evil</vt:lpstr>
      <vt:lpstr>Conditions where cooperation in evil may be morally justifiable</vt:lpstr>
      <vt:lpstr>Proportionately serious reason</vt:lpstr>
      <vt:lpstr>Groupwork</vt:lpstr>
      <vt:lpstr>Conscientious objection</vt:lpstr>
      <vt:lpstr>Think and respond</vt:lpstr>
      <vt:lpstr>The right to refuse</vt:lpstr>
      <vt:lpstr>Conscientious Objection</vt:lpstr>
      <vt:lpstr>Conscientious Objection</vt:lpstr>
      <vt:lpstr>Think and respond</vt:lpstr>
      <vt:lpstr>Discuss in pairs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Janet Karani</dc:creator>
  <cp:lastModifiedBy>user</cp:lastModifiedBy>
  <cp:revision>35</cp:revision>
  <dcterms:created xsi:type="dcterms:W3CDTF">2015-09-18T12:15:03Z</dcterms:created>
  <dcterms:modified xsi:type="dcterms:W3CDTF">2024-06-12T16:39:56Z</dcterms:modified>
</cp:coreProperties>
</file>