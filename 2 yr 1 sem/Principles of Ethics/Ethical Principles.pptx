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323" r:id="rId2"/>
    <p:sldId id="324" r:id="rId3"/>
    <p:sldId id="325" r:id="rId4"/>
    <p:sldId id="335" r:id="rId5"/>
    <p:sldId id="336" r:id="rId6"/>
    <p:sldId id="337" r:id="rId7"/>
    <p:sldId id="338" r:id="rId8"/>
    <p:sldId id="339" r:id="rId9"/>
    <p:sldId id="340" r:id="rId10"/>
    <p:sldId id="341" r:id="rId11"/>
    <p:sldId id="342" r:id="rId12"/>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62" autoAdjust="0"/>
    <p:restoredTop sz="94660"/>
  </p:normalViewPr>
  <p:slideViewPr>
    <p:cSldViewPr snapToGrid="0">
      <p:cViewPr varScale="1">
        <p:scale>
          <a:sx n="72" d="100"/>
          <a:sy n="72" d="100"/>
        </p:scale>
        <p:origin x="7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A502D6-FBD4-4E57-873C-32DAF99515F2}" type="datetimeFigureOut">
              <a:rPr lang="en-US" smtClean="0"/>
              <a:t>6/12/2024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D7890-6E31-432C-893B-63EE3A8FFBC1}" type="slidenum">
              <a:rPr lang="en-US" smtClean="0"/>
              <a:t>‹#›</a:t>
            </a:fld>
            <a:endParaRPr lang="en-US"/>
          </a:p>
        </p:txBody>
      </p:sp>
    </p:spTree>
    <p:extLst>
      <p:ext uri="{BB962C8B-B14F-4D97-AF65-F5344CB8AC3E}">
        <p14:creationId xmlns:p14="http://schemas.microsoft.com/office/powerpoint/2010/main" val="1512183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2"/>
            <a:ext cx="9440035"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5"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3696988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91878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2" y="1761069"/>
            <a:ext cx="9590551"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2" y="3589879"/>
            <a:ext cx="9590551"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3101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7"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3" y="1732451"/>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615428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4" y="1770324"/>
            <a:ext cx="5049897"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661" y="1770324"/>
            <a:ext cx="5049897"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9"/>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6"/>
            <a:ext cx="4895331"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9"/>
            <a:ext cx="4895331"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80DCA5-40FD-4898-9861-9C60FFF66E16}" type="datetimeFigureOut">
              <a:rPr lang="en-US" smtClean="0"/>
              <a:pPr/>
              <a:t>6/12/2024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407947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80DCA5-40FD-4898-9861-9C60FFF66E16}" type="datetimeFigureOut">
              <a:rPr lang="en-US" smtClean="0"/>
              <a:pPr/>
              <a:t>6/12/2024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3813664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80DCA5-40FD-4898-9861-9C60FFF66E16}" type="datetimeFigureOut">
              <a:rPr lang="en-US" smtClean="0"/>
              <a:pPr/>
              <a:t>6/12/2024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3070561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7"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4"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7"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42942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9983" y="609923"/>
            <a:ext cx="4570861" cy="5205472"/>
          </a:xfrm>
          <a:prstGeom prst="rect">
            <a:avLst/>
          </a:prstGeom>
        </p:spPr>
      </p:pic>
      <p:sp>
        <p:nvSpPr>
          <p:cNvPr id="2" name="Title 1"/>
          <p:cNvSpPr>
            <a:spLocks noGrp="1"/>
          </p:cNvSpPr>
          <p:nvPr>
            <p:ph type="title"/>
          </p:nvPr>
        </p:nvSpPr>
        <p:spPr>
          <a:xfrm>
            <a:off x="913796" y="609923"/>
            <a:ext cx="5232901"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635638" y="743989"/>
            <a:ext cx="4220500"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6" y="2439261"/>
            <a:ext cx="5232901"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625520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994" y="540085"/>
            <a:ext cx="10208013" cy="3834374"/>
          </a:xfrm>
          <a:prstGeom prst="rect">
            <a:avLst/>
          </a:prstGeom>
        </p:spPr>
      </p:pic>
      <p:sp>
        <p:nvSpPr>
          <p:cNvPr id="2" name="Title 1"/>
          <p:cNvSpPr>
            <a:spLocks noGrp="1"/>
          </p:cNvSpPr>
          <p:nvPr>
            <p:ph type="title"/>
          </p:nvPr>
        </p:nvSpPr>
        <p:spPr>
          <a:xfrm>
            <a:off x="913806" y="4565255"/>
            <a:ext cx="10355327"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34956" y="695011"/>
            <a:ext cx="9714133"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3"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703302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3"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7143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5" y="3610034"/>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5"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
        <p:nvSpPr>
          <p:cNvPr id="11" name="TextBox 10"/>
          <p:cNvSpPr txBox="1"/>
          <p:nvPr/>
        </p:nvSpPr>
        <p:spPr>
          <a:xfrm>
            <a:off x="836612" y="87391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437812" y="2933245"/>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686367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5" y="2126944"/>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6"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0DCA5-40FD-4898-9861-9C60FFF66E16}"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1774475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3"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680DCA5-40FD-4898-9861-9C60FFF66E16}" type="datetimeFigureOut">
              <a:rPr lang="en-US" smtClean="0"/>
              <a:pPr/>
              <a:t>6/12/2024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23678925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986" y="1826045"/>
            <a:ext cx="3372061"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1751" y="1826045"/>
            <a:ext cx="3372061"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5620" y="1826045"/>
            <a:ext cx="3372061" cy="1833558"/>
          </a:xfrm>
          <a:prstGeom prst="rect">
            <a:avLst/>
          </a:prstGeom>
        </p:spPr>
      </p:pic>
      <p:sp>
        <p:nvSpPr>
          <p:cNvPr id="30" name="Title 1"/>
          <p:cNvSpPr>
            <a:spLocks noGrp="1"/>
          </p:cNvSpPr>
          <p:nvPr>
            <p:ph type="title"/>
          </p:nvPr>
        </p:nvSpPr>
        <p:spPr>
          <a:xfrm>
            <a:off x="913795"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3"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70"/>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4" y="4480369"/>
            <a:ext cx="3302337"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9"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7"/>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680DCA5-40FD-4898-9861-9C60FFF66E16}" type="datetimeFigureOut">
              <a:rPr lang="en-US" smtClean="0"/>
              <a:pPr/>
              <a:t>6/12/2024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73470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992008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70" y="609601"/>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601"/>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80DCA5-40FD-4898-9861-9C60FFF66E16}"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C2D57-CDE0-4E76-9734-C0A2E29607B0}" type="slidenum">
              <a:rPr lang="en-US" smtClean="0"/>
              <a:pPr/>
              <a:t>‹#›</a:t>
            </a:fld>
            <a:endParaRPr lang="en-US"/>
          </a:p>
        </p:txBody>
      </p:sp>
    </p:spTree>
    <p:extLst>
      <p:ext uri="{BB962C8B-B14F-4D97-AF65-F5344CB8AC3E}">
        <p14:creationId xmlns:p14="http://schemas.microsoft.com/office/powerpoint/2010/main" val="1015877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3"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51"/>
            <a:ext cx="10353763"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7"/>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680DCA5-40FD-4898-9861-9C60FFF66E16}" type="datetimeFigureOut">
              <a:rPr lang="en-US" smtClean="0"/>
              <a:pPr/>
              <a:t>6/12/2024</a:t>
            </a:fld>
            <a:endParaRPr lang="en-US"/>
          </a:p>
        </p:txBody>
      </p:sp>
      <p:sp>
        <p:nvSpPr>
          <p:cNvPr id="5" name="Footer Placeholder 4"/>
          <p:cNvSpPr>
            <a:spLocks noGrp="1"/>
          </p:cNvSpPr>
          <p:nvPr>
            <p:ph type="ftr" sz="quarter" idx="3"/>
          </p:nvPr>
        </p:nvSpPr>
        <p:spPr>
          <a:xfrm>
            <a:off x="913797" y="5883277"/>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3" y="5883277"/>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ABC2D57-CDE0-4E76-9734-C0A2E29607B0}" type="slidenum">
              <a:rPr lang="en-US" smtClean="0"/>
              <a:pPr/>
              <a:t>‹#›</a:t>
            </a:fld>
            <a:endParaRPr lang="en-US"/>
          </a:p>
        </p:txBody>
      </p:sp>
    </p:spTree>
    <p:extLst>
      <p:ext uri="{BB962C8B-B14F-4D97-AF65-F5344CB8AC3E}">
        <p14:creationId xmlns:p14="http://schemas.microsoft.com/office/powerpoint/2010/main" val="171359046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7078" y="384313"/>
            <a:ext cx="11237843" cy="6069496"/>
          </a:xfrm>
        </p:spPr>
        <p:txBody>
          <a:bodyPr>
            <a:normAutofit/>
          </a:bodyPr>
          <a:lstStyle/>
          <a:p>
            <a:r>
              <a:rPr lang="en-US" sz="3000" b="1" dirty="0" smtClean="0">
                <a:solidFill>
                  <a:srgbClr val="00B050"/>
                </a:solidFill>
              </a:rPr>
              <a:t>Features of moral Principles</a:t>
            </a:r>
          </a:p>
          <a:p>
            <a:r>
              <a:rPr lang="en-US" sz="2800" dirty="0" smtClean="0"/>
              <a:t>The central feature of ethics is moral principles</a:t>
            </a:r>
          </a:p>
          <a:p>
            <a:r>
              <a:rPr lang="en-US" sz="2800" dirty="0" smtClean="0"/>
              <a:t>Principles are general guidelines for right conduct; the principles in ethical theories are intentionally general so that they may apply to every situation we are more likely to encounter.</a:t>
            </a:r>
          </a:p>
          <a:p>
            <a:r>
              <a:rPr lang="en-US" sz="2800" dirty="0" smtClean="0"/>
              <a:t>Accordingly, moral principles possess the following features:</a:t>
            </a:r>
          </a:p>
          <a:p>
            <a:pPr lvl="1"/>
            <a:r>
              <a:rPr lang="en-US" sz="2600" b="1" dirty="0" smtClean="0">
                <a:solidFill>
                  <a:srgbClr val="FFC000"/>
                </a:solidFill>
              </a:rPr>
              <a:t>Prescriptivity</a:t>
            </a:r>
          </a:p>
          <a:p>
            <a:pPr lvl="2"/>
            <a:r>
              <a:rPr lang="en-US" sz="2500" dirty="0" smtClean="0"/>
              <a:t>This refers to the action guiding nature of morality. </a:t>
            </a:r>
          </a:p>
          <a:p>
            <a:pPr lvl="2"/>
            <a:r>
              <a:rPr lang="en-US" sz="2500" dirty="0" smtClean="0"/>
              <a:t>Moral principles are posed as injunctions or imperatives. (E.g.. Do not kill)</a:t>
            </a:r>
          </a:p>
          <a:p>
            <a:pPr lvl="1"/>
            <a:endParaRPr lang="en-US" dirty="0"/>
          </a:p>
        </p:txBody>
      </p:sp>
    </p:spTree>
    <p:extLst>
      <p:ext uri="{BB962C8B-B14F-4D97-AF65-F5344CB8AC3E}">
        <p14:creationId xmlns:p14="http://schemas.microsoft.com/office/powerpoint/2010/main" val="2270794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7323" y="357809"/>
            <a:ext cx="11198086" cy="6188765"/>
          </a:xfrm>
        </p:spPr>
        <p:txBody>
          <a:bodyPr>
            <a:normAutofit fontScale="92500"/>
          </a:bodyPr>
          <a:lstStyle/>
          <a:p>
            <a:pPr lvl="1"/>
            <a:r>
              <a:rPr lang="en-US" sz="2900" b="1" dirty="0" smtClean="0">
                <a:solidFill>
                  <a:srgbClr val="FFC000"/>
                </a:solidFill>
              </a:rPr>
              <a:t>Universalizability</a:t>
            </a:r>
          </a:p>
          <a:p>
            <a:pPr lvl="2"/>
            <a:r>
              <a:rPr lang="en-US" sz="2600" dirty="0" smtClean="0"/>
              <a:t>This is the requirement for impartiality</a:t>
            </a:r>
          </a:p>
          <a:p>
            <a:pPr lvl="2"/>
            <a:r>
              <a:rPr lang="en-US" sz="2600" dirty="0" smtClean="0"/>
              <a:t>It forbids us from treating one person differently from another when there is no good reason to do so.</a:t>
            </a:r>
          </a:p>
          <a:p>
            <a:pPr lvl="2"/>
            <a:r>
              <a:rPr lang="en-US" sz="2600" dirty="0" smtClean="0"/>
              <a:t>According to Aristotle: </a:t>
            </a:r>
            <a:r>
              <a:rPr lang="en-US" sz="2600" b="1" i="1" dirty="0" smtClean="0"/>
              <a:t>Treat equal cases equally and unequal cases unequally</a:t>
            </a:r>
            <a:r>
              <a:rPr lang="en-US" sz="2600" dirty="0" smtClean="0"/>
              <a:t>.</a:t>
            </a:r>
          </a:p>
          <a:p>
            <a:pPr lvl="1"/>
            <a:r>
              <a:rPr lang="en-US" sz="2900" b="1" dirty="0" smtClean="0">
                <a:solidFill>
                  <a:srgbClr val="FFC000"/>
                </a:solidFill>
              </a:rPr>
              <a:t>Overridingness</a:t>
            </a:r>
            <a:endParaRPr lang="en-US" sz="2900" b="1" dirty="0">
              <a:solidFill>
                <a:srgbClr val="FFC000"/>
              </a:solidFill>
            </a:endParaRPr>
          </a:p>
          <a:p>
            <a:pPr lvl="2"/>
            <a:r>
              <a:rPr lang="en-US" sz="2600" dirty="0" smtClean="0"/>
              <a:t>Moral principles take precedence over other kinds of considerations, including prudential and legal ones.</a:t>
            </a:r>
          </a:p>
          <a:p>
            <a:pPr lvl="2"/>
            <a:r>
              <a:rPr lang="en-US" sz="2600" dirty="0" smtClean="0"/>
              <a:t>It might be prudential to lie to save my reputation but it is morally wrong all the same.</a:t>
            </a:r>
          </a:p>
          <a:p>
            <a:pPr lvl="2"/>
            <a:r>
              <a:rPr lang="en-US" sz="2600" dirty="0" smtClean="0"/>
              <a:t>If a law becomes </a:t>
            </a:r>
            <a:r>
              <a:rPr lang="en-US" sz="2600" dirty="0"/>
              <a:t>immoral it may be </a:t>
            </a:r>
            <a:r>
              <a:rPr lang="en-US" sz="2600" dirty="0" smtClean="0"/>
              <a:t>my moral duty to exercise civil disobedience; the injustice of a bad law is intolerable hence calls for illegal but moral defiance. </a:t>
            </a:r>
            <a:endParaRPr lang="en-US" sz="2600" dirty="0"/>
          </a:p>
          <a:p>
            <a:pPr lvl="2"/>
            <a:endParaRPr lang="en-US" dirty="0"/>
          </a:p>
          <a:p>
            <a:endParaRPr lang="en-US" dirty="0"/>
          </a:p>
        </p:txBody>
      </p:sp>
    </p:spTree>
    <p:extLst>
      <p:ext uri="{BB962C8B-B14F-4D97-AF65-F5344CB8AC3E}">
        <p14:creationId xmlns:p14="http://schemas.microsoft.com/office/powerpoint/2010/main" val="4145050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3583" y="477078"/>
            <a:ext cx="10946295" cy="5950225"/>
          </a:xfrm>
        </p:spPr>
        <p:txBody>
          <a:bodyPr/>
          <a:lstStyle/>
          <a:p>
            <a:pPr lvl="1"/>
            <a:r>
              <a:rPr lang="en-US" sz="2800" b="1" dirty="0" smtClean="0">
                <a:solidFill>
                  <a:srgbClr val="FFC000"/>
                </a:solidFill>
              </a:rPr>
              <a:t>Publicity</a:t>
            </a:r>
          </a:p>
          <a:p>
            <a:pPr lvl="2"/>
            <a:r>
              <a:rPr lang="en-US" sz="2600" dirty="0" smtClean="0"/>
              <a:t>To be effective, moral principles must be made public</a:t>
            </a:r>
          </a:p>
          <a:p>
            <a:pPr lvl="2"/>
            <a:r>
              <a:rPr lang="en-US" sz="2600" dirty="0" smtClean="0"/>
              <a:t>Since they play an action-guiding role, it would be self-defeating to keep them secret</a:t>
            </a:r>
            <a:r>
              <a:rPr lang="en-US" dirty="0" smtClean="0"/>
              <a:t>.</a:t>
            </a:r>
            <a:endParaRPr lang="en-US" dirty="0"/>
          </a:p>
          <a:p>
            <a:pPr lvl="1"/>
            <a:r>
              <a:rPr lang="en-US" sz="2800" b="1" dirty="0" smtClean="0">
                <a:solidFill>
                  <a:srgbClr val="FFC000"/>
                </a:solidFill>
              </a:rPr>
              <a:t>Practicality</a:t>
            </a:r>
          </a:p>
          <a:p>
            <a:pPr lvl="2"/>
            <a:r>
              <a:rPr lang="en-US" sz="2600" dirty="0" smtClean="0"/>
              <a:t>A moral system must be workable; its rules must not lay too heavy a burden on moral agents</a:t>
            </a:r>
          </a:p>
          <a:p>
            <a:pPr lvl="2"/>
            <a:r>
              <a:rPr lang="en-US" sz="2600" dirty="0" smtClean="0"/>
              <a:t>Moral principles must take human limitations into consideration</a:t>
            </a:r>
          </a:p>
          <a:p>
            <a:pPr lvl="2"/>
            <a:r>
              <a:rPr lang="en-US" sz="2600" dirty="0" smtClean="0"/>
              <a:t>Overly idealistic systems may produce overwhelming guilt, despair and ineffective action.</a:t>
            </a:r>
          </a:p>
          <a:p>
            <a:pPr lvl="2"/>
            <a:endParaRPr lang="en-US" dirty="0"/>
          </a:p>
          <a:p>
            <a:endParaRPr lang="en-US" dirty="0"/>
          </a:p>
        </p:txBody>
      </p:sp>
    </p:spTree>
    <p:extLst>
      <p:ext uri="{BB962C8B-B14F-4D97-AF65-F5344CB8AC3E}">
        <p14:creationId xmlns:p14="http://schemas.microsoft.com/office/powerpoint/2010/main" val="2169613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4205" y="384313"/>
            <a:ext cx="11722265" cy="6042991"/>
          </a:xfrm>
        </p:spPr>
        <p:txBody>
          <a:bodyPr rtlCol="0">
            <a:noAutofit/>
          </a:bodyPr>
          <a:lstStyle/>
          <a:p>
            <a:pPr>
              <a:buNone/>
              <a:defRPr/>
            </a:pPr>
            <a:r>
              <a:rPr lang="en-US" sz="2800" b="1" dirty="0">
                <a:solidFill>
                  <a:srgbClr val="00B0F0"/>
                </a:solidFill>
              </a:rPr>
              <a:t>ETHICAL PRINCIPLES</a:t>
            </a:r>
            <a:endParaRPr lang="en-US" sz="2500" b="1" dirty="0" smtClean="0">
              <a:solidFill>
                <a:srgbClr val="00B0F0"/>
              </a:solidFill>
              <a:latin typeface="+mj-lt"/>
              <a:cs typeface="Times New Roman" pitchFamily="18" charset="0"/>
            </a:endParaRPr>
          </a:p>
          <a:p>
            <a:pPr>
              <a:buNone/>
              <a:defRPr/>
            </a:pPr>
            <a:r>
              <a:rPr lang="en-US" sz="2600" b="1" dirty="0" smtClean="0">
                <a:solidFill>
                  <a:srgbClr val="00B050"/>
                </a:solidFill>
                <a:latin typeface="+mj-lt"/>
                <a:cs typeface="Times New Roman" pitchFamily="18" charset="0"/>
              </a:rPr>
              <a:t>Principle of Beneficence</a:t>
            </a:r>
          </a:p>
          <a:p>
            <a:pPr>
              <a:buNone/>
              <a:defRPr/>
            </a:pPr>
            <a:r>
              <a:rPr lang="en-US" sz="2600" b="1" dirty="0" smtClean="0">
                <a:latin typeface="+mj-lt"/>
                <a:cs typeface="Times New Roman" pitchFamily="18" charset="0"/>
              </a:rPr>
              <a:t>It is a positive duty</a:t>
            </a:r>
            <a:endParaRPr lang="en-US" sz="2600" dirty="0" smtClean="0">
              <a:latin typeface="+mj-lt"/>
              <a:cs typeface="Times New Roman" pitchFamily="18" charset="0"/>
            </a:endParaRPr>
          </a:p>
          <a:p>
            <a:pPr>
              <a:defRPr/>
            </a:pPr>
            <a:r>
              <a:rPr lang="en-US" sz="2600" dirty="0" smtClean="0">
                <a:latin typeface="+mj-lt"/>
                <a:cs typeface="Times New Roman" pitchFamily="18" charset="0"/>
              </a:rPr>
              <a:t>That owe a duty or obligation  to help others pursue their interests or wellbeing</a:t>
            </a:r>
          </a:p>
          <a:p>
            <a:pPr>
              <a:defRPr/>
            </a:pPr>
            <a:r>
              <a:rPr lang="en-US" sz="2600" dirty="0" smtClean="0">
                <a:latin typeface="+mj-lt"/>
                <a:cs typeface="Times New Roman" pitchFamily="18" charset="0"/>
              </a:rPr>
              <a:t>That is morality requires us to promote  or contribute to the wellbeing of others</a:t>
            </a:r>
          </a:p>
          <a:p>
            <a:pPr>
              <a:defRPr/>
            </a:pPr>
            <a:r>
              <a:rPr lang="en-US" sz="2600" dirty="0" smtClean="0">
                <a:latin typeface="+mj-lt"/>
                <a:cs typeface="Times New Roman" pitchFamily="18" charset="0"/>
              </a:rPr>
              <a:t>But only in so far as doing so, one does not subject oneself to significant risk.</a:t>
            </a:r>
          </a:p>
          <a:p>
            <a:pPr>
              <a:defRPr/>
            </a:pPr>
            <a:r>
              <a:rPr lang="en-US" sz="2600" dirty="0" smtClean="0">
                <a:latin typeface="+mj-lt"/>
                <a:cs typeface="Times New Roman" pitchFamily="18" charset="0"/>
              </a:rPr>
              <a:t>The duty of beneficence is founded on; </a:t>
            </a:r>
          </a:p>
          <a:p>
            <a:pPr lvl="1">
              <a:buFont typeface="Wingdings" panose="05000000000000000000" pitchFamily="2" charset="2"/>
              <a:buChar char="q"/>
              <a:defRPr/>
            </a:pPr>
            <a:r>
              <a:rPr lang="en-US" sz="2600" b="1" dirty="0" smtClean="0">
                <a:solidFill>
                  <a:srgbClr val="FFFF00"/>
                </a:solidFill>
                <a:latin typeface="+mj-lt"/>
                <a:cs typeface="Times New Roman" pitchFamily="18" charset="0"/>
              </a:rPr>
              <a:t>Fair Play</a:t>
            </a:r>
          </a:p>
          <a:p>
            <a:pPr lvl="2">
              <a:defRPr/>
            </a:pPr>
            <a:r>
              <a:rPr lang="en-US" sz="2400" dirty="0" smtClean="0">
                <a:latin typeface="+mj-lt"/>
                <a:cs typeface="Times New Roman" pitchFamily="18" charset="0"/>
              </a:rPr>
              <a:t>Positively considering the wellbeing of others</a:t>
            </a:r>
          </a:p>
          <a:p>
            <a:pPr lvl="2">
              <a:defRPr/>
            </a:pPr>
            <a:r>
              <a:rPr lang="en-US" sz="2400" dirty="0" smtClean="0">
                <a:latin typeface="+mj-lt"/>
                <a:cs typeface="Times New Roman" pitchFamily="18" charset="0"/>
              </a:rPr>
              <a:t>Extending equal consideration and opportunity to others e.g. affirmative actions</a:t>
            </a:r>
          </a:p>
          <a:p>
            <a:pPr>
              <a:buFont typeface="Arial" pitchFamily="34" charset="0"/>
              <a:buChar char="•"/>
              <a:defRPr/>
            </a:pPr>
            <a:endParaRPr lang="en-US" sz="2500" dirty="0">
              <a:latin typeface="+mj-lt"/>
              <a:cs typeface="Times New Roman" pitchFamily="18" charset="0"/>
            </a:endParaRPr>
          </a:p>
        </p:txBody>
      </p:sp>
    </p:spTree>
    <p:extLst>
      <p:ext uri="{BB962C8B-B14F-4D97-AF65-F5344CB8AC3E}">
        <p14:creationId xmlns:p14="http://schemas.microsoft.com/office/powerpoint/2010/main" val="358062955"/>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Content Placeholder 2"/>
          <p:cNvSpPr>
            <a:spLocks noGrp="1"/>
          </p:cNvSpPr>
          <p:nvPr>
            <p:ph idx="1"/>
          </p:nvPr>
        </p:nvSpPr>
        <p:spPr>
          <a:xfrm>
            <a:off x="543339" y="530087"/>
            <a:ext cx="11065565" cy="5804452"/>
          </a:xfrm>
        </p:spPr>
        <p:txBody>
          <a:bodyPr>
            <a:normAutofit/>
          </a:bodyPr>
          <a:lstStyle/>
          <a:p>
            <a:pPr lvl="1"/>
            <a:r>
              <a:rPr lang="en-US" sz="2600" b="1" dirty="0" smtClean="0">
                <a:solidFill>
                  <a:srgbClr val="FFFF00"/>
                </a:solidFill>
                <a:latin typeface="+mj-lt"/>
                <a:cs typeface="Times New Roman" pitchFamily="18" charset="0"/>
              </a:rPr>
              <a:t>Reciprocity</a:t>
            </a:r>
            <a:endParaRPr lang="en-US" sz="2600" dirty="0">
              <a:solidFill>
                <a:srgbClr val="FFFF00"/>
              </a:solidFill>
              <a:latin typeface="+mj-lt"/>
              <a:cs typeface="Times New Roman" pitchFamily="18" charset="0"/>
            </a:endParaRPr>
          </a:p>
          <a:p>
            <a:pPr lvl="2" eaLnBrk="1" hangingPunct="1"/>
            <a:r>
              <a:rPr lang="en-US" sz="2600" dirty="0" smtClean="0">
                <a:latin typeface="+mj-lt"/>
                <a:cs typeface="Times New Roman" pitchFamily="18" charset="0"/>
              </a:rPr>
              <a:t>Ensures reciprocity in relationships</a:t>
            </a:r>
            <a:endParaRPr lang="en-US" sz="2600" dirty="0">
              <a:latin typeface="+mj-lt"/>
              <a:cs typeface="Times New Roman" pitchFamily="18" charset="0"/>
            </a:endParaRPr>
          </a:p>
          <a:p>
            <a:pPr lvl="2" eaLnBrk="1" hangingPunct="1"/>
            <a:endParaRPr lang="en-US" sz="2600" dirty="0" smtClean="0">
              <a:latin typeface="+mj-lt"/>
              <a:cs typeface="Times New Roman" pitchFamily="18" charset="0"/>
            </a:endParaRPr>
          </a:p>
          <a:p>
            <a:pPr lvl="2" eaLnBrk="1" hangingPunct="1"/>
            <a:r>
              <a:rPr lang="en-US" sz="2600" dirty="0" smtClean="0">
                <a:latin typeface="+mj-lt"/>
                <a:cs typeface="Times New Roman" pitchFamily="18" charset="0"/>
              </a:rPr>
              <a:t>Passing along to others the benefit we have received from others.</a:t>
            </a:r>
            <a:endParaRPr lang="en-US" sz="2600" dirty="0">
              <a:latin typeface="+mj-lt"/>
              <a:cs typeface="Times New Roman" pitchFamily="18" charset="0"/>
            </a:endParaRPr>
          </a:p>
          <a:p>
            <a:pPr lvl="2" eaLnBrk="1" hangingPunct="1"/>
            <a:endParaRPr lang="en-US" sz="2600" dirty="0" smtClean="0">
              <a:latin typeface="+mj-lt"/>
              <a:cs typeface="Times New Roman" pitchFamily="18" charset="0"/>
            </a:endParaRPr>
          </a:p>
          <a:p>
            <a:pPr lvl="2" eaLnBrk="1" hangingPunct="1"/>
            <a:r>
              <a:rPr lang="en-US" sz="2600" dirty="0" smtClean="0">
                <a:latin typeface="+mj-lt"/>
                <a:cs typeface="Times New Roman" pitchFamily="18" charset="0"/>
              </a:rPr>
              <a:t>Return favors to others as we have all benefitted from others </a:t>
            </a:r>
            <a:endParaRPr lang="en-US" sz="2600" dirty="0">
              <a:latin typeface="+mj-lt"/>
              <a:cs typeface="Times New Roman" pitchFamily="18" charset="0"/>
            </a:endParaRPr>
          </a:p>
          <a:p>
            <a:pPr eaLnBrk="1" hangingPunct="1"/>
            <a:endParaRPr lang="en-US" sz="2700" dirty="0" smtClean="0">
              <a:latin typeface="+mj-lt"/>
              <a:cs typeface="Times New Roman" pitchFamily="18" charset="0"/>
            </a:endParaRPr>
          </a:p>
          <a:p>
            <a:pPr eaLnBrk="1" hangingPunct="1"/>
            <a:r>
              <a:rPr lang="en-US" sz="2800" dirty="0" smtClean="0">
                <a:latin typeface="+mj-lt"/>
                <a:cs typeface="Times New Roman" pitchFamily="18" charset="0"/>
              </a:rPr>
              <a:t>Beneficence can be at individual or social level e.g. corporate social responsibility</a:t>
            </a:r>
          </a:p>
          <a:p>
            <a:pPr eaLnBrk="1" hangingPunct="1"/>
            <a:endParaRPr lang="en-US" sz="2700" dirty="0" smtClean="0">
              <a:latin typeface="+mj-lt"/>
              <a:cs typeface="Times New Roman" pitchFamily="18" charset="0"/>
            </a:endParaRPr>
          </a:p>
          <a:p>
            <a:pPr eaLnBrk="1" hangingPunct="1"/>
            <a:endParaRPr lang="en-US" sz="2700" dirty="0" smtClean="0">
              <a:latin typeface="+mj-lt"/>
              <a:cs typeface="Times New Roman" pitchFamily="18" charset="0"/>
            </a:endParaRPr>
          </a:p>
        </p:txBody>
      </p:sp>
    </p:spTree>
    <p:extLst>
      <p:ext uri="{BB962C8B-B14F-4D97-AF65-F5344CB8AC3E}">
        <p14:creationId xmlns:p14="http://schemas.microsoft.com/office/powerpoint/2010/main" val="947682271"/>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9705" y="424070"/>
            <a:ext cx="11013425" cy="6056243"/>
          </a:xfrm>
        </p:spPr>
        <p:txBody>
          <a:bodyPr rtlCol="0">
            <a:normAutofit/>
          </a:bodyPr>
          <a:lstStyle/>
          <a:p>
            <a:pPr marL="36900" indent="0">
              <a:buNone/>
              <a:defRPr/>
            </a:pPr>
            <a:r>
              <a:rPr lang="en-US" sz="2800" b="1" dirty="0" smtClean="0">
                <a:solidFill>
                  <a:srgbClr val="00B050"/>
                </a:solidFill>
                <a:cs typeface="Times New Roman" pitchFamily="18" charset="0"/>
              </a:rPr>
              <a:t>Principle </a:t>
            </a:r>
            <a:r>
              <a:rPr lang="en-US" sz="2800" b="1" dirty="0">
                <a:solidFill>
                  <a:srgbClr val="00B050"/>
                </a:solidFill>
                <a:cs typeface="Times New Roman" pitchFamily="18" charset="0"/>
              </a:rPr>
              <a:t>of </a:t>
            </a:r>
            <a:r>
              <a:rPr lang="en-US" sz="2800" b="1" dirty="0" smtClean="0">
                <a:solidFill>
                  <a:srgbClr val="00B050"/>
                </a:solidFill>
                <a:cs typeface="Times New Roman" pitchFamily="18" charset="0"/>
              </a:rPr>
              <a:t>Non-maleficence</a:t>
            </a:r>
            <a:endParaRPr lang="en-US" sz="2800" b="1" dirty="0">
              <a:solidFill>
                <a:srgbClr val="00B050"/>
              </a:solidFill>
              <a:cs typeface="Times New Roman" pitchFamily="18" charset="0"/>
            </a:endParaRPr>
          </a:p>
          <a:p>
            <a:pPr>
              <a:defRPr/>
            </a:pPr>
            <a:r>
              <a:rPr lang="en-US" sz="2800" dirty="0" smtClean="0">
                <a:latin typeface="+mj-lt"/>
              </a:rPr>
              <a:t>It is a negative duty; the negative side of beneficence</a:t>
            </a:r>
          </a:p>
          <a:p>
            <a:pPr>
              <a:defRPr/>
            </a:pPr>
            <a:r>
              <a:rPr lang="en-US" sz="2800" dirty="0" smtClean="0">
                <a:latin typeface="+mj-lt"/>
              </a:rPr>
              <a:t>It states that we have a duty or obligation not to harm others</a:t>
            </a:r>
          </a:p>
          <a:p>
            <a:pPr>
              <a:defRPr/>
            </a:pPr>
            <a:r>
              <a:rPr lang="en-US" sz="2800" dirty="0" smtClean="0">
                <a:latin typeface="+mj-lt"/>
              </a:rPr>
              <a:t>Typically harm meant physical harm but could also extend to other forms of harm e.g. restricting a person from accessing his property, curtailing freedom of speech or association etc.</a:t>
            </a:r>
          </a:p>
          <a:p>
            <a:pPr>
              <a:defRPr/>
            </a:pPr>
            <a:r>
              <a:rPr lang="en-US" sz="2800" dirty="0" smtClean="0">
                <a:latin typeface="+mj-lt"/>
              </a:rPr>
              <a:t>Imposes duty not to do harm to others intentionally or deliberately; and  to expose others to the risk of harm.</a:t>
            </a:r>
          </a:p>
          <a:p>
            <a:pPr>
              <a:defRPr/>
            </a:pPr>
            <a:r>
              <a:rPr lang="en-US" sz="2800" dirty="0" smtClean="0">
                <a:latin typeface="+mj-lt"/>
              </a:rPr>
              <a:t>However not every time we expose others to the risk of harm we violate principle of nonmaleficence.</a:t>
            </a:r>
          </a:p>
          <a:p>
            <a:pPr>
              <a:buFont typeface="Arial" pitchFamily="34" charset="0"/>
              <a:buChar char="•"/>
              <a:defRPr/>
            </a:pPr>
            <a:endParaRPr lang="en-US" sz="2500" dirty="0" smtClean="0">
              <a:latin typeface="Calibri" pitchFamily="34" charset="0"/>
            </a:endParaRPr>
          </a:p>
          <a:p>
            <a:pPr>
              <a:buNone/>
              <a:defRPr/>
            </a:pPr>
            <a:endParaRPr lang="en-US" sz="2500" dirty="0">
              <a:latin typeface="Calibri" pitchFamily="34" charset="0"/>
            </a:endParaRPr>
          </a:p>
        </p:txBody>
      </p:sp>
    </p:spTree>
    <p:extLst>
      <p:ext uri="{BB962C8B-B14F-4D97-AF65-F5344CB8AC3E}">
        <p14:creationId xmlns:p14="http://schemas.microsoft.com/office/powerpoint/2010/main" val="328952779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4908" y="596349"/>
            <a:ext cx="11046761" cy="5579164"/>
          </a:xfrm>
        </p:spPr>
        <p:txBody>
          <a:bodyPr rtlCol="0">
            <a:normAutofit/>
          </a:bodyPr>
          <a:lstStyle/>
          <a:p>
            <a:pPr marL="36900" indent="0">
              <a:buNone/>
              <a:defRPr/>
            </a:pPr>
            <a:r>
              <a:rPr lang="en-US" sz="2800" b="1" dirty="0" smtClean="0">
                <a:solidFill>
                  <a:srgbClr val="00B050"/>
                </a:solidFill>
                <a:latin typeface="+mj-lt"/>
              </a:rPr>
              <a:t>Respect of Persons </a:t>
            </a:r>
          </a:p>
          <a:p>
            <a:pPr>
              <a:defRPr/>
            </a:pPr>
            <a:r>
              <a:rPr lang="en-US" sz="2800" dirty="0" smtClean="0">
                <a:latin typeface="+mj-lt"/>
              </a:rPr>
              <a:t>Principle of respect for persons incorporates three basic ethical requirements;</a:t>
            </a:r>
          </a:p>
          <a:p>
            <a:pPr marL="551250" indent="-514350">
              <a:buFont typeface="+mj-lt"/>
              <a:buAutoNum type="arabicPeriod"/>
              <a:defRPr/>
            </a:pPr>
            <a:r>
              <a:rPr lang="en-US" sz="2800" b="1" dirty="0" smtClean="0">
                <a:latin typeface="+mj-lt"/>
              </a:rPr>
              <a:t>The principle is founded </a:t>
            </a:r>
            <a:r>
              <a:rPr lang="en-US" sz="2800" b="1" dirty="0" smtClean="0">
                <a:solidFill>
                  <a:srgbClr val="FFFF00"/>
                </a:solidFill>
                <a:latin typeface="+mj-lt"/>
              </a:rPr>
              <a:t>on the intrinsic value of persons </a:t>
            </a:r>
            <a:r>
              <a:rPr lang="en-US" sz="2800" dirty="0" smtClean="0">
                <a:latin typeface="+mj-lt"/>
              </a:rPr>
              <a:t>and so it requires that we treat persons with dignity and integrity, consistent with their intrinsic worth</a:t>
            </a:r>
          </a:p>
          <a:p>
            <a:pPr>
              <a:defRPr/>
            </a:pPr>
            <a:r>
              <a:rPr lang="en-US" sz="2800" dirty="0" smtClean="0">
                <a:latin typeface="+mj-lt"/>
              </a:rPr>
              <a:t>It is wrong to treat persons as if they were expendable objects as this undermines their worth, reduces them to the level of objects.</a:t>
            </a:r>
          </a:p>
          <a:p>
            <a:pPr>
              <a:buFont typeface="Arial" pitchFamily="34" charset="0"/>
              <a:buChar char="•"/>
              <a:defRPr/>
            </a:pPr>
            <a:endParaRPr lang="en-US" sz="2700" dirty="0" smtClean="0">
              <a:latin typeface="+mj-lt"/>
            </a:endParaRPr>
          </a:p>
          <a:p>
            <a:pPr>
              <a:buNone/>
              <a:defRPr/>
            </a:pPr>
            <a:r>
              <a:rPr lang="en-US" sz="2700" dirty="0" smtClean="0">
                <a:latin typeface="+mj-lt"/>
              </a:rPr>
              <a:t> </a:t>
            </a:r>
          </a:p>
          <a:p>
            <a:pPr>
              <a:buFont typeface="Arial" pitchFamily="34" charset="0"/>
              <a:buChar char="•"/>
              <a:defRPr/>
            </a:pPr>
            <a:endParaRPr lang="en-US" dirty="0">
              <a:latin typeface="+mj-lt"/>
            </a:endParaRPr>
          </a:p>
        </p:txBody>
      </p:sp>
    </p:spTree>
    <p:extLst>
      <p:ext uri="{BB962C8B-B14F-4D97-AF65-F5344CB8AC3E}">
        <p14:creationId xmlns:p14="http://schemas.microsoft.com/office/powerpoint/2010/main" val="2378236379"/>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9113" y="384313"/>
            <a:ext cx="10813774" cy="5883965"/>
          </a:xfrm>
        </p:spPr>
        <p:txBody>
          <a:bodyPr rtlCol="0">
            <a:normAutofit/>
          </a:bodyPr>
          <a:lstStyle/>
          <a:p>
            <a:pPr marL="551250" indent="-514350">
              <a:buFont typeface="+mj-lt"/>
              <a:buAutoNum type="arabicPeriod" startAt="2"/>
              <a:defRPr/>
            </a:pPr>
            <a:r>
              <a:rPr lang="en-US" sz="2800" b="1" dirty="0" smtClean="0">
                <a:solidFill>
                  <a:srgbClr val="FFFF00"/>
                </a:solidFill>
                <a:latin typeface="+mj-lt"/>
              </a:rPr>
              <a:t>Treating persons as autonomous agents</a:t>
            </a:r>
          </a:p>
          <a:p>
            <a:pPr>
              <a:defRPr/>
            </a:pPr>
            <a:r>
              <a:rPr lang="en-US" sz="2800" dirty="0" smtClean="0">
                <a:latin typeface="+mj-lt"/>
              </a:rPr>
              <a:t>Autonomy is independence of thought and action. </a:t>
            </a:r>
            <a:endParaRPr lang="en-US" sz="2800" dirty="0">
              <a:latin typeface="+mj-lt"/>
            </a:endParaRPr>
          </a:p>
          <a:p>
            <a:pPr>
              <a:defRPr/>
            </a:pPr>
            <a:r>
              <a:rPr lang="en-US" sz="2800" dirty="0" smtClean="0">
                <a:latin typeface="+mj-lt"/>
              </a:rPr>
              <a:t>It is founded on the individual’s capacity to choose (personal liberty).</a:t>
            </a:r>
            <a:endParaRPr lang="en-US" sz="2800" dirty="0">
              <a:latin typeface="+mj-lt"/>
            </a:endParaRPr>
          </a:p>
          <a:p>
            <a:pPr>
              <a:defRPr/>
            </a:pPr>
            <a:r>
              <a:rPr lang="en-US" sz="2800" dirty="0" smtClean="0">
                <a:latin typeface="+mj-lt"/>
              </a:rPr>
              <a:t>It thus affirms that persons ought to be masters of their fate or destiny.</a:t>
            </a:r>
          </a:p>
          <a:p>
            <a:pPr>
              <a:defRPr/>
            </a:pPr>
            <a:r>
              <a:rPr lang="en-US" sz="2800" dirty="0" smtClean="0">
                <a:latin typeface="+mj-lt"/>
              </a:rPr>
              <a:t>Thus the principle demands recognition and respect of people’s liberty to self determination. </a:t>
            </a:r>
          </a:p>
          <a:p>
            <a:pPr>
              <a:defRPr/>
            </a:pPr>
            <a:r>
              <a:rPr lang="en-US" sz="2800" dirty="0" smtClean="0">
                <a:latin typeface="+mj-lt"/>
              </a:rPr>
              <a:t>However it also mandates strong sense of personal responsibility; that is that we are to make our own choices but we must take responsibility for those the choices made. </a:t>
            </a:r>
          </a:p>
          <a:p>
            <a:pPr>
              <a:buFont typeface="Arial" pitchFamily="34" charset="0"/>
              <a:buChar char="•"/>
              <a:defRPr/>
            </a:pPr>
            <a:endParaRPr lang="en-US" dirty="0">
              <a:latin typeface="+mj-lt"/>
            </a:endParaRPr>
          </a:p>
        </p:txBody>
      </p:sp>
    </p:spTree>
    <p:extLst>
      <p:ext uri="{BB962C8B-B14F-4D97-AF65-F5344CB8AC3E}">
        <p14:creationId xmlns:p14="http://schemas.microsoft.com/office/powerpoint/2010/main" val="2961905075"/>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0829" y="556592"/>
            <a:ext cx="10613518" cy="5857460"/>
          </a:xfrm>
        </p:spPr>
        <p:txBody>
          <a:bodyPr rtlCol="0">
            <a:normAutofit/>
          </a:bodyPr>
          <a:lstStyle/>
          <a:p>
            <a:pPr marL="494100" indent="-457200">
              <a:buFont typeface="+mj-lt"/>
              <a:buAutoNum type="arabicPeriod" startAt="3"/>
              <a:defRPr/>
            </a:pPr>
            <a:r>
              <a:rPr lang="en-US" sz="2800" b="1" dirty="0" smtClean="0">
                <a:solidFill>
                  <a:srgbClr val="FFFF00"/>
                </a:solidFill>
              </a:rPr>
              <a:t>Protect persons with diminished autonomy</a:t>
            </a:r>
            <a:r>
              <a:rPr lang="en-US" sz="2800" dirty="0" smtClean="0">
                <a:solidFill>
                  <a:srgbClr val="FFFF00"/>
                </a:solidFill>
              </a:rPr>
              <a:t>.</a:t>
            </a:r>
          </a:p>
          <a:p>
            <a:pPr>
              <a:defRPr/>
            </a:pPr>
            <a:r>
              <a:rPr lang="en-US" sz="2800" dirty="0" smtClean="0"/>
              <a:t>It recognizes that not all individuals are autonomous agents. But some people lack autonomy, owing to age, mental disability, illness senility etc.</a:t>
            </a:r>
          </a:p>
          <a:p>
            <a:pPr>
              <a:defRPr/>
            </a:pPr>
            <a:r>
              <a:rPr lang="en-US" sz="2800" dirty="0" smtClean="0"/>
              <a:t>Hence the principle of respect for persons   demands that such persons are protected from activities that may be harmful to them and guided  about possible consequences of their actions</a:t>
            </a:r>
          </a:p>
          <a:p>
            <a:pPr>
              <a:defRPr/>
            </a:pPr>
            <a:r>
              <a:rPr lang="en-US" sz="2800" dirty="0" smtClean="0"/>
              <a:t>In short we are required morally to formulate policies that are sensitive to and uphold the dignity and integrity of persons. Autonomy must also be exercised within the social network of relations.</a:t>
            </a:r>
          </a:p>
          <a:p>
            <a:pPr>
              <a:buFont typeface="Arial" pitchFamily="34" charset="0"/>
              <a:buChar char="•"/>
              <a:defRPr/>
            </a:pPr>
            <a:endParaRPr lang="en-US" sz="2600" dirty="0"/>
          </a:p>
        </p:txBody>
      </p:sp>
    </p:spTree>
    <p:extLst>
      <p:ext uri="{BB962C8B-B14F-4D97-AF65-F5344CB8AC3E}">
        <p14:creationId xmlns:p14="http://schemas.microsoft.com/office/powerpoint/2010/main" val="2694555407"/>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0817" y="304801"/>
            <a:ext cx="11383618" cy="6321286"/>
          </a:xfrm>
        </p:spPr>
        <p:txBody>
          <a:bodyPr rtlCol="0">
            <a:normAutofit/>
          </a:bodyPr>
          <a:lstStyle/>
          <a:p>
            <a:pPr marL="36900" indent="0">
              <a:buNone/>
              <a:defRPr/>
            </a:pPr>
            <a:r>
              <a:rPr lang="en-US" sz="2800" b="1" dirty="0" smtClean="0">
                <a:solidFill>
                  <a:srgbClr val="00B050"/>
                </a:solidFill>
              </a:rPr>
              <a:t>Principle of impartiality or nondiscrimination</a:t>
            </a:r>
            <a:endParaRPr lang="en-US" sz="2800" dirty="0" smtClean="0">
              <a:solidFill>
                <a:srgbClr val="00B050"/>
              </a:solidFill>
            </a:endParaRPr>
          </a:p>
          <a:p>
            <a:pPr>
              <a:defRPr/>
            </a:pPr>
            <a:r>
              <a:rPr lang="en-US" sz="2800" dirty="0" smtClean="0"/>
              <a:t>The principle of impartiality is grounded in the idea;</a:t>
            </a:r>
          </a:p>
          <a:p>
            <a:pPr lvl="1">
              <a:defRPr/>
            </a:pPr>
            <a:r>
              <a:rPr lang="en-US" sz="2600" dirty="0" smtClean="0"/>
              <a:t>That each person or individual interests and wellbeing are equally important from the moral point of view.</a:t>
            </a:r>
          </a:p>
          <a:p>
            <a:pPr lvl="1">
              <a:defRPr/>
            </a:pPr>
            <a:r>
              <a:rPr lang="en-US" sz="2600" dirty="0" smtClean="0"/>
              <a:t>In other words, there are no privileged persons from the moral point of view as everyone’s life has the same value.</a:t>
            </a:r>
          </a:p>
          <a:p>
            <a:pPr>
              <a:defRPr/>
            </a:pPr>
            <a:r>
              <a:rPr lang="en-US" sz="2800" b="1" dirty="0" smtClean="0">
                <a:latin typeface="+mj-lt"/>
              </a:rPr>
              <a:t>Thus impartiality rules out / proscribes</a:t>
            </a:r>
            <a:r>
              <a:rPr lang="en-US" sz="2800" dirty="0" smtClean="0">
                <a:latin typeface="+mj-lt"/>
              </a:rPr>
              <a:t>:</a:t>
            </a:r>
          </a:p>
          <a:p>
            <a:pPr>
              <a:defRPr/>
            </a:pPr>
            <a:r>
              <a:rPr lang="en-US" sz="2800" dirty="0" smtClean="0">
                <a:latin typeface="+mj-lt"/>
              </a:rPr>
              <a:t>Discrimination </a:t>
            </a:r>
            <a:r>
              <a:rPr lang="en-US" sz="2800" dirty="0">
                <a:latin typeface="+mj-lt"/>
              </a:rPr>
              <a:t>(which is arbitrary) that is not based on morally relevant criteria. Discrimination simply means treating a person or groups of persons differently from others without good reasons to justify such different treatment i.e. arbitrary e.g. on the basis of race, tribe, gender</a:t>
            </a:r>
          </a:p>
          <a:p>
            <a:pPr>
              <a:defRPr/>
            </a:pPr>
            <a:r>
              <a:rPr lang="en-US" sz="2800" dirty="0">
                <a:latin typeface="+mj-lt"/>
              </a:rPr>
              <a:t>That is it proscribes arbitrariness in dealing with people.</a:t>
            </a:r>
          </a:p>
          <a:p>
            <a:pPr>
              <a:buFont typeface="Arial" pitchFamily="34" charset="0"/>
              <a:buChar char="•"/>
              <a:defRPr/>
            </a:pPr>
            <a:endParaRPr lang="en-US" dirty="0" smtClean="0"/>
          </a:p>
          <a:p>
            <a:pPr>
              <a:buFont typeface="Arial" pitchFamily="34" charset="0"/>
              <a:buChar char="•"/>
              <a:defRPr/>
            </a:pPr>
            <a:endParaRPr lang="en-US" dirty="0"/>
          </a:p>
        </p:txBody>
      </p:sp>
    </p:spTree>
    <p:extLst>
      <p:ext uri="{BB962C8B-B14F-4D97-AF65-F5344CB8AC3E}">
        <p14:creationId xmlns:p14="http://schemas.microsoft.com/office/powerpoint/2010/main" val="2420431131"/>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2852" y="225288"/>
            <a:ext cx="11092070" cy="6202016"/>
          </a:xfrm>
        </p:spPr>
        <p:txBody>
          <a:bodyPr rtlCol="0">
            <a:noAutofit/>
          </a:bodyPr>
          <a:lstStyle/>
          <a:p>
            <a:pPr>
              <a:defRPr/>
            </a:pPr>
            <a:r>
              <a:rPr lang="en-US" sz="2800" dirty="0" smtClean="0">
                <a:latin typeface="+mj-lt"/>
              </a:rPr>
              <a:t>Discrimination is wrong because it violates the principle of impartiality</a:t>
            </a:r>
          </a:p>
          <a:p>
            <a:pPr>
              <a:defRPr/>
            </a:pPr>
            <a:r>
              <a:rPr lang="en-US" sz="2800" dirty="0" smtClean="0">
                <a:latin typeface="+mj-lt"/>
              </a:rPr>
              <a:t>It also proscribes schemes that treat persons or members of disadvantaged or minority groups as being morally inferior. </a:t>
            </a:r>
          </a:p>
          <a:p>
            <a:pPr>
              <a:buNone/>
              <a:defRPr/>
            </a:pPr>
            <a:r>
              <a:rPr lang="en-US" sz="2800" b="1" dirty="0">
                <a:latin typeface="+mj-lt"/>
              </a:rPr>
              <a:t>The rule of impartiality prescribes</a:t>
            </a:r>
            <a:endParaRPr lang="en-US" sz="2800" dirty="0">
              <a:latin typeface="+mj-lt"/>
            </a:endParaRPr>
          </a:p>
          <a:p>
            <a:pPr>
              <a:defRPr/>
            </a:pPr>
            <a:r>
              <a:rPr lang="en-US" sz="2800" dirty="0">
                <a:latin typeface="+mj-lt"/>
              </a:rPr>
              <a:t>Justice and fairness in dealing with people. </a:t>
            </a:r>
          </a:p>
          <a:p>
            <a:pPr>
              <a:defRPr/>
            </a:pPr>
            <a:r>
              <a:rPr lang="en-US" sz="2800" dirty="0">
                <a:latin typeface="+mj-lt"/>
              </a:rPr>
              <a:t>An injustice occurs when some   benefit to which a person is entitled is denied without good reason or alternatively a burden is imposed upon someone arbitrarily.</a:t>
            </a:r>
            <a:r>
              <a:rPr lang="en-US" sz="2800" b="1" dirty="0">
                <a:latin typeface="+mj-lt"/>
              </a:rPr>
              <a:t> </a:t>
            </a:r>
          </a:p>
          <a:p>
            <a:pPr>
              <a:defRPr/>
            </a:pPr>
            <a:r>
              <a:rPr lang="en-US" sz="2800" dirty="0">
                <a:latin typeface="+mj-lt"/>
              </a:rPr>
              <a:t>It also requires equal consideration and equal opportunity</a:t>
            </a:r>
          </a:p>
          <a:p>
            <a:pPr>
              <a:defRPr/>
            </a:pPr>
            <a:r>
              <a:rPr lang="en-US" sz="2800" dirty="0">
                <a:latin typeface="+mj-lt"/>
              </a:rPr>
              <a:t>However, sometimes we may treat people differently without violating the principle of impartiality e.g. affirmative action.</a:t>
            </a:r>
          </a:p>
          <a:p>
            <a:pPr>
              <a:buFont typeface="Arial" pitchFamily="34" charset="0"/>
              <a:buChar char="•"/>
              <a:defRPr/>
            </a:pPr>
            <a:endParaRPr lang="en-US" sz="2700" dirty="0">
              <a:latin typeface="Calibri" pitchFamily="34" charset="0"/>
            </a:endParaRPr>
          </a:p>
        </p:txBody>
      </p:sp>
    </p:spTree>
    <p:extLst>
      <p:ext uri="{BB962C8B-B14F-4D97-AF65-F5344CB8AC3E}">
        <p14:creationId xmlns:p14="http://schemas.microsoft.com/office/powerpoint/2010/main" val="3592031137"/>
      </p:ext>
    </p:extLst>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1462</TotalTime>
  <Words>901</Words>
  <Application>Microsoft Office PowerPoint</Application>
  <PresentationFormat>Widescreen</PresentationFormat>
  <Paragraphs>76</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Calisto MT</vt:lpstr>
      <vt:lpstr>Times New Roman</vt:lpstr>
      <vt:lpstr>Trebuchet MS</vt:lpstr>
      <vt:lpstr>Wingdings</vt:lpstr>
      <vt:lpstr>Wingdings 2</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user</cp:lastModifiedBy>
  <cp:revision>81</cp:revision>
  <dcterms:created xsi:type="dcterms:W3CDTF">2020-07-20T03:42:52Z</dcterms:created>
  <dcterms:modified xsi:type="dcterms:W3CDTF">2024-06-12T14:58:24Z</dcterms:modified>
</cp:coreProperties>
</file>