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81" r:id="rId3"/>
    <p:sldId id="258" r:id="rId4"/>
    <p:sldId id="259" r:id="rId5"/>
    <p:sldId id="260" r:id="rId6"/>
    <p:sldId id="261" r:id="rId7"/>
    <p:sldId id="262" r:id="rId8"/>
    <p:sldId id="263" r:id="rId9"/>
    <p:sldId id="264" r:id="rId10"/>
    <p:sldId id="265" r:id="rId11"/>
    <p:sldId id="266" r:id="rId12"/>
    <p:sldId id="267" r:id="rId13"/>
    <p:sldId id="270" r:id="rId14"/>
    <p:sldId id="271" r:id="rId15"/>
    <p:sldId id="272" r:id="rId16"/>
    <p:sldId id="273" r:id="rId17"/>
    <p:sldId id="274" r:id="rId18"/>
    <p:sldId id="275" r:id="rId19"/>
    <p:sldId id="276" r:id="rId20"/>
    <p:sldId id="277" r:id="rId21"/>
    <p:sldId id="269" r:id="rId22"/>
    <p:sldId id="278" r:id="rId23"/>
    <p:sldId id="279" r:id="rId24"/>
    <p:sldId id="28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05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17" name="Footer Placeholder 16"/>
          <p:cNvSpPr>
            <a:spLocks noGrp="1"/>
          </p:cNvSpPr>
          <p:nvPr>
            <p:ph type="ftr" sz="quarter" idx="11"/>
          </p:nvPr>
        </p:nvSpPr>
        <p:spPr/>
        <p:txBody>
          <a:bodyPr/>
          <a:lstStyle>
            <a:extLst/>
          </a:lstStyle>
          <a:p>
            <a:endParaRPr lang="en-US"/>
          </a:p>
        </p:txBody>
      </p:sp>
      <p:sp>
        <p:nvSpPr>
          <p:cNvPr id="29" name="Slide Number Placeholder 28"/>
          <p:cNvSpPr>
            <a:spLocks noGrp="1"/>
          </p:cNvSpPr>
          <p:nvPr>
            <p:ph type="sldNum" sz="quarter" idx="12"/>
          </p:nvPr>
        </p:nvSpPr>
        <p:spPr/>
        <p:txBody>
          <a:bodyPr/>
          <a:lstStyle>
            <a:extLst/>
          </a:lstStyle>
          <a:p>
            <a:fld id="{58B3CDF5-C0B7-46E3-8776-C02C9F61A99D}" type="slidenum">
              <a:rPr lang="en-US" smtClean="0"/>
              <a:t>‹#›</a:t>
            </a:fld>
            <a:endParaRPr lang="en-US"/>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58B3CDF5-C0B7-46E3-8776-C02C9F61A99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58B3CDF5-C0B7-46E3-8776-C02C9F61A99D}" type="slidenum">
              <a:rPr lang="en-US" smtClean="0"/>
              <a:t>‹#›</a:t>
            </a:fld>
            <a:endParaRPr lang="en-US"/>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58B3CDF5-C0B7-46E3-8776-C02C9F61A99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58B3CDF5-C0B7-46E3-8776-C02C9F61A99D}" type="slidenum">
              <a:rPr lang="en-US" smtClean="0"/>
              <a:t>‹#›</a:t>
            </a:fld>
            <a:endParaRPr lang="en-US"/>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58B3CDF5-C0B7-46E3-8776-C02C9F61A99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58B3CDF5-C0B7-46E3-8776-C02C9F61A99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58B3CDF5-C0B7-46E3-8776-C02C9F61A99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fld id="{C5041C8E-655B-4CFB-80B7-CB5F94192F5B}" type="datetimeFigureOut">
              <a:rPr lang="en-US" smtClean="0"/>
              <a:t>1/11/2021</a:t>
            </a:fld>
            <a:endParaRPr lang="en-US"/>
          </a:p>
        </p:txBody>
      </p:sp>
      <p:sp>
        <p:nvSpPr>
          <p:cNvPr id="6" name="Footer Placeholder 5"/>
          <p:cNvSpPr>
            <a:spLocks noGrp="1"/>
          </p:cNvSpPr>
          <p:nvPr>
            <p:ph type="ftr" sz="quarter" idx="11"/>
          </p:nvPr>
        </p:nvSpPr>
        <p:spPr>
          <a:xfrm>
            <a:off x="914400" y="55499"/>
            <a:ext cx="5562600" cy="365125"/>
          </a:xfrm>
        </p:spPr>
        <p:txBody>
          <a:bodyPr/>
          <a:lstStyle>
            <a:extLst/>
          </a:lstStyle>
          <a:p>
            <a:endParaRPr lang="en-US"/>
          </a:p>
        </p:txBody>
      </p:sp>
      <p:sp>
        <p:nvSpPr>
          <p:cNvPr id="7" name="Slide Number Placeholder 6"/>
          <p:cNvSpPr>
            <a:spLocks noGrp="1"/>
          </p:cNvSpPr>
          <p:nvPr>
            <p:ph type="sldNum" sz="quarter" idx="12"/>
          </p:nvPr>
        </p:nvSpPr>
        <p:spPr>
          <a:xfrm>
            <a:off x="8610600" y="55499"/>
            <a:ext cx="457200" cy="365125"/>
          </a:xfrm>
        </p:spPr>
        <p:txBody>
          <a:bodyPr/>
          <a:lstStyle>
            <a:extLst/>
          </a:lstStyle>
          <a:p>
            <a:fld id="{58B3CDF5-C0B7-46E3-8776-C02C9F61A99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58B3CDF5-C0B7-46E3-8776-C02C9F61A99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5041C8E-655B-4CFB-80B7-CB5F94192F5B}" type="datetimeFigureOut">
              <a:rPr lang="en-US" smtClean="0"/>
              <a:t>1/11/2021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58B3CDF5-C0B7-46E3-8776-C02C9F61A99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C5041C8E-655B-4CFB-80B7-CB5F94192F5B}" type="datetimeFigureOut">
              <a:rPr lang="en-US" smtClean="0"/>
              <a:t>1/11/2021</a:t>
            </a:fld>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en-US"/>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58B3CDF5-C0B7-46E3-8776-C02C9F61A99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READING…..</a:t>
            </a:r>
            <a:endParaRPr lang="en-US" dirty="0"/>
          </a:p>
        </p:txBody>
      </p:sp>
      <p:sp>
        <p:nvSpPr>
          <p:cNvPr id="3" name="Content Placeholder 2"/>
          <p:cNvSpPr>
            <a:spLocks noGrp="1"/>
          </p:cNvSpPr>
          <p:nvPr>
            <p:ph idx="1"/>
          </p:nvPr>
        </p:nvSpPr>
        <p:spPr/>
        <p:txBody>
          <a:bodyPr/>
          <a:lstStyle/>
          <a:p>
            <a:r>
              <a:rPr lang="en-US" dirty="0" smtClean="0"/>
              <a:t>Concentrated, Active and Engaged Reading</a:t>
            </a:r>
          </a:p>
          <a:p>
            <a:endParaRPr lang="en-US" dirty="0" smtClean="0"/>
          </a:p>
          <a:p>
            <a:r>
              <a:rPr lang="en-US" dirty="0" smtClean="0"/>
              <a:t>Engaging the author in a dialogue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critical reading….</a:t>
            </a:r>
            <a:endParaRPr lang="en-US" dirty="0"/>
          </a:p>
        </p:txBody>
      </p:sp>
      <p:sp>
        <p:nvSpPr>
          <p:cNvPr id="3" name="Content Placeholder 2"/>
          <p:cNvSpPr>
            <a:spLocks noGrp="1"/>
          </p:cNvSpPr>
          <p:nvPr>
            <p:ph idx="1"/>
          </p:nvPr>
        </p:nvSpPr>
        <p:spPr/>
        <p:txBody>
          <a:bodyPr/>
          <a:lstStyle/>
          <a:p>
            <a:r>
              <a:rPr lang="en-US" dirty="0" smtClean="0"/>
              <a:t>Better grades and deep learning, which should be your highest goal.</a:t>
            </a:r>
          </a:p>
          <a:p>
            <a:r>
              <a:rPr lang="en-US" dirty="0" smtClean="0"/>
              <a:t>You become more informed and a fuller human being.</a:t>
            </a:r>
          </a:p>
          <a:p>
            <a:r>
              <a:rPr lang="en-US" dirty="0" smtClean="0"/>
              <a:t>Critical reading will pay you intellectual rewards far beyond what you can imagine!</a:t>
            </a:r>
            <a:endParaRPr lang="en-US" dirty="0"/>
          </a:p>
        </p:txBody>
      </p:sp>
    </p:spTree>
    <p:extLst>
      <p:ext uri="{BB962C8B-B14F-4D97-AF65-F5344CB8AC3E}">
        <p14:creationId xmlns:p14="http://schemas.microsoft.com/office/powerpoint/2010/main" val="731249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Critical Reading……</a:t>
            </a:r>
            <a:endParaRPr lang="en-US" dirty="0"/>
          </a:p>
        </p:txBody>
      </p:sp>
      <p:sp>
        <p:nvSpPr>
          <p:cNvPr id="3" name="Content Placeholder 2"/>
          <p:cNvSpPr>
            <a:spLocks noGrp="1"/>
          </p:cNvSpPr>
          <p:nvPr>
            <p:ph idx="1"/>
          </p:nvPr>
        </p:nvSpPr>
        <p:spPr/>
        <p:txBody>
          <a:bodyPr/>
          <a:lstStyle/>
          <a:p>
            <a:r>
              <a:rPr lang="en-US" dirty="0" smtClean="0"/>
              <a:t>In its core, it involves </a:t>
            </a:r>
            <a:r>
              <a:rPr lang="en-US" u="sng" dirty="0" smtClean="0"/>
              <a:t>annotating a text</a:t>
            </a:r>
            <a:r>
              <a:rPr lang="en-US" dirty="0" smtClean="0"/>
              <a:t>: (</a:t>
            </a:r>
            <a:r>
              <a:rPr lang="en-US" i="1" dirty="0" smtClean="0"/>
              <a:t>underlining </a:t>
            </a:r>
            <a:r>
              <a:rPr lang="en-US" i="1" dirty="0" smtClean="0"/>
              <a:t>and writing key words in the margins)</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critical reading..</a:t>
            </a:r>
            <a:endParaRPr lang="en-US" dirty="0"/>
          </a:p>
        </p:txBody>
      </p:sp>
      <p:sp>
        <p:nvSpPr>
          <p:cNvPr id="3" name="Content Placeholder 2"/>
          <p:cNvSpPr>
            <a:spLocks noGrp="1"/>
          </p:cNvSpPr>
          <p:nvPr>
            <p:ph idx="1"/>
          </p:nvPr>
        </p:nvSpPr>
        <p:spPr/>
        <p:txBody>
          <a:bodyPr/>
          <a:lstStyle/>
          <a:p>
            <a:r>
              <a:rPr lang="en-US" dirty="0" smtClean="0"/>
              <a:t>Find a quiet place to read: You must be able to concentrate to read critically…..turn of f  distractions.</a:t>
            </a:r>
          </a:p>
          <a:p>
            <a:endParaRPr lang="en-US" dirty="0" smtClean="0"/>
          </a:p>
          <a:p>
            <a:r>
              <a:rPr lang="en-US" dirty="0" smtClean="0"/>
              <a:t> You can’t use all your mental capacity if you can’t concentrate.</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Pre-read/Preview </a:t>
            </a:r>
            <a:endParaRPr lang="en-US" dirty="0"/>
          </a:p>
        </p:txBody>
      </p:sp>
      <p:sp>
        <p:nvSpPr>
          <p:cNvPr id="3" name="Content Placeholder 2"/>
          <p:cNvSpPr>
            <a:spLocks noGrp="1"/>
          </p:cNvSpPr>
          <p:nvPr>
            <p:ph idx="1"/>
          </p:nvPr>
        </p:nvSpPr>
        <p:spPr/>
        <p:txBody>
          <a:bodyPr/>
          <a:lstStyle/>
          <a:p>
            <a:r>
              <a:rPr lang="en-US" dirty="0" smtClean="0"/>
              <a:t>Skim over the article,book,passage etc…</a:t>
            </a:r>
          </a:p>
          <a:p>
            <a:r>
              <a:rPr lang="en-US" dirty="0" smtClean="0"/>
              <a:t>Get a good idea of how much you must read and what it will entail…</a:t>
            </a:r>
          </a:p>
          <a:p>
            <a:r>
              <a:rPr lang="en-US" dirty="0" smtClean="0"/>
              <a:t>Pay attention to chapter titles,headings,highlighted sections and illustrations.</a:t>
            </a:r>
          </a:p>
          <a:p>
            <a:r>
              <a:rPr lang="en-US" dirty="0" smtClean="0"/>
              <a:t>What Am I about to tackle?</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Pencil in hand!</a:t>
            </a:r>
            <a:endParaRPr lang="en-US" dirty="0"/>
          </a:p>
        </p:txBody>
      </p:sp>
      <p:sp>
        <p:nvSpPr>
          <p:cNvPr id="3" name="Content Placeholder 2"/>
          <p:cNvSpPr>
            <a:spLocks noGrp="1"/>
          </p:cNvSpPr>
          <p:nvPr>
            <p:ph idx="1"/>
          </p:nvPr>
        </p:nvSpPr>
        <p:spPr/>
        <p:txBody>
          <a:bodyPr/>
          <a:lstStyle/>
          <a:p>
            <a:r>
              <a:rPr lang="en-US" u="sng" dirty="0" smtClean="0"/>
              <a:t>Annotation</a:t>
            </a:r>
            <a:r>
              <a:rPr lang="en-US" dirty="0" smtClean="0"/>
              <a:t> is the heart of critical reading</a:t>
            </a:r>
          </a:p>
          <a:p>
            <a:r>
              <a:rPr lang="en-US" dirty="0" smtClean="0"/>
              <a:t>Underlining </a:t>
            </a:r>
            <a:r>
              <a:rPr lang="en-US" dirty="0" smtClean="0"/>
              <a:t>and writing in the margins</a:t>
            </a:r>
          </a:p>
          <a:p>
            <a:r>
              <a:rPr lang="en-US" dirty="0" smtClean="0"/>
              <a:t>Underline key points, topic sentences</a:t>
            </a:r>
          </a:p>
          <a:p>
            <a:r>
              <a:rPr lang="en-US" dirty="0" smtClean="0"/>
              <a:t>Highlight key words and terms by drawing a box around them…</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Annotation….</a:t>
            </a:r>
            <a:endParaRPr lang="en-US" dirty="0"/>
          </a:p>
        </p:txBody>
      </p:sp>
      <p:sp>
        <p:nvSpPr>
          <p:cNvPr id="3" name="Content Placeholder 2"/>
          <p:cNvSpPr>
            <a:spLocks noGrp="1"/>
          </p:cNvSpPr>
          <p:nvPr>
            <p:ph idx="1"/>
          </p:nvPr>
        </p:nvSpPr>
        <p:spPr/>
        <p:txBody>
          <a:bodyPr/>
          <a:lstStyle/>
          <a:p>
            <a:r>
              <a:rPr lang="en-US" dirty="0" smtClean="0"/>
              <a:t>Write key ideas/main points in the margins</a:t>
            </a:r>
          </a:p>
          <a:p>
            <a:r>
              <a:rPr lang="en-US" dirty="0" smtClean="0"/>
              <a:t>When revising, you may go through the points you have written in the margins or in your notebook</a:t>
            </a:r>
          </a:p>
          <a:p>
            <a:r>
              <a:rPr lang="en-US" dirty="0" smtClean="0"/>
              <a:t>*studies show that even if you never look at a text again, if you have annotated it well, you will retain more than if you had merely read the book without marking it.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Dictionary…</a:t>
            </a:r>
            <a:endParaRPr lang="en-US" dirty="0"/>
          </a:p>
        </p:txBody>
      </p:sp>
      <p:sp>
        <p:nvSpPr>
          <p:cNvPr id="3" name="Content Placeholder 2"/>
          <p:cNvSpPr>
            <a:spLocks noGrp="1"/>
          </p:cNvSpPr>
          <p:nvPr>
            <p:ph idx="1"/>
          </p:nvPr>
        </p:nvSpPr>
        <p:spPr/>
        <p:txBody>
          <a:bodyPr/>
          <a:lstStyle/>
          <a:p>
            <a:r>
              <a:rPr lang="en-US" dirty="0" smtClean="0"/>
              <a:t>Look up unfamiliar words/phrases in the dictionary and write the definitions in the margins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Ask Questions….</a:t>
            </a:r>
            <a:endParaRPr lang="en-US" dirty="0"/>
          </a:p>
        </p:txBody>
      </p:sp>
      <p:sp>
        <p:nvSpPr>
          <p:cNvPr id="3" name="Content Placeholder 2"/>
          <p:cNvSpPr>
            <a:spLocks noGrp="1"/>
          </p:cNvSpPr>
          <p:nvPr>
            <p:ph idx="1"/>
          </p:nvPr>
        </p:nvSpPr>
        <p:spPr/>
        <p:txBody>
          <a:bodyPr/>
          <a:lstStyle/>
          <a:p>
            <a:r>
              <a:rPr lang="en-US" dirty="0" smtClean="0"/>
              <a:t>What does the title mean? Why does the author begin the text this way? What is the writer’s main point? Why did the writer use that argument or that example? </a:t>
            </a:r>
          </a:p>
          <a:p>
            <a:r>
              <a:rPr lang="en-US" dirty="0" smtClean="0"/>
              <a:t>Engage in a dialogue with the writer as you read</a:t>
            </a:r>
          </a:p>
          <a:p>
            <a:r>
              <a:rPr lang="en-US" dirty="0" smtClean="0"/>
              <a:t>The writer is talking to you, talk back with questions and write the key questions in the margins.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Ask Questions……</a:t>
            </a:r>
            <a:endParaRPr lang="en-US" dirty="0"/>
          </a:p>
        </p:txBody>
      </p:sp>
      <p:sp>
        <p:nvSpPr>
          <p:cNvPr id="3" name="Content Placeholder 2"/>
          <p:cNvSpPr>
            <a:spLocks noGrp="1"/>
          </p:cNvSpPr>
          <p:nvPr>
            <p:ph idx="1"/>
          </p:nvPr>
        </p:nvSpPr>
        <p:spPr/>
        <p:txBody>
          <a:bodyPr/>
          <a:lstStyle/>
          <a:p>
            <a:r>
              <a:rPr lang="en-US" dirty="0" smtClean="0"/>
              <a:t>Ask “how?” “Why?” and “So What ?” questions. Don't just read what the writer is saying (although it’s important)</a:t>
            </a:r>
          </a:p>
          <a:p>
            <a:endParaRPr lang="en-US" dirty="0" smtClean="0"/>
          </a:p>
          <a:p>
            <a:r>
              <a:rPr lang="en-US" dirty="0" smtClean="0"/>
              <a:t>Read to figure out how, why and so what. These are deep analytic questions.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Reasoning….</a:t>
            </a:r>
            <a:endParaRPr lang="en-US" dirty="0"/>
          </a:p>
        </p:txBody>
      </p:sp>
      <p:sp>
        <p:nvSpPr>
          <p:cNvPr id="3" name="Content Placeholder 2"/>
          <p:cNvSpPr>
            <a:spLocks noGrp="1"/>
          </p:cNvSpPr>
          <p:nvPr>
            <p:ph idx="1"/>
          </p:nvPr>
        </p:nvSpPr>
        <p:spPr/>
        <p:txBody>
          <a:bodyPr/>
          <a:lstStyle/>
          <a:p>
            <a:r>
              <a:rPr lang="en-US" dirty="0" smtClean="0"/>
              <a:t>As you read and after you have read, try and find and think about the elements of reasoning: Purpose, question at issue, point of view,information,implications,assumptions,conclusions….These are aspects of critical reading/thinking</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Connections….</a:t>
            </a:r>
            <a:endParaRPr lang="en-US" dirty="0"/>
          </a:p>
        </p:txBody>
      </p:sp>
      <p:sp>
        <p:nvSpPr>
          <p:cNvPr id="3" name="Content Placeholder 2"/>
          <p:cNvSpPr>
            <a:spLocks noGrp="1"/>
          </p:cNvSpPr>
          <p:nvPr>
            <p:ph idx="1"/>
          </p:nvPr>
        </p:nvSpPr>
        <p:spPr/>
        <p:txBody>
          <a:bodyPr/>
          <a:lstStyle/>
          <a:p>
            <a:r>
              <a:rPr lang="en-US" dirty="0" smtClean="0"/>
              <a:t>Have you  read anything else by this writer?</a:t>
            </a:r>
          </a:p>
          <a:p>
            <a:r>
              <a:rPr lang="en-US" dirty="0" smtClean="0"/>
              <a:t>Is this text like anything you have read before?</a:t>
            </a:r>
          </a:p>
          <a:p>
            <a:r>
              <a:rPr lang="en-US" dirty="0" smtClean="0"/>
              <a:t>Does this text relate to something you have learnt /learning in another course or something from your experience?</a:t>
            </a:r>
          </a:p>
          <a:p>
            <a:r>
              <a:rPr lang="en-US" dirty="0" smtClean="0"/>
              <a:t>Make emotional /personal connections and write them down in the margins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Own the information….</a:t>
            </a:r>
            <a:endParaRPr lang="en-US" dirty="0"/>
          </a:p>
        </p:txBody>
      </p:sp>
      <p:sp>
        <p:nvSpPr>
          <p:cNvPr id="3" name="Content Placeholder 2"/>
          <p:cNvSpPr>
            <a:spLocks noGrp="1"/>
          </p:cNvSpPr>
          <p:nvPr>
            <p:ph idx="1"/>
          </p:nvPr>
        </p:nvSpPr>
        <p:spPr/>
        <p:txBody>
          <a:bodyPr/>
          <a:lstStyle/>
          <a:p>
            <a:r>
              <a:rPr lang="en-US" dirty="0" smtClean="0"/>
              <a:t>Try to put the author’s  ideas into your own words when you take notes. This will help you understand better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Strategies for close reading…..</a:t>
            </a:r>
            <a:endParaRPr lang="en-US" dirty="0"/>
          </a:p>
        </p:txBody>
      </p:sp>
      <p:sp>
        <p:nvSpPr>
          <p:cNvPr id="3" name="Content Placeholder 2"/>
          <p:cNvSpPr>
            <a:spLocks noGrp="1"/>
          </p:cNvSpPr>
          <p:nvPr>
            <p:ph idx="1"/>
          </p:nvPr>
        </p:nvSpPr>
        <p:spPr/>
        <p:txBody>
          <a:bodyPr/>
          <a:lstStyle/>
          <a:p>
            <a:r>
              <a:rPr lang="en-US" u="sng" dirty="0" smtClean="0"/>
              <a:t>Close reading</a:t>
            </a:r>
            <a:r>
              <a:rPr lang="en-US" dirty="0" smtClean="0"/>
              <a:t>: </a:t>
            </a:r>
          </a:p>
          <a:p>
            <a:pPr>
              <a:buNone/>
            </a:pPr>
            <a:r>
              <a:rPr lang="en-US" dirty="0" smtClean="0"/>
              <a:t>    One in which we make decisions about what the text means as we read it, keep track of author’s ideas and points and connect these new ideas with what we already know. Marking the text while we read facilitates this process.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 for….:</a:t>
            </a:r>
            <a:endParaRPr lang="en-US" dirty="0"/>
          </a:p>
        </p:txBody>
      </p:sp>
      <p:sp>
        <p:nvSpPr>
          <p:cNvPr id="3" name="Content Placeholder 2"/>
          <p:cNvSpPr>
            <a:spLocks noGrp="1"/>
          </p:cNvSpPr>
          <p:nvPr>
            <p:ph idx="1"/>
          </p:nvPr>
        </p:nvSpPr>
        <p:spPr/>
        <p:txBody>
          <a:bodyPr/>
          <a:lstStyle/>
          <a:p>
            <a:r>
              <a:rPr lang="en-US" dirty="0" smtClean="0"/>
              <a:t>The main question or issue in each chapter/section (aim,objective,main idea)</a:t>
            </a:r>
          </a:p>
          <a:p>
            <a:r>
              <a:rPr lang="en-US" dirty="0" smtClean="0"/>
              <a:t>Fundamental concepts and their explanations or descriptions</a:t>
            </a:r>
          </a:p>
          <a:p>
            <a:r>
              <a:rPr lang="en-US" dirty="0" smtClean="0"/>
              <a:t>Important conclusions</a:t>
            </a:r>
          </a:p>
          <a:p>
            <a:r>
              <a:rPr lang="en-US" dirty="0" smtClean="0"/>
              <a:t>Unclear or confusing parts, faulty logic</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 for….:</a:t>
            </a:r>
            <a:endParaRPr lang="en-US" dirty="0"/>
          </a:p>
        </p:txBody>
      </p:sp>
      <p:sp>
        <p:nvSpPr>
          <p:cNvPr id="3" name="Content Placeholder 2"/>
          <p:cNvSpPr>
            <a:spLocks noGrp="1"/>
          </p:cNvSpPr>
          <p:nvPr>
            <p:ph idx="1"/>
          </p:nvPr>
        </p:nvSpPr>
        <p:spPr/>
        <p:txBody>
          <a:bodyPr/>
          <a:lstStyle/>
          <a:p>
            <a:r>
              <a:rPr lang="en-US" dirty="0" smtClean="0"/>
              <a:t>Supporting data or information used as evidence</a:t>
            </a:r>
          </a:p>
          <a:p>
            <a:r>
              <a:rPr lang="en-US" dirty="0" smtClean="0"/>
              <a:t>Author voicing an opinion</a:t>
            </a:r>
          </a:p>
          <a:p>
            <a:r>
              <a:rPr lang="en-US" dirty="0" smtClean="0"/>
              <a:t>Assumptions being made</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Authority of writer….</a:t>
            </a:r>
            <a:endParaRPr lang="en-US" dirty="0"/>
          </a:p>
        </p:txBody>
      </p:sp>
      <p:sp>
        <p:nvSpPr>
          <p:cNvPr id="3" name="Content Placeholder 2"/>
          <p:cNvSpPr>
            <a:spLocks noGrp="1"/>
          </p:cNvSpPr>
          <p:nvPr>
            <p:ph idx="1"/>
          </p:nvPr>
        </p:nvSpPr>
        <p:spPr/>
        <p:txBody>
          <a:bodyPr/>
          <a:lstStyle/>
          <a:p>
            <a:r>
              <a:rPr lang="en-US" dirty="0" smtClean="0"/>
              <a:t>Information about the writer (training, political affiliation, life experience etc)</a:t>
            </a:r>
          </a:p>
          <a:p>
            <a:r>
              <a:rPr lang="en-US" dirty="0" smtClean="0"/>
              <a:t>What does the language, tone and approach of the text tell you about the writer?</a:t>
            </a:r>
          </a:p>
          <a:p>
            <a:r>
              <a:rPr lang="en-US" dirty="0" smtClean="0"/>
              <a:t>Is the writer knowlegeable?why or why not?</a:t>
            </a:r>
          </a:p>
          <a:p>
            <a:r>
              <a:rPr lang="en-US" dirty="0" smtClean="0"/>
              <a:t>What biases or values appear to have a role in the writer’s argument?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 of the writer’s argument…..</a:t>
            </a:r>
            <a:endParaRPr lang="en-US" dirty="0"/>
          </a:p>
        </p:txBody>
      </p:sp>
      <p:sp>
        <p:nvSpPr>
          <p:cNvPr id="3" name="Content Placeholder 2"/>
          <p:cNvSpPr>
            <a:spLocks noGrp="1"/>
          </p:cNvSpPr>
          <p:nvPr>
            <p:ph idx="1"/>
          </p:nvPr>
        </p:nvSpPr>
        <p:spPr/>
        <p:txBody>
          <a:bodyPr/>
          <a:lstStyle/>
          <a:p>
            <a:r>
              <a:rPr lang="en-US" dirty="0" smtClean="0"/>
              <a:t>What does the writer want you to believe?</a:t>
            </a:r>
          </a:p>
          <a:p>
            <a:r>
              <a:rPr lang="en-US" dirty="0" smtClean="0"/>
              <a:t>What reasons /supporting evidence does the writer provide? Do they seem credible?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Your interest?</a:t>
            </a:r>
            <a:endParaRPr lang="en-US" dirty="0"/>
          </a:p>
        </p:txBody>
      </p:sp>
      <p:sp>
        <p:nvSpPr>
          <p:cNvPr id="3" name="Content Placeholder 2"/>
          <p:cNvSpPr>
            <a:spLocks noGrp="1"/>
          </p:cNvSpPr>
          <p:nvPr>
            <p:ph idx="1"/>
          </p:nvPr>
        </p:nvSpPr>
        <p:spPr/>
        <p:txBody>
          <a:bodyPr/>
          <a:lstStyle/>
          <a:p>
            <a:r>
              <a:rPr lang="en-US" dirty="0" smtClean="0"/>
              <a:t>Does the writer get you to identify with him/her (e.g. through the tone? Shared experience? Something else? how? Cite examples)</a:t>
            </a:r>
          </a:p>
          <a:p>
            <a:r>
              <a:rPr lang="en-US" dirty="0" smtClean="0"/>
              <a:t>Does the writer try to get you to care about the subject, cause or problem….appeals to emotions? Statistics and facts?anecdotes?detailed descriptions? Cite examples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 and style…..</a:t>
            </a:r>
            <a:endParaRPr lang="en-US" dirty="0"/>
          </a:p>
        </p:txBody>
      </p:sp>
      <p:sp>
        <p:nvSpPr>
          <p:cNvPr id="3" name="Content Placeholder 2"/>
          <p:cNvSpPr>
            <a:spLocks noGrp="1"/>
          </p:cNvSpPr>
          <p:nvPr>
            <p:ph idx="1"/>
          </p:nvPr>
        </p:nvSpPr>
        <p:spPr/>
        <p:txBody>
          <a:bodyPr/>
          <a:lstStyle/>
          <a:p>
            <a:r>
              <a:rPr lang="en-US" dirty="0" smtClean="0"/>
              <a:t>How does the writer’s choices about language and style aid his/her argument? What do these reveal about the writer’s argument?</a:t>
            </a:r>
          </a:p>
          <a:p>
            <a:r>
              <a:rPr lang="en-US" dirty="0" smtClean="0"/>
              <a:t>What seems to be the overall tone? How are the sentences formed?</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Ideologies that inform the text….</a:t>
            </a:r>
            <a:endParaRPr lang="en-US" dirty="0"/>
          </a:p>
        </p:txBody>
      </p:sp>
      <p:sp>
        <p:nvSpPr>
          <p:cNvPr id="3" name="Content Placeholder 2"/>
          <p:cNvSpPr>
            <a:spLocks noGrp="1"/>
          </p:cNvSpPr>
          <p:nvPr>
            <p:ph idx="1"/>
          </p:nvPr>
        </p:nvSpPr>
        <p:spPr/>
        <p:txBody>
          <a:bodyPr/>
          <a:lstStyle/>
          <a:p>
            <a:r>
              <a:rPr lang="en-US" dirty="0" smtClean="0"/>
              <a:t>What seems to be the ideology  (the system of beliefs, values and ideas about the world…that underlies the text?)</a:t>
            </a:r>
          </a:p>
          <a:p>
            <a:r>
              <a:rPr lang="en-US" dirty="0" smtClean="0"/>
              <a:t>What words and ideas are valued in the text or represented by the writer in a positive way?</a:t>
            </a:r>
          </a:p>
          <a:p>
            <a:r>
              <a:rPr lang="en-US" dirty="0" smtClean="0"/>
              <a:t>What are the opposites of those words?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After reading…..</a:t>
            </a:r>
            <a:endParaRPr lang="en-US" dirty="0"/>
          </a:p>
        </p:txBody>
      </p:sp>
      <p:sp>
        <p:nvSpPr>
          <p:cNvPr id="3" name="Content Placeholder 2"/>
          <p:cNvSpPr>
            <a:spLocks noGrp="1"/>
          </p:cNvSpPr>
          <p:nvPr>
            <p:ph idx="1"/>
          </p:nvPr>
        </p:nvSpPr>
        <p:spPr/>
        <p:txBody>
          <a:bodyPr/>
          <a:lstStyle/>
          <a:p>
            <a:r>
              <a:rPr lang="en-US" dirty="0" smtClean="0"/>
              <a:t>Reflect upon and analyze what you have read.</a:t>
            </a:r>
          </a:p>
          <a:p>
            <a:r>
              <a:rPr lang="en-US" dirty="0" smtClean="0"/>
              <a:t>What is the author’s main argument? </a:t>
            </a:r>
            <a:r>
              <a:rPr lang="en-US" i="1" dirty="0" smtClean="0"/>
              <a:t>Use your own words to </a:t>
            </a:r>
            <a:r>
              <a:rPr lang="en-US" dirty="0" smtClean="0"/>
              <a:t>rearticulate</a:t>
            </a:r>
            <a:r>
              <a:rPr lang="en-US" i="1" dirty="0" smtClean="0"/>
              <a:t> the main idea.</a:t>
            </a:r>
          </a:p>
          <a:p>
            <a:r>
              <a:rPr lang="en-US" dirty="0" smtClean="0"/>
              <a:t>List and explain the reasons the writer provides for his/her main argument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After Reading…..</a:t>
            </a:r>
            <a:endParaRPr lang="en-US" dirty="0"/>
          </a:p>
        </p:txBody>
      </p:sp>
      <p:sp>
        <p:nvSpPr>
          <p:cNvPr id="3" name="Content Placeholder 2"/>
          <p:cNvSpPr>
            <a:spLocks noGrp="1"/>
          </p:cNvSpPr>
          <p:nvPr>
            <p:ph idx="1"/>
          </p:nvPr>
        </p:nvSpPr>
        <p:spPr/>
        <p:txBody>
          <a:bodyPr/>
          <a:lstStyle/>
          <a:p>
            <a:r>
              <a:rPr lang="en-US" dirty="0" smtClean="0"/>
              <a:t>What kind of evidence is presented to support the writer’s argument? Is it fact or opinion?</a:t>
            </a:r>
          </a:p>
          <a:p>
            <a:r>
              <a:rPr lang="en-US" dirty="0" smtClean="0"/>
              <a:t>Is the author objective or does s/he try to convince the reader to have a certain opinion? if so, what viewpoint does the writer try to convince you of?</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After reading….</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Forgetting what the writer thinks for a moment, what are your own thoughts and opinions on the issue/s raised?</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123</TotalTime>
  <Words>966</Words>
  <Application>Microsoft Office PowerPoint</Application>
  <PresentationFormat>On-screen Show (4:3)</PresentationFormat>
  <Paragraphs>86</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Consolas</vt:lpstr>
      <vt:lpstr>Corbel</vt:lpstr>
      <vt:lpstr>Wingdings</vt:lpstr>
      <vt:lpstr>Wingdings 2</vt:lpstr>
      <vt:lpstr>Wingdings 3</vt:lpstr>
      <vt:lpstr>Metro</vt:lpstr>
      <vt:lpstr>CRITICAL READING…..</vt:lpstr>
      <vt:lpstr>Importance of critical reading….</vt:lpstr>
      <vt:lpstr>Critical Reading……</vt:lpstr>
      <vt:lpstr>Steps to critical reading..</vt:lpstr>
      <vt:lpstr>Pre-read/Preview </vt:lpstr>
      <vt:lpstr>Pencil in hand!</vt:lpstr>
      <vt:lpstr>Annotation….</vt:lpstr>
      <vt:lpstr>Dictionary…</vt:lpstr>
      <vt:lpstr>Ask Questions….</vt:lpstr>
      <vt:lpstr>Ask Questions……</vt:lpstr>
      <vt:lpstr>Elements of Reasoning….</vt:lpstr>
      <vt:lpstr>Connections….</vt:lpstr>
      <vt:lpstr>Own the information….</vt:lpstr>
      <vt:lpstr>Strategies for close reading…..</vt:lpstr>
      <vt:lpstr>Look for….:</vt:lpstr>
      <vt:lpstr>Look for….:</vt:lpstr>
      <vt:lpstr>Authority of writer….</vt:lpstr>
      <vt:lpstr>Logic of the writer’s argument…..</vt:lpstr>
      <vt:lpstr>Your interest?</vt:lpstr>
      <vt:lpstr>Language and style…..</vt:lpstr>
      <vt:lpstr>Ideologies that inform the text….</vt:lpstr>
      <vt:lpstr>After reading…..</vt:lpstr>
      <vt:lpstr>After Reading…..</vt:lpstr>
      <vt:lpstr>After reading….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READING…..</dc:title>
  <dc:creator>maggie</dc:creator>
  <cp:lastModifiedBy>user</cp:lastModifiedBy>
  <cp:revision>14</cp:revision>
  <dcterms:created xsi:type="dcterms:W3CDTF">2013-11-30T18:43:17Z</dcterms:created>
  <dcterms:modified xsi:type="dcterms:W3CDTF">2021-01-11T06:13:34Z</dcterms:modified>
</cp:coreProperties>
</file>